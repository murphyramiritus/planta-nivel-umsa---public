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840" r:id="rId1"/>
  </p:sldMasterIdLst>
  <p:sldIdLst>
    <p:sldId id="256" r:id="rId2"/>
    <p:sldId id="286" r:id="rId3"/>
    <p:sldId id="266" r:id="rId4"/>
    <p:sldId id="280" r:id="rId5"/>
    <p:sldId id="257" r:id="rId6"/>
    <p:sldId id="259" r:id="rId7"/>
    <p:sldId id="270" r:id="rId8"/>
    <p:sldId id="260" r:id="rId9"/>
    <p:sldId id="291" r:id="rId10"/>
    <p:sldId id="258" r:id="rId11"/>
    <p:sldId id="272" r:id="rId12"/>
    <p:sldId id="271" r:id="rId13"/>
    <p:sldId id="318" r:id="rId14"/>
    <p:sldId id="319" r:id="rId15"/>
    <p:sldId id="320" r:id="rId16"/>
    <p:sldId id="321" r:id="rId17"/>
    <p:sldId id="322" r:id="rId18"/>
    <p:sldId id="323" r:id="rId19"/>
    <p:sldId id="324" r:id="rId20"/>
    <p:sldId id="325" r:id="rId21"/>
    <p:sldId id="326" r:id="rId22"/>
    <p:sldId id="308" r:id="rId23"/>
    <p:sldId id="292" r:id="rId24"/>
    <p:sldId id="295" r:id="rId25"/>
    <p:sldId id="294" r:id="rId26"/>
    <p:sldId id="304" r:id="rId27"/>
    <p:sldId id="305" r:id="rId28"/>
    <p:sldId id="313" r:id="rId29"/>
    <p:sldId id="314" r:id="rId30"/>
    <p:sldId id="315" r:id="rId31"/>
    <p:sldId id="316" r:id="rId32"/>
    <p:sldId id="317" r:id="rId33"/>
    <p:sldId id="309" r:id="rId34"/>
    <p:sldId id="310" r:id="rId35"/>
    <p:sldId id="312" r:id="rId36"/>
    <p:sldId id="273" r:id="rId37"/>
    <p:sldId id="303" r:id="rId38"/>
    <p:sldId id="327" r:id="rId3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16DA210-FB5B-4158-B5E0-FEB733F419BA}" styleName="Estilo claro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ED083AE6-46FA-4A59-8FB0-9F97EB10719F}" styleName="Estilo claro 3 - Acento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5940675A-B579-460E-94D1-54222C63F5DA}" styleName="Sin estilo, cuadrícula de la tab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122" autoAdjust="0"/>
    <p:restoredTop sz="94660"/>
  </p:normalViewPr>
  <p:slideViewPr>
    <p:cSldViewPr snapToGrid="0">
      <p:cViewPr varScale="1">
        <p:scale>
          <a:sx n="68" d="100"/>
          <a:sy n="68" d="100"/>
        </p:scale>
        <p:origin x="570"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0834" y="4282762"/>
            <a:ext cx="10222992" cy="80683"/>
          </a:xfrm>
          <a:prstGeom prst="rect">
            <a:avLst/>
          </a:prstGeom>
          <a:blipFill dpi="0" rotWithShape="1">
            <a:blip r:embed="rId2">
              <a:alphaModFix amt="8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920834" y="1484779"/>
            <a:ext cx="10222992" cy="2743200"/>
          </a:xfrm>
          <a:prstGeom prst="rect">
            <a:avLst/>
          </a:prstGeom>
          <a:blipFill dpi="0" rotWithShape="1">
            <a:blip r:embed="rId2">
              <a:alphaModFix amt="8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2">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1051560" y="1432223"/>
            <a:ext cx="9966960" cy="3035808"/>
          </a:xfrm>
        </p:spPr>
        <p:txBody>
          <a:bodyPr anchor="ctr">
            <a:noAutofit/>
          </a:bodyPr>
          <a:lstStyle>
            <a:lvl1pPr algn="l">
              <a:lnSpc>
                <a:spcPct val="85000"/>
              </a:lnSpc>
              <a:defRPr sz="7200" b="1" cap="none" baseline="0">
                <a:blipFill dpi="0" rotWithShape="1">
                  <a:blip r:embed="rId4"/>
                  <a:srcRect/>
                  <a:tile tx="6350" ty="-127000" sx="65000" sy="64000" flip="none" algn="tl"/>
                </a:blipFill>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000" b="1">
                <a:solidFill>
                  <a:schemeClr val="accent2">
                    <a:lumMod val="75000"/>
                  </a:schemeClr>
                </a:solidFill>
              </a:defRPr>
            </a:lvl1pPr>
            <a:lvl2pPr marL="457200" indent="0" algn="ctr">
              <a:buNone/>
              <a:defRPr sz="2000"/>
            </a:lvl2pPr>
            <a:lvl3pPr marL="914400" indent="0" algn="ctr">
              <a:buNone/>
              <a:defRPr sz="20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s-ES"/>
              <a:t>Haga clic para editar el estilo de subtítulo del patrón</a:t>
            </a:r>
            <a:endParaRPr lang="en-US" dirty="0"/>
          </a:p>
        </p:txBody>
      </p:sp>
      <p:sp>
        <p:nvSpPr>
          <p:cNvPr id="4" name="Date Placeholder 3"/>
          <p:cNvSpPr>
            <a:spLocks noGrp="1"/>
          </p:cNvSpPr>
          <p:nvPr>
            <p:ph type="dt" sz="half" idx="10"/>
          </p:nvPr>
        </p:nvSpPr>
        <p:spPr/>
        <p:txBody>
          <a:bodyPr/>
          <a:lstStyle/>
          <a:p>
            <a:fld id="{D91B805F-FF0F-4BAA-A3A3-E4F945D687F8}" type="datetimeFigureOut">
              <a:rPr lang="en-US" dirty="0"/>
              <a:t>6/23/2023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9592733" y="4289334"/>
            <a:ext cx="1193868" cy="640080"/>
          </a:xfrm>
        </p:spPr>
        <p:txBody>
          <a:bodyPr/>
          <a:lstStyle>
            <a:lvl1pPr>
              <a:defRPr sz="2800" b="1"/>
            </a:lvl1pPr>
          </a:lstStyle>
          <a:p>
            <a:fld id="{4FAB73BC-B049-4115-A692-8D63A059BFB8}" type="slidenum">
              <a:rPr lang="en-US" dirty="0"/>
              <a:pPr/>
              <a:t>‹Nº›</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2261F3A6-CC5D-4649-8527-DB0C21FDDFD9}" type="datetimeFigureOut">
              <a:rPr lang="en-US" dirty="0"/>
              <a:t>6/23/2023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‹Nº›</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Encabezado de sección">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167128" y="1225296"/>
            <a:ext cx="9281160" cy="3520440"/>
          </a:xfrm>
        </p:spPr>
        <p:txBody>
          <a:bodyPr anchor="ctr">
            <a:normAutofit/>
          </a:bodyPr>
          <a:lstStyle>
            <a:lvl1pPr>
              <a:lnSpc>
                <a:spcPct val="85000"/>
              </a:lnSpc>
              <a:defRPr sz="7200" b="1"/>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b="1">
                <a:solidFill>
                  <a:schemeClr val="accent2">
                    <a:lumMod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Editar el estilo de texto del patrón</a:t>
            </a:r>
          </a:p>
        </p:txBody>
      </p:sp>
      <p:sp>
        <p:nvSpPr>
          <p:cNvPr id="4" name="Date Placeholder 3"/>
          <p:cNvSpPr>
            <a:spLocks noGrp="1"/>
          </p:cNvSpPr>
          <p:nvPr>
            <p:ph type="dt" sz="half" idx="10"/>
          </p:nvPr>
        </p:nvSpPr>
        <p:spPr>
          <a:xfrm>
            <a:off x="8593667" y="6272784"/>
            <a:ext cx="2644309" cy="365125"/>
          </a:xfrm>
        </p:spPr>
        <p:txBody>
          <a:bodyPr/>
          <a:lstStyle>
            <a:lvl1pPr>
              <a:defRPr>
                <a:solidFill>
                  <a:schemeClr val="accent2">
                    <a:lumMod val="50000"/>
                  </a:schemeClr>
                </a:solidFill>
              </a:defRPr>
            </a:lvl1pPr>
          </a:lstStyle>
          <a:p>
            <a:fld id="{5B6F927C-B73E-4F9D-ADFE-F6E23BD7CEE8}" type="datetimeFigureOut">
              <a:rPr lang="en-US" dirty="0"/>
              <a:t>6/23/2023</a:t>
            </a:fld>
            <a:endParaRPr lang="en-US" dirty="0"/>
          </a:p>
        </p:txBody>
      </p:sp>
      <p:sp>
        <p:nvSpPr>
          <p:cNvPr id="5" name="Footer Placeholder 4"/>
          <p:cNvSpPr>
            <a:spLocks noGrp="1"/>
          </p:cNvSpPr>
          <p:nvPr>
            <p:ph type="ftr" sz="quarter" idx="11"/>
          </p:nvPr>
        </p:nvSpPr>
        <p:spPr>
          <a:xfrm>
            <a:off x="2182708" y="6272784"/>
            <a:ext cx="6327648" cy="365125"/>
          </a:xfrm>
        </p:spPr>
        <p:txBody>
          <a:bodyPr/>
          <a:lstStyle>
            <a:lvl1pPr>
              <a:defRPr>
                <a:solidFill>
                  <a:schemeClr val="accent2">
                    <a:lumMod val="50000"/>
                  </a:schemeClr>
                </a:solidFill>
              </a:defRPr>
            </a:lvl1pPr>
          </a:lstStyle>
          <a:p>
            <a:endParaRPr lang="en-US" dirty="0"/>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2">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4FAB73BC-B049-4115-A692-8D63A059BFB8}" type="slidenum">
              <a:rPr lang="en-US" dirty="0"/>
              <a:pPr/>
              <a:t>‹Nº›</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65B1FFFF-984A-4EE5-9BF2-EC9310C878F1}" type="datetimeFigureOut">
              <a:rPr lang="en-US" dirty="0"/>
              <a:t>6/23/2023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‹Nº›</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2">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2">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703271C1-B42E-4A60-A25F-0185B888604B}" type="datetimeFigureOut">
              <a:rPr lang="en-US" dirty="0"/>
              <a:t>6/23/2023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‹Nº›</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80416292-3725-4763-8973-4C59F0403D99}" type="datetimeFigureOut">
              <a:rPr lang="en-US" dirty="0"/>
              <a:t>6/23/2023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‹Nº›</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86996D1-8909-469F-911A-4C12C68BF5D9}" type="datetimeFigureOut">
              <a:rPr lang="en-US" dirty="0"/>
              <a:t>6/23/2023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dirty="0"/>
              <a:t>‹Nº›</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ido con título">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s-ES"/>
              <a:t>Haga clic para modificar el estilo de título del patrón</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2">
                    <a:lumMod val="5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Editar el estilo de texto del patrón</a:t>
            </a:r>
          </a:p>
        </p:txBody>
      </p:sp>
      <p:sp>
        <p:nvSpPr>
          <p:cNvPr id="5" name="Date Placeholder 4"/>
          <p:cNvSpPr>
            <a:spLocks noGrp="1"/>
          </p:cNvSpPr>
          <p:nvPr>
            <p:ph type="dt" sz="half" idx="10"/>
          </p:nvPr>
        </p:nvSpPr>
        <p:spPr/>
        <p:txBody>
          <a:bodyPr/>
          <a:lstStyle/>
          <a:p>
            <a:fld id="{E16A73BC-5D11-4675-B334-102E1E8C9B50}" type="datetimeFigureOut">
              <a:rPr lang="en-US" dirty="0"/>
              <a:t>6/23/2023</a:t>
            </a:fld>
            <a:endParaRPr lang="en-US" dirty="0"/>
          </a:p>
        </p:txBody>
      </p:sp>
      <p:sp>
        <p:nvSpPr>
          <p:cNvPr id="6" name="Footer Placeholder 5"/>
          <p:cNvSpPr>
            <a:spLocks noGrp="1"/>
          </p:cNvSpPr>
          <p:nvPr>
            <p:ph type="ftr" sz="quarter" idx="11"/>
          </p:nvPr>
        </p:nvSpPr>
        <p:spPr/>
        <p:txBody>
          <a:bodyPr/>
          <a:lstStyle/>
          <a:p>
            <a:endParaRPr lang="en-US" dirty="0"/>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2">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4FAB73BC-B049-4115-A692-8D63A059BFB8}" type="slidenum">
              <a:rPr lang="en-US" dirty="0"/>
              <a:t>‹Nº›</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n con título">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0" y="0"/>
            <a:ext cx="8303740"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2">
                    <a:lumMod val="5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Editar el estilo de texto del patrón</a:t>
            </a:r>
          </a:p>
        </p:txBody>
      </p:sp>
      <p:sp>
        <p:nvSpPr>
          <p:cNvPr id="5" name="Date Placeholder 4"/>
          <p:cNvSpPr>
            <a:spLocks noGrp="1"/>
          </p:cNvSpPr>
          <p:nvPr>
            <p:ph type="dt" sz="half" idx="10"/>
          </p:nvPr>
        </p:nvSpPr>
        <p:spPr/>
        <p:txBody>
          <a:bodyPr/>
          <a:lstStyle>
            <a:lvl1pPr>
              <a:defRPr>
                <a:solidFill>
                  <a:schemeClr val="accent2">
                    <a:lumMod val="75000"/>
                  </a:schemeClr>
                </a:solidFill>
              </a:defRPr>
            </a:lvl1pPr>
          </a:lstStyle>
          <a:p>
            <a:fld id="{27B8E45F-652B-4E89-8925-000B0AB8FD98}" type="datetimeFigureOut">
              <a:rPr lang="en-US" dirty="0"/>
              <a:t>6/23/2023</a:t>
            </a:fld>
            <a:endParaRPr lang="en-US" dirty="0"/>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2">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4FAB73BC-B049-4115-A692-8D63A059BFB8}" type="slidenum">
              <a:rPr lang="en-US" dirty="0"/>
              <a:t>‹Nº›</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780B5C51-60B3-48EF-AA78-DB950F30DBA2}" type="datetimeFigureOut">
              <a:rPr lang="en-US" dirty="0"/>
              <a:t>6/23/2023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‹Nº›</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C35D676B-6E73-4E3B-A9B3-4966DB9B52A5}" type="datetimeFigureOut">
              <a:rPr lang="en-US" dirty="0"/>
              <a:t>6/23/2023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‹Nº›</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accent2">
                    <a:lumMod val="50000"/>
                  </a:schemeClr>
                </a:solidFill>
              </a:defRPr>
            </a:lvl1pPr>
          </a:lstStyle>
          <a:p>
            <a:fld id="{C4A3462A-2D5B-48AF-A3D4-EF8A90A50A80}" type="datetimeFigureOut">
              <a:rPr lang="en-US" dirty="0"/>
              <a:t>6/23/2023</a:t>
            </a:fld>
            <a:endParaRPr lang="en-US" dirty="0"/>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accent2">
                    <a:lumMod val="50000"/>
                  </a:schemeClr>
                </a:solidFill>
              </a:defRPr>
            </a:lvl1pPr>
          </a:lstStyle>
          <a:p>
            <a:endParaRPr lang="en-US" dirty="0"/>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2">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4FAB73BC-B049-4115-A692-8D63A059BFB8}" type="slidenum">
              <a:rPr lang="en-US" dirty="0"/>
              <a:pPr/>
              <a:t>‹Nº›</a:t>
            </a:fld>
            <a:endParaRPr lang="en-US" dirty="0"/>
          </a:p>
        </p:txBody>
      </p:sp>
    </p:spTree>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Lst>
  <p:hf sldNum="0" hdr="0" ftr="0" dt="0"/>
  <p:txStyles>
    <p:titleStyle>
      <a:lvl1pPr algn="l" defTabSz="914400" rtl="0" eaLnBrk="1" latinLnBrk="0" hangingPunct="1">
        <a:lnSpc>
          <a:spcPct val="90000"/>
        </a:lnSpc>
        <a:spcBef>
          <a:spcPct val="0"/>
        </a:spcBef>
        <a:buNone/>
        <a:defRPr sz="4800" b="1" kern="1200" cap="none"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2"/>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2"/>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2"/>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2"/>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2"/>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2"/>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2"/>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2"/>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2"/>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 Id="rId5" Type="http://schemas.openxmlformats.org/officeDocument/2006/relationships/image" Target="../media/image21.png"/><Relationship Id="rId4" Type="http://schemas.openxmlformats.org/officeDocument/2006/relationships/image" Target="../media/image20.png"/></Relationships>
</file>

<file path=ppt/slides/_rels/slide11.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image" Target="../media/image80.png"/><Relationship Id="rId1" Type="http://schemas.openxmlformats.org/officeDocument/2006/relationships/slideLayout" Target="../slideLayouts/slideLayout2.xml"/><Relationship Id="rId4" Type="http://schemas.openxmlformats.org/officeDocument/2006/relationships/image" Target="../media/image130.png"/></Relationships>
</file>

<file path=ppt/slides/_rels/slide12.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image" Target="../media/image110.png"/><Relationship Id="rId1" Type="http://schemas.openxmlformats.org/officeDocument/2006/relationships/slideLayout" Target="../slideLayouts/slideLayout2.xml"/><Relationship Id="rId5" Type="http://schemas.openxmlformats.org/officeDocument/2006/relationships/image" Target="../media/image160.png"/><Relationship Id="rId4" Type="http://schemas.openxmlformats.org/officeDocument/2006/relationships/image" Target="../media/image130.png"/></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0.png"/></Relationships>
</file>

<file path=ppt/slides/_rels/slide25.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46.png"/><Relationship Id="rId2" Type="http://schemas.openxmlformats.org/officeDocument/2006/relationships/image" Target="../media/image42.png"/><Relationship Id="rId1" Type="http://schemas.openxmlformats.org/officeDocument/2006/relationships/slideLayout" Target="../slideLayouts/slideLayout7.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png"/></Relationships>
</file>

<file path=ppt/slides/_rels/slide26.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image" Target="../media/image31.png"/><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2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4.xml.rels><?xml version="1.0" encoding="UTF-8" standalone="yes"?>
<Relationships xmlns="http://schemas.openxmlformats.org/package/2006/relationships"><Relationship Id="rId3" Type="http://schemas.openxmlformats.org/officeDocument/2006/relationships/image" Target="../media/image50.png"/><Relationship Id="rId7" Type="http://schemas.openxmlformats.org/officeDocument/2006/relationships/image" Target="../media/image53.png"/><Relationship Id="rId2" Type="http://schemas.openxmlformats.org/officeDocument/2006/relationships/image" Target="../media/image240.png"/><Relationship Id="rId1" Type="http://schemas.openxmlformats.org/officeDocument/2006/relationships/slideLayout" Target="../slideLayouts/slideLayout2.xml"/><Relationship Id="rId6" Type="http://schemas.openxmlformats.org/officeDocument/2006/relationships/image" Target="../media/image51.jpeg"/><Relationship Id="rId5" Type="http://schemas.openxmlformats.org/officeDocument/2006/relationships/image" Target="../media/image270.png"/><Relationship Id="rId4" Type="http://schemas.openxmlformats.org/officeDocument/2006/relationships/image" Target="../media/image5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80.png"/><Relationship Id="rId2" Type="http://schemas.openxmlformats.org/officeDocument/2006/relationships/image" Target="../media/image54.png"/><Relationship Id="rId1" Type="http://schemas.openxmlformats.org/officeDocument/2006/relationships/slideLayout" Target="../slideLayouts/slideLayout2.xml"/><Relationship Id="rId4" Type="http://schemas.openxmlformats.org/officeDocument/2006/relationships/image" Target="../media/image480.png"/></Relationships>
</file>

<file path=ppt/slides/_rels/slide37.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p:txBody>
          <a:bodyPr/>
          <a:lstStyle/>
          <a:p>
            <a:r>
              <a:rPr lang="es-BO" dirty="0"/>
              <a:t>DISEÑO DEL CONTROLADOR </a:t>
            </a:r>
            <a:endParaRPr lang="en-US" dirty="0"/>
          </a:p>
        </p:txBody>
      </p:sp>
      <p:sp>
        <p:nvSpPr>
          <p:cNvPr id="3" name="Subtítulo 2"/>
          <p:cNvSpPr>
            <a:spLocks noGrp="1"/>
          </p:cNvSpPr>
          <p:nvPr>
            <p:ph type="subTitle" idx="1"/>
          </p:nvPr>
        </p:nvSpPr>
        <p:spPr/>
        <p:txBody>
          <a:bodyPr/>
          <a:lstStyle/>
          <a:p>
            <a:r>
              <a:rPr lang="es-BO" dirty="0"/>
              <a:t>ETN-1034</a:t>
            </a:r>
            <a:endParaRPr lang="en-US" dirty="0"/>
          </a:p>
        </p:txBody>
      </p:sp>
    </p:spTree>
    <p:extLst>
      <p:ext uri="{BB962C8B-B14F-4D97-AF65-F5344CB8AC3E}">
        <p14:creationId xmlns:p14="http://schemas.microsoft.com/office/powerpoint/2010/main" val="37503756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48025C57-6229-FDBF-C8EC-1B137038C9D0}"/>
              </a:ext>
            </a:extLst>
          </p:cNvPr>
          <p:cNvSpPr>
            <a:spLocks noGrp="1"/>
          </p:cNvSpPr>
          <p:nvPr>
            <p:ph type="ctrTitle"/>
          </p:nvPr>
        </p:nvSpPr>
        <p:spPr/>
        <p:txBody>
          <a:bodyPr>
            <a:normAutofit/>
          </a:bodyPr>
          <a:lstStyle/>
          <a:p>
            <a:pPr algn="ctr"/>
            <a:r>
              <a:rPr lang="es-BO" sz="6000" b="1" dirty="0"/>
              <a:t>RESPUESTA TEMPORAL DEL SISTEMA</a:t>
            </a:r>
          </a:p>
        </p:txBody>
      </p:sp>
    </p:spTree>
    <p:extLst>
      <p:ext uri="{BB962C8B-B14F-4D97-AF65-F5344CB8AC3E}">
        <p14:creationId xmlns:p14="http://schemas.microsoft.com/office/powerpoint/2010/main" val="38049670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idx="4294967295"/>
          </p:nvPr>
        </p:nvSpPr>
        <p:spPr>
          <a:xfrm>
            <a:off x="947828" y="642566"/>
            <a:ext cx="9990137" cy="731838"/>
          </a:xfrm>
        </p:spPr>
        <p:txBody>
          <a:bodyPr>
            <a:normAutofit fontScale="90000"/>
          </a:bodyPr>
          <a:lstStyle/>
          <a:p>
            <a:r>
              <a:rPr lang="es-BO" b="1" dirty="0">
                <a:solidFill>
                  <a:srgbClr val="0070C0"/>
                </a:solidFill>
                <a:latin typeface="Californian FB" panose="0207040306080B030204" pitchFamily="18" charset="0"/>
              </a:rPr>
              <a:t>Datos</a:t>
            </a:r>
          </a:p>
        </p:txBody>
      </p:sp>
      <p:sp>
        <p:nvSpPr>
          <p:cNvPr id="10" name="Marcador de contenido 2"/>
          <p:cNvSpPr txBox="1">
            <a:spLocks/>
          </p:cNvSpPr>
          <p:nvPr/>
        </p:nvSpPr>
        <p:spPr>
          <a:xfrm>
            <a:off x="947828" y="1581139"/>
            <a:ext cx="9409178" cy="817306"/>
          </a:xfrm>
          <a:prstGeom prst="rect">
            <a:avLst/>
          </a:prstGeom>
        </p:spPr>
        <p:txBody>
          <a:bodyPr vert="horz" lIns="91440" tIns="45720" rIns="91440" bIns="45720" rtlCol="0">
            <a:normAutofit fontScale="700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r>
              <a:rPr lang="es-BO" sz="4000" dirty="0"/>
              <a:t>Reemplazando:</a:t>
            </a:r>
          </a:p>
          <a:p>
            <a:pPr algn="l"/>
            <a:r>
              <a:rPr lang="en-US" sz="3400" dirty="0" err="1"/>
              <a:t>Capacitancia</a:t>
            </a:r>
            <a:r>
              <a:rPr lang="en-US" sz="3400" dirty="0"/>
              <a:t>                       	    </a:t>
            </a:r>
            <a:r>
              <a:rPr lang="en-US" sz="3400" dirty="0" err="1"/>
              <a:t>Restricción</a:t>
            </a:r>
            <a:endParaRPr lang="es-BO" sz="3400" dirty="0"/>
          </a:p>
          <a:p>
            <a:pPr marL="342900" indent="-342900" algn="just">
              <a:buFontTx/>
              <a:buChar char="-"/>
            </a:pPr>
            <a:endParaRPr lang="es-BO" dirty="0"/>
          </a:p>
        </p:txBody>
      </p:sp>
      <mc:AlternateContent xmlns:mc="http://schemas.openxmlformats.org/markup-compatibility/2006" xmlns:a14="http://schemas.microsoft.com/office/drawing/2010/main">
        <mc:Choice Requires="a14">
          <p:sp>
            <p:nvSpPr>
              <p:cNvPr id="5" name="CuadroTexto 4"/>
              <p:cNvSpPr txBox="1"/>
              <p:nvPr/>
            </p:nvSpPr>
            <p:spPr>
              <a:xfrm>
                <a:off x="947828" y="2486079"/>
                <a:ext cx="2675924"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s-BO" sz="2000" b="0" i="1" smtClean="0">
                          <a:latin typeface="Cambria Math" panose="02040503050406030204" pitchFamily="18" charset="0"/>
                        </a:rPr>
                        <m:t>𝐶</m:t>
                      </m:r>
                      <m:r>
                        <a:rPr lang="en-US" sz="2000" b="0" i="1" smtClean="0">
                          <a:latin typeface="Cambria Math" panose="02040503050406030204" pitchFamily="18" charset="0"/>
                        </a:rPr>
                        <m:t>=39,8 </m:t>
                      </m:r>
                      <m:r>
                        <a:rPr lang="en-US" sz="2000" b="0" i="1" smtClean="0">
                          <a:latin typeface="Cambria Math" panose="02040503050406030204" pitchFamily="18" charset="0"/>
                        </a:rPr>
                        <m:t>𝑥</m:t>
                      </m:r>
                      <m:r>
                        <a:rPr lang="en-US" sz="2000" b="0" i="1" smtClean="0">
                          <a:latin typeface="Cambria Math" panose="02040503050406030204" pitchFamily="18" charset="0"/>
                        </a:rPr>
                        <m:t> 39,8 </m:t>
                      </m:r>
                      <m:d>
                        <m:dPr>
                          <m:begChr m:val="["/>
                          <m:endChr m:val="]"/>
                          <m:ctrlPr>
                            <a:rPr lang="en-US" sz="2000" b="0" i="1" smtClean="0">
                              <a:latin typeface="Cambria Math" panose="02040503050406030204" pitchFamily="18" charset="0"/>
                            </a:rPr>
                          </m:ctrlPr>
                        </m:dPr>
                        <m:e>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𝑐𝑚</m:t>
                              </m:r>
                            </m:e>
                            <m:sup>
                              <m:r>
                                <a:rPr lang="en-US" sz="2000" b="0" i="1" smtClean="0">
                                  <a:latin typeface="Cambria Math" panose="02040503050406030204" pitchFamily="18" charset="0"/>
                                </a:rPr>
                                <m:t>2</m:t>
                              </m:r>
                            </m:sup>
                          </m:sSup>
                        </m:e>
                      </m:d>
                    </m:oMath>
                  </m:oMathPara>
                </a14:m>
                <a:endParaRPr lang="en-US" sz="2000" b="0" dirty="0"/>
              </a:p>
            </p:txBody>
          </p:sp>
        </mc:Choice>
        <mc:Fallback xmlns="">
          <p:sp>
            <p:nvSpPr>
              <p:cNvPr id="5" name="CuadroTexto 4"/>
              <p:cNvSpPr txBox="1">
                <a:spLocks noRot="1" noChangeAspect="1" noMove="1" noResize="1" noEditPoints="1" noAdjustHandles="1" noChangeArrowheads="1" noChangeShapeType="1" noTextEdit="1"/>
              </p:cNvSpPr>
              <p:nvPr/>
            </p:nvSpPr>
            <p:spPr>
              <a:xfrm>
                <a:off x="947828" y="2486079"/>
                <a:ext cx="2675924" cy="400110"/>
              </a:xfrm>
              <a:prstGeom prst="rect">
                <a:avLst/>
              </a:prstGeom>
              <a:blipFill>
                <a:blip r:embed="rId2"/>
                <a:stretch>
                  <a:fillRect/>
                </a:stretch>
              </a:blipFill>
            </p:spPr>
            <p:txBody>
              <a:bodyPr/>
              <a:lstStyle/>
              <a:p>
                <a:r>
                  <a:rPr lang="es-BO">
                    <a:noFill/>
                  </a:rPr>
                  <a:t> </a:t>
                </a:r>
              </a:p>
            </p:txBody>
          </p:sp>
        </mc:Fallback>
      </mc:AlternateContent>
      <mc:AlternateContent xmlns:mc="http://schemas.openxmlformats.org/markup-compatibility/2006" xmlns:a14="http://schemas.microsoft.com/office/drawing/2010/main">
        <mc:Choice Requires="a14">
          <p:sp>
            <p:nvSpPr>
              <p:cNvPr id="13" name="CuadroTexto 12"/>
              <p:cNvSpPr txBox="1"/>
              <p:nvPr/>
            </p:nvSpPr>
            <p:spPr>
              <a:xfrm>
                <a:off x="5942896" y="2355581"/>
                <a:ext cx="2781018" cy="100059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𝑅</m:t>
                      </m:r>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h</m:t>
                          </m:r>
                        </m:num>
                        <m:den>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𝑞</m:t>
                              </m:r>
                            </m:e>
                            <m:sub>
                              <m:r>
                                <a:rPr lang="en-US" sz="2000" b="0" i="1" smtClean="0">
                                  <a:latin typeface="Cambria Math" panose="02040503050406030204" pitchFamily="18" charset="0"/>
                                </a:rPr>
                                <m:t>𝑠</m:t>
                              </m:r>
                            </m:sub>
                          </m:sSub>
                        </m:den>
                      </m:f>
                      <m:r>
                        <a:rPr lang="en-US" sz="2000" i="1">
                          <a:latin typeface="Cambria Math" panose="02040503050406030204" pitchFamily="18" charset="0"/>
                        </a:rPr>
                        <m:t>=</m:t>
                      </m:r>
                      <m:f>
                        <m:fPr>
                          <m:ctrlPr>
                            <a:rPr lang="en-US" sz="2000" i="1" smtClean="0">
                              <a:latin typeface="Cambria Math" panose="02040503050406030204" pitchFamily="18" charset="0"/>
                            </a:rPr>
                          </m:ctrlPr>
                        </m:fPr>
                        <m:num>
                          <m:r>
                            <a:rPr lang="en-US" sz="2000" b="0" i="1" smtClean="0">
                              <a:latin typeface="Cambria Math" panose="02040503050406030204" pitchFamily="18" charset="0"/>
                            </a:rPr>
                            <m:t>25[</m:t>
                          </m:r>
                          <m:r>
                            <a:rPr lang="en-US" sz="2000" b="0" i="1" smtClean="0">
                              <a:latin typeface="Cambria Math" panose="02040503050406030204" pitchFamily="18" charset="0"/>
                            </a:rPr>
                            <m:t>𝑐𝑚</m:t>
                          </m:r>
                          <m:r>
                            <a:rPr lang="en-US" sz="2000" b="0" i="1" smtClean="0">
                              <a:latin typeface="Cambria Math" panose="02040503050406030204" pitchFamily="18" charset="0"/>
                            </a:rPr>
                            <m:t>]</m:t>
                          </m:r>
                        </m:num>
                        <m:den>
                          <m:r>
                            <a:rPr lang="en-US" sz="2000" b="0" i="1" smtClean="0">
                              <a:latin typeface="Cambria Math" panose="02040503050406030204" pitchFamily="18" charset="0"/>
                            </a:rPr>
                            <m:t>25</m:t>
                          </m:r>
                          <m:r>
                            <a:rPr lang="es-BO" sz="2000" b="0" i="1" smtClean="0">
                              <a:latin typeface="Cambria Math" panose="02040503050406030204" pitchFamily="18" charset="0"/>
                            </a:rPr>
                            <m:t>9</m:t>
                          </m:r>
                          <m:r>
                            <a:rPr lang="en-US" sz="2000" b="0" i="1" smtClean="0">
                              <a:latin typeface="Cambria Math" panose="02040503050406030204" pitchFamily="18" charset="0"/>
                            </a:rPr>
                            <m:t>.</m:t>
                          </m:r>
                          <m:r>
                            <a:rPr lang="es-BO" sz="2000" b="0" i="1" smtClean="0">
                              <a:latin typeface="Cambria Math" panose="02040503050406030204" pitchFamily="18" charset="0"/>
                            </a:rPr>
                            <m:t>62</m:t>
                          </m:r>
                          <m:d>
                            <m:dPr>
                              <m:begChr m:val="["/>
                              <m:endChr m:val="]"/>
                              <m:ctrlPr>
                                <a:rPr lang="en-US" sz="2000" b="0" i="1" smtClean="0">
                                  <a:latin typeface="Cambria Math" panose="02040503050406030204" pitchFamily="18" charset="0"/>
                                </a:rPr>
                              </m:ctrlPr>
                            </m:dPr>
                            <m:e>
                              <m:f>
                                <m:fPr>
                                  <m:ctrlPr>
                                    <a:rPr lang="en-US" sz="2000" i="1">
                                      <a:latin typeface="Cambria Math" panose="02040503050406030204" pitchFamily="18" charset="0"/>
                                    </a:rPr>
                                  </m:ctrlPr>
                                </m:fPr>
                                <m:num>
                                  <m:sSup>
                                    <m:sSupPr>
                                      <m:ctrlPr>
                                        <a:rPr lang="en-US" sz="2000" i="1">
                                          <a:latin typeface="Cambria Math" panose="02040503050406030204" pitchFamily="18" charset="0"/>
                                        </a:rPr>
                                      </m:ctrlPr>
                                    </m:sSupPr>
                                    <m:e>
                                      <m:r>
                                        <a:rPr lang="en-US" sz="2000" i="1">
                                          <a:latin typeface="Cambria Math" panose="02040503050406030204" pitchFamily="18" charset="0"/>
                                        </a:rPr>
                                        <m:t>𝑐𝑚</m:t>
                                      </m:r>
                                    </m:e>
                                    <m:sup>
                                      <m:r>
                                        <a:rPr lang="en-US" sz="2000" i="1">
                                          <a:latin typeface="Cambria Math" panose="02040503050406030204" pitchFamily="18" charset="0"/>
                                        </a:rPr>
                                        <m:t>3</m:t>
                                      </m:r>
                                    </m:sup>
                                  </m:sSup>
                                </m:num>
                                <m:den>
                                  <m:r>
                                    <a:rPr lang="en-US" sz="2000" i="1">
                                      <a:latin typeface="Cambria Math" panose="02040503050406030204" pitchFamily="18" charset="0"/>
                                    </a:rPr>
                                    <m:t>𝑠</m:t>
                                  </m:r>
                                </m:den>
                              </m:f>
                            </m:e>
                          </m:d>
                        </m:den>
                      </m:f>
                    </m:oMath>
                  </m:oMathPara>
                </a14:m>
                <a:endParaRPr lang="en-US" sz="2000" i="1" dirty="0">
                  <a:latin typeface="Cambria Math" panose="02040503050406030204" pitchFamily="18" charset="0"/>
                </a:endParaRPr>
              </a:p>
            </p:txBody>
          </p:sp>
        </mc:Choice>
        <mc:Fallback xmlns="">
          <p:sp>
            <p:nvSpPr>
              <p:cNvPr id="13" name="CuadroTexto 12"/>
              <p:cNvSpPr txBox="1">
                <a:spLocks noRot="1" noChangeAspect="1" noMove="1" noResize="1" noEditPoints="1" noAdjustHandles="1" noChangeArrowheads="1" noChangeShapeType="1" noTextEdit="1"/>
              </p:cNvSpPr>
              <p:nvPr/>
            </p:nvSpPr>
            <p:spPr>
              <a:xfrm>
                <a:off x="5942896" y="2355581"/>
                <a:ext cx="2781018" cy="1000595"/>
              </a:xfrm>
              <a:prstGeom prst="rect">
                <a:avLst/>
              </a:prstGeom>
              <a:blipFill>
                <a:blip r:embed="rId3"/>
                <a:stretch>
                  <a:fillRect/>
                </a:stretch>
              </a:blipFill>
            </p:spPr>
            <p:txBody>
              <a:bodyPr/>
              <a:lstStyle/>
              <a:p>
                <a:r>
                  <a:rPr lang="es-BO">
                    <a:noFill/>
                  </a:rPr>
                  <a:t> </a:t>
                </a:r>
              </a:p>
            </p:txBody>
          </p:sp>
        </mc:Fallback>
      </mc:AlternateContent>
      <p:sp>
        <p:nvSpPr>
          <p:cNvPr id="14" name="Marcador de contenido 2"/>
          <p:cNvSpPr txBox="1">
            <a:spLocks/>
          </p:cNvSpPr>
          <p:nvPr/>
        </p:nvSpPr>
        <p:spPr>
          <a:xfrm>
            <a:off x="1099873" y="4282550"/>
            <a:ext cx="10283247" cy="817306"/>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r>
              <a:rPr lang="en-US" sz="3200" dirty="0"/>
              <a:t>Función de </a:t>
            </a:r>
            <a:r>
              <a:rPr lang="en-US" sz="3200" dirty="0" err="1"/>
              <a:t>transferencia</a:t>
            </a:r>
            <a:r>
              <a:rPr lang="en-US" sz="3200" dirty="0"/>
              <a:t> EXPERIMENTAL</a:t>
            </a:r>
            <a:endParaRPr lang="es-BO" sz="3200" dirty="0"/>
          </a:p>
          <a:p>
            <a:pPr marL="342900" indent="-342900" algn="just">
              <a:buFontTx/>
              <a:buChar char="-"/>
            </a:pPr>
            <a:endParaRPr lang="es-BO" sz="1800" dirty="0"/>
          </a:p>
        </p:txBody>
      </p:sp>
      <mc:AlternateContent xmlns:mc="http://schemas.openxmlformats.org/markup-compatibility/2006" xmlns:a14="http://schemas.microsoft.com/office/drawing/2010/main">
        <mc:Choice Requires="a14">
          <p:sp>
            <p:nvSpPr>
              <p:cNvPr id="7" name="CuadroTexto 6"/>
              <p:cNvSpPr txBox="1"/>
              <p:nvPr/>
            </p:nvSpPr>
            <p:spPr>
              <a:xfrm>
                <a:off x="5754380" y="5050831"/>
                <a:ext cx="4470401" cy="989438"/>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s-BO" sz="2800" b="1" i="1" smtClean="0">
                              <a:latin typeface="Cambria Math" panose="02040503050406030204" pitchFamily="18" charset="0"/>
                            </a:rPr>
                          </m:ctrlPr>
                        </m:fPr>
                        <m:num>
                          <m:r>
                            <a:rPr lang="en-US" sz="2800" b="1" i="1" smtClean="0">
                              <a:latin typeface="Cambria Math" panose="02040503050406030204" pitchFamily="18" charset="0"/>
                            </a:rPr>
                            <m:t>𝑯</m:t>
                          </m:r>
                          <m:r>
                            <a:rPr lang="en-US" sz="2800" b="1" i="1" smtClean="0">
                              <a:latin typeface="Cambria Math" panose="02040503050406030204" pitchFamily="18" charset="0"/>
                            </a:rPr>
                            <m:t>(</m:t>
                          </m:r>
                          <m:r>
                            <a:rPr lang="en-US" sz="2800" b="1" i="1" smtClean="0">
                              <a:latin typeface="Cambria Math" panose="02040503050406030204" pitchFamily="18" charset="0"/>
                            </a:rPr>
                            <m:t>𝒔</m:t>
                          </m:r>
                          <m:r>
                            <a:rPr lang="en-US" sz="2800" b="1" i="1" smtClean="0">
                              <a:latin typeface="Cambria Math" panose="02040503050406030204" pitchFamily="18" charset="0"/>
                            </a:rPr>
                            <m:t>)</m:t>
                          </m:r>
                        </m:num>
                        <m:den>
                          <m:r>
                            <a:rPr lang="en-US" sz="2800" b="1" i="1" smtClean="0">
                              <a:latin typeface="Cambria Math" panose="02040503050406030204" pitchFamily="18" charset="0"/>
                            </a:rPr>
                            <m:t>𝑸</m:t>
                          </m:r>
                          <m:r>
                            <a:rPr lang="en-US" sz="2800" b="1" i="1" smtClean="0">
                              <a:latin typeface="Cambria Math" panose="02040503050406030204" pitchFamily="18" charset="0"/>
                            </a:rPr>
                            <m:t>(</m:t>
                          </m:r>
                          <m:r>
                            <a:rPr lang="en-US" sz="2800" b="1" i="1" smtClean="0">
                              <a:latin typeface="Cambria Math" panose="02040503050406030204" pitchFamily="18" charset="0"/>
                            </a:rPr>
                            <m:t>𝒔</m:t>
                          </m:r>
                          <m:r>
                            <a:rPr lang="en-US" sz="2800" b="1" i="1" smtClean="0">
                              <a:latin typeface="Cambria Math" panose="02040503050406030204" pitchFamily="18" charset="0"/>
                            </a:rPr>
                            <m:t>)</m:t>
                          </m:r>
                        </m:den>
                      </m:f>
                      <m:r>
                        <a:rPr lang="en-US" sz="2800" b="1" i="1" smtClean="0">
                          <a:latin typeface="Cambria Math" panose="02040503050406030204" pitchFamily="18" charset="0"/>
                        </a:rPr>
                        <m:t>=</m:t>
                      </m:r>
                      <m:f>
                        <m:fPr>
                          <m:ctrlPr>
                            <a:rPr lang="en-US" sz="2800" b="1" i="1" smtClean="0">
                              <a:latin typeface="Cambria Math" panose="02040503050406030204" pitchFamily="18" charset="0"/>
                            </a:rPr>
                          </m:ctrlPr>
                        </m:fPr>
                        <m:num>
                          <m:r>
                            <a:rPr lang="en-US" sz="2800" b="1" i="1" smtClean="0">
                              <a:latin typeface="Cambria Math" panose="02040503050406030204" pitchFamily="18" charset="0"/>
                            </a:rPr>
                            <m:t>𝟎</m:t>
                          </m:r>
                          <m:r>
                            <a:rPr lang="en-US" sz="2800" b="1" i="1" smtClean="0">
                              <a:latin typeface="Cambria Math" panose="02040503050406030204" pitchFamily="18" charset="0"/>
                            </a:rPr>
                            <m:t>,</m:t>
                          </m:r>
                          <m:r>
                            <a:rPr lang="en-US" sz="2800" b="1" i="1" smtClean="0">
                              <a:latin typeface="Cambria Math" panose="02040503050406030204" pitchFamily="18" charset="0"/>
                            </a:rPr>
                            <m:t>𝟎𝟗𝟓𝟔𝟗</m:t>
                          </m:r>
                        </m:num>
                        <m:den>
                          <m:r>
                            <a:rPr lang="es-BO" sz="2800" b="1" i="1" smtClean="0">
                              <a:latin typeface="Cambria Math" panose="02040503050406030204" pitchFamily="18" charset="0"/>
                            </a:rPr>
                            <m:t>𝟑𝟎𝟑</m:t>
                          </m:r>
                          <m:r>
                            <a:rPr lang="es-BO" sz="2800" b="1" i="1" smtClean="0">
                              <a:latin typeface="Cambria Math" panose="02040503050406030204" pitchFamily="18" charset="0"/>
                            </a:rPr>
                            <m:t>,</m:t>
                          </m:r>
                          <m:r>
                            <a:rPr lang="es-BO" sz="2800" b="1" i="1" smtClean="0">
                              <a:latin typeface="Cambria Math" panose="02040503050406030204" pitchFamily="18" charset="0"/>
                            </a:rPr>
                            <m:t>𝟎𝟑𝟎</m:t>
                          </m:r>
                          <m:r>
                            <a:rPr lang="es-BO" sz="2800" b="1" i="1" smtClean="0">
                              <a:latin typeface="Cambria Math" panose="02040503050406030204" pitchFamily="18" charset="0"/>
                            </a:rPr>
                            <m:t>∗</m:t>
                          </m:r>
                          <m:r>
                            <a:rPr lang="en-US" sz="2800" b="1" i="1" smtClean="0">
                              <a:latin typeface="Cambria Math" panose="02040503050406030204" pitchFamily="18" charset="0"/>
                            </a:rPr>
                            <m:t>𝒔</m:t>
                          </m:r>
                          <m:r>
                            <a:rPr lang="en-US" sz="2800" b="1" i="1" smtClean="0">
                              <a:latin typeface="Cambria Math" panose="02040503050406030204" pitchFamily="18" charset="0"/>
                            </a:rPr>
                            <m:t>+</m:t>
                          </m:r>
                          <m:r>
                            <a:rPr lang="en-US" sz="2800" b="1" i="1" smtClean="0">
                              <a:latin typeface="Cambria Math" panose="02040503050406030204" pitchFamily="18" charset="0"/>
                            </a:rPr>
                            <m:t>𝟏</m:t>
                          </m:r>
                        </m:den>
                      </m:f>
                    </m:oMath>
                  </m:oMathPara>
                </a14:m>
                <a:endParaRPr lang="es-BO" b="1" dirty="0"/>
              </a:p>
            </p:txBody>
          </p:sp>
        </mc:Choice>
        <mc:Fallback xmlns="">
          <p:sp>
            <p:nvSpPr>
              <p:cNvPr id="7" name="CuadroTexto 6"/>
              <p:cNvSpPr txBox="1">
                <a:spLocks noRot="1" noChangeAspect="1" noMove="1" noResize="1" noEditPoints="1" noAdjustHandles="1" noChangeArrowheads="1" noChangeShapeType="1" noTextEdit="1"/>
              </p:cNvSpPr>
              <p:nvPr/>
            </p:nvSpPr>
            <p:spPr>
              <a:xfrm>
                <a:off x="5754380" y="5050831"/>
                <a:ext cx="4470401" cy="989438"/>
              </a:xfrm>
              <a:prstGeom prst="rect">
                <a:avLst/>
              </a:prstGeom>
              <a:blipFill>
                <a:blip r:embed="rId4"/>
                <a:stretch>
                  <a:fillRect/>
                </a:stretch>
              </a:blipFill>
            </p:spPr>
            <p:txBody>
              <a:bodyPr/>
              <a:lstStyle/>
              <a:p>
                <a:r>
                  <a:rPr lang="es-BO">
                    <a:noFill/>
                  </a:rPr>
                  <a:t> </a:t>
                </a:r>
              </a:p>
            </p:txBody>
          </p:sp>
        </mc:Fallback>
      </mc:AlternateContent>
      <mc:AlternateContent xmlns:mc="http://schemas.openxmlformats.org/markup-compatibility/2006" xmlns:a14="http://schemas.microsoft.com/office/drawing/2010/main">
        <mc:Choice Requires="a14">
          <p:sp>
            <p:nvSpPr>
              <p:cNvPr id="4" name="CuadroTexto 3">
                <a:extLst>
                  <a:ext uri="{FF2B5EF4-FFF2-40B4-BE49-F238E27FC236}">
                    <a16:creationId xmlns:a16="http://schemas.microsoft.com/office/drawing/2014/main" id="{0E1D3027-23BC-76A7-8822-D4896A00CC7D}"/>
                  </a:ext>
                </a:extLst>
              </p:cNvPr>
              <p:cNvSpPr txBox="1"/>
              <p:nvPr/>
            </p:nvSpPr>
            <p:spPr>
              <a:xfrm>
                <a:off x="982787" y="2967387"/>
                <a:ext cx="2640965" cy="461665"/>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14:m>
                  <m:oMathPara xmlns:m="http://schemas.openxmlformats.org/officeDocument/2006/math">
                    <m:oMathParaPr>
                      <m:jc m:val="centerGroup"/>
                    </m:oMathParaPr>
                    <m:oMath xmlns:m="http://schemas.openxmlformats.org/officeDocument/2006/math">
                      <m:r>
                        <a:rPr lang="es-BO" sz="2400" i="1" smtClean="0">
                          <a:latin typeface="Cambria Math" panose="02040503050406030204" pitchFamily="18" charset="0"/>
                        </a:rPr>
                        <m:t>𝐶</m:t>
                      </m:r>
                      <m:r>
                        <a:rPr lang="en-US" sz="2400" i="1">
                          <a:latin typeface="Cambria Math" panose="02040503050406030204" pitchFamily="18" charset="0"/>
                        </a:rPr>
                        <m:t>=</m:t>
                      </m:r>
                      <m:r>
                        <a:rPr lang="en-US" sz="2400" b="0" i="1" smtClean="0">
                          <a:latin typeface="Cambria Math" panose="02040503050406030204" pitchFamily="18" charset="0"/>
                        </a:rPr>
                        <m:t>1584</m:t>
                      </m:r>
                      <m:r>
                        <a:rPr lang="en-US" sz="2400" i="1">
                          <a:latin typeface="Cambria Math" panose="02040503050406030204" pitchFamily="18" charset="0"/>
                        </a:rPr>
                        <m:t>[</m:t>
                      </m:r>
                      <m:sSup>
                        <m:sSupPr>
                          <m:ctrlPr>
                            <a:rPr lang="en-US" sz="2400" i="1">
                              <a:latin typeface="Cambria Math" panose="02040503050406030204" pitchFamily="18" charset="0"/>
                            </a:rPr>
                          </m:ctrlPr>
                        </m:sSupPr>
                        <m:e>
                          <m:r>
                            <a:rPr lang="en-US" sz="2400" i="1">
                              <a:latin typeface="Cambria Math" panose="02040503050406030204" pitchFamily="18" charset="0"/>
                            </a:rPr>
                            <m:t>𝑐𝑚</m:t>
                          </m:r>
                        </m:e>
                        <m:sup>
                          <m:r>
                            <a:rPr lang="en-US" sz="2400" i="1">
                              <a:latin typeface="Cambria Math" panose="02040503050406030204" pitchFamily="18" charset="0"/>
                            </a:rPr>
                            <m:t>2</m:t>
                          </m:r>
                        </m:sup>
                      </m:sSup>
                      <m:r>
                        <a:rPr lang="en-US" sz="2400" i="1">
                          <a:latin typeface="Cambria Math" panose="02040503050406030204" pitchFamily="18" charset="0"/>
                        </a:rPr>
                        <m:t>]</m:t>
                      </m:r>
                    </m:oMath>
                  </m:oMathPara>
                </a14:m>
                <a:endParaRPr lang="es-BO" sz="2400" dirty="0"/>
              </a:p>
            </p:txBody>
          </p:sp>
        </mc:Choice>
        <mc:Fallback xmlns="">
          <p:sp>
            <p:nvSpPr>
              <p:cNvPr id="4" name="CuadroTexto 3">
                <a:extLst>
                  <a:ext uri="{FF2B5EF4-FFF2-40B4-BE49-F238E27FC236}">
                    <a16:creationId xmlns:a16="http://schemas.microsoft.com/office/drawing/2014/main" id="{0E1D3027-23BC-76A7-8822-D4896A00CC7D}"/>
                  </a:ext>
                </a:extLst>
              </p:cNvPr>
              <p:cNvSpPr txBox="1">
                <a:spLocks noRot="1" noChangeAspect="1" noMove="1" noResize="1" noEditPoints="1" noAdjustHandles="1" noChangeArrowheads="1" noChangeShapeType="1" noTextEdit="1"/>
              </p:cNvSpPr>
              <p:nvPr/>
            </p:nvSpPr>
            <p:spPr>
              <a:xfrm>
                <a:off x="982787" y="2967387"/>
                <a:ext cx="2640965" cy="461665"/>
              </a:xfrm>
              <a:prstGeom prst="rect">
                <a:avLst/>
              </a:prstGeom>
              <a:blipFill>
                <a:blip r:embed="rId5"/>
                <a:stretch>
                  <a:fillRect b="-16667"/>
                </a:stretch>
              </a:blipFill>
            </p:spPr>
            <p:txBody>
              <a:bodyPr/>
              <a:lstStyle/>
              <a:p>
                <a:r>
                  <a:rPr lang="es-BO">
                    <a:noFill/>
                  </a:rPr>
                  <a:t> </a:t>
                </a:r>
              </a:p>
            </p:txBody>
          </p:sp>
        </mc:Fallback>
      </mc:AlternateContent>
      <mc:AlternateContent xmlns:mc="http://schemas.openxmlformats.org/markup-compatibility/2006" xmlns:a14="http://schemas.microsoft.com/office/drawing/2010/main">
        <mc:Choice Requires="a14">
          <p:sp>
            <p:nvSpPr>
              <p:cNvPr id="8" name="CuadroTexto 7">
                <a:extLst>
                  <a:ext uri="{FF2B5EF4-FFF2-40B4-BE49-F238E27FC236}">
                    <a16:creationId xmlns:a16="http://schemas.microsoft.com/office/drawing/2014/main" id="{2D28FF41-1E77-26FE-F13D-4EA0218219F6}"/>
                  </a:ext>
                </a:extLst>
              </p:cNvPr>
              <p:cNvSpPr txBox="1"/>
              <p:nvPr/>
            </p:nvSpPr>
            <p:spPr>
              <a:xfrm>
                <a:off x="5942896" y="3399579"/>
                <a:ext cx="3137273" cy="724878"/>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𝑅</m:t>
                      </m:r>
                      <m:r>
                        <a:rPr lang="en-US" sz="2400" i="1">
                          <a:latin typeface="Cambria Math" panose="02040503050406030204" pitchFamily="18" charset="0"/>
                        </a:rPr>
                        <m:t>=</m:t>
                      </m:r>
                      <m:r>
                        <a:rPr lang="en-US" sz="2400" b="0" i="1" smtClean="0">
                          <a:latin typeface="Cambria Math" panose="02040503050406030204" pitchFamily="18" charset="0"/>
                        </a:rPr>
                        <m:t>0.09</m:t>
                      </m:r>
                      <m:r>
                        <a:rPr lang="es-BO" sz="2400" b="0" i="1" smtClean="0">
                          <a:latin typeface="Cambria Math" panose="02040503050406030204" pitchFamily="18" charset="0"/>
                        </a:rPr>
                        <m:t>629</m:t>
                      </m:r>
                      <m:d>
                        <m:dPr>
                          <m:begChr m:val="["/>
                          <m:endChr m:val="]"/>
                          <m:ctrlPr>
                            <a:rPr lang="en-US" sz="2400" i="1">
                              <a:latin typeface="Cambria Math" panose="02040503050406030204" pitchFamily="18" charset="0"/>
                            </a:rPr>
                          </m:ctrlPr>
                        </m:dPr>
                        <m:e>
                          <m:f>
                            <m:fPr>
                              <m:ctrlPr>
                                <a:rPr lang="en-US" sz="2400" i="1" smtClean="0">
                                  <a:latin typeface="Cambria Math" panose="02040503050406030204" pitchFamily="18" charset="0"/>
                                </a:rPr>
                              </m:ctrlPr>
                            </m:fPr>
                            <m:num>
                              <m:r>
                                <a:rPr lang="en-US" sz="2400" b="0" i="1" smtClean="0">
                                  <a:latin typeface="Cambria Math" panose="02040503050406030204" pitchFamily="18" charset="0"/>
                                </a:rPr>
                                <m:t>𝑠</m:t>
                              </m:r>
                            </m:num>
                            <m:den>
                              <m:sSup>
                                <m:sSupPr>
                                  <m:ctrlPr>
                                    <a:rPr lang="en-US" sz="2400" i="1" smtClean="0">
                                      <a:latin typeface="Cambria Math" panose="02040503050406030204" pitchFamily="18" charset="0"/>
                                    </a:rPr>
                                  </m:ctrlPr>
                                </m:sSupPr>
                                <m:e>
                                  <m:r>
                                    <a:rPr lang="en-US" sz="2400" b="0" i="1" smtClean="0">
                                      <a:latin typeface="Cambria Math" panose="02040503050406030204" pitchFamily="18" charset="0"/>
                                    </a:rPr>
                                    <m:t>𝑐𝑚</m:t>
                                  </m:r>
                                </m:e>
                                <m:sup>
                                  <m:r>
                                    <a:rPr lang="en-US" sz="2400" b="0" i="1" smtClean="0">
                                      <a:latin typeface="Cambria Math" panose="02040503050406030204" pitchFamily="18" charset="0"/>
                                    </a:rPr>
                                    <m:t>2</m:t>
                                  </m:r>
                                </m:sup>
                              </m:sSup>
                            </m:den>
                          </m:f>
                        </m:e>
                      </m:d>
                    </m:oMath>
                  </m:oMathPara>
                </a14:m>
                <a:endParaRPr lang="es-BO" sz="2400" dirty="0"/>
              </a:p>
            </p:txBody>
          </p:sp>
        </mc:Choice>
        <mc:Fallback xmlns="">
          <p:sp>
            <p:nvSpPr>
              <p:cNvPr id="8" name="CuadroTexto 7">
                <a:extLst>
                  <a:ext uri="{FF2B5EF4-FFF2-40B4-BE49-F238E27FC236}">
                    <a16:creationId xmlns:a16="http://schemas.microsoft.com/office/drawing/2014/main" id="{2D28FF41-1E77-26FE-F13D-4EA0218219F6}"/>
                  </a:ext>
                </a:extLst>
              </p:cNvPr>
              <p:cNvSpPr txBox="1">
                <a:spLocks noRot="1" noChangeAspect="1" noMove="1" noResize="1" noEditPoints="1" noAdjustHandles="1" noChangeArrowheads="1" noChangeShapeType="1" noTextEdit="1"/>
              </p:cNvSpPr>
              <p:nvPr/>
            </p:nvSpPr>
            <p:spPr>
              <a:xfrm>
                <a:off x="5942896" y="3399579"/>
                <a:ext cx="3137273" cy="724878"/>
              </a:xfrm>
              <a:prstGeom prst="rect">
                <a:avLst/>
              </a:prstGeom>
              <a:blipFill>
                <a:blip r:embed="rId6"/>
                <a:stretch>
                  <a:fillRect/>
                </a:stretch>
              </a:blipFill>
            </p:spPr>
            <p:txBody>
              <a:bodyPr/>
              <a:lstStyle/>
              <a:p>
                <a:r>
                  <a:rPr lang="es-BO">
                    <a:noFill/>
                  </a:rPr>
                  <a:t> </a:t>
                </a:r>
              </a:p>
            </p:txBody>
          </p:sp>
        </mc:Fallback>
      </mc:AlternateContent>
      <mc:AlternateContent xmlns:mc="http://schemas.openxmlformats.org/markup-compatibility/2006" xmlns:a14="http://schemas.microsoft.com/office/drawing/2010/main">
        <mc:Choice Requires="a14">
          <p:sp>
            <p:nvSpPr>
              <p:cNvPr id="3" name="CuadroTexto 2">
                <a:extLst>
                  <a:ext uri="{FF2B5EF4-FFF2-40B4-BE49-F238E27FC236}">
                    <a16:creationId xmlns:a16="http://schemas.microsoft.com/office/drawing/2014/main" id="{C4DA00F0-7147-5E28-4848-5CBB0BC74C6A}"/>
                  </a:ext>
                </a:extLst>
              </p:cNvPr>
              <p:cNvSpPr txBox="1"/>
              <p:nvPr/>
            </p:nvSpPr>
            <p:spPr>
              <a:xfrm>
                <a:off x="808880" y="5251139"/>
                <a:ext cx="3523431" cy="86408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s-BO" sz="2400" b="0" i="1" smtClean="0">
                              <a:latin typeface="Cambria Math" panose="02040503050406030204" pitchFamily="18" charset="0"/>
                            </a:rPr>
                          </m:ctrlPr>
                        </m:fPr>
                        <m:num>
                          <m:r>
                            <a:rPr lang="es-BO" sz="2400" b="0" i="1" smtClean="0">
                              <a:latin typeface="Cambria Math" panose="02040503050406030204" pitchFamily="18" charset="0"/>
                            </a:rPr>
                            <m:t>𝐻</m:t>
                          </m:r>
                          <m:d>
                            <m:dPr>
                              <m:ctrlPr>
                                <a:rPr lang="es-BO" sz="2400" b="0" i="1" smtClean="0">
                                  <a:latin typeface="Cambria Math" panose="02040503050406030204" pitchFamily="18" charset="0"/>
                                </a:rPr>
                              </m:ctrlPr>
                            </m:dPr>
                            <m:e>
                              <m:r>
                                <a:rPr lang="es-BO" sz="2400" b="0" i="1" smtClean="0">
                                  <a:latin typeface="Cambria Math" panose="02040503050406030204" pitchFamily="18" charset="0"/>
                                </a:rPr>
                                <m:t>𝑠</m:t>
                              </m:r>
                            </m:e>
                          </m:d>
                        </m:num>
                        <m:den>
                          <m:r>
                            <a:rPr lang="es-BO" sz="2400" b="0" i="1" smtClean="0">
                              <a:latin typeface="Cambria Math" panose="02040503050406030204" pitchFamily="18" charset="0"/>
                            </a:rPr>
                            <m:t>𝑄</m:t>
                          </m:r>
                          <m:d>
                            <m:dPr>
                              <m:ctrlPr>
                                <a:rPr lang="es-BO" sz="2400" b="0" i="1" smtClean="0">
                                  <a:latin typeface="Cambria Math" panose="02040503050406030204" pitchFamily="18" charset="0"/>
                                </a:rPr>
                              </m:ctrlPr>
                            </m:dPr>
                            <m:e>
                              <m:r>
                                <a:rPr lang="es-BO" sz="2400" b="0" i="1" smtClean="0">
                                  <a:latin typeface="Cambria Math" panose="02040503050406030204" pitchFamily="18" charset="0"/>
                                </a:rPr>
                                <m:t>𝑠</m:t>
                              </m:r>
                            </m:e>
                          </m:d>
                        </m:den>
                      </m:f>
                      <m:r>
                        <a:rPr lang="es-BO" sz="2400" b="0" i="1" smtClean="0">
                          <a:latin typeface="Cambria Math" panose="02040503050406030204" pitchFamily="18" charset="0"/>
                        </a:rPr>
                        <m:t>=</m:t>
                      </m:r>
                      <m:f>
                        <m:fPr>
                          <m:ctrlPr>
                            <a:rPr lang="es-BO" sz="2400" b="0" i="1" smtClean="0">
                              <a:latin typeface="Cambria Math" panose="02040503050406030204" pitchFamily="18" charset="0"/>
                            </a:rPr>
                          </m:ctrlPr>
                        </m:fPr>
                        <m:num>
                          <m:r>
                            <a:rPr lang="es-BO" sz="2400" b="0" i="1" smtClean="0">
                              <a:latin typeface="Cambria Math" panose="02040503050406030204" pitchFamily="18" charset="0"/>
                            </a:rPr>
                            <m:t>𝑅</m:t>
                          </m:r>
                        </m:num>
                        <m:den>
                          <m:r>
                            <a:rPr lang="es-BO" sz="2400" b="0" i="1" smtClean="0">
                              <a:latin typeface="Cambria Math" panose="02040503050406030204" pitchFamily="18" charset="0"/>
                            </a:rPr>
                            <m:t>1+</m:t>
                          </m:r>
                          <m:r>
                            <a:rPr lang="es-BO" sz="2400" b="0" i="1" smtClean="0">
                              <a:latin typeface="Cambria Math" panose="02040503050406030204" pitchFamily="18" charset="0"/>
                            </a:rPr>
                            <m:t>𝑅𝐶𝑠</m:t>
                          </m:r>
                        </m:den>
                      </m:f>
                    </m:oMath>
                  </m:oMathPara>
                </a14:m>
                <a:endParaRPr lang="es-BO" sz="2400" dirty="0"/>
              </a:p>
            </p:txBody>
          </p:sp>
        </mc:Choice>
        <mc:Fallback xmlns="">
          <p:sp>
            <p:nvSpPr>
              <p:cNvPr id="3" name="CuadroTexto 2">
                <a:extLst>
                  <a:ext uri="{FF2B5EF4-FFF2-40B4-BE49-F238E27FC236}">
                    <a16:creationId xmlns:a16="http://schemas.microsoft.com/office/drawing/2014/main" id="{C4DA00F0-7147-5E28-4848-5CBB0BC74C6A}"/>
                  </a:ext>
                </a:extLst>
              </p:cNvPr>
              <p:cNvSpPr txBox="1">
                <a:spLocks noRot="1" noChangeAspect="1" noMove="1" noResize="1" noEditPoints="1" noAdjustHandles="1" noChangeArrowheads="1" noChangeShapeType="1" noTextEdit="1"/>
              </p:cNvSpPr>
              <p:nvPr/>
            </p:nvSpPr>
            <p:spPr>
              <a:xfrm>
                <a:off x="808880" y="5251139"/>
                <a:ext cx="3523431" cy="864083"/>
              </a:xfrm>
              <a:prstGeom prst="rect">
                <a:avLst/>
              </a:prstGeom>
              <a:blipFill>
                <a:blip r:embed="rId7"/>
                <a:stretch>
                  <a:fillRect/>
                </a:stretch>
              </a:blipFill>
            </p:spPr>
            <p:txBody>
              <a:bodyPr/>
              <a:lstStyle/>
              <a:p>
                <a:r>
                  <a:rPr lang="es-BO">
                    <a:noFill/>
                  </a:rPr>
                  <a:t> </a:t>
                </a:r>
              </a:p>
            </p:txBody>
          </p:sp>
        </mc:Fallback>
      </mc:AlternateContent>
      <p:sp>
        <p:nvSpPr>
          <p:cNvPr id="6" name="Flecha: a la derecha 5">
            <a:extLst>
              <a:ext uri="{FF2B5EF4-FFF2-40B4-BE49-F238E27FC236}">
                <a16:creationId xmlns:a16="http://schemas.microsoft.com/office/drawing/2014/main" id="{EDDA0E36-6A66-3AAA-5DCF-437D61881708}"/>
              </a:ext>
            </a:extLst>
          </p:cNvPr>
          <p:cNvSpPr/>
          <p:nvPr/>
        </p:nvSpPr>
        <p:spPr>
          <a:xfrm>
            <a:off x="4130497" y="5545550"/>
            <a:ext cx="999770" cy="415445"/>
          </a:xfrm>
          <a:prstGeom prst="rightArrow">
            <a:avLst>
              <a:gd name="adj1" fmla="val 50000"/>
              <a:gd name="adj2" fmla="val 63448"/>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Tree>
    <p:extLst>
      <p:ext uri="{BB962C8B-B14F-4D97-AF65-F5344CB8AC3E}">
        <p14:creationId xmlns:p14="http://schemas.microsoft.com/office/powerpoint/2010/main" val="4142449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730A4591-1AEE-9943-EDAD-44D8C540ECF8}"/>
              </a:ext>
            </a:extLst>
          </p:cNvPr>
          <p:cNvPicPr>
            <a:picLocks noChangeAspect="1"/>
          </p:cNvPicPr>
          <p:nvPr/>
        </p:nvPicPr>
        <p:blipFill>
          <a:blip r:embed="rId2"/>
          <a:stretch>
            <a:fillRect/>
          </a:stretch>
        </p:blipFill>
        <p:spPr>
          <a:xfrm>
            <a:off x="1637427" y="1685425"/>
            <a:ext cx="6798057" cy="4867598"/>
          </a:xfrm>
          <a:prstGeom prst="rect">
            <a:avLst/>
          </a:prstGeom>
        </p:spPr>
      </p:pic>
      <p:sp>
        <p:nvSpPr>
          <p:cNvPr id="7" name="CuadroTexto 6">
            <a:extLst>
              <a:ext uri="{FF2B5EF4-FFF2-40B4-BE49-F238E27FC236}">
                <a16:creationId xmlns:a16="http://schemas.microsoft.com/office/drawing/2014/main" id="{30997281-64DA-BBE1-BD49-44A7F2765946}"/>
              </a:ext>
            </a:extLst>
          </p:cNvPr>
          <p:cNvSpPr txBox="1"/>
          <p:nvPr/>
        </p:nvSpPr>
        <p:spPr>
          <a:xfrm>
            <a:off x="1161142" y="656966"/>
            <a:ext cx="10218058" cy="865173"/>
          </a:xfrm>
          <a:prstGeom prst="rect">
            <a:avLst/>
          </a:prstGeom>
          <a:noFill/>
        </p:spPr>
        <p:txBody>
          <a:bodyPr wrap="square">
            <a:spAutoFit/>
          </a:bodyPr>
          <a:lstStyle/>
          <a:p>
            <a:pPr algn="just">
              <a:lnSpc>
                <a:spcPct val="107000"/>
              </a:lnSpc>
              <a:spcBef>
                <a:spcPts val="600"/>
              </a:spcBef>
              <a:spcAft>
                <a:spcPts val="600"/>
              </a:spcAft>
            </a:pPr>
            <a:r>
              <a:rPr lang="es-BO" sz="2400" dirty="0">
                <a:effectLst/>
                <a:latin typeface="Calibri" panose="020F0502020204030204" pitchFamily="34" charset="0"/>
                <a:ea typeface="Times New Roman" panose="02020603050405020304" pitchFamily="18" charset="0"/>
                <a:cs typeface="Times New Roman" panose="02020603050405020304" pitchFamily="18" charset="0"/>
              </a:rPr>
              <a:t>Simulando el comportamiento del sistema para un caudal de entrada de 261,1 </a:t>
            </a:r>
            <a:r>
              <a:rPr lang="es-BO" sz="2400" dirty="0" err="1">
                <a:effectLst/>
                <a:latin typeface="Calibri" panose="020F0502020204030204" pitchFamily="34" charset="0"/>
                <a:ea typeface="Times New Roman" panose="02020603050405020304" pitchFamily="18" charset="0"/>
                <a:cs typeface="Times New Roman" panose="02020603050405020304" pitchFamily="18" charset="0"/>
              </a:rPr>
              <a:t>cc</a:t>
            </a:r>
            <a:r>
              <a:rPr lang="es-BO" sz="2400" dirty="0">
                <a:effectLst/>
                <a:latin typeface="Calibri" panose="020F0502020204030204" pitchFamily="34" charset="0"/>
                <a:ea typeface="Times New Roman" panose="02020603050405020304" pitchFamily="18" charset="0"/>
                <a:cs typeface="Times New Roman" panose="02020603050405020304" pitchFamily="18" charset="0"/>
              </a:rPr>
              <a:t>/</a:t>
            </a:r>
            <a:r>
              <a:rPr lang="es-BO" sz="2400" dirty="0" err="1">
                <a:effectLst/>
                <a:latin typeface="Calibri" panose="020F0502020204030204" pitchFamily="34" charset="0"/>
                <a:ea typeface="Times New Roman" panose="02020603050405020304" pitchFamily="18" charset="0"/>
                <a:cs typeface="Times New Roman" panose="02020603050405020304" pitchFamily="18" charset="0"/>
              </a:rPr>
              <a:t>seg</a:t>
            </a:r>
            <a:r>
              <a:rPr lang="es-BO" sz="2400" dirty="0">
                <a:effectLst/>
                <a:latin typeface="Calibri" panose="020F0502020204030204" pitchFamily="34" charset="0"/>
                <a:ea typeface="Times New Roman" panose="02020603050405020304" pitchFamily="18" charset="0"/>
                <a:cs typeface="Times New Roman" panose="02020603050405020304" pitchFamily="18" charset="0"/>
              </a:rPr>
              <a:t> tenemos:</a:t>
            </a:r>
            <a:endParaRPr lang="es-BO" sz="20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9" name="Imagen 8">
            <a:extLst>
              <a:ext uri="{FF2B5EF4-FFF2-40B4-BE49-F238E27FC236}">
                <a16:creationId xmlns:a16="http://schemas.microsoft.com/office/drawing/2014/main" id="{473FE78E-304A-D281-68DE-84FE3A042328}"/>
              </a:ext>
            </a:extLst>
          </p:cNvPr>
          <p:cNvPicPr>
            <a:picLocks noChangeAspect="1"/>
          </p:cNvPicPr>
          <p:nvPr/>
        </p:nvPicPr>
        <p:blipFill>
          <a:blip r:embed="rId3"/>
          <a:stretch>
            <a:fillRect/>
          </a:stretch>
        </p:blipFill>
        <p:spPr>
          <a:xfrm>
            <a:off x="1718597" y="1685425"/>
            <a:ext cx="6635716" cy="4967787"/>
          </a:xfrm>
          <a:prstGeom prst="rect">
            <a:avLst/>
          </a:prstGeom>
        </p:spPr>
      </p:pic>
      <p:sp>
        <p:nvSpPr>
          <p:cNvPr id="10" name="CuadroTexto 9">
            <a:extLst>
              <a:ext uri="{FF2B5EF4-FFF2-40B4-BE49-F238E27FC236}">
                <a16:creationId xmlns:a16="http://schemas.microsoft.com/office/drawing/2014/main" id="{7160000A-C408-92A5-7103-1D88BF0F4B91}"/>
              </a:ext>
            </a:extLst>
          </p:cNvPr>
          <p:cNvSpPr txBox="1"/>
          <p:nvPr/>
        </p:nvSpPr>
        <p:spPr>
          <a:xfrm>
            <a:off x="8516654" y="3103561"/>
            <a:ext cx="3062514" cy="1015663"/>
          </a:xfrm>
          <a:prstGeom prst="rect">
            <a:avLst/>
          </a:prstGeom>
          <a:noFill/>
        </p:spPr>
        <p:txBody>
          <a:bodyPr wrap="square" rtlCol="0">
            <a:spAutoFit/>
          </a:bodyPr>
          <a:lstStyle/>
          <a:p>
            <a:pPr algn="ctr"/>
            <a:r>
              <a:rPr lang="es-BO" sz="2000" dirty="0"/>
              <a:t>Tiempo de asentamiento:</a:t>
            </a:r>
          </a:p>
          <a:p>
            <a:pPr algn="ctr"/>
            <a:r>
              <a:rPr lang="es-BO" sz="2000" dirty="0"/>
              <a:t>19,83 min</a:t>
            </a:r>
          </a:p>
        </p:txBody>
      </p:sp>
    </p:spTree>
    <p:extLst>
      <p:ext uri="{BB962C8B-B14F-4D97-AF65-F5344CB8AC3E}">
        <p14:creationId xmlns:p14="http://schemas.microsoft.com/office/powerpoint/2010/main" val="4675505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BO" dirty="0"/>
              <a:t>REQUERIMIENTOS</a:t>
            </a:r>
            <a:endParaRPr lang="en-US" dirty="0"/>
          </a:p>
        </p:txBody>
      </p:sp>
      <p:sp>
        <p:nvSpPr>
          <p:cNvPr id="3" name="Marcador de contenido 2"/>
          <p:cNvSpPr>
            <a:spLocks noGrp="1"/>
          </p:cNvSpPr>
          <p:nvPr>
            <p:ph idx="1"/>
          </p:nvPr>
        </p:nvSpPr>
        <p:spPr>
          <a:xfrm>
            <a:off x="1389162" y="2687465"/>
            <a:ext cx="9191753" cy="2389632"/>
          </a:xfrm>
        </p:spPr>
        <p:txBody>
          <a:bodyPr/>
          <a:lstStyle/>
          <a:p>
            <a:pPr algn="just"/>
            <a:r>
              <a:rPr lang="es-BO" dirty="0"/>
              <a:t>El diseño de un controlador por realimentación de estados, tiene los siguientes requerimientos : </a:t>
            </a:r>
          </a:p>
          <a:p>
            <a:pPr algn="just"/>
            <a:r>
              <a:rPr lang="es-BO" dirty="0"/>
              <a:t>El sistema tenga un tiempo de establecimiento de 4 min</a:t>
            </a:r>
          </a:p>
          <a:p>
            <a:pPr algn="just"/>
            <a:r>
              <a:rPr lang="es-BO" dirty="0"/>
              <a:t>Un máximo sobrepaso menor al  1% </a:t>
            </a:r>
          </a:p>
          <a:p>
            <a:pPr algn="just"/>
            <a:endParaRPr lang="en-US" dirty="0"/>
          </a:p>
        </p:txBody>
      </p:sp>
    </p:spTree>
    <p:extLst>
      <p:ext uri="{BB962C8B-B14F-4D97-AF65-F5344CB8AC3E}">
        <p14:creationId xmlns:p14="http://schemas.microsoft.com/office/powerpoint/2010/main" val="25191888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BO" u="sng" dirty="0"/>
              <a:t>DISEÑO DEL CONTROLADOR PARA UN SERVOSISTEMA</a:t>
            </a:r>
            <a:endParaRPr lang="en-US" dirty="0"/>
          </a:p>
        </p:txBody>
      </p:sp>
      <p:pic>
        <p:nvPicPr>
          <p:cNvPr id="4" name="Marcador de contenido 3"/>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851556" y="2698931"/>
            <a:ext cx="8495238" cy="2895238"/>
          </a:xfrm>
          <a:prstGeom prst="rect">
            <a:avLst/>
          </a:prstGeom>
          <a:noFill/>
          <a:ln>
            <a:noFill/>
          </a:ln>
        </p:spPr>
      </p:pic>
    </p:spTree>
    <p:extLst>
      <p:ext uri="{BB962C8B-B14F-4D97-AF65-F5344CB8AC3E}">
        <p14:creationId xmlns:p14="http://schemas.microsoft.com/office/powerpoint/2010/main" val="42703930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69848" y="484632"/>
            <a:ext cx="10058400" cy="1291917"/>
          </a:xfrm>
        </p:spPr>
        <p:txBody>
          <a:bodyPr>
            <a:normAutofit/>
          </a:bodyPr>
          <a:lstStyle/>
          <a:p>
            <a:r>
              <a:rPr lang="es-BO" sz="4000" dirty="0"/>
              <a:t>POLINOMIO CARACTERISTICO DESEADO:</a:t>
            </a:r>
            <a:endParaRPr lang="en-US" sz="4000" dirty="0"/>
          </a:p>
        </p:txBody>
      </p:sp>
      <mc:AlternateContent xmlns:mc="http://schemas.openxmlformats.org/markup-compatibility/2006" xmlns:a14="http://schemas.microsoft.com/office/drawing/2010/main">
        <mc:Choice Requires="a14">
          <p:sp>
            <p:nvSpPr>
              <p:cNvPr id="3" name="Marcador de contenido 2"/>
              <p:cNvSpPr>
                <a:spLocks noGrp="1"/>
              </p:cNvSpPr>
              <p:nvPr>
                <p:ph idx="1"/>
              </p:nvPr>
            </p:nvSpPr>
            <p:spPr>
              <a:xfrm>
                <a:off x="1069848" y="1976265"/>
                <a:ext cx="10058400" cy="4050792"/>
              </a:xfrm>
            </p:spPr>
            <p:txBody>
              <a:bodyPr>
                <a:normAutofit fontScale="92500" lnSpcReduction="10000"/>
              </a:bodyPr>
              <a:lstStyle/>
              <a:p>
                <a:pPr marL="0" indent="0">
                  <a:buNone/>
                </a:pPr>
                <a:r>
                  <a:rPr lang="es-BO" dirty="0"/>
                  <a:t>Analizamos los requerimientos:</a:t>
                </a:r>
                <a:endParaRPr lang="en-US" dirty="0"/>
              </a:p>
              <a:p>
                <a:pPr marL="0" indent="0">
                  <a:buNone/>
                </a:pPr>
                <a14:m>
                  <m:oMathPara xmlns:m="http://schemas.openxmlformats.org/officeDocument/2006/math">
                    <m:oMathParaPr>
                      <m:jc m:val="centerGroup"/>
                    </m:oMathParaPr>
                    <m:oMath xmlns:m="http://schemas.openxmlformats.org/officeDocument/2006/math">
                      <m:r>
                        <a:rPr lang="es-MX" i="1">
                          <a:latin typeface="Cambria Math" panose="02040503050406030204" pitchFamily="18" charset="0"/>
                        </a:rPr>
                        <m:t>300=</m:t>
                      </m:r>
                      <m:sSub>
                        <m:sSubPr>
                          <m:ctrlPr>
                            <a:rPr lang="en-US" i="1">
                              <a:latin typeface="Cambria Math" panose="02040503050406030204" pitchFamily="18" charset="0"/>
                            </a:rPr>
                          </m:ctrlPr>
                        </m:sSubPr>
                        <m:e>
                          <m:r>
                            <a:rPr lang="es-MX" i="1">
                              <a:latin typeface="Cambria Math" panose="02040503050406030204" pitchFamily="18" charset="0"/>
                            </a:rPr>
                            <m:t>𝑡</m:t>
                          </m:r>
                        </m:e>
                        <m:sub>
                          <m:r>
                            <a:rPr lang="es-MX" i="1">
                              <a:latin typeface="Cambria Math" panose="02040503050406030204" pitchFamily="18" charset="0"/>
                            </a:rPr>
                            <m:t>𝑠</m:t>
                          </m:r>
                        </m:sub>
                      </m:sSub>
                      <m:r>
                        <a:rPr lang="es-MX" i="1">
                          <a:latin typeface="Cambria Math" panose="02040503050406030204" pitchFamily="18" charset="0"/>
                        </a:rPr>
                        <m:t>≥</m:t>
                      </m:r>
                      <m:f>
                        <m:fPr>
                          <m:ctrlPr>
                            <a:rPr lang="en-US" i="1">
                              <a:latin typeface="Cambria Math" panose="02040503050406030204" pitchFamily="18" charset="0"/>
                            </a:rPr>
                          </m:ctrlPr>
                        </m:fPr>
                        <m:num>
                          <m:r>
                            <a:rPr lang="es-MX" i="1">
                              <a:latin typeface="Cambria Math" panose="02040503050406030204" pitchFamily="18" charset="0"/>
                            </a:rPr>
                            <m:t>4</m:t>
                          </m:r>
                        </m:num>
                        <m:den>
                          <m:r>
                            <a:rPr lang="es-MX" i="1">
                              <a:latin typeface="Cambria Math" panose="02040503050406030204" pitchFamily="18" charset="0"/>
                            </a:rPr>
                            <m:t>𝜁</m:t>
                          </m:r>
                          <m:sSub>
                            <m:sSubPr>
                              <m:ctrlPr>
                                <a:rPr lang="en-US" i="1">
                                  <a:latin typeface="Cambria Math" panose="02040503050406030204" pitchFamily="18" charset="0"/>
                                </a:rPr>
                              </m:ctrlPr>
                            </m:sSubPr>
                            <m:e>
                              <m:r>
                                <a:rPr lang="es-MX" i="1">
                                  <a:latin typeface="Cambria Math" panose="02040503050406030204" pitchFamily="18" charset="0"/>
                                </a:rPr>
                                <m:t>𝜔</m:t>
                              </m:r>
                            </m:e>
                            <m:sub>
                              <m:r>
                                <a:rPr lang="es-MX" i="1">
                                  <a:latin typeface="Cambria Math" panose="02040503050406030204" pitchFamily="18" charset="0"/>
                                </a:rPr>
                                <m:t>𝑛</m:t>
                              </m:r>
                            </m:sub>
                          </m:sSub>
                        </m:den>
                      </m:f>
                      <m:r>
                        <a:rPr lang="es-MX" i="1">
                          <a:latin typeface="Cambria Math" panose="02040503050406030204" pitchFamily="18" charset="0"/>
                        </a:rPr>
                        <m:t>;      0.001=</m:t>
                      </m:r>
                      <m:r>
                        <a:rPr lang="es-MX" i="1">
                          <a:latin typeface="Cambria Math" panose="02040503050406030204" pitchFamily="18" charset="0"/>
                        </a:rPr>
                        <m:t>𝑀𝑝</m:t>
                      </m:r>
                      <m:r>
                        <a:rPr lang="es-MX" i="1">
                          <a:latin typeface="Cambria Math" panose="02040503050406030204" pitchFamily="18" charset="0"/>
                        </a:rPr>
                        <m:t>≥</m:t>
                      </m:r>
                      <m:sSup>
                        <m:sSupPr>
                          <m:ctrlPr>
                            <a:rPr lang="en-US" i="1">
                              <a:latin typeface="Cambria Math" panose="02040503050406030204" pitchFamily="18" charset="0"/>
                            </a:rPr>
                          </m:ctrlPr>
                        </m:sSupPr>
                        <m:e>
                          <m:r>
                            <a:rPr lang="es-MX" i="1">
                              <a:latin typeface="Cambria Math" panose="02040503050406030204" pitchFamily="18" charset="0"/>
                            </a:rPr>
                            <m:t>𝑒</m:t>
                          </m:r>
                        </m:e>
                        <m:sup>
                          <m:f>
                            <m:fPr>
                              <m:ctrlPr>
                                <a:rPr lang="en-US" i="1">
                                  <a:latin typeface="Cambria Math" panose="02040503050406030204" pitchFamily="18" charset="0"/>
                                </a:rPr>
                              </m:ctrlPr>
                            </m:fPr>
                            <m:num>
                              <m:r>
                                <a:rPr lang="es-MX" i="1">
                                  <a:latin typeface="Cambria Math" panose="02040503050406030204" pitchFamily="18" charset="0"/>
                                </a:rPr>
                                <m:t>−</m:t>
                              </m:r>
                              <m:r>
                                <a:rPr lang="es-MX" i="1">
                                  <a:latin typeface="Cambria Math" panose="02040503050406030204" pitchFamily="18" charset="0"/>
                                </a:rPr>
                                <m:t>𝜁𝜋</m:t>
                              </m:r>
                            </m:num>
                            <m:den>
                              <m:rad>
                                <m:radPr>
                                  <m:degHide m:val="on"/>
                                  <m:ctrlPr>
                                    <a:rPr lang="en-US" i="1">
                                      <a:latin typeface="Cambria Math" panose="02040503050406030204" pitchFamily="18" charset="0"/>
                                    </a:rPr>
                                  </m:ctrlPr>
                                </m:radPr>
                                <m:deg/>
                                <m:e>
                                  <m:r>
                                    <a:rPr lang="es-MX" i="1">
                                      <a:latin typeface="Cambria Math" panose="02040503050406030204" pitchFamily="18" charset="0"/>
                                    </a:rPr>
                                    <m:t>1−</m:t>
                                  </m:r>
                                  <m:sSup>
                                    <m:sSupPr>
                                      <m:ctrlPr>
                                        <a:rPr lang="en-US" i="1">
                                          <a:latin typeface="Cambria Math" panose="02040503050406030204" pitchFamily="18" charset="0"/>
                                        </a:rPr>
                                      </m:ctrlPr>
                                    </m:sSupPr>
                                    <m:e>
                                      <m:r>
                                        <a:rPr lang="es-MX" i="1">
                                          <a:latin typeface="Cambria Math" panose="02040503050406030204" pitchFamily="18" charset="0"/>
                                        </a:rPr>
                                        <m:t>𝜁</m:t>
                                      </m:r>
                                    </m:e>
                                    <m:sup>
                                      <m:r>
                                        <a:rPr lang="es-MX" i="1">
                                          <a:latin typeface="Cambria Math" panose="02040503050406030204" pitchFamily="18" charset="0"/>
                                        </a:rPr>
                                        <m:t>2</m:t>
                                      </m:r>
                                    </m:sup>
                                  </m:sSup>
                                </m:e>
                              </m:rad>
                            </m:den>
                          </m:f>
                        </m:sup>
                      </m:sSup>
                      <m:r>
                        <a:rPr lang="es-MX" i="1">
                          <a:latin typeface="Cambria Math" panose="02040503050406030204" pitchFamily="18" charset="0"/>
                        </a:rPr>
                        <m:t>;</m:t>
                      </m:r>
                    </m:oMath>
                  </m:oMathPara>
                </a14:m>
                <a:endParaRPr lang="en-US" dirty="0"/>
              </a:p>
              <a:p>
                <a:pPr marL="0" indent="0">
                  <a:buNone/>
                </a:pPr>
                <a:r>
                  <a:rPr lang="es-BO" dirty="0"/>
                  <a:t>Procedimiento:</a:t>
                </a:r>
                <a:endParaRPr lang="en-US" dirty="0"/>
              </a:p>
              <a:p>
                <a:pPr marL="0" indent="0">
                  <a:buNone/>
                </a:pPr>
                <a14:m>
                  <m:oMathPara xmlns:m="http://schemas.openxmlformats.org/officeDocument/2006/math">
                    <m:oMathParaPr>
                      <m:jc m:val="centerGroup"/>
                    </m:oMathParaPr>
                    <m:oMath xmlns:m="http://schemas.openxmlformats.org/officeDocument/2006/math">
                      <m:r>
                        <a:rPr lang="es-MX" i="1">
                          <a:latin typeface="Cambria Math" panose="02040503050406030204" pitchFamily="18" charset="0"/>
                        </a:rPr>
                        <m:t>𝐼𝑛</m:t>
                      </m:r>
                      <m:d>
                        <m:dPr>
                          <m:ctrlPr>
                            <a:rPr lang="en-US" i="1">
                              <a:latin typeface="Cambria Math" panose="02040503050406030204" pitchFamily="18" charset="0"/>
                            </a:rPr>
                          </m:ctrlPr>
                        </m:dPr>
                        <m:e>
                          <m:r>
                            <a:rPr lang="es-MX" i="1">
                              <a:latin typeface="Cambria Math" panose="02040503050406030204" pitchFamily="18" charset="0"/>
                            </a:rPr>
                            <m:t>0.001</m:t>
                          </m:r>
                        </m:e>
                      </m:d>
                      <m:r>
                        <a:rPr lang="es-MX" i="1">
                          <a:latin typeface="Cambria Math" panose="02040503050406030204" pitchFamily="18" charset="0"/>
                        </a:rPr>
                        <m:t>=</m:t>
                      </m:r>
                      <m:f>
                        <m:fPr>
                          <m:ctrlPr>
                            <a:rPr lang="en-US" i="1">
                              <a:latin typeface="Cambria Math" panose="02040503050406030204" pitchFamily="18" charset="0"/>
                            </a:rPr>
                          </m:ctrlPr>
                        </m:fPr>
                        <m:num>
                          <m:r>
                            <a:rPr lang="es-MX" i="1">
                              <a:latin typeface="Cambria Math" panose="02040503050406030204" pitchFamily="18" charset="0"/>
                            </a:rPr>
                            <m:t>−</m:t>
                          </m:r>
                          <m:r>
                            <a:rPr lang="es-MX" i="1">
                              <a:latin typeface="Cambria Math" panose="02040503050406030204" pitchFamily="18" charset="0"/>
                            </a:rPr>
                            <m:t>𝜁𝜋</m:t>
                          </m:r>
                        </m:num>
                        <m:den>
                          <m:rad>
                            <m:radPr>
                              <m:degHide m:val="on"/>
                              <m:ctrlPr>
                                <a:rPr lang="en-US" i="1">
                                  <a:latin typeface="Cambria Math" panose="02040503050406030204" pitchFamily="18" charset="0"/>
                                </a:rPr>
                              </m:ctrlPr>
                            </m:radPr>
                            <m:deg/>
                            <m:e>
                              <m:r>
                                <a:rPr lang="es-MX" i="1">
                                  <a:latin typeface="Cambria Math" panose="02040503050406030204" pitchFamily="18" charset="0"/>
                                </a:rPr>
                                <m:t>1−</m:t>
                              </m:r>
                              <m:sSup>
                                <m:sSupPr>
                                  <m:ctrlPr>
                                    <a:rPr lang="en-US" i="1">
                                      <a:latin typeface="Cambria Math" panose="02040503050406030204" pitchFamily="18" charset="0"/>
                                    </a:rPr>
                                  </m:ctrlPr>
                                </m:sSupPr>
                                <m:e>
                                  <m:r>
                                    <a:rPr lang="es-MX" i="1">
                                      <a:latin typeface="Cambria Math" panose="02040503050406030204" pitchFamily="18" charset="0"/>
                                    </a:rPr>
                                    <m:t>𝜁</m:t>
                                  </m:r>
                                </m:e>
                                <m:sup>
                                  <m:r>
                                    <a:rPr lang="es-MX" i="1">
                                      <a:latin typeface="Cambria Math" panose="02040503050406030204" pitchFamily="18" charset="0"/>
                                    </a:rPr>
                                    <m:t>2</m:t>
                                  </m:r>
                                </m:sup>
                              </m:sSup>
                            </m:e>
                          </m:rad>
                        </m:den>
                      </m:f>
                      <m:r>
                        <a:rPr lang="es-MX" i="1">
                          <a:latin typeface="Cambria Math" panose="02040503050406030204" pitchFamily="18" charset="0"/>
                        </a:rPr>
                        <m:t> →  </m:t>
                      </m:r>
                      <m:d>
                        <m:dPr>
                          <m:ctrlPr>
                            <a:rPr lang="en-US" i="1">
                              <a:latin typeface="Cambria Math" panose="02040503050406030204" pitchFamily="18" charset="0"/>
                            </a:rPr>
                          </m:ctrlPr>
                        </m:dPr>
                        <m:e>
                          <m:r>
                            <a:rPr lang="es-MX" i="1">
                              <a:latin typeface="Cambria Math" panose="02040503050406030204" pitchFamily="18" charset="0"/>
                            </a:rPr>
                            <m:t>1−</m:t>
                          </m:r>
                          <m:sSup>
                            <m:sSupPr>
                              <m:ctrlPr>
                                <a:rPr lang="en-US" i="1">
                                  <a:latin typeface="Cambria Math" panose="02040503050406030204" pitchFamily="18" charset="0"/>
                                </a:rPr>
                              </m:ctrlPr>
                            </m:sSupPr>
                            <m:e>
                              <m:r>
                                <a:rPr lang="es-MX" i="1">
                                  <a:latin typeface="Cambria Math" panose="02040503050406030204" pitchFamily="18" charset="0"/>
                                </a:rPr>
                                <m:t>𝜁</m:t>
                              </m:r>
                            </m:e>
                            <m:sup>
                              <m:r>
                                <a:rPr lang="es-MX" i="1">
                                  <a:latin typeface="Cambria Math" panose="02040503050406030204" pitchFamily="18" charset="0"/>
                                </a:rPr>
                                <m:t>2</m:t>
                              </m:r>
                            </m:sup>
                          </m:sSup>
                        </m:e>
                      </m:d>
                      <m:sSup>
                        <m:sSupPr>
                          <m:ctrlPr>
                            <a:rPr lang="en-US" i="1">
                              <a:latin typeface="Cambria Math" panose="02040503050406030204" pitchFamily="18" charset="0"/>
                            </a:rPr>
                          </m:ctrlPr>
                        </m:sSupPr>
                        <m:e>
                          <m:r>
                            <a:rPr lang="es-MX" i="1">
                              <a:latin typeface="Cambria Math" panose="02040503050406030204" pitchFamily="18" charset="0"/>
                            </a:rPr>
                            <m:t>𝐼𝑛</m:t>
                          </m:r>
                          <m:d>
                            <m:dPr>
                              <m:ctrlPr>
                                <a:rPr lang="en-US" i="1">
                                  <a:latin typeface="Cambria Math" panose="02040503050406030204" pitchFamily="18" charset="0"/>
                                </a:rPr>
                              </m:ctrlPr>
                            </m:dPr>
                            <m:e>
                              <m:r>
                                <a:rPr lang="es-MX" i="1">
                                  <a:latin typeface="Cambria Math" panose="02040503050406030204" pitchFamily="18" charset="0"/>
                                </a:rPr>
                                <m:t>0.001</m:t>
                              </m:r>
                            </m:e>
                          </m:d>
                        </m:e>
                        <m:sup>
                          <m:r>
                            <a:rPr lang="es-MX" i="1">
                              <a:latin typeface="Cambria Math" panose="02040503050406030204" pitchFamily="18" charset="0"/>
                            </a:rPr>
                            <m:t>2</m:t>
                          </m:r>
                        </m:sup>
                      </m:sSup>
                      <m:r>
                        <a:rPr lang="es-MX" i="1">
                          <a:latin typeface="Cambria Math" panose="02040503050406030204" pitchFamily="18" charset="0"/>
                        </a:rPr>
                        <m:t>=</m:t>
                      </m:r>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s-MX" i="1">
                                  <a:latin typeface="Cambria Math" panose="02040503050406030204" pitchFamily="18" charset="0"/>
                                </a:rPr>
                                <m:t>𝜁𝜋</m:t>
                              </m:r>
                            </m:e>
                          </m:d>
                        </m:e>
                        <m:sup>
                          <m:r>
                            <a:rPr lang="es-MX" i="1">
                              <a:latin typeface="Cambria Math" panose="02040503050406030204" pitchFamily="18" charset="0"/>
                            </a:rPr>
                            <m:t>2</m:t>
                          </m:r>
                        </m:sup>
                      </m:sSup>
                      <m:r>
                        <a:rPr lang="es-MX" i="1">
                          <a:latin typeface="Cambria Math" panose="02040503050406030204" pitchFamily="18" charset="0"/>
                        </a:rPr>
                        <m:t>  →    </m:t>
                      </m:r>
                      <m:r>
                        <a:rPr lang="es-MX" i="1">
                          <a:latin typeface="Cambria Math" panose="02040503050406030204" pitchFamily="18" charset="0"/>
                        </a:rPr>
                        <m:t>𝜁</m:t>
                      </m:r>
                      <m:r>
                        <a:rPr lang="es-MX" i="1">
                          <a:latin typeface="Cambria Math" panose="02040503050406030204" pitchFamily="18" charset="0"/>
                        </a:rPr>
                        <m:t>=</m:t>
                      </m:r>
                      <m:rad>
                        <m:radPr>
                          <m:degHide m:val="on"/>
                          <m:ctrlPr>
                            <a:rPr lang="en-US" i="1">
                              <a:latin typeface="Cambria Math" panose="02040503050406030204" pitchFamily="18" charset="0"/>
                            </a:rPr>
                          </m:ctrlPr>
                        </m:radPr>
                        <m:deg/>
                        <m:e>
                          <m:f>
                            <m:fPr>
                              <m:ctrlPr>
                                <a:rPr lang="en-US" i="1">
                                  <a:latin typeface="Cambria Math" panose="02040503050406030204" pitchFamily="18" charset="0"/>
                                </a:rPr>
                              </m:ctrlPr>
                            </m:fPr>
                            <m:num>
                              <m:sSup>
                                <m:sSupPr>
                                  <m:ctrlPr>
                                    <a:rPr lang="en-US" i="1">
                                      <a:latin typeface="Cambria Math" panose="02040503050406030204" pitchFamily="18" charset="0"/>
                                    </a:rPr>
                                  </m:ctrlPr>
                                </m:sSupPr>
                                <m:e>
                                  <m:r>
                                    <a:rPr lang="es-MX" i="1">
                                      <a:latin typeface="Cambria Math" panose="02040503050406030204" pitchFamily="18" charset="0"/>
                                    </a:rPr>
                                    <m:t>𝐼𝑛</m:t>
                                  </m:r>
                                  <m:d>
                                    <m:dPr>
                                      <m:ctrlPr>
                                        <a:rPr lang="en-US" i="1">
                                          <a:latin typeface="Cambria Math" panose="02040503050406030204" pitchFamily="18" charset="0"/>
                                        </a:rPr>
                                      </m:ctrlPr>
                                    </m:dPr>
                                    <m:e>
                                      <m:r>
                                        <a:rPr lang="es-MX" i="1">
                                          <a:latin typeface="Cambria Math" panose="02040503050406030204" pitchFamily="18" charset="0"/>
                                        </a:rPr>
                                        <m:t>0.001</m:t>
                                      </m:r>
                                    </m:e>
                                  </m:d>
                                </m:e>
                                <m:sup>
                                  <m:r>
                                    <a:rPr lang="es-MX" i="1">
                                      <a:latin typeface="Cambria Math" panose="02040503050406030204" pitchFamily="18" charset="0"/>
                                    </a:rPr>
                                    <m:t>2</m:t>
                                  </m:r>
                                </m:sup>
                              </m:sSup>
                            </m:num>
                            <m:den>
                              <m:sSup>
                                <m:sSupPr>
                                  <m:ctrlPr>
                                    <a:rPr lang="en-US" i="1">
                                      <a:latin typeface="Cambria Math" panose="02040503050406030204" pitchFamily="18" charset="0"/>
                                    </a:rPr>
                                  </m:ctrlPr>
                                </m:sSupPr>
                                <m:e>
                                  <m:r>
                                    <a:rPr lang="es-MX" i="1">
                                      <a:latin typeface="Cambria Math" panose="02040503050406030204" pitchFamily="18" charset="0"/>
                                    </a:rPr>
                                    <m:t>𝐼𝑛</m:t>
                                  </m:r>
                                  <m:d>
                                    <m:dPr>
                                      <m:ctrlPr>
                                        <a:rPr lang="en-US" i="1">
                                          <a:latin typeface="Cambria Math" panose="02040503050406030204" pitchFamily="18" charset="0"/>
                                        </a:rPr>
                                      </m:ctrlPr>
                                    </m:dPr>
                                    <m:e>
                                      <m:r>
                                        <a:rPr lang="es-MX" i="1">
                                          <a:latin typeface="Cambria Math" panose="02040503050406030204" pitchFamily="18" charset="0"/>
                                        </a:rPr>
                                        <m:t>0.001</m:t>
                                      </m:r>
                                    </m:e>
                                  </m:d>
                                </m:e>
                                <m:sup>
                                  <m:r>
                                    <a:rPr lang="es-MX" i="1">
                                      <a:latin typeface="Cambria Math" panose="02040503050406030204" pitchFamily="18" charset="0"/>
                                    </a:rPr>
                                    <m:t>2</m:t>
                                  </m:r>
                                </m:sup>
                              </m:sSup>
                              <m:r>
                                <a:rPr lang="es-MX" i="1">
                                  <a:latin typeface="Cambria Math" panose="02040503050406030204" pitchFamily="18" charset="0"/>
                                </a:rPr>
                                <m:t>+</m:t>
                              </m:r>
                              <m:sSup>
                                <m:sSupPr>
                                  <m:ctrlPr>
                                    <a:rPr lang="en-US" i="1">
                                      <a:latin typeface="Cambria Math" panose="02040503050406030204" pitchFamily="18" charset="0"/>
                                    </a:rPr>
                                  </m:ctrlPr>
                                </m:sSupPr>
                                <m:e>
                                  <m:r>
                                    <a:rPr lang="es-MX" i="1">
                                      <a:latin typeface="Cambria Math" panose="02040503050406030204" pitchFamily="18" charset="0"/>
                                    </a:rPr>
                                    <m:t>𝜋</m:t>
                                  </m:r>
                                </m:e>
                                <m:sup>
                                  <m:r>
                                    <a:rPr lang="es-MX" i="1">
                                      <a:latin typeface="Cambria Math" panose="02040503050406030204" pitchFamily="18" charset="0"/>
                                    </a:rPr>
                                    <m:t>2</m:t>
                                  </m:r>
                                </m:sup>
                              </m:sSup>
                            </m:den>
                          </m:f>
                        </m:e>
                      </m:rad>
                      <m:r>
                        <a:rPr lang="es-MX" i="1">
                          <a:latin typeface="Cambria Math" panose="02040503050406030204" pitchFamily="18" charset="0"/>
                        </a:rPr>
                        <m:t>=0.91</m:t>
                      </m:r>
                    </m:oMath>
                  </m:oMathPara>
                </a14:m>
                <a:endParaRPr lang="en-US" dirty="0"/>
              </a:p>
              <a:p>
                <a:pPr marL="0" indent="0">
                  <a:buNone/>
                </a:pPr>
                <a14:m>
                  <m:oMathPara xmlns:m="http://schemas.openxmlformats.org/officeDocument/2006/math">
                    <m:oMathParaPr>
                      <m:jc m:val="centerGroup"/>
                    </m:oMathParaPr>
                    <m:oMath xmlns:m="http://schemas.openxmlformats.org/officeDocument/2006/math">
                      <m:r>
                        <a:rPr lang="es-MX" i="1">
                          <a:latin typeface="Cambria Math" panose="02040503050406030204" pitchFamily="18" charset="0"/>
                        </a:rPr>
                        <m:t> </m:t>
                      </m:r>
                      <m:sSub>
                        <m:sSubPr>
                          <m:ctrlPr>
                            <a:rPr lang="en-US" i="1">
                              <a:latin typeface="Cambria Math" panose="02040503050406030204" pitchFamily="18" charset="0"/>
                            </a:rPr>
                          </m:ctrlPr>
                        </m:sSubPr>
                        <m:e>
                          <m:r>
                            <a:rPr lang="es-MX" i="1">
                              <a:latin typeface="Cambria Math" panose="02040503050406030204" pitchFamily="18" charset="0"/>
                            </a:rPr>
                            <m:t>𝜔</m:t>
                          </m:r>
                        </m:e>
                        <m:sub>
                          <m:r>
                            <a:rPr lang="es-MX" i="1">
                              <a:latin typeface="Cambria Math" panose="02040503050406030204" pitchFamily="18" charset="0"/>
                            </a:rPr>
                            <m:t>𝑛</m:t>
                          </m:r>
                        </m:sub>
                      </m:sSub>
                      <m:r>
                        <a:rPr lang="es-MX" i="1">
                          <a:latin typeface="Cambria Math" panose="02040503050406030204" pitchFamily="18" charset="0"/>
                        </a:rPr>
                        <m:t>=</m:t>
                      </m:r>
                      <m:f>
                        <m:fPr>
                          <m:ctrlPr>
                            <a:rPr lang="en-US" i="1">
                              <a:latin typeface="Cambria Math" panose="02040503050406030204" pitchFamily="18" charset="0"/>
                            </a:rPr>
                          </m:ctrlPr>
                        </m:fPr>
                        <m:num>
                          <m:r>
                            <a:rPr lang="es-MX" i="1">
                              <a:latin typeface="Cambria Math" panose="02040503050406030204" pitchFamily="18" charset="0"/>
                            </a:rPr>
                            <m:t>4</m:t>
                          </m:r>
                        </m:num>
                        <m:den>
                          <m:r>
                            <a:rPr lang="es-MX" i="1">
                              <a:latin typeface="Cambria Math" panose="02040503050406030204" pitchFamily="18" charset="0"/>
                            </a:rPr>
                            <m:t>300∗</m:t>
                          </m:r>
                          <m:r>
                            <a:rPr lang="es-MX" i="1">
                              <a:latin typeface="Cambria Math" panose="02040503050406030204" pitchFamily="18" charset="0"/>
                            </a:rPr>
                            <m:t>𝜁</m:t>
                          </m:r>
                        </m:den>
                      </m:f>
                      <m:r>
                        <a:rPr lang="es-MX" i="1">
                          <a:latin typeface="Cambria Math" panose="02040503050406030204" pitchFamily="18" charset="0"/>
                        </a:rPr>
                        <m:t>  →     </m:t>
                      </m:r>
                      <m:sSub>
                        <m:sSubPr>
                          <m:ctrlPr>
                            <a:rPr lang="en-US" i="1">
                              <a:latin typeface="Cambria Math" panose="02040503050406030204" pitchFamily="18" charset="0"/>
                            </a:rPr>
                          </m:ctrlPr>
                        </m:sSubPr>
                        <m:e>
                          <m:r>
                            <a:rPr lang="es-MX" i="1">
                              <a:latin typeface="Cambria Math" panose="02040503050406030204" pitchFamily="18" charset="0"/>
                            </a:rPr>
                            <m:t>𝜔</m:t>
                          </m:r>
                        </m:e>
                        <m:sub>
                          <m:r>
                            <a:rPr lang="es-MX" i="1">
                              <a:latin typeface="Cambria Math" panose="02040503050406030204" pitchFamily="18" charset="0"/>
                            </a:rPr>
                            <m:t>𝑛</m:t>
                          </m:r>
                        </m:sub>
                      </m:sSub>
                      <m:r>
                        <a:rPr lang="es-MX" i="1">
                          <a:latin typeface="Cambria Math" panose="02040503050406030204" pitchFamily="18" charset="0"/>
                        </a:rPr>
                        <m:t>=14.65∙</m:t>
                      </m:r>
                      <m:sSup>
                        <m:sSupPr>
                          <m:ctrlPr>
                            <a:rPr lang="en-US" i="1">
                              <a:latin typeface="Cambria Math" panose="02040503050406030204" pitchFamily="18" charset="0"/>
                            </a:rPr>
                          </m:ctrlPr>
                        </m:sSupPr>
                        <m:e>
                          <m:r>
                            <a:rPr lang="es-MX" i="1">
                              <a:latin typeface="Cambria Math" panose="02040503050406030204" pitchFamily="18" charset="0"/>
                            </a:rPr>
                            <m:t>10</m:t>
                          </m:r>
                        </m:e>
                        <m:sup>
                          <m:r>
                            <a:rPr lang="es-MX" i="1">
                              <a:latin typeface="Cambria Math" panose="02040503050406030204" pitchFamily="18" charset="0"/>
                            </a:rPr>
                            <m:t>−3</m:t>
                          </m:r>
                        </m:sup>
                      </m:sSup>
                    </m:oMath>
                  </m:oMathPara>
                </a14:m>
                <a:endParaRPr lang="en-US" dirty="0"/>
              </a:p>
              <a:p>
                <a:pPr marL="0" indent="0">
                  <a:buNone/>
                </a:pPr>
                <a:r>
                  <a:rPr lang="es-BO" dirty="0"/>
                  <a:t>Sea el polinomio característico de un sistema de 2do orden:</a:t>
                </a:r>
                <a:endParaRPr lang="en-US" dirty="0"/>
              </a:p>
              <a:p>
                <a:pPr marL="0" indent="0">
                  <a:buNone/>
                </a:pPr>
                <a14:m>
                  <m:oMathPara xmlns:m="http://schemas.openxmlformats.org/officeDocument/2006/math">
                    <m:oMathParaPr>
                      <m:jc m:val="centerGroup"/>
                    </m:oMathParaPr>
                    <m:oMath xmlns:m="http://schemas.openxmlformats.org/officeDocument/2006/math">
                      <m:sSup>
                        <m:sSupPr>
                          <m:ctrlPr>
                            <a:rPr lang="en-US" i="1">
                              <a:latin typeface="Cambria Math" panose="02040503050406030204" pitchFamily="18" charset="0"/>
                            </a:rPr>
                          </m:ctrlPr>
                        </m:sSupPr>
                        <m:e>
                          <m:r>
                            <a:rPr lang="es-MX" i="1">
                              <a:latin typeface="Cambria Math" panose="02040503050406030204" pitchFamily="18" charset="0"/>
                            </a:rPr>
                            <m:t>𝑠</m:t>
                          </m:r>
                        </m:e>
                        <m:sup>
                          <m:r>
                            <a:rPr lang="es-MX" i="1">
                              <a:latin typeface="Cambria Math" panose="02040503050406030204" pitchFamily="18" charset="0"/>
                            </a:rPr>
                            <m:t>2</m:t>
                          </m:r>
                        </m:sup>
                      </m:sSup>
                      <m:r>
                        <a:rPr lang="es-MX" i="1">
                          <a:latin typeface="Cambria Math" panose="02040503050406030204" pitchFamily="18" charset="0"/>
                        </a:rPr>
                        <m:t>+2</m:t>
                      </m:r>
                      <m:r>
                        <a:rPr lang="es-MX" i="1">
                          <a:latin typeface="Cambria Math" panose="02040503050406030204" pitchFamily="18" charset="0"/>
                        </a:rPr>
                        <m:t>𝜁</m:t>
                      </m:r>
                      <m:sSub>
                        <m:sSubPr>
                          <m:ctrlPr>
                            <a:rPr lang="en-US" i="1">
                              <a:latin typeface="Cambria Math" panose="02040503050406030204" pitchFamily="18" charset="0"/>
                            </a:rPr>
                          </m:ctrlPr>
                        </m:sSubPr>
                        <m:e>
                          <m:r>
                            <a:rPr lang="es-MX" i="1">
                              <a:latin typeface="Cambria Math" panose="02040503050406030204" pitchFamily="18" charset="0"/>
                            </a:rPr>
                            <m:t>𝜔</m:t>
                          </m:r>
                        </m:e>
                        <m:sub>
                          <m:r>
                            <a:rPr lang="es-MX" i="1">
                              <a:latin typeface="Cambria Math" panose="02040503050406030204" pitchFamily="18" charset="0"/>
                            </a:rPr>
                            <m:t>𝑛</m:t>
                          </m:r>
                        </m:sub>
                      </m:sSub>
                      <m:r>
                        <a:rPr lang="es-MX" i="1">
                          <a:latin typeface="Cambria Math" panose="02040503050406030204" pitchFamily="18" charset="0"/>
                        </a:rPr>
                        <m:t>𝑠</m:t>
                      </m:r>
                      <m:r>
                        <a:rPr lang="es-MX" i="1">
                          <a:latin typeface="Cambria Math" panose="02040503050406030204" pitchFamily="18" charset="0"/>
                        </a:rPr>
                        <m:t>+</m:t>
                      </m:r>
                      <m:sSup>
                        <m:sSupPr>
                          <m:ctrlPr>
                            <a:rPr lang="en-US" i="1">
                              <a:latin typeface="Cambria Math" panose="02040503050406030204" pitchFamily="18" charset="0"/>
                            </a:rPr>
                          </m:ctrlPr>
                        </m:sSupPr>
                        <m:e>
                          <m:sSub>
                            <m:sSubPr>
                              <m:ctrlPr>
                                <a:rPr lang="en-US" i="1">
                                  <a:latin typeface="Cambria Math" panose="02040503050406030204" pitchFamily="18" charset="0"/>
                                </a:rPr>
                              </m:ctrlPr>
                            </m:sSubPr>
                            <m:e>
                              <m:r>
                                <a:rPr lang="es-MX" i="1">
                                  <a:latin typeface="Cambria Math" panose="02040503050406030204" pitchFamily="18" charset="0"/>
                                </a:rPr>
                                <m:t>𝜔</m:t>
                              </m:r>
                            </m:e>
                            <m:sub>
                              <m:r>
                                <a:rPr lang="es-MX" i="1">
                                  <a:latin typeface="Cambria Math" panose="02040503050406030204" pitchFamily="18" charset="0"/>
                                </a:rPr>
                                <m:t>𝑛</m:t>
                              </m:r>
                            </m:sub>
                          </m:sSub>
                        </m:e>
                        <m:sup>
                          <m:r>
                            <a:rPr lang="es-MX" i="1">
                              <a:latin typeface="Cambria Math" panose="02040503050406030204" pitchFamily="18" charset="0"/>
                            </a:rPr>
                            <m:t>2</m:t>
                          </m:r>
                        </m:sup>
                      </m:sSup>
                      <m:r>
                        <a:rPr lang="es-MX" i="1">
                          <a:latin typeface="Cambria Math" panose="02040503050406030204" pitchFamily="18" charset="0"/>
                        </a:rPr>
                        <m:t>      →    </m:t>
                      </m:r>
                      <m:sSup>
                        <m:sSupPr>
                          <m:ctrlPr>
                            <a:rPr lang="en-US" i="1">
                              <a:latin typeface="Cambria Math" panose="02040503050406030204" pitchFamily="18" charset="0"/>
                            </a:rPr>
                          </m:ctrlPr>
                        </m:sSupPr>
                        <m:e>
                          <m:r>
                            <a:rPr lang="es-MX" i="1">
                              <a:latin typeface="Cambria Math" panose="02040503050406030204" pitchFamily="18" charset="0"/>
                            </a:rPr>
                            <m:t>𝑠</m:t>
                          </m:r>
                        </m:e>
                        <m:sup>
                          <m:r>
                            <a:rPr lang="es-MX" i="1">
                              <a:latin typeface="Cambria Math" panose="02040503050406030204" pitchFamily="18" charset="0"/>
                            </a:rPr>
                            <m:t>2</m:t>
                          </m:r>
                        </m:sup>
                      </m:sSup>
                      <m:r>
                        <a:rPr lang="es-MX" i="1">
                          <a:latin typeface="Cambria Math" panose="02040503050406030204" pitchFamily="18" charset="0"/>
                        </a:rPr>
                        <m:t>+0.0267</m:t>
                      </m:r>
                      <m:r>
                        <a:rPr lang="es-MX" i="1">
                          <a:latin typeface="Cambria Math" panose="02040503050406030204" pitchFamily="18" charset="0"/>
                        </a:rPr>
                        <m:t>𝑠</m:t>
                      </m:r>
                      <m:r>
                        <a:rPr lang="es-MX" i="1">
                          <a:latin typeface="Cambria Math" panose="02040503050406030204" pitchFamily="18" charset="0"/>
                        </a:rPr>
                        <m:t>+0.2146∙</m:t>
                      </m:r>
                      <m:sSup>
                        <m:sSupPr>
                          <m:ctrlPr>
                            <a:rPr lang="en-US" i="1">
                              <a:latin typeface="Cambria Math" panose="02040503050406030204" pitchFamily="18" charset="0"/>
                            </a:rPr>
                          </m:ctrlPr>
                        </m:sSupPr>
                        <m:e>
                          <m:r>
                            <a:rPr lang="es-MX" i="1">
                              <a:latin typeface="Cambria Math" panose="02040503050406030204" pitchFamily="18" charset="0"/>
                            </a:rPr>
                            <m:t>10</m:t>
                          </m:r>
                        </m:e>
                        <m:sup>
                          <m:r>
                            <a:rPr lang="es-MX" i="1">
                              <a:latin typeface="Cambria Math" panose="02040503050406030204" pitchFamily="18" charset="0"/>
                            </a:rPr>
                            <m:t>−3</m:t>
                          </m:r>
                        </m:sup>
                      </m:sSup>
                    </m:oMath>
                  </m:oMathPara>
                </a14:m>
                <a:endParaRPr lang="en-US" dirty="0"/>
              </a:p>
              <a:p>
                <a:pPr marL="0" indent="0">
                  <a:buNone/>
                </a:pPr>
                <a:r>
                  <a:rPr lang="es-MX" dirty="0"/>
                  <a:t>Las raíces que deseamos serán:</a:t>
                </a:r>
                <a:endParaRPr lang="en-US" dirty="0"/>
              </a:p>
              <a:p>
                <a:pPr marL="0" indent="0">
                  <a:buNone/>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s-BO" i="1">
                              <a:latin typeface="Cambria Math" panose="02040503050406030204" pitchFamily="18" charset="0"/>
                            </a:rPr>
                            <m:t>𝑠</m:t>
                          </m:r>
                        </m:e>
                        <m:sub>
                          <m:r>
                            <a:rPr lang="es-BO" i="1">
                              <a:latin typeface="Cambria Math" panose="02040503050406030204" pitchFamily="18" charset="0"/>
                            </a:rPr>
                            <m:t>1,2</m:t>
                          </m:r>
                        </m:sub>
                      </m:sSub>
                      <m:r>
                        <a:rPr lang="es-BO" i="1">
                          <a:latin typeface="Cambria Math" panose="02040503050406030204" pitchFamily="18" charset="0"/>
                        </a:rPr>
                        <m:t>=−0.01335±</m:t>
                      </m:r>
                      <m:r>
                        <a:rPr lang="es-MX" i="1">
                          <a:latin typeface="Cambria Math" panose="02040503050406030204" pitchFamily="18" charset="0"/>
                        </a:rPr>
                        <m:t>6.0314∙</m:t>
                      </m:r>
                      <m:sSup>
                        <m:sSupPr>
                          <m:ctrlPr>
                            <a:rPr lang="en-US" i="1">
                              <a:latin typeface="Cambria Math" panose="02040503050406030204" pitchFamily="18" charset="0"/>
                            </a:rPr>
                          </m:ctrlPr>
                        </m:sSupPr>
                        <m:e>
                          <m:r>
                            <a:rPr lang="es-MX" i="1">
                              <a:latin typeface="Cambria Math" panose="02040503050406030204" pitchFamily="18" charset="0"/>
                            </a:rPr>
                            <m:t>10</m:t>
                          </m:r>
                        </m:e>
                        <m:sup>
                          <m:r>
                            <a:rPr lang="es-MX" i="1">
                              <a:latin typeface="Cambria Math" panose="02040503050406030204" pitchFamily="18" charset="0"/>
                            </a:rPr>
                            <m:t>−3</m:t>
                          </m:r>
                        </m:sup>
                      </m:sSup>
                    </m:oMath>
                  </m:oMathPara>
                </a14:m>
                <a:endParaRPr lang="en-US" dirty="0"/>
              </a:p>
              <a:p>
                <a:pPr marL="0" indent="0">
                  <a:buNone/>
                </a:pPr>
                <a:endParaRPr lang="en-US" dirty="0"/>
              </a:p>
            </p:txBody>
          </p:sp>
        </mc:Choice>
        <mc:Fallback xmlns="">
          <p:sp>
            <p:nvSpPr>
              <p:cNvPr id="3" name="Marcador de contenido 2"/>
              <p:cNvSpPr>
                <a:spLocks noGrp="1" noRot="1" noChangeAspect="1" noMove="1" noResize="1" noEditPoints="1" noAdjustHandles="1" noChangeArrowheads="1" noChangeShapeType="1" noTextEdit="1"/>
              </p:cNvSpPr>
              <p:nvPr>
                <p:ph idx="1"/>
              </p:nvPr>
            </p:nvSpPr>
            <p:spPr>
              <a:xfrm>
                <a:off x="1069848" y="1976265"/>
                <a:ext cx="10058400" cy="4050792"/>
              </a:xfrm>
              <a:blipFill>
                <a:blip r:embed="rId2"/>
                <a:stretch>
                  <a:fillRect l="-606" t="-2105"/>
                </a:stretch>
              </a:blipFill>
            </p:spPr>
            <p:txBody>
              <a:bodyPr/>
              <a:lstStyle/>
              <a:p>
                <a:r>
                  <a:rPr lang="es-BO">
                    <a:noFill/>
                  </a:rPr>
                  <a:t> </a:t>
                </a:r>
              </a:p>
            </p:txBody>
          </p:sp>
        </mc:Fallback>
      </mc:AlternateContent>
    </p:spTree>
    <p:extLst>
      <p:ext uri="{BB962C8B-B14F-4D97-AF65-F5344CB8AC3E}">
        <p14:creationId xmlns:p14="http://schemas.microsoft.com/office/powerpoint/2010/main" val="13957852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Marcador de contenido 2"/>
              <p:cNvSpPr>
                <a:spLocks noGrp="1"/>
              </p:cNvSpPr>
              <p:nvPr>
                <p:ph idx="1"/>
              </p:nvPr>
            </p:nvSpPr>
            <p:spPr>
              <a:xfrm>
                <a:off x="780288" y="734568"/>
                <a:ext cx="10058400" cy="5704332"/>
              </a:xfrm>
            </p:spPr>
            <p:txBody>
              <a:bodyPr>
                <a:normAutofit fontScale="92500" lnSpcReduction="10000"/>
              </a:bodyPr>
              <a:lstStyle/>
              <a:p>
                <a:pPr marL="0" indent="0">
                  <a:buNone/>
                </a:pPr>
                <a:r>
                  <a:rPr lang="es-BO" dirty="0"/>
                  <a:t>Donde podemos definir las siguientes ecuaciones:</a:t>
                </a:r>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m>
                        <m:mPr>
                          <m:mcs>
                            <m:mc>
                              <m:mcPr>
                                <m:count m:val="1"/>
                                <m:mcJc m:val="center"/>
                              </m:mcPr>
                            </m:mc>
                          </m:mcs>
                          <m:ctrlPr>
                            <a:rPr lang="en-US" i="1">
                              <a:latin typeface="Cambria Math" panose="02040503050406030204" pitchFamily="18" charset="0"/>
                            </a:rPr>
                          </m:ctrlPr>
                        </m:mPr>
                        <m:mr>
                          <m:e>
                            <m:acc>
                              <m:accPr>
                                <m:chr m:val="̇"/>
                                <m:ctrlPr>
                                  <a:rPr lang="en-US" i="1">
                                    <a:latin typeface="Cambria Math" panose="02040503050406030204" pitchFamily="18" charset="0"/>
                                  </a:rPr>
                                </m:ctrlPr>
                              </m:accPr>
                              <m:e>
                                <m:r>
                                  <a:rPr lang="es-BO" i="1">
                                    <a:latin typeface="Cambria Math" panose="02040503050406030204" pitchFamily="18" charset="0"/>
                                  </a:rPr>
                                  <m:t>𝑥</m:t>
                                </m:r>
                              </m:e>
                            </m:acc>
                            <m:d>
                              <m:dPr>
                                <m:ctrlPr>
                                  <a:rPr lang="en-US" i="1">
                                    <a:latin typeface="Cambria Math" panose="02040503050406030204" pitchFamily="18" charset="0"/>
                                  </a:rPr>
                                </m:ctrlPr>
                              </m:dPr>
                              <m:e>
                                <m:r>
                                  <a:rPr lang="es-BO" i="1">
                                    <a:latin typeface="Cambria Math" panose="02040503050406030204" pitchFamily="18" charset="0"/>
                                  </a:rPr>
                                  <m:t>𝑡</m:t>
                                </m:r>
                              </m:e>
                            </m:d>
                            <m:r>
                              <a:rPr lang="es-BO" i="1">
                                <a:latin typeface="Cambria Math" panose="02040503050406030204" pitchFamily="18" charset="0"/>
                              </a:rPr>
                              <m:t>=</m:t>
                            </m:r>
                            <m:r>
                              <a:rPr lang="es-BO" i="1">
                                <a:latin typeface="Cambria Math" panose="02040503050406030204" pitchFamily="18" charset="0"/>
                              </a:rPr>
                              <m:t>𝐴𝑥</m:t>
                            </m:r>
                            <m:d>
                              <m:dPr>
                                <m:ctrlPr>
                                  <a:rPr lang="en-US" i="1">
                                    <a:latin typeface="Cambria Math" panose="02040503050406030204" pitchFamily="18" charset="0"/>
                                  </a:rPr>
                                </m:ctrlPr>
                              </m:dPr>
                              <m:e>
                                <m:r>
                                  <a:rPr lang="es-BO" i="1">
                                    <a:latin typeface="Cambria Math" panose="02040503050406030204" pitchFamily="18" charset="0"/>
                                  </a:rPr>
                                  <m:t>𝑡</m:t>
                                </m:r>
                              </m:e>
                            </m:d>
                            <m:r>
                              <a:rPr lang="es-BO" i="1">
                                <a:latin typeface="Cambria Math" panose="02040503050406030204" pitchFamily="18" charset="0"/>
                              </a:rPr>
                              <m:t>+</m:t>
                            </m:r>
                            <m:r>
                              <a:rPr lang="es-BO" i="1">
                                <a:latin typeface="Cambria Math" panose="02040503050406030204" pitchFamily="18" charset="0"/>
                              </a:rPr>
                              <m:t>𝐵𝑢</m:t>
                            </m:r>
                            <m:r>
                              <a:rPr lang="es-BO" i="1">
                                <a:latin typeface="Cambria Math" panose="02040503050406030204" pitchFamily="18" charset="0"/>
                              </a:rPr>
                              <m:t>(</m:t>
                            </m:r>
                            <m:r>
                              <a:rPr lang="es-BO" i="1">
                                <a:latin typeface="Cambria Math" panose="02040503050406030204" pitchFamily="18" charset="0"/>
                              </a:rPr>
                              <m:t>𝑡</m:t>
                            </m:r>
                            <m:r>
                              <a:rPr lang="es-BO" i="1">
                                <a:latin typeface="Cambria Math" panose="02040503050406030204" pitchFamily="18" charset="0"/>
                              </a:rPr>
                              <m:t>)</m:t>
                            </m:r>
                          </m:e>
                        </m:mr>
                        <m:mr>
                          <m:e>
                            <m:m>
                              <m:mPr>
                                <m:mcs>
                                  <m:mc>
                                    <m:mcPr>
                                      <m:count m:val="1"/>
                                      <m:mcJc m:val="center"/>
                                    </m:mcPr>
                                  </m:mc>
                                </m:mcs>
                                <m:ctrlPr>
                                  <a:rPr lang="en-US" i="1">
                                    <a:latin typeface="Cambria Math" panose="02040503050406030204" pitchFamily="18" charset="0"/>
                                  </a:rPr>
                                </m:ctrlPr>
                              </m:mPr>
                              <m:mr>
                                <m:e>
                                  <m:r>
                                    <a:rPr lang="es-BO" i="1">
                                      <a:latin typeface="Cambria Math" panose="02040503050406030204" pitchFamily="18" charset="0"/>
                                    </a:rPr>
                                    <m:t>𝑦</m:t>
                                  </m:r>
                                  <m:d>
                                    <m:dPr>
                                      <m:ctrlPr>
                                        <a:rPr lang="en-US" i="1">
                                          <a:latin typeface="Cambria Math" panose="02040503050406030204" pitchFamily="18" charset="0"/>
                                        </a:rPr>
                                      </m:ctrlPr>
                                    </m:dPr>
                                    <m:e>
                                      <m:r>
                                        <a:rPr lang="es-BO" i="1">
                                          <a:latin typeface="Cambria Math" panose="02040503050406030204" pitchFamily="18" charset="0"/>
                                        </a:rPr>
                                        <m:t>𝑡</m:t>
                                      </m:r>
                                    </m:e>
                                  </m:d>
                                  <m:r>
                                    <a:rPr lang="es-BO" i="1">
                                      <a:latin typeface="Cambria Math" panose="02040503050406030204" pitchFamily="18" charset="0"/>
                                    </a:rPr>
                                    <m:t>=</m:t>
                                  </m:r>
                                  <m:r>
                                    <a:rPr lang="es-BO" i="1">
                                      <a:latin typeface="Cambria Math" panose="02040503050406030204" pitchFamily="18" charset="0"/>
                                    </a:rPr>
                                    <m:t>𝐶𝑥</m:t>
                                  </m:r>
                                  <m:r>
                                    <a:rPr lang="es-BO" i="1">
                                      <a:latin typeface="Cambria Math" panose="02040503050406030204" pitchFamily="18" charset="0"/>
                                    </a:rPr>
                                    <m:t>(</m:t>
                                  </m:r>
                                  <m:r>
                                    <a:rPr lang="es-BO" i="1">
                                      <a:latin typeface="Cambria Math" panose="02040503050406030204" pitchFamily="18" charset="0"/>
                                    </a:rPr>
                                    <m:t>𝑡</m:t>
                                  </m:r>
                                  <m:r>
                                    <a:rPr lang="es-BO" i="1">
                                      <a:latin typeface="Cambria Math" panose="02040503050406030204" pitchFamily="18" charset="0"/>
                                    </a:rPr>
                                    <m:t>)</m:t>
                                  </m:r>
                                </m:e>
                              </m:mr>
                              <m:mr>
                                <m:e>
                                  <m:r>
                                    <a:rPr lang="es-BO" i="1">
                                      <a:latin typeface="Cambria Math" panose="02040503050406030204" pitchFamily="18" charset="0"/>
                                    </a:rPr>
                                    <m:t>𝑢</m:t>
                                  </m:r>
                                  <m:d>
                                    <m:dPr>
                                      <m:ctrlPr>
                                        <a:rPr lang="en-US" i="1">
                                          <a:latin typeface="Cambria Math" panose="02040503050406030204" pitchFamily="18" charset="0"/>
                                        </a:rPr>
                                      </m:ctrlPr>
                                    </m:dPr>
                                    <m:e>
                                      <m:r>
                                        <a:rPr lang="es-BO" i="1">
                                          <a:latin typeface="Cambria Math" panose="02040503050406030204" pitchFamily="18" charset="0"/>
                                        </a:rPr>
                                        <m:t>𝑡</m:t>
                                      </m:r>
                                    </m:e>
                                  </m:d>
                                  <m:r>
                                    <a:rPr lang="es-BO" i="1">
                                      <a:latin typeface="Cambria Math" panose="02040503050406030204" pitchFamily="18" charset="0"/>
                                    </a:rPr>
                                    <m:t>=</m:t>
                                  </m:r>
                                  <m:sSub>
                                    <m:sSubPr>
                                      <m:ctrlPr>
                                        <a:rPr lang="en-US" i="1">
                                          <a:latin typeface="Cambria Math" panose="02040503050406030204" pitchFamily="18" charset="0"/>
                                        </a:rPr>
                                      </m:ctrlPr>
                                    </m:sSubPr>
                                    <m:e>
                                      <m:r>
                                        <a:rPr lang="es-BO" i="1">
                                          <a:latin typeface="Cambria Math" panose="02040503050406030204" pitchFamily="18" charset="0"/>
                                        </a:rPr>
                                        <m:t>𝑘</m:t>
                                      </m:r>
                                    </m:e>
                                    <m:sub>
                                      <m:r>
                                        <a:rPr lang="es-BO" i="1">
                                          <a:latin typeface="Cambria Math" panose="02040503050406030204" pitchFamily="18" charset="0"/>
                                        </a:rPr>
                                        <m:t>1</m:t>
                                      </m:r>
                                    </m:sub>
                                  </m:sSub>
                                  <m:r>
                                    <a:rPr lang="es-BO" i="1">
                                      <a:latin typeface="Cambria Math" panose="02040503050406030204" pitchFamily="18" charset="0"/>
                                    </a:rPr>
                                    <m:t>𝜉</m:t>
                                  </m:r>
                                  <m:d>
                                    <m:dPr>
                                      <m:ctrlPr>
                                        <a:rPr lang="en-US" i="1">
                                          <a:latin typeface="Cambria Math" panose="02040503050406030204" pitchFamily="18" charset="0"/>
                                        </a:rPr>
                                      </m:ctrlPr>
                                    </m:dPr>
                                    <m:e>
                                      <m:r>
                                        <a:rPr lang="es-BO" i="1">
                                          <a:latin typeface="Cambria Math" panose="02040503050406030204" pitchFamily="18" charset="0"/>
                                        </a:rPr>
                                        <m:t>𝑡</m:t>
                                      </m:r>
                                    </m:e>
                                  </m:d>
                                  <m:r>
                                    <a:rPr lang="es-BO" i="1">
                                      <a:latin typeface="Cambria Math" panose="02040503050406030204" pitchFamily="18" charset="0"/>
                                    </a:rPr>
                                    <m:t>−</m:t>
                                  </m:r>
                                  <m:r>
                                    <a:rPr lang="es-BO" i="1">
                                      <a:latin typeface="Cambria Math" panose="02040503050406030204" pitchFamily="18" charset="0"/>
                                    </a:rPr>
                                    <m:t>𝐾𝑥</m:t>
                                  </m:r>
                                  <m:d>
                                    <m:dPr>
                                      <m:ctrlPr>
                                        <a:rPr lang="en-US" i="1">
                                          <a:latin typeface="Cambria Math" panose="02040503050406030204" pitchFamily="18" charset="0"/>
                                        </a:rPr>
                                      </m:ctrlPr>
                                    </m:dPr>
                                    <m:e>
                                      <m:r>
                                        <a:rPr lang="es-BO" i="1">
                                          <a:latin typeface="Cambria Math" panose="02040503050406030204" pitchFamily="18" charset="0"/>
                                        </a:rPr>
                                        <m:t>𝑡</m:t>
                                      </m:r>
                                    </m:e>
                                  </m:d>
                                </m:e>
                              </m:mr>
                            </m:m>
                          </m:e>
                        </m:mr>
                        <m:mr>
                          <m:e>
                            <m:acc>
                              <m:accPr>
                                <m:chr m:val="̇"/>
                                <m:ctrlPr>
                                  <a:rPr lang="en-US" i="1">
                                    <a:latin typeface="Cambria Math" panose="02040503050406030204" pitchFamily="18" charset="0"/>
                                  </a:rPr>
                                </m:ctrlPr>
                              </m:accPr>
                              <m:e>
                                <m:r>
                                  <a:rPr lang="es-BO" i="1">
                                    <a:latin typeface="Cambria Math" panose="02040503050406030204" pitchFamily="18" charset="0"/>
                                  </a:rPr>
                                  <m:t>𝜉</m:t>
                                </m:r>
                              </m:e>
                            </m:acc>
                            <m:d>
                              <m:dPr>
                                <m:ctrlPr>
                                  <a:rPr lang="en-US" i="1">
                                    <a:latin typeface="Cambria Math" panose="02040503050406030204" pitchFamily="18" charset="0"/>
                                  </a:rPr>
                                </m:ctrlPr>
                              </m:dPr>
                              <m:e>
                                <m:r>
                                  <a:rPr lang="es-BO" i="1">
                                    <a:latin typeface="Cambria Math" panose="02040503050406030204" pitchFamily="18" charset="0"/>
                                  </a:rPr>
                                  <m:t>𝑡</m:t>
                                </m:r>
                              </m:e>
                            </m:d>
                            <m:r>
                              <a:rPr lang="es-BO" i="1">
                                <a:latin typeface="Cambria Math" panose="02040503050406030204" pitchFamily="18" charset="0"/>
                              </a:rPr>
                              <m:t>=</m:t>
                            </m:r>
                            <m:r>
                              <a:rPr lang="es-BO" i="1">
                                <a:latin typeface="Cambria Math" panose="02040503050406030204" pitchFamily="18" charset="0"/>
                              </a:rPr>
                              <m:t>𝑟</m:t>
                            </m:r>
                            <m:d>
                              <m:dPr>
                                <m:ctrlPr>
                                  <a:rPr lang="en-US" i="1">
                                    <a:latin typeface="Cambria Math" panose="02040503050406030204" pitchFamily="18" charset="0"/>
                                  </a:rPr>
                                </m:ctrlPr>
                              </m:dPr>
                              <m:e>
                                <m:r>
                                  <a:rPr lang="es-BO" i="1">
                                    <a:latin typeface="Cambria Math" panose="02040503050406030204" pitchFamily="18" charset="0"/>
                                  </a:rPr>
                                  <m:t>𝑡</m:t>
                                </m:r>
                              </m:e>
                            </m:d>
                            <m:r>
                              <a:rPr lang="es-BO" i="1">
                                <a:latin typeface="Cambria Math" panose="02040503050406030204" pitchFamily="18" charset="0"/>
                              </a:rPr>
                              <m:t>−</m:t>
                            </m:r>
                            <m:r>
                              <a:rPr lang="es-BO" i="1">
                                <a:latin typeface="Cambria Math" panose="02040503050406030204" pitchFamily="18" charset="0"/>
                              </a:rPr>
                              <m:t>𝑦</m:t>
                            </m:r>
                            <m:d>
                              <m:dPr>
                                <m:ctrlPr>
                                  <a:rPr lang="en-US" i="1">
                                    <a:latin typeface="Cambria Math" panose="02040503050406030204" pitchFamily="18" charset="0"/>
                                  </a:rPr>
                                </m:ctrlPr>
                              </m:dPr>
                              <m:e>
                                <m:r>
                                  <a:rPr lang="es-BO" i="1">
                                    <a:latin typeface="Cambria Math" panose="02040503050406030204" pitchFamily="18" charset="0"/>
                                  </a:rPr>
                                  <m:t>𝑡</m:t>
                                </m:r>
                              </m:e>
                            </m:d>
                          </m:e>
                        </m:mr>
                      </m:m>
                    </m:oMath>
                  </m:oMathPara>
                </a14:m>
                <a:endParaRPr lang="en-US" dirty="0"/>
              </a:p>
              <a:p>
                <a:pPr marL="0" indent="0">
                  <a:buNone/>
                </a:pPr>
                <a:endParaRPr lang="es-BO" dirty="0"/>
              </a:p>
              <a:p>
                <a:pPr marL="0" indent="0">
                  <a:buNone/>
                </a:pPr>
                <a:r>
                  <a:rPr lang="es-BO" dirty="0"/>
                  <a:t>Entonces tendríamos una representación en espacio de estados de la siguiente manera:</a:t>
                </a:r>
                <a:endParaRPr lang="en-US" dirty="0"/>
              </a:p>
              <a:p>
                <a:pPr marL="0" indent="0">
                  <a:buNone/>
                </a:pPr>
                <a14:m>
                  <m:oMathPara xmlns:m="http://schemas.openxmlformats.org/officeDocument/2006/math">
                    <m:oMathParaPr>
                      <m:jc m:val="centerGroup"/>
                    </m:oMathParaPr>
                    <m:oMath xmlns:m="http://schemas.openxmlformats.org/officeDocument/2006/math">
                      <m:d>
                        <m:dPr>
                          <m:begChr m:val="["/>
                          <m:endChr m:val="]"/>
                          <m:ctrlPr>
                            <a:rPr lang="en-US" i="1">
                              <a:latin typeface="Cambria Math" panose="02040503050406030204" pitchFamily="18" charset="0"/>
                            </a:rPr>
                          </m:ctrlPr>
                        </m:dPr>
                        <m:e>
                          <m:m>
                            <m:mPr>
                              <m:mcs>
                                <m:mc>
                                  <m:mcPr>
                                    <m:count m:val="1"/>
                                    <m:mcJc m:val="center"/>
                                  </m:mcPr>
                                </m:mc>
                              </m:mcs>
                              <m:ctrlPr>
                                <a:rPr lang="en-US" i="1">
                                  <a:latin typeface="Cambria Math" panose="02040503050406030204" pitchFamily="18" charset="0"/>
                                </a:rPr>
                              </m:ctrlPr>
                            </m:mPr>
                            <m:mr>
                              <m:e>
                                <m:acc>
                                  <m:accPr>
                                    <m:chr m:val="̇"/>
                                    <m:ctrlPr>
                                      <a:rPr lang="en-US" i="1">
                                        <a:latin typeface="Cambria Math" panose="02040503050406030204" pitchFamily="18" charset="0"/>
                                      </a:rPr>
                                    </m:ctrlPr>
                                  </m:accPr>
                                  <m:e>
                                    <m:r>
                                      <a:rPr lang="es-BO" i="1">
                                        <a:latin typeface="Cambria Math" panose="02040503050406030204" pitchFamily="18" charset="0"/>
                                      </a:rPr>
                                      <m:t>𝑥</m:t>
                                    </m:r>
                                  </m:e>
                                </m:acc>
                                <m:d>
                                  <m:dPr>
                                    <m:ctrlPr>
                                      <a:rPr lang="en-US" i="1">
                                        <a:latin typeface="Cambria Math" panose="02040503050406030204" pitchFamily="18" charset="0"/>
                                      </a:rPr>
                                    </m:ctrlPr>
                                  </m:dPr>
                                  <m:e>
                                    <m:r>
                                      <a:rPr lang="es-BO" i="1">
                                        <a:latin typeface="Cambria Math" panose="02040503050406030204" pitchFamily="18" charset="0"/>
                                      </a:rPr>
                                      <m:t>𝑡</m:t>
                                    </m:r>
                                  </m:e>
                                </m:d>
                              </m:e>
                            </m:mr>
                            <m:mr>
                              <m:e>
                                <m:acc>
                                  <m:accPr>
                                    <m:chr m:val="̇"/>
                                    <m:ctrlPr>
                                      <a:rPr lang="en-US" i="1">
                                        <a:latin typeface="Cambria Math" panose="02040503050406030204" pitchFamily="18" charset="0"/>
                                      </a:rPr>
                                    </m:ctrlPr>
                                  </m:accPr>
                                  <m:e>
                                    <m:r>
                                      <a:rPr lang="es-BO" i="1">
                                        <a:latin typeface="Cambria Math" panose="02040503050406030204" pitchFamily="18" charset="0"/>
                                      </a:rPr>
                                      <m:t>𝜉</m:t>
                                    </m:r>
                                  </m:e>
                                </m:acc>
                                <m:d>
                                  <m:dPr>
                                    <m:ctrlPr>
                                      <a:rPr lang="en-US" i="1">
                                        <a:latin typeface="Cambria Math" panose="02040503050406030204" pitchFamily="18" charset="0"/>
                                      </a:rPr>
                                    </m:ctrlPr>
                                  </m:dPr>
                                  <m:e>
                                    <m:r>
                                      <a:rPr lang="es-BO" i="1">
                                        <a:latin typeface="Cambria Math" panose="02040503050406030204" pitchFamily="18" charset="0"/>
                                      </a:rPr>
                                      <m:t>𝑡</m:t>
                                    </m:r>
                                  </m:e>
                                </m:d>
                              </m:e>
                            </m:mr>
                          </m:m>
                        </m:e>
                      </m:d>
                      <m:r>
                        <a:rPr lang="es-BO" i="1">
                          <a:latin typeface="Cambria Math" panose="02040503050406030204" pitchFamily="18" charset="0"/>
                        </a:rPr>
                        <m:t>=</m:t>
                      </m:r>
                      <m:d>
                        <m:dPr>
                          <m:begChr m:val="["/>
                          <m:endChr m:val="]"/>
                          <m:ctrlPr>
                            <a:rPr lang="en-US" i="1">
                              <a:latin typeface="Cambria Math" panose="02040503050406030204" pitchFamily="18" charset="0"/>
                            </a:rPr>
                          </m:ctrlPr>
                        </m:dPr>
                        <m:e>
                          <m:m>
                            <m:mPr>
                              <m:mcs>
                                <m:mc>
                                  <m:mcPr>
                                    <m:count m:val="2"/>
                                    <m:mcJc m:val="center"/>
                                  </m:mcPr>
                                </m:mc>
                              </m:mcs>
                              <m:ctrlPr>
                                <a:rPr lang="en-US" i="1">
                                  <a:latin typeface="Cambria Math" panose="02040503050406030204" pitchFamily="18" charset="0"/>
                                </a:rPr>
                              </m:ctrlPr>
                            </m:mPr>
                            <m:mr>
                              <m:e>
                                <m:r>
                                  <a:rPr lang="es-BO" i="1">
                                    <a:latin typeface="Cambria Math" panose="02040503050406030204" pitchFamily="18" charset="0"/>
                                  </a:rPr>
                                  <m:t>𝐴</m:t>
                                </m:r>
                              </m:e>
                              <m:e>
                                <m:r>
                                  <a:rPr lang="es-BO" i="1">
                                    <a:latin typeface="Cambria Math" panose="02040503050406030204" pitchFamily="18" charset="0"/>
                                  </a:rPr>
                                  <m:t>0</m:t>
                                </m:r>
                              </m:e>
                            </m:mr>
                            <m:mr>
                              <m:e>
                                <m:r>
                                  <a:rPr lang="es-BO" i="1">
                                    <a:latin typeface="Cambria Math" panose="02040503050406030204" pitchFamily="18" charset="0"/>
                                  </a:rPr>
                                  <m:t>−</m:t>
                                </m:r>
                                <m:r>
                                  <a:rPr lang="es-BO" i="1">
                                    <a:latin typeface="Cambria Math" panose="02040503050406030204" pitchFamily="18" charset="0"/>
                                  </a:rPr>
                                  <m:t>𝐶</m:t>
                                </m:r>
                              </m:e>
                              <m:e>
                                <m:r>
                                  <a:rPr lang="es-BO" i="1">
                                    <a:latin typeface="Cambria Math" panose="02040503050406030204" pitchFamily="18" charset="0"/>
                                  </a:rPr>
                                  <m:t>0</m:t>
                                </m:r>
                              </m:e>
                            </m:mr>
                          </m:m>
                        </m:e>
                      </m:d>
                      <m:d>
                        <m:dPr>
                          <m:begChr m:val="["/>
                          <m:endChr m:val="]"/>
                          <m:ctrlPr>
                            <a:rPr lang="en-US" i="1">
                              <a:latin typeface="Cambria Math" panose="02040503050406030204" pitchFamily="18" charset="0"/>
                            </a:rPr>
                          </m:ctrlPr>
                        </m:dPr>
                        <m:e>
                          <m:m>
                            <m:mPr>
                              <m:mcs>
                                <m:mc>
                                  <m:mcPr>
                                    <m:count m:val="1"/>
                                    <m:mcJc m:val="center"/>
                                  </m:mcPr>
                                </m:mc>
                              </m:mcs>
                              <m:ctrlPr>
                                <a:rPr lang="en-US" i="1">
                                  <a:latin typeface="Cambria Math" panose="02040503050406030204" pitchFamily="18" charset="0"/>
                                </a:rPr>
                              </m:ctrlPr>
                            </m:mPr>
                            <m:mr>
                              <m:e>
                                <m:r>
                                  <a:rPr lang="es-BO" i="1">
                                    <a:latin typeface="Cambria Math" panose="02040503050406030204" pitchFamily="18" charset="0"/>
                                  </a:rPr>
                                  <m:t>𝑥</m:t>
                                </m:r>
                                <m:d>
                                  <m:dPr>
                                    <m:ctrlPr>
                                      <a:rPr lang="en-US" i="1">
                                        <a:latin typeface="Cambria Math" panose="02040503050406030204" pitchFamily="18" charset="0"/>
                                      </a:rPr>
                                    </m:ctrlPr>
                                  </m:dPr>
                                  <m:e>
                                    <m:r>
                                      <a:rPr lang="es-BO" i="1">
                                        <a:latin typeface="Cambria Math" panose="02040503050406030204" pitchFamily="18" charset="0"/>
                                      </a:rPr>
                                      <m:t>𝑡</m:t>
                                    </m:r>
                                  </m:e>
                                </m:d>
                              </m:e>
                            </m:mr>
                            <m:mr>
                              <m:e>
                                <m:r>
                                  <a:rPr lang="es-BO" i="1">
                                    <a:latin typeface="Cambria Math" panose="02040503050406030204" pitchFamily="18" charset="0"/>
                                  </a:rPr>
                                  <m:t>𝜉</m:t>
                                </m:r>
                                <m:d>
                                  <m:dPr>
                                    <m:ctrlPr>
                                      <a:rPr lang="en-US" i="1">
                                        <a:latin typeface="Cambria Math" panose="02040503050406030204" pitchFamily="18" charset="0"/>
                                      </a:rPr>
                                    </m:ctrlPr>
                                  </m:dPr>
                                  <m:e>
                                    <m:r>
                                      <a:rPr lang="es-BO" i="1">
                                        <a:latin typeface="Cambria Math" panose="02040503050406030204" pitchFamily="18" charset="0"/>
                                      </a:rPr>
                                      <m:t>𝑡</m:t>
                                    </m:r>
                                  </m:e>
                                </m:d>
                              </m:e>
                            </m:mr>
                          </m:m>
                        </m:e>
                      </m:d>
                      <m:r>
                        <a:rPr lang="es-BO" i="1">
                          <a:latin typeface="Cambria Math" panose="02040503050406030204" pitchFamily="18" charset="0"/>
                        </a:rPr>
                        <m:t>+</m:t>
                      </m:r>
                      <m:d>
                        <m:dPr>
                          <m:begChr m:val="["/>
                          <m:endChr m:val="]"/>
                          <m:ctrlPr>
                            <a:rPr lang="en-US" i="1">
                              <a:latin typeface="Cambria Math" panose="02040503050406030204" pitchFamily="18" charset="0"/>
                            </a:rPr>
                          </m:ctrlPr>
                        </m:dPr>
                        <m:e>
                          <m:m>
                            <m:mPr>
                              <m:mcs>
                                <m:mc>
                                  <m:mcPr>
                                    <m:count m:val="1"/>
                                    <m:mcJc m:val="center"/>
                                  </m:mcPr>
                                </m:mc>
                              </m:mcs>
                              <m:ctrlPr>
                                <a:rPr lang="en-US" i="1">
                                  <a:latin typeface="Cambria Math" panose="02040503050406030204" pitchFamily="18" charset="0"/>
                                </a:rPr>
                              </m:ctrlPr>
                            </m:mPr>
                            <m:mr>
                              <m:e>
                                <m:r>
                                  <a:rPr lang="es-BO" i="1">
                                    <a:latin typeface="Cambria Math" panose="02040503050406030204" pitchFamily="18" charset="0"/>
                                  </a:rPr>
                                  <m:t>𝐵</m:t>
                                </m:r>
                              </m:e>
                            </m:mr>
                            <m:mr>
                              <m:e>
                                <m:r>
                                  <a:rPr lang="es-BO" i="1">
                                    <a:latin typeface="Cambria Math" panose="02040503050406030204" pitchFamily="18" charset="0"/>
                                  </a:rPr>
                                  <m:t>0</m:t>
                                </m:r>
                              </m:e>
                            </m:mr>
                          </m:m>
                        </m:e>
                      </m:d>
                      <m:r>
                        <a:rPr lang="es-BO" i="1">
                          <a:latin typeface="Cambria Math" panose="02040503050406030204" pitchFamily="18" charset="0"/>
                        </a:rPr>
                        <m:t>𝑢</m:t>
                      </m:r>
                      <m:d>
                        <m:dPr>
                          <m:ctrlPr>
                            <a:rPr lang="en-US" i="1">
                              <a:latin typeface="Cambria Math" panose="02040503050406030204" pitchFamily="18" charset="0"/>
                            </a:rPr>
                          </m:ctrlPr>
                        </m:dPr>
                        <m:e>
                          <m:r>
                            <a:rPr lang="es-BO" i="1">
                              <a:latin typeface="Cambria Math" panose="02040503050406030204" pitchFamily="18" charset="0"/>
                            </a:rPr>
                            <m:t>𝑡</m:t>
                          </m:r>
                        </m:e>
                      </m:d>
                      <m:r>
                        <a:rPr lang="es-BO" i="1">
                          <a:latin typeface="Cambria Math" panose="02040503050406030204" pitchFamily="18" charset="0"/>
                        </a:rPr>
                        <m:t>+</m:t>
                      </m:r>
                      <m:d>
                        <m:dPr>
                          <m:begChr m:val="["/>
                          <m:endChr m:val="]"/>
                          <m:ctrlPr>
                            <a:rPr lang="en-US" i="1">
                              <a:latin typeface="Cambria Math" panose="02040503050406030204" pitchFamily="18" charset="0"/>
                            </a:rPr>
                          </m:ctrlPr>
                        </m:dPr>
                        <m:e>
                          <m:m>
                            <m:mPr>
                              <m:mcs>
                                <m:mc>
                                  <m:mcPr>
                                    <m:count m:val="1"/>
                                    <m:mcJc m:val="center"/>
                                  </m:mcPr>
                                </m:mc>
                              </m:mcs>
                              <m:ctrlPr>
                                <a:rPr lang="en-US" i="1">
                                  <a:latin typeface="Cambria Math" panose="02040503050406030204" pitchFamily="18" charset="0"/>
                                </a:rPr>
                              </m:ctrlPr>
                            </m:mPr>
                            <m:mr>
                              <m:e>
                                <m:r>
                                  <a:rPr lang="es-BO" i="1">
                                    <a:latin typeface="Cambria Math" panose="02040503050406030204" pitchFamily="18" charset="0"/>
                                  </a:rPr>
                                  <m:t>0</m:t>
                                </m:r>
                              </m:e>
                            </m:mr>
                            <m:mr>
                              <m:e>
                                <m:r>
                                  <a:rPr lang="es-BO" i="1">
                                    <a:latin typeface="Cambria Math" panose="02040503050406030204" pitchFamily="18" charset="0"/>
                                  </a:rPr>
                                  <m:t>1</m:t>
                                </m:r>
                              </m:e>
                            </m:mr>
                          </m:m>
                        </m:e>
                      </m:d>
                      <m:r>
                        <a:rPr lang="es-BO" i="1">
                          <a:latin typeface="Cambria Math" panose="02040503050406030204" pitchFamily="18" charset="0"/>
                        </a:rPr>
                        <m:t>𝑟</m:t>
                      </m:r>
                      <m:d>
                        <m:dPr>
                          <m:ctrlPr>
                            <a:rPr lang="en-US" i="1">
                              <a:latin typeface="Cambria Math" panose="02040503050406030204" pitchFamily="18" charset="0"/>
                            </a:rPr>
                          </m:ctrlPr>
                        </m:dPr>
                        <m:e>
                          <m:r>
                            <a:rPr lang="es-BO" i="1">
                              <a:latin typeface="Cambria Math" panose="02040503050406030204" pitchFamily="18" charset="0"/>
                            </a:rPr>
                            <m:t>𝑡</m:t>
                          </m:r>
                        </m:e>
                      </m:d>
                      <m:r>
                        <a:rPr lang="es-BO" i="1">
                          <a:latin typeface="Cambria Math" panose="02040503050406030204" pitchFamily="18" charset="0"/>
                        </a:rPr>
                        <m:t>   →       </m:t>
                      </m:r>
                      <m:m>
                        <m:mPr>
                          <m:mcs>
                            <m:mc>
                              <m:mcPr>
                                <m:count m:val="1"/>
                                <m:mcJc m:val="center"/>
                              </m:mcPr>
                            </m:mc>
                          </m:mcs>
                          <m:ctrlPr>
                            <a:rPr lang="en-US" i="1">
                              <a:latin typeface="Cambria Math" panose="02040503050406030204" pitchFamily="18" charset="0"/>
                            </a:rPr>
                          </m:ctrlPr>
                        </m:mPr>
                        <m:mr>
                          <m:e>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s-BO" i="1">
                                        <a:latin typeface="Cambria Math" panose="02040503050406030204" pitchFamily="18" charset="0"/>
                                      </a:rPr>
                                      <m:t>𝑥</m:t>
                                    </m:r>
                                  </m:e>
                                </m:acc>
                              </m:e>
                              <m:sub>
                                <m:r>
                                  <a:rPr lang="es-BO" i="1">
                                    <a:latin typeface="Cambria Math" panose="02040503050406030204" pitchFamily="18" charset="0"/>
                                  </a:rPr>
                                  <m:t>𝑎</m:t>
                                </m:r>
                              </m:sub>
                            </m:sSub>
                            <m:d>
                              <m:dPr>
                                <m:ctrlPr>
                                  <a:rPr lang="en-US" i="1">
                                    <a:latin typeface="Cambria Math" panose="02040503050406030204" pitchFamily="18" charset="0"/>
                                  </a:rPr>
                                </m:ctrlPr>
                              </m:dPr>
                              <m:e>
                                <m:r>
                                  <a:rPr lang="es-BO" i="1">
                                    <a:latin typeface="Cambria Math" panose="02040503050406030204" pitchFamily="18" charset="0"/>
                                  </a:rPr>
                                  <m:t>𝑡</m:t>
                                </m:r>
                              </m:e>
                            </m:d>
                            <m:r>
                              <a:rPr lang="es-BO" i="1">
                                <a:latin typeface="Cambria Math" panose="02040503050406030204" pitchFamily="18" charset="0"/>
                              </a:rPr>
                              <m:t>=</m:t>
                            </m:r>
                            <m:acc>
                              <m:accPr>
                                <m:chr m:val="̂"/>
                                <m:ctrlPr>
                                  <a:rPr lang="en-US" i="1">
                                    <a:latin typeface="Cambria Math" panose="02040503050406030204" pitchFamily="18" charset="0"/>
                                  </a:rPr>
                                </m:ctrlPr>
                              </m:accPr>
                              <m:e>
                                <m:r>
                                  <a:rPr lang="es-BO" i="1">
                                    <a:latin typeface="Cambria Math" panose="02040503050406030204" pitchFamily="18" charset="0"/>
                                  </a:rPr>
                                  <m:t>𝐴</m:t>
                                </m:r>
                              </m:e>
                            </m:acc>
                            <m:sSub>
                              <m:sSubPr>
                                <m:ctrlPr>
                                  <a:rPr lang="en-US" i="1">
                                    <a:latin typeface="Cambria Math" panose="02040503050406030204" pitchFamily="18" charset="0"/>
                                  </a:rPr>
                                </m:ctrlPr>
                              </m:sSubPr>
                              <m:e>
                                <m:r>
                                  <a:rPr lang="es-BO" i="1">
                                    <a:latin typeface="Cambria Math" panose="02040503050406030204" pitchFamily="18" charset="0"/>
                                  </a:rPr>
                                  <m:t>𝑥</m:t>
                                </m:r>
                              </m:e>
                              <m:sub>
                                <m:r>
                                  <a:rPr lang="es-BO" i="1">
                                    <a:latin typeface="Cambria Math" panose="02040503050406030204" pitchFamily="18" charset="0"/>
                                  </a:rPr>
                                  <m:t>𝑎</m:t>
                                </m:r>
                              </m:sub>
                            </m:sSub>
                            <m:d>
                              <m:dPr>
                                <m:ctrlPr>
                                  <a:rPr lang="en-US" i="1">
                                    <a:latin typeface="Cambria Math" panose="02040503050406030204" pitchFamily="18" charset="0"/>
                                  </a:rPr>
                                </m:ctrlPr>
                              </m:dPr>
                              <m:e>
                                <m:r>
                                  <a:rPr lang="es-BO" i="1">
                                    <a:latin typeface="Cambria Math" panose="02040503050406030204" pitchFamily="18" charset="0"/>
                                  </a:rPr>
                                  <m:t>𝑡</m:t>
                                </m:r>
                              </m:e>
                            </m:d>
                            <m:r>
                              <a:rPr lang="es-BO" i="1">
                                <a:latin typeface="Cambria Math" panose="02040503050406030204" pitchFamily="18" charset="0"/>
                              </a:rPr>
                              <m:t>+</m:t>
                            </m:r>
                            <m:acc>
                              <m:accPr>
                                <m:chr m:val="̂"/>
                                <m:ctrlPr>
                                  <a:rPr lang="en-US" i="1">
                                    <a:latin typeface="Cambria Math" panose="02040503050406030204" pitchFamily="18" charset="0"/>
                                  </a:rPr>
                                </m:ctrlPr>
                              </m:accPr>
                              <m:e>
                                <m:r>
                                  <a:rPr lang="es-BO" i="1">
                                    <a:latin typeface="Cambria Math" panose="02040503050406030204" pitchFamily="18" charset="0"/>
                                  </a:rPr>
                                  <m:t>𝐵</m:t>
                                </m:r>
                              </m:e>
                            </m:acc>
                            <m:r>
                              <a:rPr lang="es-BO" i="1">
                                <a:latin typeface="Cambria Math" panose="02040503050406030204" pitchFamily="18" charset="0"/>
                              </a:rPr>
                              <m:t>𝑢</m:t>
                            </m:r>
                            <m:d>
                              <m:dPr>
                                <m:ctrlPr>
                                  <a:rPr lang="en-US" i="1">
                                    <a:latin typeface="Cambria Math" panose="02040503050406030204" pitchFamily="18" charset="0"/>
                                  </a:rPr>
                                </m:ctrlPr>
                              </m:dPr>
                              <m:e>
                                <m:r>
                                  <a:rPr lang="es-BO" i="1">
                                    <a:latin typeface="Cambria Math" panose="02040503050406030204" pitchFamily="18" charset="0"/>
                                  </a:rPr>
                                  <m:t>𝑡</m:t>
                                </m:r>
                              </m:e>
                            </m:d>
                            <m:r>
                              <a:rPr lang="es-BO" i="1">
                                <a:latin typeface="Cambria Math" panose="02040503050406030204" pitchFamily="18" charset="0"/>
                              </a:rPr>
                              <m:t>+</m:t>
                            </m:r>
                            <m:r>
                              <a:rPr lang="es-BO" i="1">
                                <a:latin typeface="Cambria Math" panose="02040503050406030204" pitchFamily="18" charset="0"/>
                              </a:rPr>
                              <m:t>𝐸𝑟</m:t>
                            </m:r>
                            <m:r>
                              <a:rPr lang="es-BO" i="1">
                                <a:latin typeface="Cambria Math" panose="02040503050406030204" pitchFamily="18" charset="0"/>
                              </a:rPr>
                              <m:t>(</m:t>
                            </m:r>
                            <m:r>
                              <a:rPr lang="es-BO" i="1">
                                <a:latin typeface="Cambria Math" panose="02040503050406030204" pitchFamily="18" charset="0"/>
                              </a:rPr>
                              <m:t>𝑡</m:t>
                            </m:r>
                            <m:r>
                              <a:rPr lang="es-BO" i="1">
                                <a:latin typeface="Cambria Math" panose="02040503050406030204" pitchFamily="18" charset="0"/>
                              </a:rPr>
                              <m:t>)</m:t>
                            </m:r>
                          </m:e>
                        </m:mr>
                        <m:mr>
                          <m:e>
                            <m:r>
                              <a:rPr lang="es-BO" i="1">
                                <a:latin typeface="Cambria Math" panose="02040503050406030204" pitchFamily="18" charset="0"/>
                              </a:rPr>
                              <m:t>𝑢</m:t>
                            </m:r>
                            <m:d>
                              <m:dPr>
                                <m:ctrlPr>
                                  <a:rPr lang="en-US" i="1">
                                    <a:latin typeface="Cambria Math" panose="02040503050406030204" pitchFamily="18" charset="0"/>
                                  </a:rPr>
                                </m:ctrlPr>
                              </m:dPr>
                              <m:e>
                                <m:r>
                                  <a:rPr lang="es-BO" i="1">
                                    <a:latin typeface="Cambria Math" panose="02040503050406030204" pitchFamily="18" charset="0"/>
                                  </a:rPr>
                                  <m:t>𝑡</m:t>
                                </m:r>
                              </m:e>
                            </m:d>
                            <m:r>
                              <a:rPr lang="es-BO" i="1">
                                <a:latin typeface="Cambria Math" panose="02040503050406030204" pitchFamily="18" charset="0"/>
                              </a:rPr>
                              <m:t>=−</m:t>
                            </m:r>
                            <m:acc>
                              <m:accPr>
                                <m:chr m:val="̂"/>
                                <m:ctrlPr>
                                  <a:rPr lang="en-US" i="1">
                                    <a:latin typeface="Cambria Math" panose="02040503050406030204" pitchFamily="18" charset="0"/>
                                  </a:rPr>
                                </m:ctrlPr>
                              </m:accPr>
                              <m:e>
                                <m:r>
                                  <a:rPr lang="es-BO" i="1">
                                    <a:latin typeface="Cambria Math" panose="02040503050406030204" pitchFamily="18" charset="0"/>
                                  </a:rPr>
                                  <m:t>𝐾</m:t>
                                </m:r>
                              </m:e>
                            </m:acc>
                            <m:sSub>
                              <m:sSubPr>
                                <m:ctrlPr>
                                  <a:rPr lang="en-US" i="1">
                                    <a:latin typeface="Cambria Math" panose="02040503050406030204" pitchFamily="18" charset="0"/>
                                  </a:rPr>
                                </m:ctrlPr>
                              </m:sSubPr>
                              <m:e>
                                <m:r>
                                  <a:rPr lang="es-BO" i="1">
                                    <a:latin typeface="Cambria Math" panose="02040503050406030204" pitchFamily="18" charset="0"/>
                                  </a:rPr>
                                  <m:t>𝑥</m:t>
                                </m:r>
                              </m:e>
                              <m:sub>
                                <m:r>
                                  <a:rPr lang="es-BO" i="1">
                                    <a:latin typeface="Cambria Math" panose="02040503050406030204" pitchFamily="18" charset="0"/>
                                  </a:rPr>
                                  <m:t>𝑎</m:t>
                                </m:r>
                              </m:sub>
                            </m:sSub>
                            <m:d>
                              <m:dPr>
                                <m:ctrlPr>
                                  <a:rPr lang="en-US" i="1">
                                    <a:latin typeface="Cambria Math" panose="02040503050406030204" pitchFamily="18" charset="0"/>
                                  </a:rPr>
                                </m:ctrlPr>
                              </m:dPr>
                              <m:e>
                                <m:r>
                                  <a:rPr lang="es-BO" i="1">
                                    <a:latin typeface="Cambria Math" panose="02040503050406030204" pitchFamily="18" charset="0"/>
                                  </a:rPr>
                                  <m:t>𝑡</m:t>
                                </m:r>
                              </m:e>
                            </m:d>
                          </m:e>
                        </m:mr>
                      </m:m>
                    </m:oMath>
                  </m:oMathPara>
                </a14:m>
                <a:endParaRPr lang="en-US" dirty="0"/>
              </a:p>
              <a:p>
                <a:pPr marL="0" indent="0">
                  <a:buNone/>
                </a:pPr>
                <a:r>
                  <a:rPr lang="es-BO" dirty="0"/>
                  <a:t>Donde:</a:t>
                </a:r>
                <a:endParaRPr lang="en-US" dirty="0"/>
              </a:p>
              <a:p>
                <a:pPr marL="0" indent="0">
                  <a:buNone/>
                </a:pPr>
                <a14:m>
                  <m:oMathPara xmlns:m="http://schemas.openxmlformats.org/officeDocument/2006/math">
                    <m:oMathParaPr>
                      <m:jc m:val="centerGroup"/>
                    </m:oMathParaPr>
                    <m:oMath xmlns:m="http://schemas.openxmlformats.org/officeDocument/2006/math">
                      <m:acc>
                        <m:accPr>
                          <m:chr m:val="̂"/>
                          <m:ctrlPr>
                            <a:rPr lang="en-US" i="1">
                              <a:latin typeface="Cambria Math" panose="02040503050406030204" pitchFamily="18" charset="0"/>
                            </a:rPr>
                          </m:ctrlPr>
                        </m:accPr>
                        <m:e>
                          <m:r>
                            <a:rPr lang="es-BO" i="1">
                              <a:latin typeface="Cambria Math" panose="02040503050406030204" pitchFamily="18" charset="0"/>
                            </a:rPr>
                            <m:t>𝐴</m:t>
                          </m:r>
                        </m:e>
                      </m:acc>
                      <m:r>
                        <a:rPr lang="es-BO" i="1">
                          <a:latin typeface="Cambria Math" panose="02040503050406030204" pitchFamily="18" charset="0"/>
                        </a:rPr>
                        <m:t>=</m:t>
                      </m:r>
                      <m:d>
                        <m:dPr>
                          <m:begChr m:val="["/>
                          <m:endChr m:val="]"/>
                          <m:ctrlPr>
                            <a:rPr lang="en-US" i="1">
                              <a:latin typeface="Cambria Math" panose="02040503050406030204" pitchFamily="18" charset="0"/>
                            </a:rPr>
                          </m:ctrlPr>
                        </m:dPr>
                        <m:e>
                          <m:m>
                            <m:mPr>
                              <m:mcs>
                                <m:mc>
                                  <m:mcPr>
                                    <m:count m:val="2"/>
                                    <m:mcJc m:val="center"/>
                                  </m:mcPr>
                                </m:mc>
                              </m:mcs>
                              <m:ctrlPr>
                                <a:rPr lang="en-US" i="1">
                                  <a:latin typeface="Cambria Math" panose="02040503050406030204" pitchFamily="18" charset="0"/>
                                </a:rPr>
                              </m:ctrlPr>
                            </m:mPr>
                            <m:mr>
                              <m:e>
                                <m:f>
                                  <m:fPr>
                                    <m:ctrlPr>
                                      <a:rPr lang="en-US" i="1">
                                        <a:latin typeface="Cambria Math" panose="02040503050406030204" pitchFamily="18" charset="0"/>
                                      </a:rPr>
                                    </m:ctrlPr>
                                  </m:fPr>
                                  <m:num>
                                    <m:r>
                                      <a:rPr lang="es-BO" i="1">
                                        <a:latin typeface="Cambria Math" panose="02040503050406030204" pitchFamily="18" charset="0"/>
                                      </a:rPr>
                                      <m:t>−1</m:t>
                                    </m:r>
                                  </m:num>
                                  <m:den>
                                    <m:r>
                                      <a:rPr lang="es-BO" i="1">
                                        <a:latin typeface="Cambria Math" panose="02040503050406030204" pitchFamily="18" charset="0"/>
                                      </a:rPr>
                                      <m:t>𝑅𝐶</m:t>
                                    </m:r>
                                  </m:den>
                                </m:f>
                              </m:e>
                              <m:e>
                                <m:r>
                                  <a:rPr lang="es-BO" i="1">
                                    <a:latin typeface="Cambria Math" panose="02040503050406030204" pitchFamily="18" charset="0"/>
                                  </a:rPr>
                                  <m:t>0</m:t>
                                </m:r>
                              </m:e>
                            </m:mr>
                            <m:mr>
                              <m:e>
                                <m:r>
                                  <a:rPr lang="es-BO" i="1">
                                    <a:latin typeface="Cambria Math" panose="02040503050406030204" pitchFamily="18" charset="0"/>
                                  </a:rPr>
                                  <m:t>−1</m:t>
                                </m:r>
                              </m:e>
                              <m:e>
                                <m:r>
                                  <a:rPr lang="es-BO" i="1">
                                    <a:latin typeface="Cambria Math" panose="02040503050406030204" pitchFamily="18" charset="0"/>
                                  </a:rPr>
                                  <m:t>0</m:t>
                                </m:r>
                              </m:e>
                            </m:mr>
                          </m:m>
                        </m:e>
                      </m:d>
                      <m:r>
                        <a:rPr lang="es-BO" i="1">
                          <a:latin typeface="Cambria Math" panose="02040503050406030204" pitchFamily="18" charset="0"/>
                        </a:rPr>
                        <m:t>,       </m:t>
                      </m:r>
                      <m:acc>
                        <m:accPr>
                          <m:chr m:val="̂"/>
                          <m:ctrlPr>
                            <a:rPr lang="en-US" i="1">
                              <a:latin typeface="Cambria Math" panose="02040503050406030204" pitchFamily="18" charset="0"/>
                            </a:rPr>
                          </m:ctrlPr>
                        </m:accPr>
                        <m:e>
                          <m:r>
                            <a:rPr lang="es-BO" i="1">
                              <a:latin typeface="Cambria Math" panose="02040503050406030204" pitchFamily="18" charset="0"/>
                            </a:rPr>
                            <m:t>𝐵</m:t>
                          </m:r>
                        </m:e>
                      </m:acc>
                      <m:r>
                        <a:rPr lang="es-BO" i="1">
                          <a:latin typeface="Cambria Math" panose="02040503050406030204" pitchFamily="18" charset="0"/>
                        </a:rPr>
                        <m:t>=</m:t>
                      </m:r>
                      <m:d>
                        <m:dPr>
                          <m:begChr m:val="["/>
                          <m:endChr m:val="]"/>
                          <m:ctrlPr>
                            <a:rPr lang="en-US" i="1">
                              <a:latin typeface="Cambria Math" panose="02040503050406030204" pitchFamily="18" charset="0"/>
                            </a:rPr>
                          </m:ctrlPr>
                        </m:dPr>
                        <m:e>
                          <m:m>
                            <m:mPr>
                              <m:mcs>
                                <m:mc>
                                  <m:mcPr>
                                    <m:count m:val="1"/>
                                    <m:mcJc m:val="center"/>
                                  </m:mcPr>
                                </m:mc>
                              </m:mcs>
                              <m:ctrlPr>
                                <a:rPr lang="en-US" i="1">
                                  <a:latin typeface="Cambria Math" panose="02040503050406030204" pitchFamily="18" charset="0"/>
                                </a:rPr>
                              </m:ctrlPr>
                            </m:mPr>
                            <m:mr>
                              <m:e>
                                <m:f>
                                  <m:fPr>
                                    <m:ctrlPr>
                                      <a:rPr lang="en-US" i="1">
                                        <a:latin typeface="Cambria Math" panose="02040503050406030204" pitchFamily="18" charset="0"/>
                                      </a:rPr>
                                    </m:ctrlPr>
                                  </m:fPr>
                                  <m:num>
                                    <m:r>
                                      <a:rPr lang="es-BO" i="1">
                                        <a:latin typeface="Cambria Math" panose="02040503050406030204" pitchFamily="18" charset="0"/>
                                      </a:rPr>
                                      <m:t>1</m:t>
                                    </m:r>
                                  </m:num>
                                  <m:den>
                                    <m:r>
                                      <a:rPr lang="es-BO" i="1">
                                        <a:latin typeface="Cambria Math" panose="02040503050406030204" pitchFamily="18" charset="0"/>
                                      </a:rPr>
                                      <m:t>𝐶</m:t>
                                    </m:r>
                                  </m:den>
                                </m:f>
                              </m:e>
                            </m:mr>
                            <m:mr>
                              <m:e>
                                <m:r>
                                  <a:rPr lang="es-BO" i="1">
                                    <a:latin typeface="Cambria Math" panose="02040503050406030204" pitchFamily="18" charset="0"/>
                                  </a:rPr>
                                  <m:t>0</m:t>
                                </m:r>
                              </m:e>
                            </m:mr>
                          </m:m>
                        </m:e>
                      </m:d>
                      <m:r>
                        <a:rPr lang="es-BO" i="1">
                          <a:latin typeface="Cambria Math" panose="02040503050406030204" pitchFamily="18" charset="0"/>
                        </a:rPr>
                        <m:t>       </m:t>
                      </m:r>
                      <m:r>
                        <a:rPr lang="es-BO" i="1">
                          <a:latin typeface="Cambria Math" panose="02040503050406030204" pitchFamily="18" charset="0"/>
                        </a:rPr>
                        <m:t>𝑦</m:t>
                      </m:r>
                      <m:r>
                        <a:rPr lang="es-BO" i="1">
                          <a:latin typeface="Cambria Math" panose="02040503050406030204" pitchFamily="18" charset="0"/>
                        </a:rPr>
                        <m:t>        </m:t>
                      </m:r>
                      <m:acc>
                        <m:accPr>
                          <m:chr m:val="̂"/>
                          <m:ctrlPr>
                            <a:rPr lang="en-US" i="1">
                              <a:latin typeface="Cambria Math" panose="02040503050406030204" pitchFamily="18" charset="0"/>
                            </a:rPr>
                          </m:ctrlPr>
                        </m:accPr>
                        <m:e>
                          <m:r>
                            <a:rPr lang="es-BO" i="1">
                              <a:latin typeface="Cambria Math" panose="02040503050406030204" pitchFamily="18" charset="0"/>
                            </a:rPr>
                            <m:t>𝐾</m:t>
                          </m:r>
                        </m:e>
                      </m:acc>
                      <m:r>
                        <a:rPr lang="es-BO" i="1">
                          <a:latin typeface="Cambria Math" panose="02040503050406030204" pitchFamily="18" charset="0"/>
                        </a:rPr>
                        <m:t>=</m:t>
                      </m:r>
                      <m:d>
                        <m:dPr>
                          <m:begChr m:val="["/>
                          <m:endChr m:val="]"/>
                          <m:ctrlPr>
                            <a:rPr lang="en-US" i="1">
                              <a:latin typeface="Cambria Math" panose="02040503050406030204" pitchFamily="18" charset="0"/>
                            </a:rPr>
                          </m:ctrlPr>
                        </m:dPr>
                        <m:e>
                          <m:r>
                            <a:rPr lang="es-BO" i="1">
                              <a:latin typeface="Cambria Math" panose="02040503050406030204" pitchFamily="18" charset="0"/>
                            </a:rPr>
                            <m:t>𝐾</m:t>
                          </m:r>
                          <m:r>
                            <a:rPr lang="es-BO" i="1">
                              <a:latin typeface="Cambria Math" panose="02040503050406030204" pitchFamily="18" charset="0"/>
                            </a:rPr>
                            <m:t>   −</m:t>
                          </m:r>
                          <m:sSub>
                            <m:sSubPr>
                              <m:ctrlPr>
                                <a:rPr lang="en-US" i="1">
                                  <a:latin typeface="Cambria Math" panose="02040503050406030204" pitchFamily="18" charset="0"/>
                                </a:rPr>
                              </m:ctrlPr>
                            </m:sSubPr>
                            <m:e>
                              <m:r>
                                <a:rPr lang="es-BO" i="1">
                                  <a:latin typeface="Cambria Math" panose="02040503050406030204" pitchFamily="18" charset="0"/>
                                </a:rPr>
                                <m:t>𝑘</m:t>
                              </m:r>
                            </m:e>
                            <m:sub>
                              <m:r>
                                <a:rPr lang="es-BO" i="1">
                                  <a:latin typeface="Cambria Math" panose="02040503050406030204" pitchFamily="18" charset="0"/>
                                </a:rPr>
                                <m:t>1</m:t>
                              </m:r>
                            </m:sub>
                          </m:sSub>
                        </m:e>
                      </m:d>
                    </m:oMath>
                  </m:oMathPara>
                </a14:m>
                <a:endParaRPr lang="en-US" dirty="0"/>
              </a:p>
              <a:p>
                <a:pPr marL="0" indent="0">
                  <a:buNone/>
                </a:pPr>
                <a:r>
                  <a:rPr lang="es-BO" dirty="0"/>
                  <a:t> </a:t>
                </a:r>
                <a:endParaRPr lang="en-US" dirty="0"/>
              </a:p>
              <a:p>
                <a:pPr marL="0" indent="0">
                  <a:buNone/>
                </a:pPr>
                <a14:m>
                  <m:oMathPara xmlns:m="http://schemas.openxmlformats.org/officeDocument/2006/math">
                    <m:oMathParaPr>
                      <m:jc m:val="centerGroup"/>
                    </m:oMathParaPr>
                    <m:oMath xmlns:m="http://schemas.openxmlformats.org/officeDocument/2006/math">
                      <m:acc>
                        <m:accPr>
                          <m:chr m:val="̂"/>
                          <m:ctrlPr>
                            <a:rPr lang="en-US" i="1">
                              <a:latin typeface="Cambria Math" panose="02040503050406030204" pitchFamily="18" charset="0"/>
                            </a:rPr>
                          </m:ctrlPr>
                        </m:accPr>
                        <m:e>
                          <m:r>
                            <a:rPr lang="es-BO" i="1">
                              <a:latin typeface="Cambria Math" panose="02040503050406030204" pitchFamily="18" charset="0"/>
                            </a:rPr>
                            <m:t>𝐴</m:t>
                          </m:r>
                        </m:e>
                      </m:acc>
                      <m:r>
                        <a:rPr lang="es-BO" i="1">
                          <a:latin typeface="Cambria Math" panose="02040503050406030204" pitchFamily="18" charset="0"/>
                        </a:rPr>
                        <m:t>=</m:t>
                      </m:r>
                      <m:d>
                        <m:dPr>
                          <m:begChr m:val="["/>
                          <m:endChr m:val="]"/>
                          <m:ctrlPr>
                            <a:rPr lang="en-US" i="1">
                              <a:latin typeface="Cambria Math" panose="02040503050406030204" pitchFamily="18" charset="0"/>
                            </a:rPr>
                          </m:ctrlPr>
                        </m:dPr>
                        <m:e>
                          <m:m>
                            <m:mPr>
                              <m:mcs>
                                <m:mc>
                                  <m:mcPr>
                                    <m:count m:val="2"/>
                                    <m:mcJc m:val="center"/>
                                  </m:mcPr>
                                </m:mc>
                              </m:mcs>
                              <m:ctrlPr>
                                <a:rPr lang="en-US" i="1">
                                  <a:latin typeface="Cambria Math" panose="02040503050406030204" pitchFamily="18" charset="0"/>
                                </a:rPr>
                              </m:ctrlPr>
                            </m:mPr>
                            <m:mr>
                              <m:e>
                                <m:r>
                                  <a:rPr lang="es-MX" i="1">
                                    <a:latin typeface="Cambria Math" panose="02040503050406030204" pitchFamily="18" charset="0"/>
                                  </a:rPr>
                                  <m:t>−3</m:t>
                                </m:r>
                                <m:r>
                                  <a:rPr lang="es-BO" b="0" i="1" smtClean="0">
                                    <a:latin typeface="Cambria Math" panose="02040503050406030204" pitchFamily="18" charset="0"/>
                                  </a:rPr>
                                  <m:t>.3003</m:t>
                                </m:r>
                                <m:r>
                                  <a:rPr lang="es-MX" i="1">
                                    <a:latin typeface="Cambria Math" panose="02040503050406030204" pitchFamily="18" charset="0"/>
                                  </a:rPr>
                                  <m:t>∙</m:t>
                                </m:r>
                                <m:sSup>
                                  <m:sSupPr>
                                    <m:ctrlPr>
                                      <a:rPr lang="en-US" i="1">
                                        <a:latin typeface="Cambria Math" panose="02040503050406030204" pitchFamily="18" charset="0"/>
                                      </a:rPr>
                                    </m:ctrlPr>
                                  </m:sSupPr>
                                  <m:e>
                                    <m:r>
                                      <a:rPr lang="es-MX" i="1">
                                        <a:latin typeface="Cambria Math" panose="02040503050406030204" pitchFamily="18" charset="0"/>
                                      </a:rPr>
                                      <m:t>10</m:t>
                                    </m:r>
                                  </m:e>
                                  <m:sup>
                                    <m:r>
                                      <a:rPr lang="es-MX" i="1">
                                        <a:latin typeface="Cambria Math" panose="02040503050406030204" pitchFamily="18" charset="0"/>
                                      </a:rPr>
                                      <m:t>−3</m:t>
                                    </m:r>
                                  </m:sup>
                                </m:sSup>
                              </m:e>
                              <m:e>
                                <m:r>
                                  <a:rPr lang="es-BO" i="1">
                                    <a:latin typeface="Cambria Math" panose="02040503050406030204" pitchFamily="18" charset="0"/>
                                  </a:rPr>
                                  <m:t>0</m:t>
                                </m:r>
                              </m:e>
                            </m:mr>
                            <m:mr>
                              <m:e>
                                <m:r>
                                  <a:rPr lang="es-BO" i="1">
                                    <a:latin typeface="Cambria Math" panose="02040503050406030204" pitchFamily="18" charset="0"/>
                                  </a:rPr>
                                  <m:t>−1</m:t>
                                </m:r>
                              </m:e>
                              <m:e>
                                <m:r>
                                  <a:rPr lang="es-BO" i="1">
                                    <a:latin typeface="Cambria Math" panose="02040503050406030204" pitchFamily="18" charset="0"/>
                                  </a:rPr>
                                  <m:t>0</m:t>
                                </m:r>
                              </m:e>
                            </m:mr>
                          </m:m>
                        </m:e>
                      </m:d>
                      <m:r>
                        <a:rPr lang="es-BO" i="1">
                          <a:latin typeface="Cambria Math" panose="02040503050406030204" pitchFamily="18" charset="0"/>
                        </a:rPr>
                        <m:t>,       </m:t>
                      </m:r>
                      <m:acc>
                        <m:accPr>
                          <m:chr m:val="̂"/>
                          <m:ctrlPr>
                            <a:rPr lang="en-US" i="1">
                              <a:latin typeface="Cambria Math" panose="02040503050406030204" pitchFamily="18" charset="0"/>
                            </a:rPr>
                          </m:ctrlPr>
                        </m:accPr>
                        <m:e>
                          <m:r>
                            <a:rPr lang="es-BO" i="1">
                              <a:latin typeface="Cambria Math" panose="02040503050406030204" pitchFamily="18" charset="0"/>
                            </a:rPr>
                            <m:t>𝐵</m:t>
                          </m:r>
                        </m:e>
                      </m:acc>
                      <m:r>
                        <a:rPr lang="es-BO" i="1">
                          <a:latin typeface="Cambria Math" panose="02040503050406030204" pitchFamily="18" charset="0"/>
                        </a:rPr>
                        <m:t>=</m:t>
                      </m:r>
                      <m:d>
                        <m:dPr>
                          <m:begChr m:val="["/>
                          <m:endChr m:val="]"/>
                          <m:ctrlPr>
                            <a:rPr lang="en-US" i="1">
                              <a:latin typeface="Cambria Math" panose="02040503050406030204" pitchFamily="18" charset="0"/>
                            </a:rPr>
                          </m:ctrlPr>
                        </m:dPr>
                        <m:e>
                          <m:m>
                            <m:mPr>
                              <m:mcs>
                                <m:mc>
                                  <m:mcPr>
                                    <m:count m:val="1"/>
                                    <m:mcJc m:val="center"/>
                                  </m:mcPr>
                                </m:mc>
                              </m:mcs>
                              <m:ctrlPr>
                                <a:rPr lang="en-US" i="1">
                                  <a:latin typeface="Cambria Math" panose="02040503050406030204" pitchFamily="18" charset="0"/>
                                </a:rPr>
                              </m:ctrlPr>
                            </m:mPr>
                            <m:mr>
                              <m:e>
                                <m:r>
                                  <m:rPr>
                                    <m:brk m:alnAt="7"/>
                                  </m:rPr>
                                  <a:rPr lang="es-BO" b="0" i="1" smtClean="0">
                                    <a:latin typeface="Cambria Math" panose="02040503050406030204" pitchFamily="18" charset="0"/>
                                  </a:rPr>
                                  <m:t>3</m:t>
                                </m:r>
                                <m:r>
                                  <a:rPr lang="es-BO" b="0" i="1" smtClean="0">
                                    <a:latin typeface="Cambria Math" panose="02040503050406030204" pitchFamily="18" charset="0"/>
                                  </a:rPr>
                                  <m:t>1.58</m:t>
                                </m:r>
                                <m:r>
                                  <a:rPr lang="es-MX" i="1">
                                    <a:latin typeface="Cambria Math" panose="02040503050406030204" pitchFamily="18" charset="0"/>
                                  </a:rPr>
                                  <m:t>∙</m:t>
                                </m:r>
                                <m:sSup>
                                  <m:sSupPr>
                                    <m:ctrlPr>
                                      <a:rPr lang="en-US" i="1">
                                        <a:latin typeface="Cambria Math" panose="02040503050406030204" pitchFamily="18" charset="0"/>
                                      </a:rPr>
                                    </m:ctrlPr>
                                  </m:sSupPr>
                                  <m:e>
                                    <m:r>
                                      <a:rPr lang="es-MX" i="1">
                                        <a:latin typeface="Cambria Math" panose="02040503050406030204" pitchFamily="18" charset="0"/>
                                      </a:rPr>
                                      <m:t>10</m:t>
                                    </m:r>
                                  </m:e>
                                  <m:sup>
                                    <m:r>
                                      <a:rPr lang="es-MX" i="1">
                                        <a:latin typeface="Cambria Math" panose="02040503050406030204" pitchFamily="18" charset="0"/>
                                      </a:rPr>
                                      <m:t>−3</m:t>
                                    </m:r>
                                  </m:sup>
                                </m:sSup>
                              </m:e>
                            </m:mr>
                            <m:mr>
                              <m:e>
                                <m:r>
                                  <a:rPr lang="es-BO" i="1">
                                    <a:latin typeface="Cambria Math" panose="02040503050406030204" pitchFamily="18" charset="0"/>
                                  </a:rPr>
                                  <m:t>0</m:t>
                                </m:r>
                              </m:e>
                            </m:mr>
                          </m:m>
                        </m:e>
                      </m:d>
                      <m:r>
                        <a:rPr lang="es-BO" i="1">
                          <a:latin typeface="Cambria Math" panose="02040503050406030204" pitchFamily="18" charset="0"/>
                        </a:rPr>
                        <m:t>       </m:t>
                      </m:r>
                      <m:r>
                        <a:rPr lang="es-BO" i="1">
                          <a:latin typeface="Cambria Math" panose="02040503050406030204" pitchFamily="18" charset="0"/>
                        </a:rPr>
                        <m:t>𝑦</m:t>
                      </m:r>
                      <m:r>
                        <a:rPr lang="es-BO" i="1">
                          <a:latin typeface="Cambria Math" panose="02040503050406030204" pitchFamily="18" charset="0"/>
                        </a:rPr>
                        <m:t>        </m:t>
                      </m:r>
                      <m:acc>
                        <m:accPr>
                          <m:chr m:val="̂"/>
                          <m:ctrlPr>
                            <a:rPr lang="en-US" i="1">
                              <a:latin typeface="Cambria Math" panose="02040503050406030204" pitchFamily="18" charset="0"/>
                            </a:rPr>
                          </m:ctrlPr>
                        </m:accPr>
                        <m:e>
                          <m:r>
                            <a:rPr lang="es-BO" i="1">
                              <a:latin typeface="Cambria Math" panose="02040503050406030204" pitchFamily="18" charset="0"/>
                            </a:rPr>
                            <m:t>𝐾</m:t>
                          </m:r>
                        </m:e>
                      </m:acc>
                      <m:r>
                        <a:rPr lang="es-BO" i="1">
                          <a:latin typeface="Cambria Math" panose="02040503050406030204" pitchFamily="18" charset="0"/>
                        </a:rPr>
                        <m:t>=</m:t>
                      </m:r>
                      <m:d>
                        <m:dPr>
                          <m:begChr m:val="["/>
                          <m:endChr m:val="]"/>
                          <m:ctrlPr>
                            <a:rPr lang="en-US" i="1">
                              <a:latin typeface="Cambria Math" panose="02040503050406030204" pitchFamily="18" charset="0"/>
                            </a:rPr>
                          </m:ctrlPr>
                        </m:dPr>
                        <m:e>
                          <m:r>
                            <a:rPr lang="es-BO" i="1">
                              <a:latin typeface="Cambria Math" panose="02040503050406030204" pitchFamily="18" charset="0"/>
                            </a:rPr>
                            <m:t>𝐾</m:t>
                          </m:r>
                          <m:r>
                            <a:rPr lang="es-BO" i="1">
                              <a:latin typeface="Cambria Math" panose="02040503050406030204" pitchFamily="18" charset="0"/>
                            </a:rPr>
                            <m:t>   −</m:t>
                          </m:r>
                          <m:sSub>
                            <m:sSubPr>
                              <m:ctrlPr>
                                <a:rPr lang="en-US" i="1">
                                  <a:latin typeface="Cambria Math" panose="02040503050406030204" pitchFamily="18" charset="0"/>
                                </a:rPr>
                              </m:ctrlPr>
                            </m:sSubPr>
                            <m:e>
                              <m:r>
                                <a:rPr lang="es-BO" i="1">
                                  <a:latin typeface="Cambria Math" panose="02040503050406030204" pitchFamily="18" charset="0"/>
                                </a:rPr>
                                <m:t>𝑘</m:t>
                              </m:r>
                            </m:e>
                            <m:sub>
                              <m:r>
                                <a:rPr lang="es-BO" i="1">
                                  <a:latin typeface="Cambria Math" panose="02040503050406030204" pitchFamily="18" charset="0"/>
                                </a:rPr>
                                <m:t>1</m:t>
                              </m:r>
                            </m:sub>
                          </m:sSub>
                        </m:e>
                      </m:d>
                    </m:oMath>
                  </m:oMathPara>
                </a14:m>
                <a:endParaRPr lang="en-US" dirty="0"/>
              </a:p>
              <a:p>
                <a:pPr marL="0" indent="0">
                  <a:buNone/>
                </a:pPr>
                <a:r>
                  <a:rPr lang="es-BO" sz="1600" dirty="0"/>
                  <a:t> </a:t>
                </a:r>
                <a:endParaRPr lang="en-US" sz="1600" dirty="0"/>
              </a:p>
            </p:txBody>
          </p:sp>
        </mc:Choice>
        <mc:Fallback xmlns="">
          <p:sp>
            <p:nvSpPr>
              <p:cNvPr id="3" name="Marcador de contenido 2"/>
              <p:cNvSpPr>
                <a:spLocks noGrp="1" noRot="1" noChangeAspect="1" noMove="1" noResize="1" noEditPoints="1" noAdjustHandles="1" noChangeArrowheads="1" noChangeShapeType="1" noTextEdit="1"/>
              </p:cNvSpPr>
              <p:nvPr>
                <p:ph idx="1"/>
              </p:nvPr>
            </p:nvSpPr>
            <p:spPr>
              <a:xfrm>
                <a:off x="780288" y="734568"/>
                <a:ext cx="10058400" cy="5704332"/>
              </a:xfrm>
              <a:blipFill>
                <a:blip r:embed="rId2"/>
                <a:stretch>
                  <a:fillRect l="-545" t="-1497"/>
                </a:stretch>
              </a:blipFill>
            </p:spPr>
            <p:txBody>
              <a:bodyPr/>
              <a:lstStyle/>
              <a:p>
                <a:r>
                  <a:rPr lang="es-BO">
                    <a:noFill/>
                  </a:rPr>
                  <a:t> </a:t>
                </a:r>
              </a:p>
            </p:txBody>
          </p:sp>
        </mc:Fallback>
      </mc:AlternateContent>
      <mc:AlternateContent xmlns:mc="http://schemas.openxmlformats.org/markup-compatibility/2006" xmlns:a14="http://schemas.microsoft.com/office/drawing/2010/main">
        <mc:Choice Requires="a14">
          <p:sp>
            <p:nvSpPr>
              <p:cNvPr id="4" name="Rectángulo 3"/>
              <p:cNvSpPr/>
              <p:nvPr/>
            </p:nvSpPr>
            <p:spPr>
              <a:xfrm>
                <a:off x="8257540" y="318505"/>
                <a:ext cx="4490720" cy="1488356"/>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US" sz="1200" b="1" i="1">
                              <a:latin typeface="Cambria Math" panose="02040503050406030204" pitchFamily="18" charset="0"/>
                            </a:rPr>
                          </m:ctrlPr>
                        </m:fPr>
                        <m:num>
                          <m:r>
                            <a:rPr lang="es-BO" sz="1200" b="1" i="1">
                              <a:latin typeface="Cambria Math" panose="02040503050406030204" pitchFamily="18" charset="0"/>
                            </a:rPr>
                            <m:t>𝑯</m:t>
                          </m:r>
                          <m:d>
                            <m:dPr>
                              <m:ctrlPr>
                                <a:rPr lang="en-US" sz="1200" b="1" i="1">
                                  <a:latin typeface="Cambria Math" panose="02040503050406030204" pitchFamily="18" charset="0"/>
                                </a:rPr>
                              </m:ctrlPr>
                            </m:dPr>
                            <m:e>
                              <m:r>
                                <a:rPr lang="es-BO" sz="1200" b="1" i="1">
                                  <a:latin typeface="Cambria Math" panose="02040503050406030204" pitchFamily="18" charset="0"/>
                                </a:rPr>
                                <m:t>𝒔</m:t>
                              </m:r>
                            </m:e>
                          </m:d>
                        </m:num>
                        <m:den>
                          <m:sSub>
                            <m:sSubPr>
                              <m:ctrlPr>
                                <a:rPr lang="en-US" sz="1200" b="1" i="1">
                                  <a:latin typeface="Cambria Math" panose="02040503050406030204" pitchFamily="18" charset="0"/>
                                </a:rPr>
                              </m:ctrlPr>
                            </m:sSubPr>
                            <m:e>
                              <m:r>
                                <a:rPr lang="es-BO" sz="1200" b="1" i="1">
                                  <a:latin typeface="Cambria Math" panose="02040503050406030204" pitchFamily="18" charset="0"/>
                                </a:rPr>
                                <m:t>𝑸</m:t>
                              </m:r>
                            </m:e>
                            <m:sub>
                              <m:r>
                                <a:rPr lang="es-BO" sz="1200" b="1" i="1">
                                  <a:latin typeface="Cambria Math" panose="02040503050406030204" pitchFamily="18" charset="0"/>
                                </a:rPr>
                                <m:t>𝒊</m:t>
                              </m:r>
                            </m:sub>
                          </m:sSub>
                          <m:d>
                            <m:dPr>
                              <m:ctrlPr>
                                <a:rPr lang="en-US" sz="1200" b="1" i="1">
                                  <a:latin typeface="Cambria Math" panose="02040503050406030204" pitchFamily="18" charset="0"/>
                                </a:rPr>
                              </m:ctrlPr>
                            </m:dPr>
                            <m:e>
                              <m:r>
                                <a:rPr lang="es-BO" sz="1200" b="1" i="1">
                                  <a:latin typeface="Cambria Math" panose="02040503050406030204" pitchFamily="18" charset="0"/>
                                </a:rPr>
                                <m:t>𝒔</m:t>
                              </m:r>
                            </m:e>
                          </m:d>
                        </m:den>
                      </m:f>
                      <m:r>
                        <a:rPr lang="es-BO" sz="1200" b="1" i="1">
                          <a:latin typeface="Cambria Math" panose="02040503050406030204" pitchFamily="18" charset="0"/>
                        </a:rPr>
                        <m:t>=</m:t>
                      </m:r>
                      <m:f>
                        <m:fPr>
                          <m:ctrlPr>
                            <a:rPr lang="en-US" sz="1200" b="1" i="1">
                              <a:latin typeface="Cambria Math" panose="02040503050406030204" pitchFamily="18" charset="0"/>
                            </a:rPr>
                          </m:ctrlPr>
                        </m:fPr>
                        <m:num>
                          <m:r>
                            <a:rPr lang="es-BO" sz="1200" b="1" i="1">
                              <a:latin typeface="Cambria Math" panose="02040503050406030204" pitchFamily="18" charset="0"/>
                            </a:rPr>
                            <m:t>𝑹</m:t>
                          </m:r>
                        </m:num>
                        <m:den>
                          <m:r>
                            <a:rPr lang="es-BO" sz="1200" b="1" i="1">
                              <a:latin typeface="Cambria Math" panose="02040503050406030204" pitchFamily="18" charset="0"/>
                            </a:rPr>
                            <m:t>𝒔𝑪𝑹</m:t>
                          </m:r>
                          <m:r>
                            <a:rPr lang="es-BO" sz="1200" b="1" i="1">
                              <a:latin typeface="Cambria Math" panose="02040503050406030204" pitchFamily="18" charset="0"/>
                            </a:rPr>
                            <m:t>+</m:t>
                          </m:r>
                          <m:r>
                            <a:rPr lang="es-BO" sz="1200" b="1" i="1">
                              <a:latin typeface="Cambria Math" panose="02040503050406030204" pitchFamily="18" charset="0"/>
                            </a:rPr>
                            <m:t>𝟏</m:t>
                          </m:r>
                        </m:den>
                      </m:f>
                      <m:r>
                        <a:rPr lang="es-BO" sz="1200" b="1" i="1">
                          <a:latin typeface="Cambria Math" panose="02040503050406030204" pitchFamily="18" charset="0"/>
                        </a:rPr>
                        <m:t>   →  </m:t>
                      </m:r>
                      <m:f>
                        <m:fPr>
                          <m:ctrlPr>
                            <a:rPr lang="en-US" sz="1200" b="1" i="1">
                              <a:latin typeface="Cambria Math" panose="02040503050406030204" pitchFamily="18" charset="0"/>
                            </a:rPr>
                          </m:ctrlPr>
                        </m:fPr>
                        <m:num>
                          <m:r>
                            <a:rPr lang="es-BO" sz="1200" b="1" i="1">
                              <a:latin typeface="Cambria Math" panose="02040503050406030204" pitchFamily="18" charset="0"/>
                            </a:rPr>
                            <m:t>𝑯</m:t>
                          </m:r>
                          <m:d>
                            <m:dPr>
                              <m:ctrlPr>
                                <a:rPr lang="en-US" sz="1200" b="1" i="1">
                                  <a:latin typeface="Cambria Math" panose="02040503050406030204" pitchFamily="18" charset="0"/>
                                </a:rPr>
                              </m:ctrlPr>
                            </m:dPr>
                            <m:e>
                              <m:r>
                                <a:rPr lang="es-BO" sz="1200" b="1" i="1">
                                  <a:latin typeface="Cambria Math" panose="02040503050406030204" pitchFamily="18" charset="0"/>
                                </a:rPr>
                                <m:t>𝒔</m:t>
                              </m:r>
                            </m:e>
                          </m:d>
                        </m:num>
                        <m:den>
                          <m:sSub>
                            <m:sSubPr>
                              <m:ctrlPr>
                                <a:rPr lang="en-US" sz="1200" b="1" i="1">
                                  <a:latin typeface="Cambria Math" panose="02040503050406030204" pitchFamily="18" charset="0"/>
                                </a:rPr>
                              </m:ctrlPr>
                            </m:sSubPr>
                            <m:e>
                              <m:r>
                                <a:rPr lang="es-BO" sz="1200" b="1" i="1">
                                  <a:latin typeface="Cambria Math" panose="02040503050406030204" pitchFamily="18" charset="0"/>
                                </a:rPr>
                                <m:t>𝑸</m:t>
                              </m:r>
                            </m:e>
                            <m:sub>
                              <m:r>
                                <a:rPr lang="es-BO" sz="1200" b="1" i="1">
                                  <a:latin typeface="Cambria Math" panose="02040503050406030204" pitchFamily="18" charset="0"/>
                                </a:rPr>
                                <m:t>𝒊</m:t>
                              </m:r>
                            </m:sub>
                          </m:sSub>
                          <m:d>
                            <m:dPr>
                              <m:ctrlPr>
                                <a:rPr lang="en-US" sz="1200" b="1" i="1">
                                  <a:latin typeface="Cambria Math" panose="02040503050406030204" pitchFamily="18" charset="0"/>
                                </a:rPr>
                              </m:ctrlPr>
                            </m:dPr>
                            <m:e>
                              <m:r>
                                <a:rPr lang="es-BO" sz="1200" b="1" i="1">
                                  <a:latin typeface="Cambria Math" panose="02040503050406030204" pitchFamily="18" charset="0"/>
                                </a:rPr>
                                <m:t>𝒔</m:t>
                              </m:r>
                            </m:e>
                          </m:d>
                        </m:den>
                      </m:f>
                      <m:r>
                        <a:rPr lang="es-BO" sz="1200" b="1" i="1">
                          <a:latin typeface="Cambria Math" panose="02040503050406030204" pitchFamily="18" charset="0"/>
                        </a:rPr>
                        <m:t>=</m:t>
                      </m:r>
                      <m:f>
                        <m:fPr>
                          <m:ctrlPr>
                            <a:rPr lang="en-US" sz="1200" b="1" i="1">
                              <a:latin typeface="Cambria Math" panose="02040503050406030204" pitchFamily="18" charset="0"/>
                            </a:rPr>
                          </m:ctrlPr>
                        </m:fPr>
                        <m:num>
                          <m:r>
                            <a:rPr lang="es-BO" sz="1200" b="1" i="1">
                              <a:latin typeface="Cambria Math" panose="02040503050406030204" pitchFamily="18" charset="0"/>
                            </a:rPr>
                            <m:t>𝟎</m:t>
                          </m:r>
                          <m:r>
                            <a:rPr lang="es-BO" sz="1200" b="1" i="1">
                              <a:latin typeface="Cambria Math" panose="02040503050406030204" pitchFamily="18" charset="0"/>
                            </a:rPr>
                            <m:t>.</m:t>
                          </m:r>
                          <m:r>
                            <a:rPr lang="es-BO" sz="1200" b="1" i="1">
                              <a:latin typeface="Cambria Math" panose="02040503050406030204" pitchFamily="18" charset="0"/>
                            </a:rPr>
                            <m:t>𝟎𝟗𝟓𝟔𝟗</m:t>
                          </m:r>
                        </m:num>
                        <m:den>
                          <m:r>
                            <a:rPr lang="es-BO" sz="1200" b="1" i="1">
                              <a:latin typeface="Cambria Math" panose="02040503050406030204" pitchFamily="18" charset="0"/>
                            </a:rPr>
                            <m:t>𝟑𝟎𝟑</m:t>
                          </m:r>
                          <m:r>
                            <a:rPr lang="es-BO" sz="1200" b="1" i="1">
                              <a:latin typeface="Cambria Math" panose="02040503050406030204" pitchFamily="18" charset="0"/>
                            </a:rPr>
                            <m:t>∗</m:t>
                          </m:r>
                          <m:r>
                            <a:rPr lang="es-BO" sz="1200" b="1" i="1">
                              <a:latin typeface="Cambria Math" panose="02040503050406030204" pitchFamily="18" charset="0"/>
                            </a:rPr>
                            <m:t>𝒔</m:t>
                          </m:r>
                          <m:r>
                            <a:rPr lang="es-BO" sz="1200" b="1" i="1">
                              <a:latin typeface="Cambria Math" panose="02040503050406030204" pitchFamily="18" charset="0"/>
                            </a:rPr>
                            <m:t>+</m:t>
                          </m:r>
                          <m:r>
                            <a:rPr lang="es-BO" sz="1200" b="1" i="1">
                              <a:latin typeface="Cambria Math" panose="02040503050406030204" pitchFamily="18" charset="0"/>
                            </a:rPr>
                            <m:t>𝟏</m:t>
                          </m:r>
                        </m:den>
                      </m:f>
                    </m:oMath>
                  </m:oMathPara>
                </a14:m>
                <a:endParaRPr lang="en-US" sz="1200" dirty="0"/>
              </a:p>
              <a:p>
                <a:r>
                  <a:rPr lang="es-BO" sz="1200" dirty="0"/>
                  <a:t>Con las ecuaciones :</a:t>
                </a:r>
              </a:p>
              <a:p>
                <a:pPr/>
                <a14:m>
                  <m:oMathPara xmlns:m="http://schemas.openxmlformats.org/officeDocument/2006/math">
                    <m:oMathParaPr>
                      <m:jc m:val="centerGroup"/>
                    </m:oMathParaPr>
                    <m:oMath xmlns:m="http://schemas.openxmlformats.org/officeDocument/2006/math">
                      <m:m>
                        <m:mPr>
                          <m:mcs>
                            <m:mc>
                              <m:mcPr>
                                <m:count m:val="1"/>
                                <m:mcJc m:val="center"/>
                              </m:mcPr>
                            </m:mc>
                          </m:mcs>
                          <m:ctrlPr>
                            <a:rPr lang="en-US" sz="1200" i="1">
                              <a:latin typeface="Cambria Math" panose="02040503050406030204" pitchFamily="18" charset="0"/>
                            </a:rPr>
                          </m:ctrlPr>
                        </m:mPr>
                        <m:mr>
                          <m:e>
                            <m:acc>
                              <m:accPr>
                                <m:chr m:val="̇"/>
                                <m:ctrlPr>
                                  <a:rPr lang="en-US" sz="1200" i="1">
                                    <a:latin typeface="Cambria Math" panose="02040503050406030204" pitchFamily="18" charset="0"/>
                                  </a:rPr>
                                </m:ctrlPr>
                              </m:accPr>
                              <m:e>
                                <m:r>
                                  <a:rPr lang="es-BO" sz="1200" i="1">
                                    <a:latin typeface="Cambria Math" panose="02040503050406030204" pitchFamily="18" charset="0"/>
                                  </a:rPr>
                                  <m:t>𝑥</m:t>
                                </m:r>
                              </m:e>
                            </m:acc>
                            <m:d>
                              <m:dPr>
                                <m:ctrlPr>
                                  <a:rPr lang="en-US" sz="1200" i="1">
                                    <a:latin typeface="Cambria Math" panose="02040503050406030204" pitchFamily="18" charset="0"/>
                                  </a:rPr>
                                </m:ctrlPr>
                              </m:dPr>
                              <m:e>
                                <m:r>
                                  <a:rPr lang="es-BO" sz="1200" i="1">
                                    <a:latin typeface="Cambria Math" panose="02040503050406030204" pitchFamily="18" charset="0"/>
                                  </a:rPr>
                                  <m:t>𝑡</m:t>
                                </m:r>
                              </m:e>
                            </m:d>
                            <m:r>
                              <a:rPr lang="es-BO" sz="1200" i="1">
                                <a:latin typeface="Cambria Math" panose="02040503050406030204" pitchFamily="18" charset="0"/>
                              </a:rPr>
                              <m:t>=</m:t>
                            </m:r>
                            <m:r>
                              <a:rPr lang="es-BO" sz="1200" i="1">
                                <a:latin typeface="Cambria Math" panose="02040503050406030204" pitchFamily="18" charset="0"/>
                              </a:rPr>
                              <m:t>𝐴𝑥</m:t>
                            </m:r>
                            <m:d>
                              <m:dPr>
                                <m:ctrlPr>
                                  <a:rPr lang="en-US" sz="1200" i="1">
                                    <a:latin typeface="Cambria Math" panose="02040503050406030204" pitchFamily="18" charset="0"/>
                                  </a:rPr>
                                </m:ctrlPr>
                              </m:dPr>
                              <m:e>
                                <m:r>
                                  <a:rPr lang="es-BO" sz="1200" i="1">
                                    <a:latin typeface="Cambria Math" panose="02040503050406030204" pitchFamily="18" charset="0"/>
                                  </a:rPr>
                                  <m:t>𝑡</m:t>
                                </m:r>
                              </m:e>
                            </m:d>
                            <m:r>
                              <a:rPr lang="es-BO" sz="1200" i="1">
                                <a:latin typeface="Cambria Math" panose="02040503050406030204" pitchFamily="18" charset="0"/>
                              </a:rPr>
                              <m:t>+</m:t>
                            </m:r>
                            <m:r>
                              <a:rPr lang="es-BO" sz="1200" i="1">
                                <a:latin typeface="Cambria Math" panose="02040503050406030204" pitchFamily="18" charset="0"/>
                              </a:rPr>
                              <m:t>𝐵</m:t>
                            </m:r>
                            <m:sSub>
                              <m:sSubPr>
                                <m:ctrlPr>
                                  <a:rPr lang="en-US" sz="1200" i="1">
                                    <a:latin typeface="Cambria Math" panose="02040503050406030204" pitchFamily="18" charset="0"/>
                                  </a:rPr>
                                </m:ctrlPr>
                              </m:sSubPr>
                              <m:e>
                                <m:r>
                                  <a:rPr lang="es-BO" sz="1200" i="1">
                                    <a:latin typeface="Cambria Math" panose="02040503050406030204" pitchFamily="18" charset="0"/>
                                  </a:rPr>
                                  <m:t>𝑞</m:t>
                                </m:r>
                              </m:e>
                              <m:sub>
                                <m:r>
                                  <a:rPr lang="es-BO" sz="1200" i="1">
                                    <a:latin typeface="Cambria Math" panose="02040503050406030204" pitchFamily="18" charset="0"/>
                                  </a:rPr>
                                  <m:t>𝑖</m:t>
                                </m:r>
                              </m:sub>
                            </m:sSub>
                            <m:r>
                              <a:rPr lang="es-BO" sz="1200" i="1">
                                <a:latin typeface="Cambria Math" panose="02040503050406030204" pitchFamily="18" charset="0"/>
                              </a:rPr>
                              <m:t>(</m:t>
                            </m:r>
                            <m:r>
                              <a:rPr lang="es-BO" sz="1200" i="1">
                                <a:latin typeface="Cambria Math" panose="02040503050406030204" pitchFamily="18" charset="0"/>
                              </a:rPr>
                              <m:t>𝑡</m:t>
                            </m:r>
                            <m:r>
                              <a:rPr lang="es-BO" sz="1200" i="1">
                                <a:latin typeface="Cambria Math" panose="02040503050406030204" pitchFamily="18" charset="0"/>
                              </a:rPr>
                              <m:t>)</m:t>
                            </m:r>
                          </m:e>
                        </m:mr>
                        <m:mr>
                          <m:e>
                            <m:r>
                              <a:rPr lang="es-BO" sz="1200" i="1">
                                <a:latin typeface="Cambria Math" panose="02040503050406030204" pitchFamily="18" charset="0"/>
                              </a:rPr>
                              <m:t>𝑦</m:t>
                            </m:r>
                            <m:d>
                              <m:dPr>
                                <m:ctrlPr>
                                  <a:rPr lang="en-US" sz="1200" i="1">
                                    <a:latin typeface="Cambria Math" panose="02040503050406030204" pitchFamily="18" charset="0"/>
                                  </a:rPr>
                                </m:ctrlPr>
                              </m:dPr>
                              <m:e>
                                <m:r>
                                  <a:rPr lang="es-BO" sz="1200" i="1">
                                    <a:latin typeface="Cambria Math" panose="02040503050406030204" pitchFamily="18" charset="0"/>
                                  </a:rPr>
                                  <m:t>𝑡</m:t>
                                </m:r>
                              </m:e>
                            </m:d>
                            <m:r>
                              <a:rPr lang="es-BO" sz="1200" i="1">
                                <a:latin typeface="Cambria Math" panose="02040503050406030204" pitchFamily="18" charset="0"/>
                              </a:rPr>
                              <m:t>=</m:t>
                            </m:r>
                            <m:r>
                              <a:rPr lang="es-BO" sz="1200" i="1">
                                <a:latin typeface="Cambria Math" panose="02040503050406030204" pitchFamily="18" charset="0"/>
                              </a:rPr>
                              <m:t>𝐶𝑥</m:t>
                            </m:r>
                            <m:r>
                              <a:rPr lang="es-BO" sz="1200" i="1">
                                <a:latin typeface="Cambria Math" panose="02040503050406030204" pitchFamily="18" charset="0"/>
                              </a:rPr>
                              <m:t>(</m:t>
                            </m:r>
                            <m:r>
                              <a:rPr lang="es-BO" sz="1200" i="1">
                                <a:latin typeface="Cambria Math" panose="02040503050406030204" pitchFamily="18" charset="0"/>
                              </a:rPr>
                              <m:t>𝑡</m:t>
                            </m:r>
                            <m:r>
                              <a:rPr lang="es-BO" sz="1200" i="1">
                                <a:latin typeface="Cambria Math" panose="02040503050406030204" pitchFamily="18" charset="0"/>
                              </a:rPr>
                              <m:t>)</m:t>
                            </m:r>
                          </m:e>
                        </m:mr>
                      </m:m>
                      <m:r>
                        <a:rPr lang="es-BO" sz="1200" i="1">
                          <a:latin typeface="Cambria Math" panose="02040503050406030204" pitchFamily="18" charset="0"/>
                        </a:rPr>
                        <m:t>              →          </m:t>
                      </m:r>
                      <m:r>
                        <a:rPr lang="es-BO" sz="1200" i="1">
                          <a:latin typeface="Cambria Math" panose="02040503050406030204" pitchFamily="18" charset="0"/>
                        </a:rPr>
                        <m:t>𝐴</m:t>
                      </m:r>
                      <m:r>
                        <a:rPr lang="es-BO" sz="1200" i="1">
                          <a:latin typeface="Cambria Math" panose="02040503050406030204" pitchFamily="18" charset="0"/>
                        </a:rPr>
                        <m:t>=</m:t>
                      </m:r>
                      <m:d>
                        <m:dPr>
                          <m:begChr m:val="["/>
                          <m:endChr m:val="]"/>
                          <m:ctrlPr>
                            <a:rPr lang="en-US" sz="1200" i="1">
                              <a:latin typeface="Cambria Math" panose="02040503050406030204" pitchFamily="18" charset="0"/>
                            </a:rPr>
                          </m:ctrlPr>
                        </m:dPr>
                        <m:e>
                          <m:f>
                            <m:fPr>
                              <m:ctrlPr>
                                <a:rPr lang="en-US" sz="1200" i="1">
                                  <a:latin typeface="Cambria Math" panose="02040503050406030204" pitchFamily="18" charset="0"/>
                                </a:rPr>
                              </m:ctrlPr>
                            </m:fPr>
                            <m:num>
                              <m:r>
                                <a:rPr lang="es-BO" sz="1200" i="1">
                                  <a:latin typeface="Cambria Math" panose="02040503050406030204" pitchFamily="18" charset="0"/>
                                </a:rPr>
                                <m:t>−1</m:t>
                              </m:r>
                            </m:num>
                            <m:den>
                              <m:r>
                                <a:rPr lang="es-BO" sz="1200" i="1">
                                  <a:latin typeface="Cambria Math" panose="02040503050406030204" pitchFamily="18" charset="0"/>
                                </a:rPr>
                                <m:t>303</m:t>
                              </m:r>
                            </m:den>
                          </m:f>
                        </m:e>
                      </m:d>
                      <m:r>
                        <a:rPr lang="es-BO" sz="1200" i="1">
                          <a:latin typeface="Cambria Math" panose="02040503050406030204" pitchFamily="18" charset="0"/>
                        </a:rPr>
                        <m:t>,      </m:t>
                      </m:r>
                      <m:r>
                        <a:rPr lang="es-BO" sz="1200" i="1">
                          <a:latin typeface="Cambria Math" panose="02040503050406030204" pitchFamily="18" charset="0"/>
                        </a:rPr>
                        <m:t>𝐵</m:t>
                      </m:r>
                      <m:r>
                        <a:rPr lang="es-BO" sz="1200" i="1">
                          <a:latin typeface="Cambria Math" panose="02040503050406030204" pitchFamily="18" charset="0"/>
                        </a:rPr>
                        <m:t>=</m:t>
                      </m:r>
                      <m:d>
                        <m:dPr>
                          <m:begChr m:val="["/>
                          <m:endChr m:val="]"/>
                          <m:ctrlPr>
                            <a:rPr lang="en-US" sz="1200" i="1">
                              <a:latin typeface="Cambria Math" panose="02040503050406030204" pitchFamily="18" charset="0"/>
                            </a:rPr>
                          </m:ctrlPr>
                        </m:dPr>
                        <m:e>
                          <m:f>
                            <m:fPr>
                              <m:ctrlPr>
                                <a:rPr lang="en-US" sz="1200" i="1">
                                  <a:latin typeface="Cambria Math" panose="02040503050406030204" pitchFamily="18" charset="0"/>
                                </a:rPr>
                              </m:ctrlPr>
                            </m:fPr>
                            <m:num>
                              <m:r>
                                <a:rPr lang="es-BO" sz="1200" i="1">
                                  <a:latin typeface="Cambria Math" panose="02040503050406030204" pitchFamily="18" charset="0"/>
                                </a:rPr>
                                <m:t>1</m:t>
                              </m:r>
                            </m:num>
                            <m:den>
                              <m:r>
                                <a:rPr lang="es-BO" sz="1200" i="1">
                                  <a:latin typeface="Cambria Math" panose="02040503050406030204" pitchFamily="18" charset="0"/>
                                </a:rPr>
                                <m:t>3166.47</m:t>
                              </m:r>
                            </m:den>
                          </m:f>
                        </m:e>
                      </m:d>
                      <m:r>
                        <a:rPr lang="es-BO" sz="1200" i="1">
                          <a:latin typeface="Cambria Math" panose="02040503050406030204" pitchFamily="18" charset="0"/>
                        </a:rPr>
                        <m:t>,     </m:t>
                      </m:r>
                      <m:r>
                        <a:rPr lang="es-BO" sz="1200" i="1">
                          <a:latin typeface="Cambria Math" panose="02040503050406030204" pitchFamily="18" charset="0"/>
                        </a:rPr>
                        <m:t>𝐶</m:t>
                      </m:r>
                      <m:r>
                        <a:rPr lang="es-BO" sz="1200" i="1">
                          <a:latin typeface="Cambria Math" panose="02040503050406030204" pitchFamily="18" charset="0"/>
                        </a:rPr>
                        <m:t>=</m:t>
                      </m:r>
                      <m:d>
                        <m:dPr>
                          <m:begChr m:val="["/>
                          <m:endChr m:val="]"/>
                          <m:ctrlPr>
                            <a:rPr lang="en-US" sz="1200" i="1">
                              <a:latin typeface="Cambria Math" panose="02040503050406030204" pitchFamily="18" charset="0"/>
                            </a:rPr>
                          </m:ctrlPr>
                        </m:dPr>
                        <m:e>
                          <m:r>
                            <a:rPr lang="es-BO" sz="1200" i="1">
                              <a:latin typeface="Cambria Math" panose="02040503050406030204" pitchFamily="18" charset="0"/>
                            </a:rPr>
                            <m:t>1</m:t>
                          </m:r>
                        </m:e>
                      </m:d>
                      <m:r>
                        <a:rPr lang="es-BO" sz="1200" b="1" i="1">
                          <a:latin typeface="Cambria Math" panose="02040503050406030204" pitchFamily="18" charset="0"/>
                        </a:rPr>
                        <m:t> </m:t>
                      </m:r>
                    </m:oMath>
                  </m:oMathPara>
                </a14:m>
                <a:endParaRPr lang="en-US" sz="1200" dirty="0"/>
              </a:p>
            </p:txBody>
          </p:sp>
        </mc:Choice>
        <mc:Fallback xmlns="">
          <p:sp>
            <p:nvSpPr>
              <p:cNvPr id="4" name="Rectángulo 3"/>
              <p:cNvSpPr>
                <a:spLocks noRot="1" noChangeAspect="1" noMove="1" noResize="1" noEditPoints="1" noAdjustHandles="1" noChangeArrowheads="1" noChangeShapeType="1" noTextEdit="1"/>
              </p:cNvSpPr>
              <p:nvPr/>
            </p:nvSpPr>
            <p:spPr>
              <a:xfrm>
                <a:off x="8257540" y="318505"/>
                <a:ext cx="4490720" cy="1488356"/>
              </a:xfrm>
              <a:prstGeom prst="rect">
                <a:avLst/>
              </a:prstGeom>
              <a:blipFill>
                <a:blip r:embed="rId3"/>
                <a:stretch>
                  <a:fillRect l="-136"/>
                </a:stretch>
              </a:blipFill>
            </p:spPr>
            <p:txBody>
              <a:bodyPr/>
              <a:lstStyle/>
              <a:p>
                <a:r>
                  <a:rPr lang="es-BO">
                    <a:noFill/>
                  </a:rPr>
                  <a:t> </a:t>
                </a:r>
              </a:p>
            </p:txBody>
          </p:sp>
        </mc:Fallback>
      </mc:AlternateContent>
    </p:spTree>
    <p:extLst>
      <p:ext uri="{BB962C8B-B14F-4D97-AF65-F5344CB8AC3E}">
        <p14:creationId xmlns:p14="http://schemas.microsoft.com/office/powerpoint/2010/main" val="317505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CuadroTexto 4">
                <a:extLst>
                  <a:ext uri="{FF2B5EF4-FFF2-40B4-BE49-F238E27FC236}">
                    <a16:creationId xmlns:a16="http://schemas.microsoft.com/office/drawing/2014/main" id="{B5CA34B5-D3B9-6016-84D1-A8C569702DE3}"/>
                  </a:ext>
                </a:extLst>
              </p:cNvPr>
              <p:cNvSpPr txBox="1"/>
              <p:nvPr/>
            </p:nvSpPr>
            <p:spPr>
              <a:xfrm>
                <a:off x="1485900" y="1315280"/>
                <a:ext cx="9258300" cy="2428614"/>
              </a:xfrm>
              <a:prstGeom prst="rect">
                <a:avLst/>
              </a:prstGeom>
              <a:noFill/>
            </p:spPr>
            <p:txBody>
              <a:bodyPr wrap="square">
                <a:spAutoFit/>
              </a:bodyPr>
              <a:lstStyle/>
              <a:p>
                <a:pPr marL="0" indent="0">
                  <a:buNone/>
                </a:pPr>
                <a:r>
                  <a:rPr lang="es-BO" sz="2000" dirty="0"/>
                  <a:t>Verificamos la controlabilidad del sistema</a:t>
                </a:r>
              </a:p>
              <a:p>
                <a:pPr marL="0" indent="0">
                  <a:buNone/>
                </a:pPr>
                <a:endParaRPr lang="en-US" sz="2000" dirty="0"/>
              </a:p>
              <a:p>
                <a:pPr marL="0" indent="0">
                  <a:buNone/>
                </a:pPr>
                <a14:m>
                  <m:oMathPara xmlns:m="http://schemas.openxmlformats.org/officeDocument/2006/math">
                    <m:oMathParaPr>
                      <m:jc m:val="centerGroup"/>
                    </m:oMathParaPr>
                    <m:oMath xmlns:m="http://schemas.openxmlformats.org/officeDocument/2006/math">
                      <m:r>
                        <a:rPr lang="es-BO" sz="2000" i="1">
                          <a:latin typeface="Cambria Math" panose="02040503050406030204" pitchFamily="18" charset="0"/>
                        </a:rPr>
                        <m:t>𝐶𝑜</m:t>
                      </m:r>
                      <m:r>
                        <a:rPr lang="es-BO" sz="2000" i="1">
                          <a:latin typeface="Cambria Math" panose="02040503050406030204" pitchFamily="18" charset="0"/>
                        </a:rPr>
                        <m:t>=</m:t>
                      </m:r>
                      <m:d>
                        <m:dPr>
                          <m:begChr m:val="["/>
                          <m:endChr m:val="]"/>
                          <m:ctrlPr>
                            <a:rPr lang="en-US" sz="2000" i="1">
                              <a:latin typeface="Cambria Math" panose="02040503050406030204" pitchFamily="18" charset="0"/>
                            </a:rPr>
                          </m:ctrlPr>
                        </m:dPr>
                        <m:e>
                          <m:m>
                            <m:mPr>
                              <m:mcs>
                                <m:mc>
                                  <m:mcPr>
                                    <m:count m:val="2"/>
                                    <m:mcJc m:val="center"/>
                                  </m:mcPr>
                                </m:mc>
                              </m:mcs>
                              <m:ctrlPr>
                                <a:rPr lang="en-US" sz="2000" i="1">
                                  <a:latin typeface="Cambria Math" panose="02040503050406030204" pitchFamily="18" charset="0"/>
                                </a:rPr>
                              </m:ctrlPr>
                            </m:mPr>
                            <m:mr>
                              <m:e>
                                <m:r>
                                  <a:rPr lang="es-BO" sz="2000" i="1">
                                    <a:latin typeface="Cambria Math" panose="02040503050406030204" pitchFamily="18" charset="0"/>
                                  </a:rPr>
                                  <m:t>𝐵</m:t>
                                </m:r>
                              </m:e>
                              <m:e>
                                <m:r>
                                  <a:rPr lang="es-BO" sz="2000" i="1">
                                    <a:latin typeface="Cambria Math" panose="02040503050406030204" pitchFamily="18" charset="0"/>
                                  </a:rPr>
                                  <m:t>𝐴𝐵</m:t>
                                </m:r>
                              </m:e>
                            </m:mr>
                          </m:m>
                        </m:e>
                      </m:d>
                      <m:r>
                        <a:rPr lang="es-BO" sz="2000" i="1">
                          <a:latin typeface="Cambria Math" panose="02040503050406030204" pitchFamily="18" charset="0"/>
                        </a:rPr>
                        <m:t>     →   </m:t>
                      </m:r>
                      <m:r>
                        <a:rPr lang="es-BO" sz="2000" i="1">
                          <a:latin typeface="Cambria Math" panose="02040503050406030204" pitchFamily="18" charset="0"/>
                        </a:rPr>
                        <m:t>𝐶𝑜</m:t>
                      </m:r>
                      <m:r>
                        <a:rPr lang="es-BO" sz="2000" i="1">
                          <a:latin typeface="Cambria Math" panose="02040503050406030204" pitchFamily="18" charset="0"/>
                        </a:rPr>
                        <m:t>=</m:t>
                      </m:r>
                      <m:d>
                        <m:dPr>
                          <m:begChr m:val="["/>
                          <m:endChr m:val="]"/>
                          <m:ctrlPr>
                            <a:rPr lang="en-US" sz="2000" i="1">
                              <a:latin typeface="Cambria Math" panose="02040503050406030204" pitchFamily="18" charset="0"/>
                            </a:rPr>
                          </m:ctrlPr>
                        </m:dPr>
                        <m:e>
                          <m:m>
                            <m:mPr>
                              <m:mcs>
                                <m:mc>
                                  <m:mcPr>
                                    <m:count m:val="2"/>
                                    <m:mcJc m:val="center"/>
                                  </m:mcPr>
                                </m:mc>
                              </m:mcs>
                              <m:ctrlPr>
                                <a:rPr lang="en-US" sz="2000" i="1">
                                  <a:latin typeface="Cambria Math" panose="02040503050406030204" pitchFamily="18" charset="0"/>
                                </a:rPr>
                              </m:ctrlPr>
                            </m:mPr>
                            <m:mr>
                              <m:e>
                                <m:m>
                                  <m:mPr>
                                    <m:mcs>
                                      <m:mc>
                                        <m:mcPr>
                                          <m:count m:val="1"/>
                                          <m:mcJc m:val="center"/>
                                        </m:mcPr>
                                      </m:mc>
                                    </m:mcs>
                                    <m:ctrlPr>
                                      <a:rPr lang="en-US" sz="2000" i="1">
                                        <a:latin typeface="Cambria Math" panose="02040503050406030204" pitchFamily="18" charset="0"/>
                                      </a:rPr>
                                    </m:ctrlPr>
                                  </m:mPr>
                                  <m:mr>
                                    <m:e>
                                      <m:r>
                                        <a:rPr lang="es-MX" sz="2000" i="1">
                                          <a:latin typeface="Cambria Math" panose="02040503050406030204" pitchFamily="18" charset="0"/>
                                        </a:rPr>
                                        <m:t>0.625∙</m:t>
                                      </m:r>
                                      <m:sSup>
                                        <m:sSupPr>
                                          <m:ctrlPr>
                                            <a:rPr lang="en-US" sz="2000" i="1">
                                              <a:latin typeface="Cambria Math" panose="02040503050406030204" pitchFamily="18" charset="0"/>
                                            </a:rPr>
                                          </m:ctrlPr>
                                        </m:sSupPr>
                                        <m:e>
                                          <m:r>
                                            <a:rPr lang="es-MX" sz="2000" i="1">
                                              <a:latin typeface="Cambria Math" panose="02040503050406030204" pitchFamily="18" charset="0"/>
                                            </a:rPr>
                                            <m:t>10</m:t>
                                          </m:r>
                                        </m:e>
                                        <m:sup>
                                          <m:r>
                                            <a:rPr lang="es-MX" sz="2000" i="1">
                                              <a:latin typeface="Cambria Math" panose="02040503050406030204" pitchFamily="18" charset="0"/>
                                            </a:rPr>
                                            <m:t>−3</m:t>
                                          </m:r>
                                        </m:sup>
                                      </m:sSup>
                                    </m:e>
                                  </m:mr>
                                  <m:mr>
                                    <m:e>
                                      <m:r>
                                        <a:rPr lang="es-BO" sz="2000" i="1">
                                          <a:latin typeface="Cambria Math" panose="02040503050406030204" pitchFamily="18" charset="0"/>
                                        </a:rPr>
                                        <m:t>0</m:t>
                                      </m:r>
                                    </m:e>
                                  </m:mr>
                                </m:m>
                              </m:e>
                              <m:e>
                                <m:m>
                                  <m:mPr>
                                    <m:mcs>
                                      <m:mc>
                                        <m:mcPr>
                                          <m:count m:val="1"/>
                                          <m:mcJc m:val="center"/>
                                        </m:mcPr>
                                      </m:mc>
                                    </m:mcs>
                                    <m:ctrlPr>
                                      <a:rPr lang="en-US" sz="2000" i="1">
                                        <a:latin typeface="Cambria Math" panose="02040503050406030204" pitchFamily="18" charset="0"/>
                                      </a:rPr>
                                    </m:ctrlPr>
                                  </m:mPr>
                                  <m:mr>
                                    <m:e>
                                      <m:r>
                                        <a:rPr lang="es-MX" sz="2000" i="1">
                                          <a:latin typeface="Cambria Math" panose="02040503050406030204" pitchFamily="18" charset="0"/>
                                        </a:rPr>
                                        <m:t>−3.8989∙</m:t>
                                      </m:r>
                                      <m:sSup>
                                        <m:sSupPr>
                                          <m:ctrlPr>
                                            <a:rPr lang="en-US" sz="2000" i="1">
                                              <a:latin typeface="Cambria Math" panose="02040503050406030204" pitchFamily="18" charset="0"/>
                                            </a:rPr>
                                          </m:ctrlPr>
                                        </m:sSupPr>
                                        <m:e>
                                          <m:r>
                                            <a:rPr lang="es-MX" sz="2000" i="1">
                                              <a:latin typeface="Cambria Math" panose="02040503050406030204" pitchFamily="18" charset="0"/>
                                            </a:rPr>
                                            <m:t>10</m:t>
                                          </m:r>
                                        </m:e>
                                        <m:sup>
                                          <m:r>
                                            <a:rPr lang="es-MX" sz="2000" i="1">
                                              <a:latin typeface="Cambria Math" panose="02040503050406030204" pitchFamily="18" charset="0"/>
                                            </a:rPr>
                                            <m:t>−3</m:t>
                                          </m:r>
                                        </m:sup>
                                      </m:sSup>
                                      <m:r>
                                        <a:rPr lang="es-MX" sz="2000" i="1">
                                          <a:latin typeface="Cambria Math" panose="02040503050406030204" pitchFamily="18" charset="0"/>
                                        </a:rPr>
                                        <m:t>∗0.625∙</m:t>
                                      </m:r>
                                      <m:sSup>
                                        <m:sSupPr>
                                          <m:ctrlPr>
                                            <a:rPr lang="en-US" sz="2000" i="1">
                                              <a:latin typeface="Cambria Math" panose="02040503050406030204" pitchFamily="18" charset="0"/>
                                            </a:rPr>
                                          </m:ctrlPr>
                                        </m:sSupPr>
                                        <m:e>
                                          <m:r>
                                            <a:rPr lang="es-MX" sz="2000" i="1">
                                              <a:latin typeface="Cambria Math" panose="02040503050406030204" pitchFamily="18" charset="0"/>
                                            </a:rPr>
                                            <m:t>10</m:t>
                                          </m:r>
                                        </m:e>
                                        <m:sup>
                                          <m:r>
                                            <a:rPr lang="es-MX" sz="2000" i="1">
                                              <a:latin typeface="Cambria Math" panose="02040503050406030204" pitchFamily="18" charset="0"/>
                                            </a:rPr>
                                            <m:t>−3</m:t>
                                          </m:r>
                                        </m:sup>
                                      </m:sSup>
                                    </m:e>
                                  </m:mr>
                                  <m:mr>
                                    <m:e>
                                      <m:r>
                                        <a:rPr lang="es-BO" sz="2000" i="1">
                                          <a:latin typeface="Cambria Math" panose="02040503050406030204" pitchFamily="18" charset="0"/>
                                        </a:rPr>
                                        <m:t>−</m:t>
                                      </m:r>
                                      <m:r>
                                        <a:rPr lang="es-MX" sz="2000" i="1">
                                          <a:latin typeface="Cambria Math" panose="02040503050406030204" pitchFamily="18" charset="0"/>
                                        </a:rPr>
                                        <m:t>0.625∙</m:t>
                                      </m:r>
                                      <m:sSup>
                                        <m:sSupPr>
                                          <m:ctrlPr>
                                            <a:rPr lang="en-US" sz="2000" i="1">
                                              <a:latin typeface="Cambria Math" panose="02040503050406030204" pitchFamily="18" charset="0"/>
                                            </a:rPr>
                                          </m:ctrlPr>
                                        </m:sSupPr>
                                        <m:e>
                                          <m:r>
                                            <a:rPr lang="es-MX" sz="2000" i="1">
                                              <a:latin typeface="Cambria Math" panose="02040503050406030204" pitchFamily="18" charset="0"/>
                                            </a:rPr>
                                            <m:t>10</m:t>
                                          </m:r>
                                        </m:e>
                                        <m:sup>
                                          <m:r>
                                            <a:rPr lang="es-MX" sz="2000" i="1">
                                              <a:latin typeface="Cambria Math" panose="02040503050406030204" pitchFamily="18" charset="0"/>
                                            </a:rPr>
                                            <m:t>−3</m:t>
                                          </m:r>
                                        </m:sup>
                                      </m:sSup>
                                    </m:e>
                                  </m:mr>
                                </m:m>
                              </m:e>
                            </m:mr>
                          </m:m>
                        </m:e>
                      </m:d>
                    </m:oMath>
                  </m:oMathPara>
                </a14:m>
                <a:endParaRPr lang="en-US" sz="2000" dirty="0"/>
              </a:p>
              <a:p>
                <a:pPr marL="0" indent="0">
                  <a:buNone/>
                </a:pPr>
                <a:r>
                  <a:rPr lang="es-BO" sz="2000" dirty="0"/>
                  <a:t> </a:t>
                </a:r>
              </a:p>
              <a:p>
                <a:pPr marL="0" indent="0">
                  <a:buNone/>
                </a:pPr>
                <a:endParaRPr lang="en-US" sz="2000" dirty="0"/>
              </a:p>
              <a:p>
                <a:pPr marL="0" indent="0">
                  <a:buNone/>
                </a:pPr>
                <a14:m>
                  <m:oMathPara xmlns:m="http://schemas.openxmlformats.org/officeDocument/2006/math">
                    <m:oMathParaPr>
                      <m:jc m:val="centerGroup"/>
                    </m:oMathParaPr>
                    <m:oMath xmlns:m="http://schemas.openxmlformats.org/officeDocument/2006/math">
                      <m:r>
                        <a:rPr lang="es-BO" sz="2000" i="1">
                          <a:latin typeface="Cambria Math" panose="02040503050406030204" pitchFamily="18" charset="0"/>
                        </a:rPr>
                        <m:t>𝐶𝑜</m:t>
                      </m:r>
                      <m:r>
                        <a:rPr lang="es-BO" sz="2000" i="1">
                          <a:latin typeface="Cambria Math" panose="02040503050406030204" pitchFamily="18" charset="0"/>
                        </a:rPr>
                        <m:t>=</m:t>
                      </m:r>
                      <m:d>
                        <m:dPr>
                          <m:begChr m:val="["/>
                          <m:endChr m:val="]"/>
                          <m:ctrlPr>
                            <a:rPr lang="en-US" sz="2000" i="1">
                              <a:latin typeface="Cambria Math" panose="02040503050406030204" pitchFamily="18" charset="0"/>
                            </a:rPr>
                          </m:ctrlPr>
                        </m:dPr>
                        <m:e>
                          <m:m>
                            <m:mPr>
                              <m:mcs>
                                <m:mc>
                                  <m:mcPr>
                                    <m:count m:val="2"/>
                                    <m:mcJc m:val="center"/>
                                  </m:mcPr>
                                </m:mc>
                              </m:mcs>
                              <m:ctrlPr>
                                <a:rPr lang="en-US" sz="2000" i="1">
                                  <a:latin typeface="Cambria Math" panose="02040503050406030204" pitchFamily="18" charset="0"/>
                                </a:rPr>
                              </m:ctrlPr>
                            </m:mPr>
                            <m:mr>
                              <m:e>
                                <m:m>
                                  <m:mPr>
                                    <m:mcs>
                                      <m:mc>
                                        <m:mcPr>
                                          <m:count m:val="1"/>
                                          <m:mcJc m:val="center"/>
                                        </m:mcPr>
                                      </m:mc>
                                    </m:mcs>
                                    <m:ctrlPr>
                                      <a:rPr lang="en-US" sz="2000" i="1">
                                        <a:latin typeface="Cambria Math" panose="02040503050406030204" pitchFamily="18" charset="0"/>
                                      </a:rPr>
                                    </m:ctrlPr>
                                  </m:mPr>
                                  <m:mr>
                                    <m:e>
                                      <m:r>
                                        <a:rPr lang="es-MX" sz="2000" i="1">
                                          <a:latin typeface="Cambria Math" panose="02040503050406030204" pitchFamily="18" charset="0"/>
                                        </a:rPr>
                                        <m:t>0.625∙</m:t>
                                      </m:r>
                                      <m:sSup>
                                        <m:sSupPr>
                                          <m:ctrlPr>
                                            <a:rPr lang="en-US" sz="2000" i="1">
                                              <a:latin typeface="Cambria Math" panose="02040503050406030204" pitchFamily="18" charset="0"/>
                                            </a:rPr>
                                          </m:ctrlPr>
                                        </m:sSupPr>
                                        <m:e>
                                          <m:r>
                                            <a:rPr lang="es-MX" sz="2000" i="1">
                                              <a:latin typeface="Cambria Math" panose="02040503050406030204" pitchFamily="18" charset="0"/>
                                            </a:rPr>
                                            <m:t>10</m:t>
                                          </m:r>
                                        </m:e>
                                        <m:sup>
                                          <m:r>
                                            <a:rPr lang="es-MX" sz="2000" i="1">
                                              <a:latin typeface="Cambria Math" panose="02040503050406030204" pitchFamily="18" charset="0"/>
                                            </a:rPr>
                                            <m:t>−3</m:t>
                                          </m:r>
                                        </m:sup>
                                      </m:sSup>
                                    </m:e>
                                  </m:mr>
                                  <m:mr>
                                    <m:e>
                                      <m:r>
                                        <a:rPr lang="es-BO" sz="2000" i="1">
                                          <a:latin typeface="Cambria Math" panose="02040503050406030204" pitchFamily="18" charset="0"/>
                                        </a:rPr>
                                        <m:t>0</m:t>
                                      </m:r>
                                    </m:e>
                                  </m:mr>
                                </m:m>
                              </m:e>
                              <m:e>
                                <m:m>
                                  <m:mPr>
                                    <m:mcs>
                                      <m:mc>
                                        <m:mcPr>
                                          <m:count m:val="1"/>
                                          <m:mcJc m:val="center"/>
                                        </m:mcPr>
                                      </m:mc>
                                    </m:mcs>
                                    <m:ctrlPr>
                                      <a:rPr lang="en-US" sz="2000" i="1">
                                        <a:latin typeface="Cambria Math" panose="02040503050406030204" pitchFamily="18" charset="0"/>
                                      </a:rPr>
                                    </m:ctrlPr>
                                  </m:mPr>
                                  <m:mr>
                                    <m:e>
                                      <m:r>
                                        <a:rPr lang="es-MX" sz="2000" i="1">
                                          <a:latin typeface="Cambria Math" panose="02040503050406030204" pitchFamily="18" charset="0"/>
                                        </a:rPr>
                                        <m:t>−2.4368∙</m:t>
                                      </m:r>
                                      <m:sSup>
                                        <m:sSupPr>
                                          <m:ctrlPr>
                                            <a:rPr lang="en-US" sz="2000" i="1">
                                              <a:latin typeface="Cambria Math" panose="02040503050406030204" pitchFamily="18" charset="0"/>
                                            </a:rPr>
                                          </m:ctrlPr>
                                        </m:sSupPr>
                                        <m:e>
                                          <m:r>
                                            <a:rPr lang="es-MX" sz="2000" i="1">
                                              <a:latin typeface="Cambria Math" panose="02040503050406030204" pitchFamily="18" charset="0"/>
                                            </a:rPr>
                                            <m:t>10</m:t>
                                          </m:r>
                                        </m:e>
                                        <m:sup>
                                          <m:r>
                                            <a:rPr lang="es-MX" sz="2000" i="1">
                                              <a:latin typeface="Cambria Math" panose="02040503050406030204" pitchFamily="18" charset="0"/>
                                            </a:rPr>
                                            <m:t>−6</m:t>
                                          </m:r>
                                        </m:sup>
                                      </m:sSup>
                                    </m:e>
                                  </m:mr>
                                  <m:mr>
                                    <m:e>
                                      <m:r>
                                        <a:rPr lang="es-BO" sz="2000" i="1">
                                          <a:latin typeface="Cambria Math" panose="02040503050406030204" pitchFamily="18" charset="0"/>
                                        </a:rPr>
                                        <m:t>−</m:t>
                                      </m:r>
                                      <m:r>
                                        <a:rPr lang="es-MX" sz="2000" i="1">
                                          <a:latin typeface="Cambria Math" panose="02040503050406030204" pitchFamily="18" charset="0"/>
                                        </a:rPr>
                                        <m:t>0.625∙</m:t>
                                      </m:r>
                                      <m:sSup>
                                        <m:sSupPr>
                                          <m:ctrlPr>
                                            <a:rPr lang="en-US" sz="2000" i="1">
                                              <a:latin typeface="Cambria Math" panose="02040503050406030204" pitchFamily="18" charset="0"/>
                                            </a:rPr>
                                          </m:ctrlPr>
                                        </m:sSupPr>
                                        <m:e>
                                          <m:r>
                                            <a:rPr lang="es-MX" sz="2000" i="1">
                                              <a:latin typeface="Cambria Math" panose="02040503050406030204" pitchFamily="18" charset="0"/>
                                            </a:rPr>
                                            <m:t>10</m:t>
                                          </m:r>
                                        </m:e>
                                        <m:sup>
                                          <m:r>
                                            <a:rPr lang="es-MX" sz="2000" i="1">
                                              <a:latin typeface="Cambria Math" panose="02040503050406030204" pitchFamily="18" charset="0"/>
                                            </a:rPr>
                                            <m:t>−3</m:t>
                                          </m:r>
                                        </m:sup>
                                      </m:sSup>
                                    </m:e>
                                  </m:mr>
                                </m:m>
                              </m:e>
                            </m:mr>
                          </m:m>
                        </m:e>
                      </m:d>
                      <m:r>
                        <a:rPr lang="es-BO" sz="2000" b="1" i="1">
                          <a:latin typeface="Cambria Math" panose="02040503050406030204" pitchFamily="18" charset="0"/>
                        </a:rPr>
                        <m:t>   ∴</m:t>
                      </m:r>
                      <m:r>
                        <a:rPr lang="es-BO" sz="2000" b="1" i="1" smtClean="0">
                          <a:latin typeface="Cambria Math" panose="02040503050406030204" pitchFamily="18" charset="0"/>
                        </a:rPr>
                        <m:t>𝒆𝒔</m:t>
                      </m:r>
                      <m:r>
                        <a:rPr lang="es-BO" sz="2000" b="1" i="1" smtClean="0">
                          <a:latin typeface="Cambria Math" panose="02040503050406030204" pitchFamily="18" charset="0"/>
                        </a:rPr>
                        <m:t> </m:t>
                      </m:r>
                      <m:r>
                        <a:rPr lang="es-BO" sz="2000" b="1" i="1" smtClean="0">
                          <a:latin typeface="Cambria Math" panose="02040503050406030204" pitchFamily="18" charset="0"/>
                        </a:rPr>
                        <m:t>𝒄𝒐𝒏𝒕𝒓𝒐𝒍𝒂𝒃𝒍𝒆</m:t>
                      </m:r>
                    </m:oMath>
                  </m:oMathPara>
                </a14:m>
                <a:endParaRPr lang="en-US" sz="2000" dirty="0"/>
              </a:p>
            </p:txBody>
          </p:sp>
        </mc:Choice>
        <mc:Fallback xmlns="">
          <p:sp>
            <p:nvSpPr>
              <p:cNvPr id="5" name="CuadroTexto 4">
                <a:extLst>
                  <a:ext uri="{FF2B5EF4-FFF2-40B4-BE49-F238E27FC236}">
                    <a16:creationId xmlns:a16="http://schemas.microsoft.com/office/drawing/2014/main" id="{B5CA34B5-D3B9-6016-84D1-A8C569702DE3}"/>
                  </a:ext>
                </a:extLst>
              </p:cNvPr>
              <p:cNvSpPr txBox="1">
                <a:spLocks noRot="1" noChangeAspect="1" noMove="1" noResize="1" noEditPoints="1" noAdjustHandles="1" noChangeArrowheads="1" noChangeShapeType="1" noTextEdit="1"/>
              </p:cNvSpPr>
              <p:nvPr/>
            </p:nvSpPr>
            <p:spPr>
              <a:xfrm>
                <a:off x="1485900" y="1315280"/>
                <a:ext cx="9258300" cy="2428614"/>
              </a:xfrm>
              <a:prstGeom prst="rect">
                <a:avLst/>
              </a:prstGeom>
              <a:blipFill>
                <a:blip r:embed="rId2"/>
                <a:stretch>
                  <a:fillRect l="-724" t="-1508"/>
                </a:stretch>
              </a:blipFill>
            </p:spPr>
            <p:txBody>
              <a:bodyPr/>
              <a:lstStyle/>
              <a:p>
                <a:r>
                  <a:rPr lang="es-BO">
                    <a:noFill/>
                  </a:rPr>
                  <a:t> </a:t>
                </a:r>
              </a:p>
            </p:txBody>
          </p:sp>
        </mc:Fallback>
      </mc:AlternateContent>
    </p:spTree>
    <p:extLst>
      <p:ext uri="{BB962C8B-B14F-4D97-AF65-F5344CB8AC3E}">
        <p14:creationId xmlns:p14="http://schemas.microsoft.com/office/powerpoint/2010/main" val="32850136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Rectángulo 3"/>
              <p:cNvSpPr/>
              <p:nvPr/>
            </p:nvSpPr>
            <p:spPr>
              <a:xfrm>
                <a:off x="2231472" y="2152837"/>
                <a:ext cx="6096000" cy="1878784"/>
              </a:xfrm>
              <a:prstGeom prst="rect">
                <a:avLst/>
              </a:prstGeom>
            </p:spPr>
            <p:txBody>
              <a:bodyPr>
                <a:spAutoFit/>
              </a:bodyPr>
              <a:lstStyle/>
              <a:p>
                <a:pPr algn="just">
                  <a:lnSpc>
                    <a:spcPct val="107000"/>
                  </a:lnSpc>
                  <a:spcBef>
                    <a:spcPts val="600"/>
                  </a:spcBef>
                  <a:spcAft>
                    <a:spcPts val="600"/>
                  </a:spcAft>
                </a:pPr>
                <a14:m>
                  <m:oMathPara xmlns:m="http://schemas.openxmlformats.org/officeDocument/2006/math">
                    <m:oMathParaPr>
                      <m:jc m:val="centerGroup"/>
                    </m:oMathParaPr>
                    <m:oMath xmlns:m="http://schemas.openxmlformats.org/officeDocument/2006/math">
                      <m:r>
                        <a:rPr lang="es-BO" sz="2400" i="1" smtClean="0">
                          <a:latin typeface="Cambria Math" panose="02040503050406030204" pitchFamily="18" charset="0"/>
                          <a:ea typeface="Calibri" panose="020F0502020204030204" pitchFamily="34" charset="0"/>
                          <a:cs typeface="Times New Roman" panose="02020603050405020304" pitchFamily="18" charset="0"/>
                        </a:rPr>
                        <m:t>𝑠𝑖</m:t>
                      </m:r>
                      <m:r>
                        <a:rPr lang="es-BO" sz="2400" i="1" smtClean="0">
                          <a:latin typeface="Cambria Math" panose="02040503050406030204" pitchFamily="18" charset="0"/>
                          <a:ea typeface="Calibri" panose="020F0502020204030204" pitchFamily="34" charset="0"/>
                          <a:cs typeface="Times New Roman" panose="02020603050405020304" pitchFamily="18" charset="0"/>
                        </a:rPr>
                        <m:t>:  </m:t>
                      </m:r>
                      <m:sSub>
                        <m:sSubPr>
                          <m:ctrlPr>
                            <a:rPr lang="en-US" sz="2400" i="1">
                              <a:latin typeface="Cambria Math" panose="02040503050406030204" pitchFamily="18" charset="0"/>
                              <a:ea typeface="Calibri" panose="020F0502020204030204" pitchFamily="34" charset="0"/>
                              <a:cs typeface="Times New Roman" panose="02020603050405020304" pitchFamily="18" charset="0"/>
                            </a:rPr>
                          </m:ctrlPr>
                        </m:sSubPr>
                        <m:e>
                          <m:r>
                            <a:rPr lang="es-BO" sz="2400" i="1">
                              <a:latin typeface="Cambria Math" panose="02040503050406030204" pitchFamily="18" charset="0"/>
                              <a:ea typeface="Calibri" panose="020F0502020204030204" pitchFamily="34" charset="0"/>
                              <a:cs typeface="Times New Roman" panose="02020603050405020304" pitchFamily="18" charset="0"/>
                            </a:rPr>
                            <m:t>𝑥</m:t>
                          </m:r>
                        </m:e>
                        <m:sub>
                          <m:r>
                            <a:rPr lang="es-BO" sz="2400" i="1">
                              <a:latin typeface="Cambria Math" panose="02040503050406030204" pitchFamily="18" charset="0"/>
                              <a:ea typeface="Calibri" panose="020F0502020204030204" pitchFamily="34" charset="0"/>
                              <a:cs typeface="Times New Roman" panose="02020603050405020304" pitchFamily="18" charset="0"/>
                            </a:rPr>
                            <m:t>1</m:t>
                          </m:r>
                        </m:sub>
                      </m:sSub>
                      <m:r>
                        <a:rPr lang="es-BO" sz="2400" i="1">
                          <a:latin typeface="Cambria Math" panose="02040503050406030204" pitchFamily="18" charset="0"/>
                          <a:ea typeface="Calibri" panose="020F0502020204030204" pitchFamily="34" charset="0"/>
                          <a:cs typeface="Times New Roman" panose="02020603050405020304" pitchFamily="18" charset="0"/>
                        </a:rPr>
                        <m:t>=</m:t>
                      </m:r>
                      <m:r>
                        <a:rPr lang="es-BO" sz="2400" i="1">
                          <a:latin typeface="Cambria Math" panose="02040503050406030204" pitchFamily="18" charset="0"/>
                          <a:ea typeface="Calibri" panose="020F0502020204030204" pitchFamily="34" charset="0"/>
                          <a:cs typeface="Times New Roman" panose="02020603050405020304" pitchFamily="18" charset="0"/>
                        </a:rPr>
                        <m:t>h</m:t>
                      </m:r>
                      <m:d>
                        <m:dPr>
                          <m:ctrlPr>
                            <a:rPr lang="en-US" sz="2400" i="1">
                              <a:latin typeface="Cambria Math" panose="02040503050406030204" pitchFamily="18" charset="0"/>
                              <a:ea typeface="Calibri" panose="020F0502020204030204" pitchFamily="34" charset="0"/>
                              <a:cs typeface="Times New Roman" panose="02020603050405020304" pitchFamily="18" charset="0"/>
                            </a:rPr>
                          </m:ctrlPr>
                        </m:dPr>
                        <m:e>
                          <m:r>
                            <a:rPr lang="es-BO" sz="2400" i="1">
                              <a:latin typeface="Cambria Math" panose="02040503050406030204" pitchFamily="18" charset="0"/>
                              <a:ea typeface="Calibri" panose="020F0502020204030204" pitchFamily="34" charset="0"/>
                              <a:cs typeface="Times New Roman" panose="02020603050405020304" pitchFamily="18" charset="0"/>
                            </a:rPr>
                            <m:t>𝑡</m:t>
                          </m:r>
                        </m:e>
                      </m:d>
                      <m:r>
                        <a:rPr lang="es-BO" sz="2400" i="1">
                          <a:latin typeface="Cambria Math" panose="02040503050406030204" pitchFamily="18" charset="0"/>
                          <a:ea typeface="Calibri" panose="020F0502020204030204" pitchFamily="34" charset="0"/>
                          <a:cs typeface="Times New Roman" panose="02020603050405020304" pitchFamily="18" charset="0"/>
                        </a:rPr>
                        <m:t>  </m:t>
                      </m:r>
                    </m:oMath>
                  </m:oMathPara>
                </a14:m>
                <a:endParaRPr lang="es-BO" sz="2400" i="1" dirty="0">
                  <a:latin typeface="Cambria Math" panose="02040503050406030204" pitchFamily="18" charset="0"/>
                  <a:ea typeface="Calibri" panose="020F0502020204030204" pitchFamily="34" charset="0"/>
                  <a:cs typeface="Times New Roman" panose="02020603050405020304" pitchFamily="18" charset="0"/>
                </a:endParaRPr>
              </a:p>
              <a:p>
                <a:pPr algn="just">
                  <a:lnSpc>
                    <a:spcPct val="107000"/>
                  </a:lnSpc>
                  <a:spcBef>
                    <a:spcPts val="600"/>
                  </a:spcBef>
                  <a:spcAft>
                    <a:spcPts val="600"/>
                  </a:spcAft>
                </a:pPr>
                <a14:m>
                  <m:oMathPara xmlns:m="http://schemas.openxmlformats.org/officeDocument/2006/math">
                    <m:oMathParaPr>
                      <m:jc m:val="centerGroup"/>
                    </m:oMathParaPr>
                    <m:oMath xmlns:m="http://schemas.openxmlformats.org/officeDocument/2006/math">
                      <m:r>
                        <a:rPr lang="es-BO" sz="2400" i="1">
                          <a:latin typeface="Cambria Math" panose="02040503050406030204" pitchFamily="18" charset="0"/>
                          <a:ea typeface="Calibri" panose="020F0502020204030204" pitchFamily="34" charset="0"/>
                          <a:cs typeface="Times New Roman" panose="02020603050405020304" pitchFamily="18" charset="0"/>
                        </a:rPr>
                        <m:t>  →      </m:t>
                      </m:r>
                      <m:sSub>
                        <m:sSubPr>
                          <m:ctrlPr>
                            <a:rPr lang="en-US" sz="2400" i="1">
                              <a:latin typeface="Cambria Math" panose="02040503050406030204" pitchFamily="18" charset="0"/>
                              <a:ea typeface="Calibri" panose="020F0502020204030204" pitchFamily="34" charset="0"/>
                              <a:cs typeface="Times New Roman" panose="02020603050405020304" pitchFamily="18" charset="0"/>
                            </a:rPr>
                          </m:ctrlPr>
                        </m:sSubPr>
                        <m:e>
                          <m:acc>
                            <m:accPr>
                              <m:chr m:val="̇"/>
                              <m:ctrlPr>
                                <a:rPr lang="en-US" sz="2400" i="1">
                                  <a:latin typeface="Cambria Math" panose="02040503050406030204" pitchFamily="18" charset="0"/>
                                  <a:ea typeface="Calibri" panose="020F0502020204030204" pitchFamily="34" charset="0"/>
                                  <a:cs typeface="Times New Roman" panose="02020603050405020304" pitchFamily="18" charset="0"/>
                                </a:rPr>
                              </m:ctrlPr>
                            </m:accPr>
                            <m:e>
                              <m:r>
                                <a:rPr lang="es-BO" sz="2400" i="1">
                                  <a:latin typeface="Cambria Math" panose="02040503050406030204" pitchFamily="18" charset="0"/>
                                  <a:ea typeface="Calibri" panose="020F0502020204030204" pitchFamily="34" charset="0"/>
                                  <a:cs typeface="Times New Roman" panose="02020603050405020304" pitchFamily="18" charset="0"/>
                                </a:rPr>
                                <m:t>𝑥</m:t>
                              </m:r>
                            </m:e>
                          </m:acc>
                        </m:e>
                        <m:sub>
                          <m:r>
                            <a:rPr lang="es-BO" sz="2400" i="1">
                              <a:latin typeface="Cambria Math" panose="02040503050406030204" pitchFamily="18" charset="0"/>
                              <a:ea typeface="Calibri" panose="020F0502020204030204" pitchFamily="34" charset="0"/>
                              <a:cs typeface="Times New Roman" panose="02020603050405020304" pitchFamily="18" charset="0"/>
                            </a:rPr>
                            <m:t>1</m:t>
                          </m:r>
                        </m:sub>
                      </m:sSub>
                      <m:r>
                        <a:rPr lang="es-BO" sz="2400" i="1">
                          <a:latin typeface="Cambria Math" panose="02040503050406030204" pitchFamily="18" charset="0"/>
                          <a:ea typeface="Calibri" panose="020F0502020204030204" pitchFamily="34" charset="0"/>
                          <a:cs typeface="Times New Roman" panose="02020603050405020304" pitchFamily="18" charset="0"/>
                        </a:rPr>
                        <m:t>= </m:t>
                      </m:r>
                      <m:acc>
                        <m:accPr>
                          <m:chr m:val="̇"/>
                          <m:ctrlPr>
                            <a:rPr lang="en-US" sz="2400" i="1">
                              <a:latin typeface="Cambria Math" panose="02040503050406030204" pitchFamily="18" charset="0"/>
                              <a:ea typeface="Calibri" panose="020F0502020204030204" pitchFamily="34" charset="0"/>
                              <a:cs typeface="Times New Roman" panose="02020603050405020304" pitchFamily="18" charset="0"/>
                            </a:rPr>
                          </m:ctrlPr>
                        </m:accPr>
                        <m:e>
                          <m:r>
                            <a:rPr lang="es-BO" sz="2400" i="1">
                              <a:latin typeface="Cambria Math" panose="02040503050406030204" pitchFamily="18" charset="0"/>
                              <a:ea typeface="Calibri" panose="020F0502020204030204" pitchFamily="34" charset="0"/>
                              <a:cs typeface="Times New Roman" panose="02020603050405020304" pitchFamily="18" charset="0"/>
                            </a:rPr>
                            <m:t>h</m:t>
                          </m:r>
                        </m:e>
                      </m:acc>
                      <m:d>
                        <m:dPr>
                          <m:ctrlPr>
                            <a:rPr lang="en-US" sz="2400" i="1">
                              <a:latin typeface="Cambria Math" panose="02040503050406030204" pitchFamily="18" charset="0"/>
                              <a:ea typeface="Calibri" panose="020F0502020204030204" pitchFamily="34" charset="0"/>
                              <a:cs typeface="Times New Roman" panose="02020603050405020304" pitchFamily="18" charset="0"/>
                            </a:rPr>
                          </m:ctrlPr>
                        </m:dPr>
                        <m:e>
                          <m:r>
                            <a:rPr lang="es-BO" sz="2400" i="1">
                              <a:latin typeface="Cambria Math" panose="02040503050406030204" pitchFamily="18" charset="0"/>
                              <a:ea typeface="Calibri" panose="020F0502020204030204" pitchFamily="34" charset="0"/>
                              <a:cs typeface="Times New Roman" panose="02020603050405020304" pitchFamily="18" charset="0"/>
                            </a:rPr>
                            <m:t>𝑡</m:t>
                          </m:r>
                        </m:e>
                      </m:d>
                      <m:r>
                        <a:rPr lang="es-BO" sz="2400" i="1">
                          <a:latin typeface="Cambria Math" panose="02040503050406030204" pitchFamily="18" charset="0"/>
                          <a:ea typeface="Calibri" panose="020F0502020204030204" pitchFamily="34" charset="0"/>
                          <a:cs typeface="Times New Roman" panose="02020603050405020304" pitchFamily="18" charset="0"/>
                        </a:rPr>
                        <m:t>  </m:t>
                      </m:r>
                    </m:oMath>
                  </m:oMathPara>
                </a14:m>
                <a:endParaRPr lang="en-US" sz="24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US" sz="2400" i="1">
                              <a:latin typeface="Cambria Math" panose="02040503050406030204" pitchFamily="18" charset="0"/>
                              <a:ea typeface="Calibri" panose="020F0502020204030204" pitchFamily="34" charset="0"/>
                              <a:cs typeface="Times New Roman" panose="02020603050405020304" pitchFamily="18" charset="0"/>
                            </a:rPr>
                          </m:ctrlPr>
                        </m:sSubPr>
                        <m:e>
                          <m:acc>
                            <m:accPr>
                              <m:chr m:val="̇"/>
                              <m:ctrlPr>
                                <a:rPr lang="en-US" sz="2400" i="1">
                                  <a:latin typeface="Cambria Math" panose="02040503050406030204" pitchFamily="18" charset="0"/>
                                  <a:ea typeface="Calibri" panose="020F0502020204030204" pitchFamily="34" charset="0"/>
                                  <a:cs typeface="Times New Roman" panose="02020603050405020304" pitchFamily="18" charset="0"/>
                                </a:rPr>
                              </m:ctrlPr>
                            </m:accPr>
                            <m:e>
                              <m:r>
                                <a:rPr lang="es-BO" sz="2400" i="1">
                                  <a:latin typeface="Cambria Math" panose="02040503050406030204" pitchFamily="18" charset="0"/>
                                  <a:ea typeface="Calibri" panose="020F0502020204030204" pitchFamily="34" charset="0"/>
                                  <a:cs typeface="Times New Roman" panose="02020603050405020304" pitchFamily="18" charset="0"/>
                                </a:rPr>
                                <m:t>𝑥</m:t>
                              </m:r>
                            </m:e>
                          </m:acc>
                        </m:e>
                        <m:sub>
                          <m:r>
                            <a:rPr lang="es-BO" sz="2400" i="1">
                              <a:latin typeface="Cambria Math" panose="02040503050406030204" pitchFamily="18" charset="0"/>
                              <a:ea typeface="Calibri" panose="020F0502020204030204" pitchFamily="34" charset="0"/>
                              <a:cs typeface="Times New Roman" panose="02020603050405020304" pitchFamily="18" charset="0"/>
                            </a:rPr>
                            <m:t>1</m:t>
                          </m:r>
                        </m:sub>
                      </m:sSub>
                      <m:r>
                        <a:rPr lang="es-BO" sz="2400" i="1">
                          <a:latin typeface="Cambria Math" panose="02040503050406030204" pitchFamily="18" charset="0"/>
                          <a:ea typeface="Calibri" panose="020F0502020204030204" pitchFamily="34" charset="0"/>
                          <a:cs typeface="Times New Roman" panose="02020603050405020304" pitchFamily="18" charset="0"/>
                        </a:rPr>
                        <m:t>=</m:t>
                      </m:r>
                      <m:f>
                        <m:fPr>
                          <m:ctrlPr>
                            <a:rPr lang="en-US" sz="2400" i="1">
                              <a:latin typeface="Cambria Math" panose="02040503050406030204" pitchFamily="18" charset="0"/>
                              <a:ea typeface="Calibri" panose="020F0502020204030204" pitchFamily="34" charset="0"/>
                              <a:cs typeface="Times New Roman" panose="02020603050405020304" pitchFamily="18" charset="0"/>
                            </a:rPr>
                          </m:ctrlPr>
                        </m:fPr>
                        <m:num>
                          <m:r>
                            <a:rPr lang="es-BO" sz="2400" b="0" i="1" smtClean="0">
                              <a:latin typeface="Cambria Math" panose="02040503050406030204" pitchFamily="18" charset="0"/>
                              <a:ea typeface="Calibri" panose="020F0502020204030204" pitchFamily="34" charset="0"/>
                              <a:cs typeface="Times New Roman" panose="02020603050405020304" pitchFamily="18" charset="0"/>
                            </a:rPr>
                            <m:t>1</m:t>
                          </m:r>
                        </m:num>
                        <m:den>
                          <m:r>
                            <a:rPr lang="es-BO" sz="2400" i="1">
                              <a:latin typeface="Cambria Math" panose="02040503050406030204" pitchFamily="18" charset="0"/>
                              <a:ea typeface="Calibri" panose="020F0502020204030204" pitchFamily="34" charset="0"/>
                              <a:cs typeface="Times New Roman" panose="02020603050405020304" pitchFamily="18" charset="0"/>
                            </a:rPr>
                            <m:t>𝐶</m:t>
                          </m:r>
                        </m:den>
                      </m:f>
                      <m:r>
                        <a:rPr lang="es-BO" sz="2400" b="0" i="1" smtClean="0">
                          <a:latin typeface="Cambria Math" panose="02040503050406030204" pitchFamily="18" charset="0"/>
                          <a:ea typeface="Calibri" panose="020F0502020204030204" pitchFamily="34" charset="0"/>
                          <a:cs typeface="Times New Roman" panose="02020603050405020304" pitchFamily="18" charset="0"/>
                        </a:rPr>
                        <m:t>∗</m:t>
                      </m:r>
                      <m:sSub>
                        <m:sSubPr>
                          <m:ctrlPr>
                            <a:rPr lang="en-US" sz="2400" i="1">
                              <a:latin typeface="Cambria Math" panose="02040503050406030204" pitchFamily="18" charset="0"/>
                              <a:ea typeface="Calibri" panose="020F0502020204030204" pitchFamily="34" charset="0"/>
                              <a:cs typeface="Times New Roman" panose="02020603050405020304" pitchFamily="18" charset="0"/>
                            </a:rPr>
                          </m:ctrlPr>
                        </m:sSubPr>
                        <m:e>
                          <m:r>
                            <a:rPr lang="es-BO" sz="2400" i="1">
                              <a:latin typeface="Cambria Math" panose="02040503050406030204" pitchFamily="18" charset="0"/>
                              <a:ea typeface="Calibri" panose="020F0502020204030204" pitchFamily="34" charset="0"/>
                              <a:cs typeface="Times New Roman" panose="02020603050405020304" pitchFamily="18" charset="0"/>
                            </a:rPr>
                            <m:t>𝑞</m:t>
                          </m:r>
                        </m:e>
                        <m:sub>
                          <m:r>
                            <a:rPr lang="es-BO" sz="2400" i="1">
                              <a:latin typeface="Cambria Math" panose="02040503050406030204" pitchFamily="18" charset="0"/>
                              <a:ea typeface="Calibri" panose="020F0502020204030204" pitchFamily="34" charset="0"/>
                              <a:cs typeface="Times New Roman" panose="02020603050405020304" pitchFamily="18" charset="0"/>
                            </a:rPr>
                            <m:t>𝑖</m:t>
                          </m:r>
                        </m:sub>
                      </m:sSub>
                      <m:d>
                        <m:dPr>
                          <m:ctrlPr>
                            <a:rPr lang="en-US" sz="2400" i="1">
                              <a:latin typeface="Cambria Math" panose="02040503050406030204" pitchFamily="18" charset="0"/>
                              <a:ea typeface="Calibri" panose="020F0502020204030204" pitchFamily="34" charset="0"/>
                              <a:cs typeface="Times New Roman" panose="02020603050405020304" pitchFamily="18" charset="0"/>
                            </a:rPr>
                          </m:ctrlPr>
                        </m:dPr>
                        <m:e>
                          <m:r>
                            <a:rPr lang="es-BO" sz="2400" i="1">
                              <a:latin typeface="Cambria Math" panose="02040503050406030204" pitchFamily="18" charset="0"/>
                              <a:ea typeface="Calibri" panose="020F0502020204030204" pitchFamily="34" charset="0"/>
                              <a:cs typeface="Times New Roman" panose="02020603050405020304" pitchFamily="18" charset="0"/>
                            </a:rPr>
                            <m:t>𝑡</m:t>
                          </m:r>
                        </m:e>
                      </m:d>
                      <m:r>
                        <a:rPr lang="es-BO" sz="2400" i="1">
                          <a:latin typeface="Cambria Math" panose="02040503050406030204" pitchFamily="18" charset="0"/>
                          <a:ea typeface="Calibri" panose="020F0502020204030204" pitchFamily="34" charset="0"/>
                          <a:cs typeface="Times New Roman" panose="02020603050405020304" pitchFamily="18" charset="0"/>
                        </a:rPr>
                        <m:t>−</m:t>
                      </m:r>
                      <m:f>
                        <m:fPr>
                          <m:ctrlPr>
                            <a:rPr lang="en-US" sz="2400" i="1">
                              <a:latin typeface="Cambria Math" panose="02040503050406030204" pitchFamily="18" charset="0"/>
                              <a:ea typeface="Calibri" panose="020F0502020204030204" pitchFamily="34" charset="0"/>
                              <a:cs typeface="Times New Roman" panose="02020603050405020304" pitchFamily="18" charset="0"/>
                            </a:rPr>
                          </m:ctrlPr>
                        </m:fPr>
                        <m:num>
                          <m:r>
                            <a:rPr lang="es-BO" sz="2400" b="0" i="1" smtClean="0">
                              <a:latin typeface="Cambria Math" panose="02040503050406030204" pitchFamily="18" charset="0"/>
                              <a:ea typeface="Calibri" panose="020F0502020204030204" pitchFamily="34" charset="0"/>
                              <a:cs typeface="Times New Roman" panose="02020603050405020304" pitchFamily="18" charset="0"/>
                            </a:rPr>
                            <m:t>1</m:t>
                          </m:r>
                        </m:num>
                        <m:den>
                          <m:r>
                            <a:rPr lang="es-BO" sz="2400" i="1">
                              <a:latin typeface="Cambria Math" panose="02040503050406030204" pitchFamily="18" charset="0"/>
                              <a:ea typeface="Calibri" panose="020F0502020204030204" pitchFamily="34" charset="0"/>
                              <a:cs typeface="Times New Roman" panose="02020603050405020304" pitchFamily="18" charset="0"/>
                            </a:rPr>
                            <m:t>𝑅𝐶</m:t>
                          </m:r>
                        </m:den>
                      </m:f>
                      <m:r>
                        <a:rPr lang="es-BO" sz="2400" b="0" i="1" smtClean="0">
                          <a:latin typeface="Cambria Math" panose="02040503050406030204" pitchFamily="18" charset="0"/>
                          <a:ea typeface="Calibri" panose="020F0502020204030204" pitchFamily="34" charset="0"/>
                          <a:cs typeface="Times New Roman" panose="02020603050405020304" pitchFamily="18" charset="0"/>
                        </a:rPr>
                        <m:t>∗</m:t>
                      </m:r>
                      <m:sSub>
                        <m:sSubPr>
                          <m:ctrlPr>
                            <a:rPr lang="en-US" sz="2400" i="1">
                              <a:latin typeface="Cambria Math" panose="02040503050406030204" pitchFamily="18" charset="0"/>
                              <a:ea typeface="Calibri" panose="020F0502020204030204" pitchFamily="34" charset="0"/>
                              <a:cs typeface="Times New Roman" panose="02020603050405020304" pitchFamily="18" charset="0"/>
                            </a:rPr>
                          </m:ctrlPr>
                        </m:sSubPr>
                        <m:e>
                          <m:r>
                            <a:rPr lang="es-BO" sz="2400" i="1">
                              <a:latin typeface="Cambria Math" panose="02040503050406030204" pitchFamily="18" charset="0"/>
                              <a:ea typeface="Calibri" panose="020F0502020204030204" pitchFamily="34" charset="0"/>
                              <a:cs typeface="Times New Roman" panose="02020603050405020304" pitchFamily="18" charset="0"/>
                            </a:rPr>
                            <m:t>𝑥</m:t>
                          </m:r>
                        </m:e>
                        <m:sub>
                          <m:r>
                            <a:rPr lang="es-BO" sz="2400" i="1">
                              <a:latin typeface="Cambria Math" panose="02040503050406030204" pitchFamily="18" charset="0"/>
                              <a:ea typeface="Calibri" panose="020F0502020204030204" pitchFamily="34" charset="0"/>
                              <a:cs typeface="Times New Roman" panose="02020603050405020304" pitchFamily="18" charset="0"/>
                            </a:rPr>
                            <m:t>1</m:t>
                          </m:r>
                        </m:sub>
                      </m:sSub>
                    </m:oMath>
                  </m:oMathPara>
                </a14:m>
                <a:endParaRPr lang="en-US" sz="2400" dirty="0">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4" name="Rectángulo 3"/>
              <p:cNvSpPr>
                <a:spLocks noRot="1" noChangeAspect="1" noMove="1" noResize="1" noEditPoints="1" noAdjustHandles="1" noChangeArrowheads="1" noChangeShapeType="1" noTextEdit="1"/>
              </p:cNvSpPr>
              <p:nvPr/>
            </p:nvSpPr>
            <p:spPr>
              <a:xfrm>
                <a:off x="2231472" y="2152837"/>
                <a:ext cx="6096000" cy="1878784"/>
              </a:xfrm>
              <a:prstGeom prst="rect">
                <a:avLst/>
              </a:prstGeom>
              <a:blipFill>
                <a:blip r:embed="rId2"/>
                <a:stretch>
                  <a:fillRect/>
                </a:stretch>
              </a:blipFill>
            </p:spPr>
            <p:txBody>
              <a:bodyPr/>
              <a:lstStyle/>
              <a:p>
                <a:r>
                  <a:rPr lang="es-BO">
                    <a:noFill/>
                  </a:rPr>
                  <a:t> </a:t>
                </a:r>
              </a:p>
            </p:txBody>
          </p:sp>
        </mc:Fallback>
      </mc:AlternateContent>
      <p:grpSp>
        <p:nvGrpSpPr>
          <p:cNvPr id="7" name="Grupo 6">
            <a:extLst>
              <a:ext uri="{FF2B5EF4-FFF2-40B4-BE49-F238E27FC236}">
                <a16:creationId xmlns:a16="http://schemas.microsoft.com/office/drawing/2014/main" id="{DBBBCB9E-8FF2-A746-B67D-E2A129965E92}"/>
              </a:ext>
            </a:extLst>
          </p:cNvPr>
          <p:cNvGrpSpPr/>
          <p:nvPr/>
        </p:nvGrpSpPr>
        <p:grpSpPr>
          <a:xfrm>
            <a:off x="8229600" y="2265644"/>
            <a:ext cx="2903281" cy="1280160"/>
            <a:chOff x="8301317" y="2788920"/>
            <a:chExt cx="2903281" cy="1280160"/>
          </a:xfrm>
        </p:grpSpPr>
        <mc:AlternateContent xmlns:mc="http://schemas.openxmlformats.org/markup-compatibility/2006" xmlns:a14="http://schemas.microsoft.com/office/drawing/2010/main">
          <mc:Choice Requires="a14">
            <p:sp>
              <p:nvSpPr>
                <p:cNvPr id="2" name="Rectángulo 1"/>
                <p:cNvSpPr/>
                <p:nvPr/>
              </p:nvSpPr>
              <p:spPr>
                <a:xfrm>
                  <a:off x="8399189" y="3074511"/>
                  <a:ext cx="2707536" cy="70897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m>
                          <m:mPr>
                            <m:mcs>
                              <m:mc>
                                <m:mcPr>
                                  <m:count m:val="1"/>
                                  <m:mcJc m:val="center"/>
                                </m:mcPr>
                              </m:mc>
                            </m:mcs>
                            <m:ctrlPr>
                              <a:rPr lang="en-US" sz="2000" i="1">
                                <a:latin typeface="Cambria Math" panose="02040503050406030204" pitchFamily="18" charset="0"/>
                                <a:ea typeface="Calibri" panose="020F0502020204030204" pitchFamily="34" charset="0"/>
                                <a:cs typeface="Times New Roman" panose="02020603050405020304" pitchFamily="18" charset="0"/>
                              </a:rPr>
                            </m:ctrlPr>
                          </m:mPr>
                          <m:mr>
                            <m:e>
                              <m:acc>
                                <m:accPr>
                                  <m:chr m:val="̇"/>
                                  <m:ctrlPr>
                                    <a:rPr lang="en-US" sz="2000" i="1">
                                      <a:latin typeface="Cambria Math" panose="02040503050406030204" pitchFamily="18" charset="0"/>
                                      <a:ea typeface="Times New Roman" panose="02020603050405020304" pitchFamily="18" charset="0"/>
                                      <a:cs typeface="Times New Roman" panose="02020603050405020304" pitchFamily="18" charset="0"/>
                                    </a:rPr>
                                  </m:ctrlPr>
                                </m:accPr>
                                <m:e>
                                  <m:r>
                                    <a:rPr lang="es-BO" sz="2000" i="1">
                                      <a:latin typeface="Cambria Math" panose="02040503050406030204" pitchFamily="18" charset="0"/>
                                      <a:ea typeface="Times New Roman" panose="02020603050405020304" pitchFamily="18" charset="0"/>
                                      <a:cs typeface="Times New Roman" panose="02020603050405020304" pitchFamily="18" charset="0"/>
                                    </a:rPr>
                                    <m:t>𝑥</m:t>
                                  </m:r>
                                </m:e>
                              </m:acc>
                              <m:d>
                                <m:dPr>
                                  <m:ctrlPr>
                                    <a:rPr lang="en-US" sz="2000" i="1">
                                      <a:latin typeface="Cambria Math" panose="02040503050406030204" pitchFamily="18" charset="0"/>
                                      <a:ea typeface="Times New Roman" panose="02020603050405020304" pitchFamily="18" charset="0"/>
                                      <a:cs typeface="Times New Roman" panose="02020603050405020304" pitchFamily="18" charset="0"/>
                                    </a:rPr>
                                  </m:ctrlPr>
                                </m:dPr>
                                <m:e>
                                  <m:r>
                                    <a:rPr lang="es-BO" sz="2000" i="1">
                                      <a:latin typeface="Cambria Math" panose="02040503050406030204" pitchFamily="18" charset="0"/>
                                      <a:ea typeface="Times New Roman" panose="02020603050405020304" pitchFamily="18" charset="0"/>
                                      <a:cs typeface="Times New Roman" panose="02020603050405020304" pitchFamily="18" charset="0"/>
                                    </a:rPr>
                                    <m:t>𝑡</m:t>
                                  </m:r>
                                </m:e>
                              </m:d>
                              <m:r>
                                <a:rPr lang="es-BO" sz="2000" i="1">
                                  <a:latin typeface="Cambria Math" panose="02040503050406030204" pitchFamily="18" charset="0"/>
                                  <a:ea typeface="Times New Roman" panose="02020603050405020304" pitchFamily="18" charset="0"/>
                                  <a:cs typeface="Times New Roman" panose="02020603050405020304" pitchFamily="18" charset="0"/>
                                </a:rPr>
                                <m:t>=</m:t>
                              </m:r>
                              <m:r>
                                <a:rPr lang="es-BO" sz="2000" i="1">
                                  <a:latin typeface="Cambria Math" panose="02040503050406030204" pitchFamily="18" charset="0"/>
                                  <a:ea typeface="Times New Roman" panose="02020603050405020304" pitchFamily="18" charset="0"/>
                                  <a:cs typeface="Times New Roman" panose="02020603050405020304" pitchFamily="18" charset="0"/>
                                </a:rPr>
                                <m:t>𝐴𝑥</m:t>
                              </m:r>
                              <m:d>
                                <m:dPr>
                                  <m:ctrlPr>
                                    <a:rPr lang="en-US" sz="2000" i="1">
                                      <a:latin typeface="Cambria Math" panose="02040503050406030204" pitchFamily="18" charset="0"/>
                                      <a:ea typeface="Times New Roman" panose="02020603050405020304" pitchFamily="18" charset="0"/>
                                      <a:cs typeface="Times New Roman" panose="02020603050405020304" pitchFamily="18" charset="0"/>
                                    </a:rPr>
                                  </m:ctrlPr>
                                </m:dPr>
                                <m:e>
                                  <m:r>
                                    <a:rPr lang="es-BO" sz="2000" i="1">
                                      <a:latin typeface="Cambria Math" panose="02040503050406030204" pitchFamily="18" charset="0"/>
                                      <a:ea typeface="Times New Roman" panose="02020603050405020304" pitchFamily="18" charset="0"/>
                                      <a:cs typeface="Times New Roman" panose="02020603050405020304" pitchFamily="18" charset="0"/>
                                    </a:rPr>
                                    <m:t>𝑡</m:t>
                                  </m:r>
                                </m:e>
                              </m:d>
                              <m:r>
                                <a:rPr lang="es-BO" sz="2000" i="1">
                                  <a:latin typeface="Cambria Math" panose="02040503050406030204" pitchFamily="18" charset="0"/>
                                  <a:ea typeface="Times New Roman" panose="02020603050405020304" pitchFamily="18" charset="0"/>
                                  <a:cs typeface="Times New Roman" panose="02020603050405020304" pitchFamily="18" charset="0"/>
                                </a:rPr>
                                <m:t>+</m:t>
                              </m:r>
                              <m:r>
                                <a:rPr lang="es-BO" sz="2000" i="1">
                                  <a:latin typeface="Cambria Math" panose="02040503050406030204" pitchFamily="18" charset="0"/>
                                  <a:ea typeface="Times New Roman" panose="02020603050405020304" pitchFamily="18" charset="0"/>
                                  <a:cs typeface="Times New Roman" panose="02020603050405020304" pitchFamily="18" charset="0"/>
                                </a:rPr>
                                <m:t>𝐵</m:t>
                              </m:r>
                              <m:sSub>
                                <m:sSubPr>
                                  <m:ctrlPr>
                                    <a:rPr lang="en-US" sz="2000" i="1">
                                      <a:latin typeface="Cambria Math" panose="02040503050406030204" pitchFamily="18" charset="0"/>
                                      <a:ea typeface="Times New Roman" panose="02020603050405020304" pitchFamily="18" charset="0"/>
                                      <a:cs typeface="Times New Roman" panose="02020603050405020304" pitchFamily="18" charset="0"/>
                                    </a:rPr>
                                  </m:ctrlPr>
                                </m:sSubPr>
                                <m:e>
                                  <m:r>
                                    <a:rPr lang="es-BO" sz="2000" i="1">
                                      <a:latin typeface="Cambria Math" panose="02040503050406030204" pitchFamily="18" charset="0"/>
                                      <a:ea typeface="Times New Roman" panose="02020603050405020304" pitchFamily="18" charset="0"/>
                                      <a:cs typeface="Times New Roman" panose="02020603050405020304" pitchFamily="18" charset="0"/>
                                    </a:rPr>
                                    <m:t>𝑞</m:t>
                                  </m:r>
                                </m:e>
                                <m:sub>
                                  <m:r>
                                    <a:rPr lang="es-BO" sz="2000" i="1">
                                      <a:latin typeface="Cambria Math" panose="02040503050406030204" pitchFamily="18" charset="0"/>
                                      <a:ea typeface="Times New Roman" panose="02020603050405020304" pitchFamily="18" charset="0"/>
                                      <a:cs typeface="Times New Roman" panose="02020603050405020304" pitchFamily="18" charset="0"/>
                                    </a:rPr>
                                    <m:t>𝑖</m:t>
                                  </m:r>
                                </m:sub>
                              </m:sSub>
                              <m:r>
                                <a:rPr lang="es-BO" sz="2000" i="1">
                                  <a:latin typeface="Cambria Math" panose="02040503050406030204" pitchFamily="18" charset="0"/>
                                  <a:ea typeface="Times New Roman" panose="02020603050405020304" pitchFamily="18" charset="0"/>
                                  <a:cs typeface="Times New Roman" panose="02020603050405020304" pitchFamily="18" charset="0"/>
                                </a:rPr>
                                <m:t>(</m:t>
                              </m:r>
                              <m:r>
                                <a:rPr lang="es-BO" sz="2000" i="1">
                                  <a:latin typeface="Cambria Math" panose="02040503050406030204" pitchFamily="18" charset="0"/>
                                  <a:ea typeface="Times New Roman" panose="02020603050405020304" pitchFamily="18" charset="0"/>
                                  <a:cs typeface="Times New Roman" panose="02020603050405020304" pitchFamily="18" charset="0"/>
                                </a:rPr>
                                <m:t>𝑡</m:t>
                              </m:r>
                              <m:r>
                                <a:rPr lang="es-BO" sz="2000" i="1">
                                  <a:latin typeface="Cambria Math" panose="02040503050406030204" pitchFamily="18" charset="0"/>
                                  <a:ea typeface="Times New Roman" panose="02020603050405020304" pitchFamily="18" charset="0"/>
                                  <a:cs typeface="Times New Roman" panose="02020603050405020304" pitchFamily="18" charset="0"/>
                                </a:rPr>
                                <m:t>)</m:t>
                              </m:r>
                            </m:e>
                          </m:mr>
                          <m:mr>
                            <m:e>
                              <m:r>
                                <a:rPr lang="es-BO" sz="2000" i="1">
                                  <a:latin typeface="Cambria Math" panose="02040503050406030204" pitchFamily="18" charset="0"/>
                                  <a:ea typeface="Calibri" panose="020F0502020204030204" pitchFamily="34" charset="0"/>
                                  <a:cs typeface="Times New Roman" panose="02020603050405020304" pitchFamily="18" charset="0"/>
                                </a:rPr>
                                <m:t>𝑦</m:t>
                              </m:r>
                              <m:d>
                                <m:dPr>
                                  <m:ctrlPr>
                                    <a:rPr lang="en-US" sz="2000" i="1">
                                      <a:latin typeface="Cambria Math" panose="02040503050406030204" pitchFamily="18" charset="0"/>
                                      <a:ea typeface="Calibri" panose="020F0502020204030204" pitchFamily="34" charset="0"/>
                                      <a:cs typeface="Times New Roman" panose="02020603050405020304" pitchFamily="18" charset="0"/>
                                    </a:rPr>
                                  </m:ctrlPr>
                                </m:dPr>
                                <m:e>
                                  <m:r>
                                    <a:rPr lang="es-BO" sz="2000" i="1">
                                      <a:latin typeface="Cambria Math" panose="02040503050406030204" pitchFamily="18" charset="0"/>
                                      <a:ea typeface="Calibri" panose="020F0502020204030204" pitchFamily="34" charset="0"/>
                                      <a:cs typeface="Times New Roman" panose="02020603050405020304" pitchFamily="18" charset="0"/>
                                    </a:rPr>
                                    <m:t>𝑡</m:t>
                                  </m:r>
                                </m:e>
                              </m:d>
                              <m:r>
                                <a:rPr lang="es-BO" sz="2000" i="1">
                                  <a:latin typeface="Cambria Math" panose="02040503050406030204" pitchFamily="18" charset="0"/>
                                  <a:ea typeface="Calibri" panose="020F0502020204030204" pitchFamily="34" charset="0"/>
                                  <a:cs typeface="Times New Roman" panose="02020603050405020304" pitchFamily="18" charset="0"/>
                                </a:rPr>
                                <m:t>=</m:t>
                              </m:r>
                              <m:r>
                                <a:rPr lang="es-BO" sz="2000" i="1">
                                  <a:latin typeface="Cambria Math" panose="02040503050406030204" pitchFamily="18" charset="0"/>
                                  <a:ea typeface="Calibri" panose="020F0502020204030204" pitchFamily="34" charset="0"/>
                                  <a:cs typeface="Times New Roman" panose="02020603050405020304" pitchFamily="18" charset="0"/>
                                </a:rPr>
                                <m:t>𝐶𝑥</m:t>
                              </m:r>
                              <m:r>
                                <a:rPr lang="es-BO" sz="2000" i="1">
                                  <a:latin typeface="Cambria Math" panose="02040503050406030204" pitchFamily="18" charset="0"/>
                                  <a:ea typeface="Calibri" panose="020F0502020204030204" pitchFamily="34" charset="0"/>
                                  <a:cs typeface="Times New Roman" panose="02020603050405020304" pitchFamily="18" charset="0"/>
                                </a:rPr>
                                <m:t>(</m:t>
                              </m:r>
                              <m:r>
                                <a:rPr lang="es-BO" sz="2000" i="1">
                                  <a:latin typeface="Cambria Math" panose="02040503050406030204" pitchFamily="18" charset="0"/>
                                  <a:ea typeface="Calibri" panose="020F0502020204030204" pitchFamily="34" charset="0"/>
                                  <a:cs typeface="Times New Roman" panose="02020603050405020304" pitchFamily="18" charset="0"/>
                                </a:rPr>
                                <m:t>𝑡</m:t>
                              </m:r>
                              <m:r>
                                <a:rPr lang="es-BO" sz="2000" i="1">
                                  <a:latin typeface="Cambria Math" panose="02040503050406030204" pitchFamily="18" charset="0"/>
                                  <a:ea typeface="Calibri" panose="020F0502020204030204" pitchFamily="34" charset="0"/>
                                  <a:cs typeface="Times New Roman" panose="02020603050405020304" pitchFamily="18" charset="0"/>
                                </a:rPr>
                                <m:t>)</m:t>
                              </m:r>
                            </m:e>
                          </m:mr>
                        </m:m>
                      </m:oMath>
                    </m:oMathPara>
                  </a14:m>
                  <a:endParaRPr lang="en-US" sz="2000" dirty="0"/>
                </a:p>
              </p:txBody>
            </p:sp>
          </mc:Choice>
          <mc:Fallback xmlns="">
            <p:sp>
              <p:nvSpPr>
                <p:cNvPr id="2" name="Rectángulo 1"/>
                <p:cNvSpPr>
                  <a:spLocks noRot="1" noChangeAspect="1" noMove="1" noResize="1" noEditPoints="1" noAdjustHandles="1" noChangeArrowheads="1" noChangeShapeType="1" noTextEdit="1"/>
                </p:cNvSpPr>
                <p:nvPr/>
              </p:nvSpPr>
              <p:spPr>
                <a:xfrm>
                  <a:off x="8399189" y="3074511"/>
                  <a:ext cx="2707536" cy="708977"/>
                </a:xfrm>
                <a:prstGeom prst="rect">
                  <a:avLst/>
                </a:prstGeom>
                <a:blipFill>
                  <a:blip r:embed="rId3"/>
                  <a:stretch>
                    <a:fillRect/>
                  </a:stretch>
                </a:blipFill>
              </p:spPr>
              <p:txBody>
                <a:bodyPr/>
                <a:lstStyle/>
                <a:p>
                  <a:r>
                    <a:rPr lang="es-BO">
                      <a:noFill/>
                    </a:rPr>
                    <a:t> </a:t>
                  </a:r>
                </a:p>
              </p:txBody>
            </p:sp>
          </mc:Fallback>
        </mc:AlternateContent>
        <p:sp>
          <p:nvSpPr>
            <p:cNvPr id="3" name="Rectángulo redondeado 2"/>
            <p:cNvSpPr/>
            <p:nvPr/>
          </p:nvSpPr>
          <p:spPr>
            <a:xfrm>
              <a:off x="8301317" y="2788920"/>
              <a:ext cx="2903281" cy="1280160"/>
            </a:xfrm>
            <a:prstGeom prst="round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mc:AlternateContent xmlns:mc="http://schemas.openxmlformats.org/markup-compatibility/2006" xmlns:a14="http://schemas.microsoft.com/office/drawing/2010/main">
        <mc:Choice Requires="a14">
          <p:sp>
            <p:nvSpPr>
              <p:cNvPr id="5" name="Rectángulo 4"/>
              <p:cNvSpPr/>
              <p:nvPr/>
            </p:nvSpPr>
            <p:spPr>
              <a:xfrm>
                <a:off x="2231472" y="4517438"/>
                <a:ext cx="6456576" cy="922304"/>
              </a:xfrm>
              <a:prstGeom prst="rect">
                <a:avLst/>
              </a:prstGeom>
            </p:spPr>
            <p:txBody>
              <a:bodyPr wrap="none">
                <a:spAutoFit/>
              </a:bodyPr>
              <a:lstStyle/>
              <a:p>
                <a:pPr algn="just">
                  <a:lnSpc>
                    <a:spcPct val="107000"/>
                  </a:lnSpc>
                  <a:spcBef>
                    <a:spcPts val="600"/>
                  </a:spcBef>
                  <a:spcAft>
                    <a:spcPts val="600"/>
                  </a:spcAft>
                </a:pPr>
                <a14:m>
                  <m:oMathPara xmlns:m="http://schemas.openxmlformats.org/officeDocument/2006/math">
                    <m:oMathParaPr>
                      <m:jc m:val="centerGroup"/>
                    </m:oMathParaPr>
                    <m:oMath xmlns:m="http://schemas.openxmlformats.org/officeDocument/2006/math">
                      <m:r>
                        <a:rPr lang="es-BO" sz="2400" i="1">
                          <a:latin typeface="Cambria Math" panose="02040503050406030204" pitchFamily="18" charset="0"/>
                          <a:ea typeface="Times New Roman" panose="02020603050405020304" pitchFamily="18" charset="0"/>
                          <a:cs typeface="Times New Roman" panose="02020603050405020304" pitchFamily="18" charset="0"/>
                        </a:rPr>
                        <m:t>→         </m:t>
                      </m:r>
                      <m:r>
                        <a:rPr lang="es-BO" sz="2400" i="1">
                          <a:latin typeface="Cambria Math" panose="02040503050406030204" pitchFamily="18" charset="0"/>
                          <a:ea typeface="Calibri" panose="020F0502020204030204" pitchFamily="34" charset="0"/>
                          <a:cs typeface="Times New Roman" panose="02020603050405020304" pitchFamily="18" charset="0"/>
                        </a:rPr>
                        <m:t> </m:t>
                      </m:r>
                      <m:r>
                        <a:rPr lang="es-BO" sz="2400" i="1">
                          <a:latin typeface="Cambria Math" panose="02040503050406030204" pitchFamily="18" charset="0"/>
                          <a:ea typeface="Calibri" panose="020F0502020204030204" pitchFamily="34" charset="0"/>
                          <a:cs typeface="Times New Roman" panose="02020603050405020304" pitchFamily="18" charset="0"/>
                        </a:rPr>
                        <m:t>𝐴</m:t>
                      </m:r>
                      <m:r>
                        <a:rPr lang="es-BO" sz="2400" i="1">
                          <a:latin typeface="Cambria Math" panose="02040503050406030204" pitchFamily="18" charset="0"/>
                          <a:ea typeface="Calibri" panose="020F0502020204030204" pitchFamily="34" charset="0"/>
                          <a:cs typeface="Times New Roman" panose="02020603050405020304" pitchFamily="18" charset="0"/>
                        </a:rPr>
                        <m:t>=</m:t>
                      </m:r>
                      <m:d>
                        <m:dPr>
                          <m:begChr m:val="["/>
                          <m:endChr m:val="]"/>
                          <m:ctrlPr>
                            <a:rPr lang="en-US" sz="2400" i="1">
                              <a:latin typeface="Cambria Math" panose="02040503050406030204" pitchFamily="18" charset="0"/>
                              <a:ea typeface="Calibri" panose="020F0502020204030204" pitchFamily="34" charset="0"/>
                              <a:cs typeface="Times New Roman" panose="02020603050405020304" pitchFamily="18" charset="0"/>
                            </a:rPr>
                          </m:ctrlPr>
                        </m:dPr>
                        <m:e>
                          <m:f>
                            <m:fPr>
                              <m:ctrlPr>
                                <a:rPr lang="en-US" sz="2400" i="1">
                                  <a:latin typeface="Cambria Math" panose="02040503050406030204" pitchFamily="18" charset="0"/>
                                  <a:ea typeface="Calibri" panose="020F0502020204030204" pitchFamily="34" charset="0"/>
                                  <a:cs typeface="Times New Roman" panose="02020603050405020304" pitchFamily="18" charset="0"/>
                                </a:rPr>
                              </m:ctrlPr>
                            </m:fPr>
                            <m:num>
                              <m:r>
                                <a:rPr lang="es-BO" sz="2400" i="1">
                                  <a:latin typeface="Cambria Math" panose="02040503050406030204" pitchFamily="18" charset="0"/>
                                  <a:ea typeface="Calibri" panose="020F0502020204030204" pitchFamily="34" charset="0"/>
                                  <a:cs typeface="Times New Roman" panose="02020603050405020304" pitchFamily="18" charset="0"/>
                                </a:rPr>
                                <m:t>−1</m:t>
                              </m:r>
                            </m:num>
                            <m:den>
                              <m:r>
                                <a:rPr lang="es-BO" sz="2400" i="1">
                                  <a:latin typeface="Cambria Math" panose="02040503050406030204" pitchFamily="18" charset="0"/>
                                  <a:ea typeface="Calibri" panose="020F0502020204030204" pitchFamily="34" charset="0"/>
                                  <a:cs typeface="Times New Roman" panose="02020603050405020304" pitchFamily="18" charset="0"/>
                                </a:rPr>
                                <m:t>𝑅𝐶</m:t>
                              </m:r>
                            </m:den>
                          </m:f>
                        </m:e>
                      </m:d>
                      <m:r>
                        <a:rPr lang="es-BO" sz="2400" i="1">
                          <a:latin typeface="Cambria Math" panose="02040503050406030204" pitchFamily="18" charset="0"/>
                          <a:ea typeface="Calibri" panose="020F0502020204030204" pitchFamily="34" charset="0"/>
                          <a:cs typeface="Times New Roman" panose="02020603050405020304" pitchFamily="18" charset="0"/>
                        </a:rPr>
                        <m:t>,      </m:t>
                      </m:r>
                      <m:r>
                        <a:rPr lang="es-BO" sz="2400" i="1">
                          <a:latin typeface="Cambria Math" panose="02040503050406030204" pitchFamily="18" charset="0"/>
                          <a:ea typeface="Calibri" panose="020F0502020204030204" pitchFamily="34" charset="0"/>
                          <a:cs typeface="Times New Roman" panose="02020603050405020304" pitchFamily="18" charset="0"/>
                        </a:rPr>
                        <m:t>𝐵</m:t>
                      </m:r>
                      <m:r>
                        <a:rPr lang="es-BO" sz="2400" i="1">
                          <a:latin typeface="Cambria Math" panose="02040503050406030204" pitchFamily="18" charset="0"/>
                          <a:ea typeface="Calibri" panose="020F0502020204030204" pitchFamily="34" charset="0"/>
                          <a:cs typeface="Times New Roman" panose="02020603050405020304" pitchFamily="18" charset="0"/>
                        </a:rPr>
                        <m:t>=</m:t>
                      </m:r>
                      <m:d>
                        <m:dPr>
                          <m:begChr m:val="["/>
                          <m:endChr m:val="]"/>
                          <m:ctrlPr>
                            <a:rPr lang="en-US" sz="2400" i="1">
                              <a:latin typeface="Cambria Math" panose="02040503050406030204" pitchFamily="18" charset="0"/>
                              <a:ea typeface="Calibri" panose="020F0502020204030204" pitchFamily="34" charset="0"/>
                              <a:cs typeface="Times New Roman" panose="02020603050405020304" pitchFamily="18" charset="0"/>
                            </a:rPr>
                          </m:ctrlPr>
                        </m:dPr>
                        <m:e>
                          <m:f>
                            <m:fPr>
                              <m:ctrlPr>
                                <a:rPr lang="en-US" sz="2400" i="1">
                                  <a:latin typeface="Cambria Math" panose="02040503050406030204" pitchFamily="18" charset="0"/>
                                  <a:ea typeface="Calibri" panose="020F0502020204030204" pitchFamily="34" charset="0"/>
                                  <a:cs typeface="Times New Roman" panose="02020603050405020304" pitchFamily="18" charset="0"/>
                                </a:rPr>
                              </m:ctrlPr>
                            </m:fPr>
                            <m:num>
                              <m:r>
                                <a:rPr lang="es-BO" sz="2400" i="1">
                                  <a:latin typeface="Cambria Math" panose="02040503050406030204" pitchFamily="18" charset="0"/>
                                  <a:ea typeface="Calibri" panose="020F0502020204030204" pitchFamily="34" charset="0"/>
                                  <a:cs typeface="Times New Roman" panose="02020603050405020304" pitchFamily="18" charset="0"/>
                                </a:rPr>
                                <m:t>1</m:t>
                              </m:r>
                            </m:num>
                            <m:den>
                              <m:r>
                                <a:rPr lang="es-BO" sz="2400" i="1">
                                  <a:latin typeface="Cambria Math" panose="02040503050406030204" pitchFamily="18" charset="0"/>
                                  <a:ea typeface="Calibri" panose="020F0502020204030204" pitchFamily="34" charset="0"/>
                                  <a:cs typeface="Times New Roman" panose="02020603050405020304" pitchFamily="18" charset="0"/>
                                </a:rPr>
                                <m:t>𝐶</m:t>
                              </m:r>
                            </m:den>
                          </m:f>
                        </m:e>
                      </m:d>
                      <m:r>
                        <a:rPr lang="es-BO" sz="2400" i="1">
                          <a:latin typeface="Cambria Math" panose="02040503050406030204" pitchFamily="18" charset="0"/>
                          <a:ea typeface="Calibri" panose="020F0502020204030204" pitchFamily="34" charset="0"/>
                          <a:cs typeface="Times New Roman" panose="02020603050405020304" pitchFamily="18" charset="0"/>
                        </a:rPr>
                        <m:t>,     </m:t>
                      </m:r>
                      <m:r>
                        <a:rPr lang="es-BO" sz="2400" i="1">
                          <a:latin typeface="Cambria Math" panose="02040503050406030204" pitchFamily="18" charset="0"/>
                          <a:ea typeface="Calibri" panose="020F0502020204030204" pitchFamily="34" charset="0"/>
                          <a:cs typeface="Times New Roman" panose="02020603050405020304" pitchFamily="18" charset="0"/>
                        </a:rPr>
                        <m:t>𝐶</m:t>
                      </m:r>
                      <m:r>
                        <a:rPr lang="es-BO" sz="2400" i="1">
                          <a:latin typeface="Cambria Math" panose="02040503050406030204" pitchFamily="18" charset="0"/>
                          <a:ea typeface="Calibri" panose="020F0502020204030204" pitchFamily="34" charset="0"/>
                          <a:cs typeface="Times New Roman" panose="02020603050405020304" pitchFamily="18" charset="0"/>
                        </a:rPr>
                        <m:t>=</m:t>
                      </m:r>
                      <m:d>
                        <m:dPr>
                          <m:begChr m:val="["/>
                          <m:endChr m:val="]"/>
                          <m:ctrlPr>
                            <a:rPr lang="en-US" sz="2400" i="1">
                              <a:latin typeface="Cambria Math" panose="02040503050406030204" pitchFamily="18" charset="0"/>
                              <a:ea typeface="Calibri" panose="020F0502020204030204" pitchFamily="34" charset="0"/>
                              <a:cs typeface="Times New Roman" panose="02020603050405020304" pitchFamily="18" charset="0"/>
                            </a:rPr>
                          </m:ctrlPr>
                        </m:dPr>
                        <m:e>
                          <m:r>
                            <a:rPr lang="es-BO" sz="2400" i="1">
                              <a:latin typeface="Cambria Math" panose="02040503050406030204" pitchFamily="18" charset="0"/>
                              <a:ea typeface="Calibri" panose="020F0502020204030204" pitchFamily="34" charset="0"/>
                              <a:cs typeface="Times New Roman" panose="02020603050405020304" pitchFamily="18" charset="0"/>
                            </a:rPr>
                            <m:t>1</m:t>
                          </m:r>
                        </m:e>
                      </m:d>
                    </m:oMath>
                  </m:oMathPara>
                </a14:m>
                <a:endParaRPr lang="en-US" sz="2400" dirty="0">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5" name="Rectángulo 4"/>
              <p:cNvSpPr>
                <a:spLocks noRot="1" noChangeAspect="1" noMove="1" noResize="1" noEditPoints="1" noAdjustHandles="1" noChangeArrowheads="1" noChangeShapeType="1" noTextEdit="1"/>
              </p:cNvSpPr>
              <p:nvPr/>
            </p:nvSpPr>
            <p:spPr>
              <a:xfrm>
                <a:off x="2231472" y="4517438"/>
                <a:ext cx="6456576" cy="922304"/>
              </a:xfrm>
              <a:prstGeom prst="rect">
                <a:avLst/>
              </a:prstGeom>
              <a:blipFill>
                <a:blip r:embed="rId4"/>
                <a:stretch>
                  <a:fillRect/>
                </a:stretch>
              </a:blipFill>
            </p:spPr>
            <p:txBody>
              <a:bodyPr/>
              <a:lstStyle/>
              <a:p>
                <a:r>
                  <a:rPr lang="es-BO">
                    <a:noFill/>
                  </a:rPr>
                  <a:t> </a:t>
                </a:r>
              </a:p>
            </p:txBody>
          </p:sp>
        </mc:Fallback>
      </mc:AlternateContent>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42C0D53B-D576-9A55-8B31-57C0FE184C0D}"/>
                  </a:ext>
                </a:extLst>
              </p:cNvPr>
              <p:cNvSpPr txBox="1"/>
              <p:nvPr/>
            </p:nvSpPr>
            <p:spPr>
              <a:xfrm>
                <a:off x="3852687" y="1118392"/>
                <a:ext cx="3091543" cy="73545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s-BO" sz="2000" b="0" i="1" smtClean="0">
                              <a:latin typeface="Cambria Math" panose="02040503050406030204" pitchFamily="18" charset="0"/>
                            </a:rPr>
                          </m:ctrlPr>
                        </m:fPr>
                        <m:num>
                          <m:r>
                            <a:rPr lang="es-BO" sz="2000" b="0" i="1" smtClean="0">
                              <a:latin typeface="Cambria Math" panose="02040503050406030204" pitchFamily="18" charset="0"/>
                            </a:rPr>
                            <m:t>𝐻</m:t>
                          </m:r>
                          <m:d>
                            <m:dPr>
                              <m:ctrlPr>
                                <a:rPr lang="es-BO" sz="2000" b="0" i="1" smtClean="0">
                                  <a:latin typeface="Cambria Math" panose="02040503050406030204" pitchFamily="18" charset="0"/>
                                </a:rPr>
                              </m:ctrlPr>
                            </m:dPr>
                            <m:e>
                              <m:r>
                                <a:rPr lang="es-BO" sz="2000" b="0" i="1" smtClean="0">
                                  <a:latin typeface="Cambria Math" panose="02040503050406030204" pitchFamily="18" charset="0"/>
                                </a:rPr>
                                <m:t>𝑠</m:t>
                              </m:r>
                            </m:e>
                          </m:d>
                        </m:num>
                        <m:den>
                          <m:r>
                            <a:rPr lang="es-BO" sz="2000" b="0" i="1" smtClean="0">
                              <a:latin typeface="Cambria Math" panose="02040503050406030204" pitchFamily="18" charset="0"/>
                            </a:rPr>
                            <m:t>𝑄</m:t>
                          </m:r>
                          <m:d>
                            <m:dPr>
                              <m:ctrlPr>
                                <a:rPr lang="es-BO" sz="2000" b="0" i="1" smtClean="0">
                                  <a:latin typeface="Cambria Math" panose="02040503050406030204" pitchFamily="18" charset="0"/>
                                </a:rPr>
                              </m:ctrlPr>
                            </m:dPr>
                            <m:e>
                              <m:r>
                                <a:rPr lang="es-BO" sz="2000" b="0" i="1" smtClean="0">
                                  <a:latin typeface="Cambria Math" panose="02040503050406030204" pitchFamily="18" charset="0"/>
                                </a:rPr>
                                <m:t>𝑠</m:t>
                              </m:r>
                            </m:e>
                          </m:d>
                        </m:den>
                      </m:f>
                      <m:r>
                        <a:rPr lang="es-BO" sz="2000" b="0" i="1" smtClean="0">
                          <a:latin typeface="Cambria Math" panose="02040503050406030204" pitchFamily="18" charset="0"/>
                        </a:rPr>
                        <m:t>=</m:t>
                      </m:r>
                      <m:f>
                        <m:fPr>
                          <m:ctrlPr>
                            <a:rPr lang="es-BO" sz="2000" b="0" i="1" smtClean="0">
                              <a:latin typeface="Cambria Math" panose="02040503050406030204" pitchFamily="18" charset="0"/>
                            </a:rPr>
                          </m:ctrlPr>
                        </m:fPr>
                        <m:num>
                          <m:r>
                            <a:rPr lang="es-BO" sz="2000" b="0" i="1" smtClean="0">
                              <a:latin typeface="Cambria Math" panose="02040503050406030204" pitchFamily="18" charset="0"/>
                            </a:rPr>
                            <m:t>𝑅</m:t>
                          </m:r>
                        </m:num>
                        <m:den>
                          <m:r>
                            <a:rPr lang="es-BO" sz="2000" b="0" i="1" smtClean="0">
                              <a:latin typeface="Cambria Math" panose="02040503050406030204" pitchFamily="18" charset="0"/>
                            </a:rPr>
                            <m:t>1+</m:t>
                          </m:r>
                          <m:r>
                            <a:rPr lang="es-BO" sz="2000" b="0" i="1" smtClean="0">
                              <a:latin typeface="Cambria Math" panose="02040503050406030204" pitchFamily="18" charset="0"/>
                            </a:rPr>
                            <m:t>𝑅𝐶𝑠</m:t>
                          </m:r>
                        </m:den>
                      </m:f>
                    </m:oMath>
                  </m:oMathPara>
                </a14:m>
                <a:endParaRPr lang="es-BO" sz="2000" dirty="0"/>
              </a:p>
            </p:txBody>
          </p:sp>
        </mc:Choice>
        <mc:Fallback xmlns="">
          <p:sp>
            <p:nvSpPr>
              <p:cNvPr id="9" name="CuadroTexto 8">
                <a:extLst>
                  <a:ext uri="{FF2B5EF4-FFF2-40B4-BE49-F238E27FC236}">
                    <a16:creationId xmlns:a16="http://schemas.microsoft.com/office/drawing/2014/main" id="{42C0D53B-D576-9A55-8B31-57C0FE184C0D}"/>
                  </a:ext>
                </a:extLst>
              </p:cNvPr>
              <p:cNvSpPr txBox="1">
                <a:spLocks noRot="1" noChangeAspect="1" noMove="1" noResize="1" noEditPoints="1" noAdjustHandles="1" noChangeArrowheads="1" noChangeShapeType="1" noTextEdit="1"/>
              </p:cNvSpPr>
              <p:nvPr/>
            </p:nvSpPr>
            <p:spPr>
              <a:xfrm>
                <a:off x="3852687" y="1118392"/>
                <a:ext cx="3091543" cy="735458"/>
              </a:xfrm>
              <a:prstGeom prst="rect">
                <a:avLst/>
              </a:prstGeom>
              <a:blipFill>
                <a:blip r:embed="rId5"/>
                <a:stretch>
                  <a:fillRect/>
                </a:stretch>
              </a:blipFill>
            </p:spPr>
            <p:txBody>
              <a:bodyPr/>
              <a:lstStyle/>
              <a:p>
                <a:r>
                  <a:rPr lang="es-BO">
                    <a:noFill/>
                  </a:rPr>
                  <a:t> </a:t>
                </a:r>
              </a:p>
            </p:txBody>
          </p:sp>
        </mc:Fallback>
      </mc:AlternateContent>
      <p:sp>
        <p:nvSpPr>
          <p:cNvPr id="11" name="CuadroTexto 10">
            <a:extLst>
              <a:ext uri="{FF2B5EF4-FFF2-40B4-BE49-F238E27FC236}">
                <a16:creationId xmlns:a16="http://schemas.microsoft.com/office/drawing/2014/main" id="{84D0ADA8-EA6F-7930-0393-6530070CC227}"/>
              </a:ext>
            </a:extLst>
          </p:cNvPr>
          <p:cNvSpPr txBox="1"/>
          <p:nvPr/>
        </p:nvSpPr>
        <p:spPr>
          <a:xfrm>
            <a:off x="1045027" y="519767"/>
            <a:ext cx="9768115" cy="470000"/>
          </a:xfrm>
          <a:prstGeom prst="rect">
            <a:avLst/>
          </a:prstGeom>
          <a:noFill/>
        </p:spPr>
        <p:txBody>
          <a:bodyPr wrap="square">
            <a:spAutoFit/>
          </a:bodyPr>
          <a:lstStyle/>
          <a:p>
            <a:pPr algn="just">
              <a:lnSpc>
                <a:spcPct val="107000"/>
              </a:lnSpc>
              <a:spcBef>
                <a:spcPts val="600"/>
              </a:spcBef>
              <a:spcAft>
                <a:spcPts val="600"/>
              </a:spcAft>
            </a:pPr>
            <a:r>
              <a:rPr lang="es-BO" sz="2400" dirty="0">
                <a:latin typeface="Calibri" panose="020F0502020204030204" pitchFamily="34" charset="0"/>
                <a:ea typeface="Times New Roman" panose="02020603050405020304" pitchFamily="18" charset="0"/>
                <a:cs typeface="Times New Roman" panose="02020603050405020304" pitchFamily="18" charset="0"/>
              </a:rPr>
              <a:t>R</a:t>
            </a:r>
            <a:r>
              <a:rPr lang="es-BO" sz="2400" dirty="0">
                <a:effectLst/>
                <a:latin typeface="Calibri" panose="020F0502020204030204" pitchFamily="34" charset="0"/>
                <a:ea typeface="Times New Roman" panose="02020603050405020304" pitchFamily="18" charset="0"/>
                <a:cs typeface="Times New Roman" panose="02020603050405020304" pitchFamily="18" charset="0"/>
              </a:rPr>
              <a:t>ealizamos el siguiente análisis, partimos de la representación externa:</a:t>
            </a:r>
            <a:endParaRPr lang="es-BO" sz="20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6090979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15336" y="232083"/>
            <a:ext cx="11278906" cy="1609344"/>
          </a:xfrm>
        </p:spPr>
        <p:txBody>
          <a:bodyPr>
            <a:noAutofit/>
          </a:bodyPr>
          <a:lstStyle/>
          <a:p>
            <a:r>
              <a:rPr lang="es-BO" sz="3600" u="sng" dirty="0"/>
              <a:t>DISEÑO DEL CONTROLADOR EN TIEMPO CONTINUO</a:t>
            </a:r>
            <a:br>
              <a:rPr lang="en-US" sz="3600" dirty="0"/>
            </a:br>
            <a:endParaRPr lang="en-US" sz="3600" dirty="0"/>
          </a:p>
        </p:txBody>
      </p:sp>
      <mc:AlternateContent xmlns:mc="http://schemas.openxmlformats.org/markup-compatibility/2006" xmlns:a14="http://schemas.microsoft.com/office/drawing/2010/main">
        <mc:Choice Requires="a14">
          <p:sp>
            <p:nvSpPr>
              <p:cNvPr id="3" name="Marcador de contenido 2"/>
              <p:cNvSpPr>
                <a:spLocks noGrp="1"/>
              </p:cNvSpPr>
              <p:nvPr>
                <p:ph idx="1"/>
              </p:nvPr>
            </p:nvSpPr>
            <p:spPr>
              <a:xfrm>
                <a:off x="791173" y="1323703"/>
                <a:ext cx="8709877" cy="5068388"/>
              </a:xfrm>
            </p:spPr>
            <p:txBody>
              <a:bodyPr>
                <a:normAutofit fontScale="55000" lnSpcReduction="20000"/>
              </a:bodyPr>
              <a:lstStyle/>
              <a:p>
                <a:pPr marL="0" indent="0">
                  <a:buNone/>
                </a:pPr>
                <a:r>
                  <a:rPr lang="es-BO" dirty="0"/>
                  <a:t>Trabajando con el sistema de primer orden</a:t>
                </a:r>
                <a:endParaRPr lang="en-US" dirty="0"/>
              </a:p>
              <a:p>
                <a:pPr marL="0" indent="0">
                  <a:buNone/>
                </a:pPr>
                <a14:m>
                  <m:oMathPara xmlns:m="http://schemas.openxmlformats.org/officeDocument/2006/math">
                    <m:oMathParaPr>
                      <m:jc m:val="centerGroup"/>
                    </m:oMathParaPr>
                    <m:oMath xmlns:m="http://schemas.openxmlformats.org/officeDocument/2006/math">
                      <m:f>
                        <m:fPr>
                          <m:ctrlPr>
                            <a:rPr lang="en-US" b="1" i="1">
                              <a:latin typeface="Cambria Math" panose="02040503050406030204" pitchFamily="18" charset="0"/>
                            </a:rPr>
                          </m:ctrlPr>
                        </m:fPr>
                        <m:num>
                          <m:r>
                            <a:rPr lang="es-BO" b="1" i="1">
                              <a:latin typeface="Cambria Math" panose="02040503050406030204" pitchFamily="18" charset="0"/>
                            </a:rPr>
                            <m:t>𝑯</m:t>
                          </m:r>
                          <m:d>
                            <m:dPr>
                              <m:ctrlPr>
                                <a:rPr lang="en-US" b="1" i="1">
                                  <a:latin typeface="Cambria Math" panose="02040503050406030204" pitchFamily="18" charset="0"/>
                                </a:rPr>
                              </m:ctrlPr>
                            </m:dPr>
                            <m:e>
                              <m:r>
                                <a:rPr lang="es-BO" b="1" i="1">
                                  <a:latin typeface="Cambria Math" panose="02040503050406030204" pitchFamily="18" charset="0"/>
                                </a:rPr>
                                <m:t>𝒔</m:t>
                              </m:r>
                            </m:e>
                          </m:d>
                        </m:num>
                        <m:den>
                          <m:sSub>
                            <m:sSubPr>
                              <m:ctrlPr>
                                <a:rPr lang="en-US" b="1" i="1">
                                  <a:latin typeface="Cambria Math" panose="02040503050406030204" pitchFamily="18" charset="0"/>
                                </a:rPr>
                              </m:ctrlPr>
                            </m:sSubPr>
                            <m:e>
                              <m:r>
                                <a:rPr lang="es-BO" b="1" i="1">
                                  <a:latin typeface="Cambria Math" panose="02040503050406030204" pitchFamily="18" charset="0"/>
                                </a:rPr>
                                <m:t>𝑸</m:t>
                              </m:r>
                            </m:e>
                            <m:sub>
                              <m:r>
                                <a:rPr lang="es-BO" b="1" i="1">
                                  <a:latin typeface="Cambria Math" panose="02040503050406030204" pitchFamily="18" charset="0"/>
                                </a:rPr>
                                <m:t>𝒊</m:t>
                              </m:r>
                            </m:sub>
                          </m:sSub>
                          <m:d>
                            <m:dPr>
                              <m:ctrlPr>
                                <a:rPr lang="en-US" b="1" i="1">
                                  <a:latin typeface="Cambria Math" panose="02040503050406030204" pitchFamily="18" charset="0"/>
                                </a:rPr>
                              </m:ctrlPr>
                            </m:dPr>
                            <m:e>
                              <m:r>
                                <a:rPr lang="es-BO" b="1" i="1">
                                  <a:latin typeface="Cambria Math" panose="02040503050406030204" pitchFamily="18" charset="0"/>
                                </a:rPr>
                                <m:t>𝒔</m:t>
                              </m:r>
                            </m:e>
                          </m:d>
                        </m:den>
                      </m:f>
                      <m:r>
                        <a:rPr lang="es-BO" b="1" i="1">
                          <a:latin typeface="Cambria Math" panose="02040503050406030204" pitchFamily="18" charset="0"/>
                        </a:rPr>
                        <m:t>=</m:t>
                      </m:r>
                      <m:f>
                        <m:fPr>
                          <m:ctrlPr>
                            <a:rPr lang="en-US" b="1" i="1">
                              <a:latin typeface="Cambria Math" panose="02040503050406030204" pitchFamily="18" charset="0"/>
                            </a:rPr>
                          </m:ctrlPr>
                        </m:fPr>
                        <m:num>
                          <m:r>
                            <a:rPr lang="es-BO" b="1" i="1">
                              <a:latin typeface="Cambria Math" panose="02040503050406030204" pitchFamily="18" charset="0"/>
                            </a:rPr>
                            <m:t>𝑹</m:t>
                          </m:r>
                        </m:num>
                        <m:den>
                          <m:r>
                            <a:rPr lang="es-BO" b="1" i="1">
                              <a:latin typeface="Cambria Math" panose="02040503050406030204" pitchFamily="18" charset="0"/>
                            </a:rPr>
                            <m:t>𝒔𝑪𝑹</m:t>
                          </m:r>
                          <m:r>
                            <a:rPr lang="es-BO" b="1" i="1">
                              <a:latin typeface="Cambria Math" panose="02040503050406030204" pitchFamily="18" charset="0"/>
                            </a:rPr>
                            <m:t>+</m:t>
                          </m:r>
                          <m:r>
                            <a:rPr lang="es-BO" b="1" i="1">
                              <a:latin typeface="Cambria Math" panose="02040503050406030204" pitchFamily="18" charset="0"/>
                            </a:rPr>
                            <m:t>𝟏</m:t>
                          </m:r>
                        </m:den>
                      </m:f>
                      <m:r>
                        <a:rPr lang="es-BO" b="1" i="1">
                          <a:latin typeface="Cambria Math" panose="02040503050406030204" pitchFamily="18" charset="0"/>
                        </a:rPr>
                        <m:t>   →  </m:t>
                      </m:r>
                      <m:f>
                        <m:fPr>
                          <m:ctrlPr>
                            <a:rPr lang="en-US" b="1" i="1">
                              <a:latin typeface="Cambria Math" panose="02040503050406030204" pitchFamily="18" charset="0"/>
                            </a:rPr>
                          </m:ctrlPr>
                        </m:fPr>
                        <m:num>
                          <m:r>
                            <a:rPr lang="es-BO" b="1" i="1">
                              <a:latin typeface="Cambria Math" panose="02040503050406030204" pitchFamily="18" charset="0"/>
                            </a:rPr>
                            <m:t>𝑯</m:t>
                          </m:r>
                          <m:d>
                            <m:dPr>
                              <m:ctrlPr>
                                <a:rPr lang="en-US" b="1" i="1">
                                  <a:latin typeface="Cambria Math" panose="02040503050406030204" pitchFamily="18" charset="0"/>
                                </a:rPr>
                              </m:ctrlPr>
                            </m:dPr>
                            <m:e>
                              <m:r>
                                <a:rPr lang="es-BO" b="1" i="1">
                                  <a:latin typeface="Cambria Math" panose="02040503050406030204" pitchFamily="18" charset="0"/>
                                </a:rPr>
                                <m:t>𝒔</m:t>
                              </m:r>
                            </m:e>
                          </m:d>
                        </m:num>
                        <m:den>
                          <m:sSub>
                            <m:sSubPr>
                              <m:ctrlPr>
                                <a:rPr lang="en-US" b="1" i="1">
                                  <a:latin typeface="Cambria Math" panose="02040503050406030204" pitchFamily="18" charset="0"/>
                                </a:rPr>
                              </m:ctrlPr>
                            </m:sSubPr>
                            <m:e>
                              <m:r>
                                <a:rPr lang="es-BO" b="1" i="1">
                                  <a:latin typeface="Cambria Math" panose="02040503050406030204" pitchFamily="18" charset="0"/>
                                </a:rPr>
                                <m:t>𝑸</m:t>
                              </m:r>
                            </m:e>
                            <m:sub>
                              <m:r>
                                <a:rPr lang="es-BO" b="1" i="1">
                                  <a:latin typeface="Cambria Math" panose="02040503050406030204" pitchFamily="18" charset="0"/>
                                </a:rPr>
                                <m:t>𝒊</m:t>
                              </m:r>
                            </m:sub>
                          </m:sSub>
                          <m:d>
                            <m:dPr>
                              <m:ctrlPr>
                                <a:rPr lang="en-US" b="1" i="1">
                                  <a:latin typeface="Cambria Math" panose="02040503050406030204" pitchFamily="18" charset="0"/>
                                </a:rPr>
                              </m:ctrlPr>
                            </m:dPr>
                            <m:e>
                              <m:r>
                                <a:rPr lang="es-BO" b="1" i="1">
                                  <a:latin typeface="Cambria Math" panose="02040503050406030204" pitchFamily="18" charset="0"/>
                                </a:rPr>
                                <m:t>𝒔</m:t>
                              </m:r>
                            </m:e>
                          </m:d>
                        </m:den>
                      </m:f>
                      <m:r>
                        <a:rPr lang="es-BO" b="1" i="1">
                          <a:latin typeface="Cambria Math" panose="02040503050406030204" pitchFamily="18" charset="0"/>
                        </a:rPr>
                        <m:t>=</m:t>
                      </m:r>
                      <m:f>
                        <m:fPr>
                          <m:ctrlPr>
                            <a:rPr lang="en-US" b="1" i="1">
                              <a:latin typeface="Cambria Math" panose="02040503050406030204" pitchFamily="18" charset="0"/>
                            </a:rPr>
                          </m:ctrlPr>
                        </m:fPr>
                        <m:num>
                          <m:r>
                            <a:rPr lang="es-BO" b="1" i="1" smtClean="0">
                              <a:latin typeface="Cambria Math" panose="02040503050406030204" pitchFamily="18" charset="0"/>
                            </a:rPr>
                            <m:t>𝟎</m:t>
                          </m:r>
                          <m:r>
                            <a:rPr lang="es-BO" b="1" i="1" smtClean="0">
                              <a:latin typeface="Cambria Math" panose="02040503050406030204" pitchFamily="18" charset="0"/>
                            </a:rPr>
                            <m:t>.</m:t>
                          </m:r>
                          <m:r>
                            <a:rPr lang="es-BO" b="1" i="1" smtClean="0">
                              <a:latin typeface="Cambria Math" panose="02040503050406030204" pitchFamily="18" charset="0"/>
                            </a:rPr>
                            <m:t>𝟎𝟗𝟓𝟔𝟗</m:t>
                          </m:r>
                        </m:num>
                        <m:den>
                          <m:r>
                            <a:rPr lang="es-BO" b="1" i="1" smtClean="0">
                              <a:latin typeface="Cambria Math" panose="02040503050406030204" pitchFamily="18" charset="0"/>
                            </a:rPr>
                            <m:t>𝟑𝟎𝟑</m:t>
                          </m:r>
                          <m:r>
                            <a:rPr lang="es-BO" b="1" i="1" smtClean="0">
                              <a:latin typeface="Cambria Math" panose="02040503050406030204" pitchFamily="18" charset="0"/>
                            </a:rPr>
                            <m:t>∗</m:t>
                          </m:r>
                          <m:r>
                            <a:rPr lang="es-BO" b="1" i="1">
                              <a:latin typeface="Cambria Math" panose="02040503050406030204" pitchFamily="18" charset="0"/>
                            </a:rPr>
                            <m:t>𝒔</m:t>
                          </m:r>
                          <m:r>
                            <a:rPr lang="es-BO" b="1" i="1">
                              <a:latin typeface="Cambria Math" panose="02040503050406030204" pitchFamily="18" charset="0"/>
                            </a:rPr>
                            <m:t>+</m:t>
                          </m:r>
                          <m:r>
                            <a:rPr lang="es-BO" b="1" i="1">
                              <a:latin typeface="Cambria Math" panose="02040503050406030204" pitchFamily="18" charset="0"/>
                            </a:rPr>
                            <m:t>𝟏</m:t>
                          </m:r>
                        </m:den>
                      </m:f>
                    </m:oMath>
                  </m:oMathPara>
                </a14:m>
                <a:endParaRPr lang="en-US" dirty="0"/>
              </a:p>
              <a:p>
                <a:pPr marL="0" indent="0">
                  <a:buNone/>
                </a:pPr>
                <a:r>
                  <a:rPr lang="es-BO" dirty="0"/>
                  <a:t>Tomando las ecuaciones diferenciales ordinarias que modelan el sistema (1 y 2).</a:t>
                </a:r>
                <a:endParaRPr lang="en-US" dirty="0"/>
              </a:p>
              <a:p>
                <a:pPr marL="0" indent="0">
                  <a:buNone/>
                </a:pPr>
                <a14:m>
                  <m:oMathPara xmlns:m="http://schemas.openxmlformats.org/officeDocument/2006/math">
                    <m:oMathParaPr>
                      <m:jc m:val="centerGroup"/>
                    </m:oMathParaPr>
                    <m:oMath xmlns:m="http://schemas.openxmlformats.org/officeDocument/2006/math">
                      <m:m>
                        <m:mPr>
                          <m:mcs>
                            <m:mc>
                              <m:mcPr>
                                <m:count m:val="1"/>
                                <m:mcJc m:val="center"/>
                              </m:mcPr>
                            </m:mc>
                          </m:mcs>
                          <m:ctrlPr>
                            <a:rPr lang="en-US" i="1">
                              <a:latin typeface="Cambria Math" panose="02040503050406030204" pitchFamily="18" charset="0"/>
                            </a:rPr>
                          </m:ctrlPr>
                        </m:mPr>
                        <m:mr>
                          <m:e>
                            <m:acc>
                              <m:accPr>
                                <m:chr m:val="̇"/>
                                <m:ctrlPr>
                                  <a:rPr lang="en-US" i="1">
                                    <a:latin typeface="Cambria Math" panose="02040503050406030204" pitchFamily="18" charset="0"/>
                                  </a:rPr>
                                </m:ctrlPr>
                              </m:accPr>
                              <m:e>
                                <m:r>
                                  <a:rPr lang="es-BO" i="1">
                                    <a:latin typeface="Cambria Math" panose="02040503050406030204" pitchFamily="18" charset="0"/>
                                  </a:rPr>
                                  <m:t>𝑥</m:t>
                                </m:r>
                              </m:e>
                            </m:acc>
                            <m:d>
                              <m:dPr>
                                <m:ctrlPr>
                                  <a:rPr lang="en-US" i="1">
                                    <a:latin typeface="Cambria Math" panose="02040503050406030204" pitchFamily="18" charset="0"/>
                                  </a:rPr>
                                </m:ctrlPr>
                              </m:dPr>
                              <m:e>
                                <m:r>
                                  <a:rPr lang="es-BO" i="1">
                                    <a:latin typeface="Cambria Math" panose="02040503050406030204" pitchFamily="18" charset="0"/>
                                  </a:rPr>
                                  <m:t>𝑡</m:t>
                                </m:r>
                              </m:e>
                            </m:d>
                            <m:r>
                              <a:rPr lang="es-BO" i="1">
                                <a:latin typeface="Cambria Math" panose="02040503050406030204" pitchFamily="18" charset="0"/>
                              </a:rPr>
                              <m:t>=</m:t>
                            </m:r>
                            <m:r>
                              <a:rPr lang="es-BO" i="1">
                                <a:latin typeface="Cambria Math" panose="02040503050406030204" pitchFamily="18" charset="0"/>
                              </a:rPr>
                              <m:t>𝐴𝑥</m:t>
                            </m:r>
                            <m:d>
                              <m:dPr>
                                <m:ctrlPr>
                                  <a:rPr lang="en-US" i="1">
                                    <a:latin typeface="Cambria Math" panose="02040503050406030204" pitchFamily="18" charset="0"/>
                                  </a:rPr>
                                </m:ctrlPr>
                              </m:dPr>
                              <m:e>
                                <m:r>
                                  <a:rPr lang="es-BO" i="1">
                                    <a:latin typeface="Cambria Math" panose="02040503050406030204" pitchFamily="18" charset="0"/>
                                  </a:rPr>
                                  <m:t>𝑡</m:t>
                                </m:r>
                              </m:e>
                            </m:d>
                            <m:r>
                              <a:rPr lang="es-BO" i="1">
                                <a:latin typeface="Cambria Math" panose="02040503050406030204" pitchFamily="18" charset="0"/>
                              </a:rPr>
                              <m:t>+</m:t>
                            </m:r>
                            <m:r>
                              <a:rPr lang="es-BO" i="1">
                                <a:latin typeface="Cambria Math" panose="02040503050406030204" pitchFamily="18" charset="0"/>
                              </a:rPr>
                              <m:t>𝐵</m:t>
                            </m:r>
                            <m:sSub>
                              <m:sSubPr>
                                <m:ctrlPr>
                                  <a:rPr lang="en-US" i="1">
                                    <a:latin typeface="Cambria Math" panose="02040503050406030204" pitchFamily="18" charset="0"/>
                                  </a:rPr>
                                </m:ctrlPr>
                              </m:sSubPr>
                              <m:e>
                                <m:r>
                                  <a:rPr lang="es-BO" i="1">
                                    <a:latin typeface="Cambria Math" panose="02040503050406030204" pitchFamily="18" charset="0"/>
                                  </a:rPr>
                                  <m:t>𝑞</m:t>
                                </m:r>
                              </m:e>
                              <m:sub>
                                <m:r>
                                  <a:rPr lang="es-BO" i="1">
                                    <a:latin typeface="Cambria Math" panose="02040503050406030204" pitchFamily="18" charset="0"/>
                                  </a:rPr>
                                  <m:t>𝑖</m:t>
                                </m:r>
                              </m:sub>
                            </m:sSub>
                            <m:r>
                              <a:rPr lang="es-BO" i="1">
                                <a:latin typeface="Cambria Math" panose="02040503050406030204" pitchFamily="18" charset="0"/>
                              </a:rPr>
                              <m:t>(</m:t>
                            </m:r>
                            <m:r>
                              <a:rPr lang="es-BO" i="1">
                                <a:latin typeface="Cambria Math" panose="02040503050406030204" pitchFamily="18" charset="0"/>
                              </a:rPr>
                              <m:t>𝑡</m:t>
                            </m:r>
                            <m:r>
                              <a:rPr lang="es-BO" i="1">
                                <a:latin typeface="Cambria Math" panose="02040503050406030204" pitchFamily="18" charset="0"/>
                              </a:rPr>
                              <m:t>)</m:t>
                            </m:r>
                          </m:e>
                        </m:mr>
                        <m:mr>
                          <m:e>
                            <m:r>
                              <a:rPr lang="es-BO" i="1">
                                <a:latin typeface="Cambria Math" panose="02040503050406030204" pitchFamily="18" charset="0"/>
                              </a:rPr>
                              <m:t>𝑦</m:t>
                            </m:r>
                            <m:d>
                              <m:dPr>
                                <m:ctrlPr>
                                  <a:rPr lang="en-US" i="1">
                                    <a:latin typeface="Cambria Math" panose="02040503050406030204" pitchFamily="18" charset="0"/>
                                  </a:rPr>
                                </m:ctrlPr>
                              </m:dPr>
                              <m:e>
                                <m:r>
                                  <a:rPr lang="es-BO" i="1">
                                    <a:latin typeface="Cambria Math" panose="02040503050406030204" pitchFamily="18" charset="0"/>
                                  </a:rPr>
                                  <m:t>𝑡</m:t>
                                </m:r>
                              </m:e>
                            </m:d>
                            <m:r>
                              <a:rPr lang="es-BO" i="1">
                                <a:latin typeface="Cambria Math" panose="02040503050406030204" pitchFamily="18" charset="0"/>
                              </a:rPr>
                              <m:t>=</m:t>
                            </m:r>
                            <m:r>
                              <a:rPr lang="es-BO" i="1">
                                <a:latin typeface="Cambria Math" panose="02040503050406030204" pitchFamily="18" charset="0"/>
                              </a:rPr>
                              <m:t>𝐶𝑥</m:t>
                            </m:r>
                            <m:r>
                              <a:rPr lang="es-BO" i="1">
                                <a:latin typeface="Cambria Math" panose="02040503050406030204" pitchFamily="18" charset="0"/>
                              </a:rPr>
                              <m:t>(</m:t>
                            </m:r>
                            <m:r>
                              <a:rPr lang="es-BO" i="1">
                                <a:latin typeface="Cambria Math" panose="02040503050406030204" pitchFamily="18" charset="0"/>
                              </a:rPr>
                              <m:t>𝑡</m:t>
                            </m:r>
                            <m:r>
                              <a:rPr lang="es-BO" i="1">
                                <a:latin typeface="Cambria Math" panose="02040503050406030204" pitchFamily="18" charset="0"/>
                              </a:rPr>
                              <m:t>)</m:t>
                            </m:r>
                          </m:e>
                        </m:mr>
                      </m:m>
                      <m:r>
                        <a:rPr lang="es-BO" i="1">
                          <a:latin typeface="Cambria Math" panose="02040503050406030204" pitchFamily="18" charset="0"/>
                        </a:rPr>
                        <m:t>              →          </m:t>
                      </m:r>
                      <m:r>
                        <a:rPr lang="es-BO" i="1">
                          <a:latin typeface="Cambria Math" panose="02040503050406030204" pitchFamily="18" charset="0"/>
                        </a:rPr>
                        <m:t>𝐴</m:t>
                      </m:r>
                      <m:r>
                        <a:rPr lang="es-BO" i="1">
                          <a:latin typeface="Cambria Math" panose="02040503050406030204" pitchFamily="18" charset="0"/>
                        </a:rPr>
                        <m:t>=</m:t>
                      </m:r>
                      <m:d>
                        <m:dPr>
                          <m:begChr m:val="["/>
                          <m:endChr m:val="]"/>
                          <m:ctrlPr>
                            <a:rPr lang="en-US" i="1">
                              <a:latin typeface="Cambria Math" panose="02040503050406030204" pitchFamily="18" charset="0"/>
                            </a:rPr>
                          </m:ctrlPr>
                        </m:dPr>
                        <m:e>
                          <m:f>
                            <m:fPr>
                              <m:ctrlPr>
                                <a:rPr lang="en-US" i="1">
                                  <a:latin typeface="Cambria Math" panose="02040503050406030204" pitchFamily="18" charset="0"/>
                                </a:rPr>
                              </m:ctrlPr>
                            </m:fPr>
                            <m:num>
                              <m:r>
                                <a:rPr lang="es-BO" i="1">
                                  <a:latin typeface="Cambria Math" panose="02040503050406030204" pitchFamily="18" charset="0"/>
                                </a:rPr>
                                <m:t>−1</m:t>
                              </m:r>
                            </m:num>
                            <m:den>
                              <m:r>
                                <a:rPr lang="es-BO" b="0" i="1" smtClean="0">
                                  <a:latin typeface="Cambria Math" panose="02040503050406030204" pitchFamily="18" charset="0"/>
                                </a:rPr>
                                <m:t>303</m:t>
                              </m:r>
                            </m:den>
                          </m:f>
                        </m:e>
                      </m:d>
                      <m:r>
                        <a:rPr lang="es-BO" i="1">
                          <a:latin typeface="Cambria Math" panose="02040503050406030204" pitchFamily="18" charset="0"/>
                        </a:rPr>
                        <m:t>,      </m:t>
                      </m:r>
                      <m:r>
                        <a:rPr lang="es-BO" i="1">
                          <a:latin typeface="Cambria Math" panose="02040503050406030204" pitchFamily="18" charset="0"/>
                        </a:rPr>
                        <m:t>𝐵</m:t>
                      </m:r>
                      <m:r>
                        <a:rPr lang="es-BO" i="1">
                          <a:latin typeface="Cambria Math" panose="02040503050406030204" pitchFamily="18" charset="0"/>
                        </a:rPr>
                        <m:t>=</m:t>
                      </m:r>
                      <m:d>
                        <m:dPr>
                          <m:begChr m:val="["/>
                          <m:endChr m:val="]"/>
                          <m:ctrlPr>
                            <a:rPr lang="en-US" i="1">
                              <a:latin typeface="Cambria Math" panose="02040503050406030204" pitchFamily="18" charset="0"/>
                            </a:rPr>
                          </m:ctrlPr>
                        </m:dPr>
                        <m:e>
                          <m:f>
                            <m:fPr>
                              <m:ctrlPr>
                                <a:rPr lang="en-US" i="1">
                                  <a:latin typeface="Cambria Math" panose="02040503050406030204" pitchFamily="18" charset="0"/>
                                </a:rPr>
                              </m:ctrlPr>
                            </m:fPr>
                            <m:num>
                              <m:r>
                                <a:rPr lang="es-BO" i="1">
                                  <a:latin typeface="Cambria Math" panose="02040503050406030204" pitchFamily="18" charset="0"/>
                                </a:rPr>
                                <m:t>1</m:t>
                              </m:r>
                            </m:num>
                            <m:den>
                              <m:r>
                                <a:rPr lang="es-BO" b="0" i="1" smtClean="0">
                                  <a:latin typeface="Cambria Math" panose="02040503050406030204" pitchFamily="18" charset="0"/>
                                </a:rPr>
                                <m:t>3166.47</m:t>
                              </m:r>
                            </m:den>
                          </m:f>
                        </m:e>
                      </m:d>
                      <m:r>
                        <a:rPr lang="es-BO" i="1">
                          <a:latin typeface="Cambria Math" panose="02040503050406030204" pitchFamily="18" charset="0"/>
                        </a:rPr>
                        <m:t>,     </m:t>
                      </m:r>
                      <m:r>
                        <a:rPr lang="es-BO" i="1">
                          <a:latin typeface="Cambria Math" panose="02040503050406030204" pitchFamily="18" charset="0"/>
                        </a:rPr>
                        <m:t>𝐶</m:t>
                      </m:r>
                      <m:r>
                        <a:rPr lang="es-BO" i="1">
                          <a:latin typeface="Cambria Math" panose="02040503050406030204" pitchFamily="18" charset="0"/>
                        </a:rPr>
                        <m:t>=</m:t>
                      </m:r>
                      <m:d>
                        <m:dPr>
                          <m:begChr m:val="["/>
                          <m:endChr m:val="]"/>
                          <m:ctrlPr>
                            <a:rPr lang="en-US" i="1">
                              <a:latin typeface="Cambria Math" panose="02040503050406030204" pitchFamily="18" charset="0"/>
                            </a:rPr>
                          </m:ctrlPr>
                        </m:dPr>
                        <m:e>
                          <m:r>
                            <a:rPr lang="es-BO" i="1">
                              <a:latin typeface="Cambria Math" panose="02040503050406030204" pitchFamily="18" charset="0"/>
                            </a:rPr>
                            <m:t>1</m:t>
                          </m:r>
                        </m:e>
                      </m:d>
                      <m:r>
                        <a:rPr lang="es-BO" b="1" i="1">
                          <a:latin typeface="Cambria Math" panose="02040503050406030204" pitchFamily="18" charset="0"/>
                        </a:rPr>
                        <m:t> </m:t>
                      </m:r>
                    </m:oMath>
                  </m:oMathPara>
                </a14:m>
                <a:endParaRPr lang="en-US" dirty="0"/>
              </a:p>
              <a:p>
                <a:pPr marL="0" indent="0">
                  <a:buNone/>
                </a:pPr>
                <a:r>
                  <a:rPr lang="es-BO" dirty="0"/>
                  <a:t>Analizamos el requerimiento (</a:t>
                </a:r>
                <a:r>
                  <a:rPr lang="es-BO" dirty="0" err="1"/>
                  <a:t>ts</a:t>
                </a:r>
                <a:r>
                  <a:rPr lang="es-BO" dirty="0"/>
                  <a:t> = 4 min = 240 </a:t>
                </a:r>
                <a:r>
                  <a:rPr lang="es-BO" dirty="0" err="1"/>
                  <a:t>seg</a:t>
                </a:r>
                <a:r>
                  <a:rPr lang="es-BO" dirty="0"/>
                  <a:t>):</a:t>
                </a:r>
                <a:endParaRPr lang="en-US" dirty="0"/>
              </a:p>
              <a:p>
                <a:pPr marL="0" indent="0">
                  <a:buNone/>
                </a:pPr>
                <a14:m>
                  <m:oMathPara xmlns:m="http://schemas.openxmlformats.org/officeDocument/2006/math">
                    <m:oMathParaPr>
                      <m:jc m:val="centerGroup"/>
                    </m:oMathParaPr>
                    <m:oMath xmlns:m="http://schemas.openxmlformats.org/officeDocument/2006/math">
                      <m:r>
                        <a:rPr lang="es-MX" i="1" smtClean="0">
                          <a:latin typeface="Cambria Math" panose="02040503050406030204" pitchFamily="18" charset="0"/>
                        </a:rPr>
                        <m:t>240=</m:t>
                      </m:r>
                      <m:sSub>
                        <m:sSubPr>
                          <m:ctrlPr>
                            <a:rPr lang="en-US" i="1">
                              <a:latin typeface="Cambria Math" panose="02040503050406030204" pitchFamily="18" charset="0"/>
                            </a:rPr>
                          </m:ctrlPr>
                        </m:sSubPr>
                        <m:e>
                          <m:r>
                            <a:rPr lang="es-MX" i="1">
                              <a:latin typeface="Cambria Math" panose="02040503050406030204" pitchFamily="18" charset="0"/>
                            </a:rPr>
                            <m:t>𝑡</m:t>
                          </m:r>
                        </m:e>
                        <m:sub>
                          <m:r>
                            <a:rPr lang="es-MX" i="1">
                              <a:latin typeface="Cambria Math" panose="02040503050406030204" pitchFamily="18" charset="0"/>
                            </a:rPr>
                            <m:t>𝑠</m:t>
                          </m:r>
                        </m:sub>
                      </m:sSub>
                      <m:r>
                        <a:rPr lang="es-MX" i="1">
                          <a:latin typeface="Cambria Math" panose="02040503050406030204" pitchFamily="18" charset="0"/>
                        </a:rPr>
                        <m:t>≥4</m:t>
                      </m:r>
                      <m:r>
                        <a:rPr lang="es-MX" i="1">
                          <a:latin typeface="Cambria Math" panose="02040503050406030204" pitchFamily="18" charset="0"/>
                        </a:rPr>
                        <m:t>𝜏</m:t>
                      </m:r>
                      <m:r>
                        <a:rPr lang="es-MX" i="1">
                          <a:latin typeface="Cambria Math" panose="02040503050406030204" pitchFamily="18" charset="0"/>
                        </a:rPr>
                        <m:t>   ;      </m:t>
                      </m:r>
                      <m:r>
                        <a:rPr lang="es-MX" i="1">
                          <a:latin typeface="Cambria Math" panose="02040503050406030204" pitchFamily="18" charset="0"/>
                        </a:rPr>
                        <m:t>𝜏</m:t>
                      </m:r>
                      <m:r>
                        <a:rPr lang="es-MX" i="1">
                          <a:latin typeface="Cambria Math" panose="02040503050406030204" pitchFamily="18" charset="0"/>
                        </a:rPr>
                        <m:t>=60</m:t>
                      </m:r>
                    </m:oMath>
                  </m:oMathPara>
                </a14:m>
                <a:endParaRPr lang="en-US" dirty="0"/>
              </a:p>
              <a:p>
                <a:pPr marL="0" indent="0">
                  <a:buNone/>
                </a:pPr>
                <a:r>
                  <a:rPr lang="es-BO" b="1" dirty="0">
                    <a:solidFill>
                      <a:srgbClr val="FF0000"/>
                    </a:solidFill>
                  </a:rPr>
                  <a:t>Sea el polinomio característico de un sistema deseado:</a:t>
                </a:r>
                <a:endParaRPr lang="en-US" b="1" dirty="0">
                  <a:solidFill>
                    <a:srgbClr val="FF0000"/>
                  </a:solidFill>
                </a:endParaRPr>
              </a:p>
              <a:p>
                <a:pPr marL="0" indent="0">
                  <a:buNone/>
                </a:pPr>
                <a14:m>
                  <m:oMathPara xmlns:m="http://schemas.openxmlformats.org/officeDocument/2006/math">
                    <m:oMathParaPr>
                      <m:jc m:val="centerGroup"/>
                    </m:oMathParaPr>
                    <m:oMath xmlns:m="http://schemas.openxmlformats.org/officeDocument/2006/math">
                      <m:r>
                        <a:rPr lang="es-MX" b="1" i="1">
                          <a:solidFill>
                            <a:srgbClr val="FF0000"/>
                          </a:solidFill>
                          <a:latin typeface="Cambria Math" panose="02040503050406030204" pitchFamily="18" charset="0"/>
                        </a:rPr>
                        <m:t>→    </m:t>
                      </m:r>
                      <m:sSup>
                        <m:sSupPr>
                          <m:ctrlPr>
                            <a:rPr lang="en-US" b="1" i="1">
                              <a:solidFill>
                                <a:srgbClr val="FF0000"/>
                              </a:solidFill>
                              <a:latin typeface="Cambria Math" panose="02040503050406030204" pitchFamily="18" charset="0"/>
                            </a:rPr>
                          </m:ctrlPr>
                        </m:sSupPr>
                        <m:e>
                          <m:r>
                            <a:rPr lang="es-MX" b="1" i="1">
                              <a:solidFill>
                                <a:srgbClr val="FF0000"/>
                              </a:solidFill>
                              <a:latin typeface="Cambria Math" panose="02040503050406030204" pitchFamily="18" charset="0"/>
                            </a:rPr>
                            <m:t>𝒔</m:t>
                          </m:r>
                        </m:e>
                        <m:sup>
                          <m:r>
                            <a:rPr lang="es-MX" b="1" i="1">
                              <a:solidFill>
                                <a:srgbClr val="FF0000"/>
                              </a:solidFill>
                              <a:latin typeface="Cambria Math" panose="02040503050406030204" pitchFamily="18" charset="0"/>
                            </a:rPr>
                            <m:t>𝟐</m:t>
                          </m:r>
                        </m:sup>
                      </m:sSup>
                      <m:r>
                        <a:rPr lang="es-MX" b="1" i="1">
                          <a:solidFill>
                            <a:srgbClr val="FF0000"/>
                          </a:solidFill>
                          <a:latin typeface="Cambria Math" panose="02040503050406030204" pitchFamily="18" charset="0"/>
                        </a:rPr>
                        <m:t>+</m:t>
                      </m:r>
                      <m:r>
                        <a:rPr lang="es-MX" b="1" i="1">
                          <a:solidFill>
                            <a:srgbClr val="FF0000"/>
                          </a:solidFill>
                          <a:latin typeface="Cambria Math" panose="02040503050406030204" pitchFamily="18" charset="0"/>
                        </a:rPr>
                        <m:t>𝟎</m:t>
                      </m:r>
                      <m:r>
                        <a:rPr lang="es-MX" b="1" i="1">
                          <a:solidFill>
                            <a:srgbClr val="FF0000"/>
                          </a:solidFill>
                          <a:latin typeface="Cambria Math" panose="02040503050406030204" pitchFamily="18" charset="0"/>
                        </a:rPr>
                        <m:t>.</m:t>
                      </m:r>
                      <m:r>
                        <a:rPr lang="es-MX" b="1" i="1">
                          <a:solidFill>
                            <a:srgbClr val="FF0000"/>
                          </a:solidFill>
                          <a:latin typeface="Cambria Math" panose="02040503050406030204" pitchFamily="18" charset="0"/>
                        </a:rPr>
                        <m:t>𝟎𝟐𝟔𝟕</m:t>
                      </m:r>
                      <m:r>
                        <a:rPr lang="es-MX" b="1" i="1">
                          <a:solidFill>
                            <a:srgbClr val="FF0000"/>
                          </a:solidFill>
                          <a:latin typeface="Cambria Math" panose="02040503050406030204" pitchFamily="18" charset="0"/>
                        </a:rPr>
                        <m:t>𝒔</m:t>
                      </m:r>
                      <m:r>
                        <a:rPr lang="es-MX" b="1" i="1">
                          <a:solidFill>
                            <a:srgbClr val="FF0000"/>
                          </a:solidFill>
                          <a:latin typeface="Cambria Math" panose="02040503050406030204" pitchFamily="18" charset="0"/>
                        </a:rPr>
                        <m:t>+</m:t>
                      </m:r>
                      <m:r>
                        <a:rPr lang="es-MX" b="1" i="1">
                          <a:solidFill>
                            <a:srgbClr val="FF0000"/>
                          </a:solidFill>
                          <a:latin typeface="Cambria Math" panose="02040503050406030204" pitchFamily="18" charset="0"/>
                        </a:rPr>
                        <m:t>𝟎</m:t>
                      </m:r>
                      <m:r>
                        <a:rPr lang="es-MX" b="1" i="1">
                          <a:solidFill>
                            <a:srgbClr val="FF0000"/>
                          </a:solidFill>
                          <a:latin typeface="Cambria Math" panose="02040503050406030204" pitchFamily="18" charset="0"/>
                        </a:rPr>
                        <m:t>.</m:t>
                      </m:r>
                      <m:r>
                        <a:rPr lang="es-MX" b="1" i="1">
                          <a:solidFill>
                            <a:srgbClr val="FF0000"/>
                          </a:solidFill>
                          <a:latin typeface="Cambria Math" panose="02040503050406030204" pitchFamily="18" charset="0"/>
                        </a:rPr>
                        <m:t>𝟐𝟏𝟒𝟔</m:t>
                      </m:r>
                      <m:r>
                        <a:rPr lang="es-MX" b="1" i="1">
                          <a:solidFill>
                            <a:srgbClr val="FF0000"/>
                          </a:solidFill>
                          <a:latin typeface="Cambria Math" panose="02040503050406030204" pitchFamily="18" charset="0"/>
                        </a:rPr>
                        <m:t>∙</m:t>
                      </m:r>
                      <m:sSup>
                        <m:sSupPr>
                          <m:ctrlPr>
                            <a:rPr lang="en-US" b="1" i="1">
                              <a:solidFill>
                                <a:srgbClr val="FF0000"/>
                              </a:solidFill>
                              <a:latin typeface="Cambria Math" panose="02040503050406030204" pitchFamily="18" charset="0"/>
                            </a:rPr>
                          </m:ctrlPr>
                        </m:sSupPr>
                        <m:e>
                          <m:r>
                            <a:rPr lang="es-MX" b="1" i="1">
                              <a:solidFill>
                                <a:srgbClr val="FF0000"/>
                              </a:solidFill>
                              <a:latin typeface="Cambria Math" panose="02040503050406030204" pitchFamily="18" charset="0"/>
                            </a:rPr>
                            <m:t>𝟏𝟎</m:t>
                          </m:r>
                        </m:e>
                        <m:sup>
                          <m:r>
                            <a:rPr lang="es-MX" b="1" i="1">
                              <a:solidFill>
                                <a:srgbClr val="FF0000"/>
                              </a:solidFill>
                              <a:latin typeface="Cambria Math" panose="02040503050406030204" pitchFamily="18" charset="0"/>
                            </a:rPr>
                            <m:t>−</m:t>
                          </m:r>
                          <m:r>
                            <a:rPr lang="es-MX" b="1" i="1">
                              <a:solidFill>
                                <a:srgbClr val="FF0000"/>
                              </a:solidFill>
                              <a:latin typeface="Cambria Math" panose="02040503050406030204" pitchFamily="18" charset="0"/>
                            </a:rPr>
                            <m:t>𝟑</m:t>
                          </m:r>
                        </m:sup>
                      </m:sSup>
                    </m:oMath>
                  </m:oMathPara>
                </a14:m>
                <a:endParaRPr lang="en-US" b="1" dirty="0">
                  <a:solidFill>
                    <a:srgbClr val="FF0000"/>
                  </a:solidFill>
                </a:endParaRPr>
              </a:p>
              <a:p>
                <a:pPr marL="0" indent="0">
                  <a:buNone/>
                </a:pPr>
                <a:r>
                  <a:rPr lang="es-BO" b="1" dirty="0">
                    <a:solidFill>
                      <a:srgbClr val="FF0000"/>
                    </a:solidFill>
                  </a:rPr>
                  <a:t>			</a:t>
                </a:r>
                <a14:m>
                  <m:oMath xmlns:m="http://schemas.openxmlformats.org/officeDocument/2006/math">
                    <m:r>
                      <a:rPr lang="es-MX" b="1" i="1">
                        <a:solidFill>
                          <a:srgbClr val="FF0000"/>
                        </a:solidFill>
                        <a:latin typeface="Cambria Math" panose="02040503050406030204" pitchFamily="18" charset="0"/>
                      </a:rPr>
                      <m:t>→</m:t>
                    </m:r>
                    <m:r>
                      <a:rPr lang="es-BO" b="1" i="1">
                        <a:solidFill>
                          <a:srgbClr val="FF0000"/>
                        </a:solidFill>
                        <a:latin typeface="Cambria Math" panose="02040503050406030204" pitchFamily="18" charset="0"/>
                      </a:rPr>
                      <m:t>𝝓</m:t>
                    </m:r>
                    <m:d>
                      <m:dPr>
                        <m:ctrlPr>
                          <a:rPr lang="en-US" b="1" i="1">
                            <a:solidFill>
                              <a:srgbClr val="FF0000"/>
                            </a:solidFill>
                            <a:latin typeface="Cambria Math" panose="02040503050406030204" pitchFamily="18" charset="0"/>
                          </a:rPr>
                        </m:ctrlPr>
                      </m:dPr>
                      <m:e>
                        <m:r>
                          <a:rPr lang="es-BO" b="1" i="1">
                            <a:solidFill>
                              <a:srgbClr val="FF0000"/>
                            </a:solidFill>
                            <a:latin typeface="Cambria Math" panose="02040503050406030204" pitchFamily="18" charset="0"/>
                          </a:rPr>
                          <m:t>𝑨</m:t>
                        </m:r>
                      </m:e>
                    </m:d>
                    <m:r>
                      <a:rPr lang="es-BO" b="1" i="1" smtClean="0">
                        <a:solidFill>
                          <a:srgbClr val="FF0000"/>
                        </a:solidFill>
                        <a:latin typeface="Cambria Math" panose="02040503050406030204" pitchFamily="18" charset="0"/>
                      </a:rPr>
                      <m:t>=</m:t>
                    </m:r>
                    <m:r>
                      <a:rPr lang="es-MX" b="1" i="1">
                        <a:solidFill>
                          <a:srgbClr val="FF0000"/>
                        </a:solidFill>
                        <a:latin typeface="Cambria Math" panose="02040503050406030204" pitchFamily="18" charset="0"/>
                      </a:rPr>
                      <m:t> </m:t>
                    </m:r>
                    <m:sSup>
                      <m:sSupPr>
                        <m:ctrlPr>
                          <a:rPr lang="en-US" b="1" i="1">
                            <a:solidFill>
                              <a:srgbClr val="FF0000"/>
                            </a:solidFill>
                            <a:latin typeface="Cambria Math" panose="02040503050406030204" pitchFamily="18" charset="0"/>
                          </a:rPr>
                        </m:ctrlPr>
                      </m:sSupPr>
                      <m:e>
                        <m:d>
                          <m:dPr>
                            <m:begChr m:val="["/>
                            <m:endChr m:val="]"/>
                            <m:ctrlPr>
                              <a:rPr lang="en-US" b="1" i="1">
                                <a:solidFill>
                                  <a:srgbClr val="FF0000"/>
                                </a:solidFill>
                                <a:latin typeface="Cambria Math" panose="02040503050406030204" pitchFamily="18" charset="0"/>
                              </a:rPr>
                            </m:ctrlPr>
                          </m:dPr>
                          <m:e>
                            <m:f>
                              <m:fPr>
                                <m:ctrlPr>
                                  <a:rPr lang="en-US" b="1" i="1">
                                    <a:solidFill>
                                      <a:srgbClr val="FF0000"/>
                                    </a:solidFill>
                                    <a:latin typeface="Cambria Math" panose="02040503050406030204" pitchFamily="18" charset="0"/>
                                  </a:rPr>
                                </m:ctrlPr>
                              </m:fPr>
                              <m:num>
                                <m:r>
                                  <a:rPr lang="es-BO" b="1" i="1">
                                    <a:solidFill>
                                      <a:srgbClr val="FF0000"/>
                                    </a:solidFill>
                                    <a:latin typeface="Cambria Math" panose="02040503050406030204" pitchFamily="18" charset="0"/>
                                  </a:rPr>
                                  <m:t>−</m:t>
                                </m:r>
                                <m:r>
                                  <a:rPr lang="es-BO" b="1" i="1">
                                    <a:solidFill>
                                      <a:srgbClr val="FF0000"/>
                                    </a:solidFill>
                                    <a:latin typeface="Cambria Math" panose="02040503050406030204" pitchFamily="18" charset="0"/>
                                  </a:rPr>
                                  <m:t>𝟏</m:t>
                                </m:r>
                              </m:num>
                              <m:den>
                                <m:r>
                                  <a:rPr lang="es-BO" b="1" i="1">
                                    <a:solidFill>
                                      <a:srgbClr val="FF0000"/>
                                    </a:solidFill>
                                    <a:latin typeface="Cambria Math" panose="02040503050406030204" pitchFamily="18" charset="0"/>
                                  </a:rPr>
                                  <m:t>𝟑𝟎𝟑</m:t>
                                </m:r>
                              </m:den>
                            </m:f>
                          </m:e>
                        </m:d>
                      </m:e>
                      <m:sup>
                        <m:r>
                          <a:rPr lang="es-MX" b="1" i="1">
                            <a:solidFill>
                              <a:srgbClr val="FF0000"/>
                            </a:solidFill>
                            <a:latin typeface="Cambria Math" panose="02040503050406030204" pitchFamily="18" charset="0"/>
                          </a:rPr>
                          <m:t>𝟐</m:t>
                        </m:r>
                      </m:sup>
                    </m:sSup>
                    <m:r>
                      <a:rPr lang="es-MX" b="1" i="1">
                        <a:solidFill>
                          <a:srgbClr val="FF0000"/>
                        </a:solidFill>
                        <a:latin typeface="Cambria Math" panose="02040503050406030204" pitchFamily="18" charset="0"/>
                      </a:rPr>
                      <m:t>+</m:t>
                    </m:r>
                    <m:r>
                      <a:rPr lang="es-MX" b="1" i="1">
                        <a:solidFill>
                          <a:srgbClr val="FF0000"/>
                        </a:solidFill>
                        <a:latin typeface="Cambria Math" panose="02040503050406030204" pitchFamily="18" charset="0"/>
                      </a:rPr>
                      <m:t>𝟎</m:t>
                    </m:r>
                    <m:r>
                      <a:rPr lang="es-MX" b="1" i="1">
                        <a:solidFill>
                          <a:srgbClr val="FF0000"/>
                        </a:solidFill>
                        <a:latin typeface="Cambria Math" panose="02040503050406030204" pitchFamily="18" charset="0"/>
                      </a:rPr>
                      <m:t>.</m:t>
                    </m:r>
                    <m:r>
                      <a:rPr lang="es-MX" b="1" i="1">
                        <a:solidFill>
                          <a:srgbClr val="FF0000"/>
                        </a:solidFill>
                        <a:latin typeface="Cambria Math" panose="02040503050406030204" pitchFamily="18" charset="0"/>
                      </a:rPr>
                      <m:t>𝟎𝟐𝟔𝟕</m:t>
                    </m:r>
                    <m:r>
                      <a:rPr lang="es-BO" b="1" i="1" smtClean="0">
                        <a:solidFill>
                          <a:srgbClr val="FF0000"/>
                        </a:solidFill>
                        <a:latin typeface="Cambria Math" panose="02040503050406030204" pitchFamily="18" charset="0"/>
                      </a:rPr>
                      <m:t>∗</m:t>
                    </m:r>
                    <m:d>
                      <m:dPr>
                        <m:begChr m:val="["/>
                        <m:endChr m:val="]"/>
                        <m:ctrlPr>
                          <a:rPr lang="en-US" b="1" i="1">
                            <a:solidFill>
                              <a:srgbClr val="FF0000"/>
                            </a:solidFill>
                            <a:latin typeface="Cambria Math" panose="02040503050406030204" pitchFamily="18" charset="0"/>
                          </a:rPr>
                        </m:ctrlPr>
                      </m:dPr>
                      <m:e>
                        <m:f>
                          <m:fPr>
                            <m:ctrlPr>
                              <a:rPr lang="en-US" b="1" i="1">
                                <a:solidFill>
                                  <a:srgbClr val="FF0000"/>
                                </a:solidFill>
                                <a:latin typeface="Cambria Math" panose="02040503050406030204" pitchFamily="18" charset="0"/>
                              </a:rPr>
                            </m:ctrlPr>
                          </m:fPr>
                          <m:num>
                            <m:r>
                              <a:rPr lang="es-BO" b="1" i="1">
                                <a:solidFill>
                                  <a:srgbClr val="FF0000"/>
                                </a:solidFill>
                                <a:latin typeface="Cambria Math" panose="02040503050406030204" pitchFamily="18" charset="0"/>
                              </a:rPr>
                              <m:t>−</m:t>
                            </m:r>
                            <m:r>
                              <a:rPr lang="es-BO" b="1" i="1">
                                <a:solidFill>
                                  <a:srgbClr val="FF0000"/>
                                </a:solidFill>
                                <a:latin typeface="Cambria Math" panose="02040503050406030204" pitchFamily="18" charset="0"/>
                              </a:rPr>
                              <m:t>𝟏</m:t>
                            </m:r>
                          </m:num>
                          <m:den>
                            <m:r>
                              <a:rPr lang="es-BO" b="1" i="1">
                                <a:solidFill>
                                  <a:srgbClr val="FF0000"/>
                                </a:solidFill>
                                <a:latin typeface="Cambria Math" panose="02040503050406030204" pitchFamily="18" charset="0"/>
                              </a:rPr>
                              <m:t>𝟑𝟎𝟑</m:t>
                            </m:r>
                          </m:den>
                        </m:f>
                      </m:e>
                    </m:d>
                    <m:r>
                      <a:rPr lang="es-MX" b="1" i="1">
                        <a:solidFill>
                          <a:srgbClr val="FF0000"/>
                        </a:solidFill>
                        <a:latin typeface="Cambria Math" panose="02040503050406030204" pitchFamily="18" charset="0"/>
                      </a:rPr>
                      <m:t>+</m:t>
                    </m:r>
                    <m:r>
                      <a:rPr lang="es-MX" b="1" i="1">
                        <a:solidFill>
                          <a:srgbClr val="FF0000"/>
                        </a:solidFill>
                        <a:latin typeface="Cambria Math" panose="02040503050406030204" pitchFamily="18" charset="0"/>
                      </a:rPr>
                      <m:t>𝟎</m:t>
                    </m:r>
                    <m:r>
                      <a:rPr lang="es-MX" b="1" i="1">
                        <a:solidFill>
                          <a:srgbClr val="FF0000"/>
                        </a:solidFill>
                        <a:latin typeface="Cambria Math" panose="02040503050406030204" pitchFamily="18" charset="0"/>
                      </a:rPr>
                      <m:t>.</m:t>
                    </m:r>
                    <m:r>
                      <a:rPr lang="es-MX" b="1" i="1">
                        <a:solidFill>
                          <a:srgbClr val="FF0000"/>
                        </a:solidFill>
                        <a:latin typeface="Cambria Math" panose="02040503050406030204" pitchFamily="18" charset="0"/>
                      </a:rPr>
                      <m:t>𝟐𝟏𝟒𝟔</m:t>
                    </m:r>
                    <m:r>
                      <a:rPr lang="es-MX" b="1" i="1">
                        <a:solidFill>
                          <a:srgbClr val="FF0000"/>
                        </a:solidFill>
                        <a:latin typeface="Cambria Math" panose="02040503050406030204" pitchFamily="18" charset="0"/>
                      </a:rPr>
                      <m:t>∙</m:t>
                    </m:r>
                    <m:sSup>
                      <m:sSupPr>
                        <m:ctrlPr>
                          <a:rPr lang="en-US" b="1" i="1">
                            <a:solidFill>
                              <a:srgbClr val="FF0000"/>
                            </a:solidFill>
                            <a:latin typeface="Cambria Math" panose="02040503050406030204" pitchFamily="18" charset="0"/>
                          </a:rPr>
                        </m:ctrlPr>
                      </m:sSupPr>
                      <m:e>
                        <m:r>
                          <a:rPr lang="es-MX" b="1" i="1">
                            <a:solidFill>
                              <a:srgbClr val="FF0000"/>
                            </a:solidFill>
                            <a:latin typeface="Cambria Math" panose="02040503050406030204" pitchFamily="18" charset="0"/>
                          </a:rPr>
                          <m:t>𝟏𝟎</m:t>
                        </m:r>
                      </m:e>
                      <m:sup>
                        <m:r>
                          <a:rPr lang="es-MX" b="1" i="1">
                            <a:solidFill>
                              <a:srgbClr val="FF0000"/>
                            </a:solidFill>
                            <a:latin typeface="Cambria Math" panose="02040503050406030204" pitchFamily="18" charset="0"/>
                          </a:rPr>
                          <m:t>−</m:t>
                        </m:r>
                        <m:r>
                          <a:rPr lang="es-MX" b="1" i="1">
                            <a:solidFill>
                              <a:srgbClr val="FF0000"/>
                            </a:solidFill>
                            <a:latin typeface="Cambria Math" panose="02040503050406030204" pitchFamily="18" charset="0"/>
                          </a:rPr>
                          <m:t>𝟑</m:t>
                        </m:r>
                      </m:sup>
                    </m:sSup>
                  </m:oMath>
                </a14:m>
                <a:r>
                  <a:rPr lang="en-US" b="1" dirty="0">
                    <a:solidFill>
                      <a:srgbClr val="FF0000"/>
                    </a:solidFill>
                  </a:rPr>
                  <a:t>*[1]</a:t>
                </a:r>
              </a:p>
              <a:p>
                <a:pPr marL="0" indent="0">
                  <a:buNone/>
                </a:pPr>
                <a:endParaRPr lang="en-US" b="1" dirty="0">
                  <a:solidFill>
                    <a:srgbClr val="FF0000"/>
                  </a:solidFill>
                </a:endParaRPr>
              </a:p>
              <a:p>
                <a:pPr marL="0" indent="0">
                  <a:buNone/>
                </a:pPr>
                <a14:m>
                  <m:oMathPara xmlns:m="http://schemas.openxmlformats.org/officeDocument/2006/math">
                    <m:oMathParaPr>
                      <m:jc m:val="centerGroup"/>
                    </m:oMathParaPr>
                    <m:oMath xmlns:m="http://schemas.openxmlformats.org/officeDocument/2006/math">
                      <m:r>
                        <a:rPr lang="es-BO" b="1" i="1">
                          <a:solidFill>
                            <a:srgbClr val="FF0000"/>
                          </a:solidFill>
                          <a:latin typeface="Cambria Math" panose="02040503050406030204" pitchFamily="18" charset="0"/>
                        </a:rPr>
                        <m:t>𝝓</m:t>
                      </m:r>
                      <m:d>
                        <m:dPr>
                          <m:ctrlPr>
                            <a:rPr lang="en-US" b="1" i="1">
                              <a:solidFill>
                                <a:srgbClr val="FF0000"/>
                              </a:solidFill>
                              <a:latin typeface="Cambria Math" panose="02040503050406030204" pitchFamily="18" charset="0"/>
                            </a:rPr>
                          </m:ctrlPr>
                        </m:dPr>
                        <m:e>
                          <m:r>
                            <a:rPr lang="es-BO" b="1" i="1">
                              <a:solidFill>
                                <a:srgbClr val="FF0000"/>
                              </a:solidFill>
                              <a:latin typeface="Cambria Math" panose="02040503050406030204" pitchFamily="18" charset="0"/>
                            </a:rPr>
                            <m:t>𝑨</m:t>
                          </m:r>
                        </m:e>
                      </m:d>
                      <m:r>
                        <a:rPr lang="es-BO" b="1" i="1" smtClean="0">
                          <a:solidFill>
                            <a:srgbClr val="FF0000"/>
                          </a:solidFill>
                          <a:latin typeface="Cambria Math" panose="02040503050406030204" pitchFamily="18" charset="0"/>
                        </a:rPr>
                        <m:t>=</m:t>
                      </m:r>
                      <m:r>
                        <a:rPr lang="es-BO" b="1" i="1" smtClean="0">
                          <a:solidFill>
                            <a:srgbClr val="FF0000"/>
                          </a:solidFill>
                          <a:latin typeface="Cambria Math" panose="02040503050406030204" pitchFamily="18" charset="0"/>
                        </a:rPr>
                        <m:t>𝟏</m:t>
                      </m:r>
                      <m:r>
                        <a:rPr lang="es-BO" b="1" i="1" smtClean="0">
                          <a:solidFill>
                            <a:srgbClr val="FF0000"/>
                          </a:solidFill>
                          <a:latin typeface="Cambria Math" panose="02040503050406030204" pitchFamily="18" charset="0"/>
                        </a:rPr>
                        <m:t>.</m:t>
                      </m:r>
                      <m:r>
                        <a:rPr lang="es-BO" b="1" i="1" smtClean="0">
                          <a:solidFill>
                            <a:srgbClr val="FF0000"/>
                          </a:solidFill>
                          <a:latin typeface="Cambria Math" panose="02040503050406030204" pitchFamily="18" charset="0"/>
                        </a:rPr>
                        <m:t>𝟑𝟕𝟑𝟕</m:t>
                      </m:r>
                      <m:r>
                        <a:rPr lang="es-BO" b="1" i="1" smtClean="0">
                          <a:solidFill>
                            <a:srgbClr val="FF0000"/>
                          </a:solidFill>
                          <a:latin typeface="Cambria Math" panose="02040503050406030204" pitchFamily="18" charset="0"/>
                        </a:rPr>
                        <m:t>∗</m:t>
                      </m:r>
                      <m:sSup>
                        <m:sSupPr>
                          <m:ctrlPr>
                            <a:rPr lang="en-US" b="1" i="1" smtClean="0">
                              <a:solidFill>
                                <a:srgbClr val="FF0000"/>
                              </a:solidFill>
                              <a:latin typeface="Cambria Math" panose="02040503050406030204" pitchFamily="18" charset="0"/>
                            </a:rPr>
                          </m:ctrlPr>
                        </m:sSupPr>
                        <m:e>
                          <m:r>
                            <a:rPr lang="es-MX" b="1" i="1">
                              <a:solidFill>
                                <a:srgbClr val="FF0000"/>
                              </a:solidFill>
                              <a:latin typeface="Cambria Math" panose="02040503050406030204" pitchFamily="18" charset="0"/>
                            </a:rPr>
                            <m:t>𝟏𝟎</m:t>
                          </m:r>
                        </m:e>
                        <m:sup>
                          <m:r>
                            <a:rPr lang="es-MX" b="1" i="1">
                              <a:solidFill>
                                <a:srgbClr val="FF0000"/>
                              </a:solidFill>
                              <a:latin typeface="Cambria Math" panose="02040503050406030204" pitchFamily="18" charset="0"/>
                            </a:rPr>
                            <m:t>−</m:t>
                          </m:r>
                          <m:r>
                            <a:rPr lang="es-BO" b="1" i="1" smtClean="0">
                              <a:solidFill>
                                <a:srgbClr val="FF0000"/>
                              </a:solidFill>
                              <a:latin typeface="Cambria Math" panose="02040503050406030204" pitchFamily="18" charset="0"/>
                            </a:rPr>
                            <m:t>𝟒</m:t>
                          </m:r>
                        </m:sup>
                      </m:sSup>
                    </m:oMath>
                  </m:oMathPara>
                </a14:m>
                <a:endParaRPr lang="en-US" b="1" dirty="0"/>
              </a:p>
              <a:p>
                <a:pPr marL="0" indent="0">
                  <a:buNone/>
                </a:pPr>
                <a:r>
                  <a:rPr lang="es-BO" dirty="0"/>
                  <a:t>Calculamos las matrices de ganancia para la realimentación por el método de </a:t>
                </a:r>
                <a:r>
                  <a:rPr lang="es-BO" dirty="0" err="1"/>
                  <a:t>Ackerman</a:t>
                </a:r>
                <a:r>
                  <a:rPr lang="es-BO" dirty="0"/>
                  <a:t>:</a:t>
                </a:r>
                <a:endParaRPr lang="en-US" dirty="0"/>
              </a:p>
              <a:p>
                <a:pPr marL="0" indent="0">
                  <a:buNone/>
                </a:pPr>
                <a14:m>
                  <m:oMathPara xmlns:m="http://schemas.openxmlformats.org/officeDocument/2006/math">
                    <m:oMathParaPr>
                      <m:jc m:val="centerGroup"/>
                    </m:oMathParaPr>
                    <m:oMath xmlns:m="http://schemas.openxmlformats.org/officeDocument/2006/math">
                      <m:r>
                        <a:rPr lang="es-BO" i="1">
                          <a:latin typeface="Cambria Math" panose="02040503050406030204" pitchFamily="18" charset="0"/>
                        </a:rPr>
                        <m:t>𝐾</m:t>
                      </m:r>
                      <m:r>
                        <a:rPr lang="es-BO" i="1">
                          <a:latin typeface="Cambria Math" panose="02040503050406030204" pitchFamily="18" charset="0"/>
                        </a:rPr>
                        <m:t>=</m:t>
                      </m:r>
                      <m:d>
                        <m:dPr>
                          <m:begChr m:val="["/>
                          <m:endChr m:val="]"/>
                          <m:ctrlPr>
                            <a:rPr lang="en-US" i="1">
                              <a:latin typeface="Cambria Math" panose="02040503050406030204" pitchFamily="18" charset="0"/>
                            </a:rPr>
                          </m:ctrlPr>
                        </m:dPr>
                        <m:e>
                          <m:r>
                            <a:rPr lang="es-BO" i="1">
                              <a:latin typeface="Cambria Math" panose="02040503050406030204" pitchFamily="18" charset="0"/>
                            </a:rPr>
                            <m:t>1</m:t>
                          </m:r>
                        </m:e>
                      </m:d>
                      <m:r>
                        <a:rPr lang="es-BO" i="1">
                          <a:latin typeface="Cambria Math" panose="02040503050406030204" pitchFamily="18" charset="0"/>
                        </a:rPr>
                        <m:t>∗</m:t>
                      </m:r>
                      <m:sSubSup>
                        <m:sSubSupPr>
                          <m:ctrlPr>
                            <a:rPr lang="en-US" i="1">
                              <a:latin typeface="Cambria Math" panose="02040503050406030204" pitchFamily="18" charset="0"/>
                            </a:rPr>
                          </m:ctrlPr>
                        </m:sSubSupPr>
                        <m:e>
                          <m:r>
                            <a:rPr lang="es-BO" i="1">
                              <a:latin typeface="Cambria Math" panose="02040503050406030204" pitchFamily="18" charset="0"/>
                            </a:rPr>
                            <m:t>𝐶</m:t>
                          </m:r>
                        </m:e>
                        <m:sub>
                          <m:r>
                            <a:rPr lang="es-BO" i="1">
                              <a:latin typeface="Cambria Math" panose="02040503050406030204" pitchFamily="18" charset="0"/>
                            </a:rPr>
                            <m:t>𝑜</m:t>
                          </m:r>
                        </m:sub>
                        <m:sup>
                          <m:r>
                            <a:rPr lang="es-BO" i="1">
                              <a:latin typeface="Cambria Math" panose="02040503050406030204" pitchFamily="18" charset="0"/>
                            </a:rPr>
                            <m:t>−1</m:t>
                          </m:r>
                        </m:sup>
                      </m:sSubSup>
                      <m:r>
                        <a:rPr lang="es-BO" i="1">
                          <a:latin typeface="Cambria Math" panose="02040503050406030204" pitchFamily="18" charset="0"/>
                        </a:rPr>
                        <m:t>∗</m:t>
                      </m:r>
                      <m:r>
                        <a:rPr lang="es-BO" i="1">
                          <a:latin typeface="Cambria Math" panose="02040503050406030204" pitchFamily="18" charset="0"/>
                        </a:rPr>
                        <m:t>𝜙</m:t>
                      </m:r>
                      <m:d>
                        <m:dPr>
                          <m:ctrlPr>
                            <a:rPr lang="en-US" i="1">
                              <a:latin typeface="Cambria Math" panose="02040503050406030204" pitchFamily="18" charset="0"/>
                            </a:rPr>
                          </m:ctrlPr>
                        </m:dPr>
                        <m:e>
                          <m:r>
                            <a:rPr lang="es-BO" i="1">
                              <a:latin typeface="Cambria Math" panose="02040503050406030204" pitchFamily="18" charset="0"/>
                            </a:rPr>
                            <m:t>𝐴</m:t>
                          </m:r>
                        </m:e>
                      </m:d>
                    </m:oMath>
                  </m:oMathPara>
                </a14:m>
                <a:endParaRPr lang="en-US" dirty="0"/>
              </a:p>
              <a:p>
                <a:pPr marL="0" indent="0">
                  <a:buNone/>
                </a:pPr>
                <a14:m>
                  <m:oMathPara xmlns:m="http://schemas.openxmlformats.org/officeDocument/2006/math">
                    <m:oMathParaPr>
                      <m:jc m:val="centerGroup"/>
                    </m:oMathParaPr>
                    <m:oMath xmlns:m="http://schemas.openxmlformats.org/officeDocument/2006/math">
                      <m:r>
                        <a:rPr lang="es-BO" i="1">
                          <a:latin typeface="Cambria Math" panose="02040503050406030204" pitchFamily="18" charset="0"/>
                        </a:rPr>
                        <m:t> </m:t>
                      </m:r>
                      <m:r>
                        <a:rPr lang="es-BO" i="1">
                          <a:latin typeface="Cambria Math" panose="02040503050406030204" pitchFamily="18" charset="0"/>
                        </a:rPr>
                        <m:t>𝐾</m:t>
                      </m:r>
                      <m:r>
                        <a:rPr lang="es-BO" i="1">
                          <a:latin typeface="Cambria Math" panose="02040503050406030204" pitchFamily="18" charset="0"/>
                        </a:rPr>
                        <m:t>=</m:t>
                      </m:r>
                      <m:d>
                        <m:dPr>
                          <m:begChr m:val="["/>
                          <m:endChr m:val="]"/>
                          <m:ctrlPr>
                            <a:rPr lang="en-US" i="1">
                              <a:latin typeface="Cambria Math" panose="02040503050406030204" pitchFamily="18" charset="0"/>
                            </a:rPr>
                          </m:ctrlPr>
                        </m:dPr>
                        <m:e>
                          <m:r>
                            <a:rPr lang="es-BO" i="1">
                              <a:latin typeface="Cambria Math" panose="02040503050406030204" pitchFamily="18" charset="0"/>
                            </a:rPr>
                            <m:t>1</m:t>
                          </m:r>
                        </m:e>
                      </m:d>
                      <m:r>
                        <a:rPr lang="es-BO" i="1">
                          <a:latin typeface="Cambria Math" panose="02040503050406030204" pitchFamily="18" charset="0"/>
                        </a:rPr>
                        <m:t>∗</m:t>
                      </m:r>
                      <m:sSup>
                        <m:sSupPr>
                          <m:ctrlPr>
                            <a:rPr lang="en-US" i="1">
                              <a:latin typeface="Cambria Math" panose="02040503050406030204" pitchFamily="18" charset="0"/>
                            </a:rPr>
                          </m:ctrlPr>
                        </m:sSupPr>
                        <m:e>
                          <m:d>
                            <m:dPr>
                              <m:begChr m:val="["/>
                              <m:endChr m:val="]"/>
                              <m:ctrlPr>
                                <a:rPr lang="en-US" i="1">
                                  <a:latin typeface="Cambria Math" panose="02040503050406030204" pitchFamily="18" charset="0"/>
                                </a:rPr>
                              </m:ctrlPr>
                            </m:dPr>
                            <m:e>
                              <m:f>
                                <m:fPr>
                                  <m:ctrlPr>
                                    <a:rPr lang="en-US" i="1">
                                      <a:latin typeface="Cambria Math" panose="02040503050406030204" pitchFamily="18" charset="0"/>
                                    </a:rPr>
                                  </m:ctrlPr>
                                </m:fPr>
                                <m:num>
                                  <m:r>
                                    <a:rPr lang="es-BO" i="1">
                                      <a:latin typeface="Cambria Math" panose="02040503050406030204" pitchFamily="18" charset="0"/>
                                    </a:rPr>
                                    <m:t>1</m:t>
                                  </m:r>
                                </m:num>
                                <m:den>
                                  <m:r>
                                    <a:rPr lang="es-BO" i="1">
                                      <a:latin typeface="Cambria Math" panose="02040503050406030204" pitchFamily="18" charset="0"/>
                                    </a:rPr>
                                    <m:t>3166.47</m:t>
                                  </m:r>
                                </m:den>
                              </m:f>
                            </m:e>
                          </m:d>
                        </m:e>
                        <m:sup>
                          <m:r>
                            <a:rPr lang="es-BO" i="1">
                              <a:latin typeface="Cambria Math" panose="02040503050406030204" pitchFamily="18" charset="0"/>
                            </a:rPr>
                            <m:t>−1</m:t>
                          </m:r>
                        </m:sup>
                      </m:sSup>
                      <m:r>
                        <a:rPr lang="es-BO" i="1">
                          <a:latin typeface="Cambria Math" panose="02040503050406030204" pitchFamily="18" charset="0"/>
                        </a:rPr>
                        <m:t>∗</m:t>
                      </m:r>
                      <m:d>
                        <m:dPr>
                          <m:begChr m:val="["/>
                          <m:endChr m:val="]"/>
                          <m:ctrlPr>
                            <a:rPr lang="en-US" i="1">
                              <a:latin typeface="Cambria Math" panose="02040503050406030204" pitchFamily="18" charset="0"/>
                            </a:rPr>
                          </m:ctrlPr>
                        </m:dPr>
                        <m:e>
                          <m:f>
                            <m:fPr>
                              <m:ctrlPr>
                                <a:rPr lang="en-US" i="1">
                                  <a:latin typeface="Cambria Math" panose="02040503050406030204" pitchFamily="18" charset="0"/>
                                </a:rPr>
                              </m:ctrlPr>
                            </m:fPr>
                            <m:num>
                              <m:r>
                                <a:rPr lang="es-BO" i="1">
                                  <a:latin typeface="Cambria Math" panose="02040503050406030204" pitchFamily="18" charset="0"/>
                                </a:rPr>
                                <m:t>−1</m:t>
                              </m:r>
                            </m:num>
                            <m:den>
                              <m:r>
                                <a:rPr lang="es-BO" i="1">
                                  <a:latin typeface="Cambria Math" panose="02040503050406030204" pitchFamily="18" charset="0"/>
                                </a:rPr>
                                <m:t>303</m:t>
                              </m:r>
                            </m:den>
                          </m:f>
                          <m:r>
                            <a:rPr lang="es-MX" i="1">
                              <a:latin typeface="Cambria Math" panose="02040503050406030204" pitchFamily="18" charset="0"/>
                              <a:ea typeface="Calibri" panose="020F0502020204030204" pitchFamily="34" charset="0"/>
                              <a:cs typeface="Arial" panose="020B0604020202020204" pitchFamily="34" charset="0"/>
                            </a:rPr>
                            <m:t>+16.6667∙</m:t>
                          </m:r>
                          <m:sSup>
                            <m:sSupPr>
                              <m:ctrlPr>
                                <a:rPr lang="en-US" i="1">
                                  <a:latin typeface="Cambria Math" panose="02040503050406030204" pitchFamily="18" charset="0"/>
                                  <a:ea typeface="Calibri" panose="020F0502020204030204" pitchFamily="34" charset="0"/>
                                  <a:cs typeface="Arial" panose="020B0604020202020204" pitchFamily="34" charset="0"/>
                                </a:rPr>
                              </m:ctrlPr>
                            </m:sSupPr>
                            <m:e>
                              <m:r>
                                <a:rPr lang="es-MX" i="1">
                                  <a:latin typeface="Cambria Math" panose="02040503050406030204" pitchFamily="18" charset="0"/>
                                  <a:ea typeface="Calibri" panose="020F0502020204030204" pitchFamily="34" charset="0"/>
                                  <a:cs typeface="Arial" panose="020B0604020202020204" pitchFamily="34" charset="0"/>
                                </a:rPr>
                                <m:t>10</m:t>
                              </m:r>
                            </m:e>
                            <m:sup>
                              <m:r>
                                <a:rPr lang="es-MX" i="1">
                                  <a:latin typeface="Cambria Math" panose="02040503050406030204" pitchFamily="18" charset="0"/>
                                  <a:ea typeface="Calibri" panose="020F0502020204030204" pitchFamily="34" charset="0"/>
                                  <a:cs typeface="Arial" panose="020B0604020202020204" pitchFamily="34" charset="0"/>
                                </a:rPr>
                                <m:t>−3</m:t>
                              </m:r>
                            </m:sup>
                          </m:sSup>
                        </m:e>
                      </m:d>
                    </m:oMath>
                  </m:oMathPara>
                </a14:m>
                <a:endParaRPr lang="en-US" dirty="0"/>
              </a:p>
              <a:p>
                <a:pPr marL="0" indent="0">
                  <a:buNone/>
                </a:pPr>
                <a14:m>
                  <m:oMathPara xmlns:m="http://schemas.openxmlformats.org/officeDocument/2006/math">
                    <m:oMathParaPr>
                      <m:jc m:val="centerGroup"/>
                    </m:oMathParaPr>
                    <m:oMath xmlns:m="http://schemas.openxmlformats.org/officeDocument/2006/math">
                      <m:r>
                        <a:rPr lang="es-BO" i="1">
                          <a:latin typeface="Cambria Math" panose="02040503050406030204" pitchFamily="18" charset="0"/>
                        </a:rPr>
                        <m:t>𝐾</m:t>
                      </m:r>
                      <m:r>
                        <a:rPr lang="es-BO" i="1">
                          <a:latin typeface="Cambria Math" panose="02040503050406030204" pitchFamily="18" charset="0"/>
                        </a:rPr>
                        <m:t>=1∗3166.5∗13.367∙</m:t>
                      </m:r>
                      <m:sSup>
                        <m:sSupPr>
                          <m:ctrlPr>
                            <a:rPr lang="en-US" i="1">
                              <a:latin typeface="Cambria Math" panose="02040503050406030204" pitchFamily="18" charset="0"/>
                              <a:ea typeface="Calibri" panose="020F0502020204030204" pitchFamily="34" charset="0"/>
                              <a:cs typeface="Arial" panose="020B0604020202020204" pitchFamily="34" charset="0"/>
                            </a:rPr>
                          </m:ctrlPr>
                        </m:sSupPr>
                        <m:e>
                          <m:r>
                            <a:rPr lang="es-MX" i="1">
                              <a:latin typeface="Cambria Math" panose="02040503050406030204" pitchFamily="18" charset="0"/>
                              <a:ea typeface="Calibri" panose="020F0502020204030204" pitchFamily="34" charset="0"/>
                              <a:cs typeface="Arial" panose="020B0604020202020204" pitchFamily="34" charset="0"/>
                            </a:rPr>
                            <m:t>10</m:t>
                          </m:r>
                        </m:e>
                        <m:sup>
                          <m:r>
                            <a:rPr lang="es-MX" i="1">
                              <a:latin typeface="Cambria Math" panose="02040503050406030204" pitchFamily="18" charset="0"/>
                              <a:ea typeface="Calibri" panose="020F0502020204030204" pitchFamily="34" charset="0"/>
                              <a:cs typeface="Arial" panose="020B0604020202020204" pitchFamily="34" charset="0"/>
                            </a:rPr>
                            <m:t>−3</m:t>
                          </m:r>
                        </m:sup>
                      </m:sSup>
                    </m:oMath>
                  </m:oMathPara>
                </a14:m>
                <a:endParaRPr lang="en-US" dirty="0"/>
              </a:p>
              <a:p>
                <a:pPr marL="0" indent="0">
                  <a:buNone/>
                </a:pPr>
                <a14:m>
                  <m:oMathPara xmlns:m="http://schemas.openxmlformats.org/officeDocument/2006/math">
                    <m:oMathParaPr>
                      <m:jc m:val="centerGroup"/>
                    </m:oMathParaPr>
                    <m:oMath xmlns:m="http://schemas.openxmlformats.org/officeDocument/2006/math">
                      <m:r>
                        <a:rPr lang="es-BO" b="1" i="1">
                          <a:latin typeface="Cambria Math" panose="02040503050406030204" pitchFamily="18" charset="0"/>
                        </a:rPr>
                        <m:t>𝑲</m:t>
                      </m:r>
                      <m:r>
                        <a:rPr lang="es-BO" b="1" i="1">
                          <a:latin typeface="Cambria Math" panose="02040503050406030204" pitchFamily="18" charset="0"/>
                        </a:rPr>
                        <m:t>=</m:t>
                      </m:r>
                      <m:r>
                        <a:rPr lang="es-BO" b="1" i="1" smtClean="0">
                          <a:latin typeface="Cambria Math" panose="02040503050406030204" pitchFamily="18" charset="0"/>
                        </a:rPr>
                        <m:t>𝟒𝟐</m:t>
                      </m:r>
                      <m:r>
                        <a:rPr lang="es-BO" b="1" i="1" smtClean="0">
                          <a:latin typeface="Cambria Math" panose="02040503050406030204" pitchFamily="18" charset="0"/>
                        </a:rPr>
                        <m:t>,</m:t>
                      </m:r>
                      <m:r>
                        <a:rPr lang="es-BO" b="1" i="1" smtClean="0">
                          <a:latin typeface="Cambria Math" panose="02040503050406030204" pitchFamily="18" charset="0"/>
                        </a:rPr>
                        <m:t>𝟑𝟑𝟓𝟎</m:t>
                      </m:r>
                    </m:oMath>
                  </m:oMathPara>
                </a14:m>
                <a:endParaRPr lang="en-US" dirty="0"/>
              </a:p>
              <a:p>
                <a:pPr marL="0" indent="0">
                  <a:buNone/>
                </a:pPr>
                <a:r>
                  <a:rPr lang="es-BO" dirty="0"/>
                  <a:t>Calculamos la matriz de recompensación para el seguimiento a referencia:</a:t>
                </a:r>
                <a:endParaRPr lang="en-US" dirty="0"/>
              </a:p>
              <a:p>
                <a:pPr marL="0" indent="0">
                  <a:buNone/>
                </a:pPr>
                <a14:m>
                  <m:oMathPara xmlns:m="http://schemas.openxmlformats.org/officeDocument/2006/math">
                    <m:oMathParaPr>
                      <m:jc m:val="centerGroup"/>
                    </m:oMathParaPr>
                    <m:oMath xmlns:m="http://schemas.openxmlformats.org/officeDocument/2006/math">
                      <m:r>
                        <a:rPr lang="es-BO" i="1">
                          <a:latin typeface="Cambria Math" panose="02040503050406030204" pitchFamily="18" charset="0"/>
                        </a:rPr>
                        <m:t>𝐺</m:t>
                      </m:r>
                      <m:d>
                        <m:dPr>
                          <m:ctrlPr>
                            <a:rPr lang="en-US" i="1">
                              <a:latin typeface="Cambria Math" panose="02040503050406030204" pitchFamily="18" charset="0"/>
                            </a:rPr>
                          </m:ctrlPr>
                        </m:dPr>
                        <m:e>
                          <m:r>
                            <a:rPr lang="es-BO" i="1">
                              <a:latin typeface="Cambria Math" panose="02040503050406030204" pitchFamily="18" charset="0"/>
                            </a:rPr>
                            <m:t>𝑠</m:t>
                          </m:r>
                        </m:e>
                      </m:d>
                      <m:r>
                        <a:rPr lang="es-BO" i="1">
                          <a:latin typeface="Cambria Math" panose="02040503050406030204" pitchFamily="18" charset="0"/>
                        </a:rPr>
                        <m:t>=</m:t>
                      </m:r>
                      <m:sSup>
                        <m:sSupPr>
                          <m:ctrlPr>
                            <a:rPr lang="en-US" i="1">
                              <a:latin typeface="Cambria Math" panose="02040503050406030204" pitchFamily="18" charset="0"/>
                            </a:rPr>
                          </m:ctrlPr>
                        </m:sSupPr>
                        <m:e>
                          <m:r>
                            <a:rPr lang="es-BO" i="1">
                              <a:latin typeface="Cambria Math" panose="02040503050406030204" pitchFamily="18" charset="0"/>
                            </a:rPr>
                            <m:t>𝐶</m:t>
                          </m:r>
                          <m:r>
                            <a:rPr lang="es-BO" i="1">
                              <a:latin typeface="Cambria Math" panose="02040503050406030204" pitchFamily="18" charset="0"/>
                            </a:rPr>
                            <m:t>∗</m:t>
                          </m:r>
                          <m:d>
                            <m:dPr>
                              <m:ctrlPr>
                                <a:rPr lang="en-US" i="1">
                                  <a:latin typeface="Cambria Math" panose="02040503050406030204" pitchFamily="18" charset="0"/>
                                </a:rPr>
                              </m:ctrlPr>
                            </m:dPr>
                            <m:e>
                              <m:r>
                                <a:rPr lang="es-BO" i="1">
                                  <a:latin typeface="Cambria Math" panose="02040503050406030204" pitchFamily="18" charset="0"/>
                                </a:rPr>
                                <m:t>𝑠𝐼</m:t>
                              </m:r>
                              <m:r>
                                <a:rPr lang="es-BO" i="1">
                                  <a:latin typeface="Cambria Math" panose="02040503050406030204" pitchFamily="18" charset="0"/>
                                </a:rPr>
                                <m:t>−(</m:t>
                              </m:r>
                              <m:r>
                                <a:rPr lang="es-BO" i="1">
                                  <a:latin typeface="Cambria Math" panose="02040503050406030204" pitchFamily="18" charset="0"/>
                                </a:rPr>
                                <m:t>𝐴</m:t>
                              </m:r>
                              <m:r>
                                <a:rPr lang="es-BO" i="1">
                                  <a:latin typeface="Cambria Math" panose="02040503050406030204" pitchFamily="18" charset="0"/>
                                </a:rPr>
                                <m:t>−</m:t>
                              </m:r>
                              <m:r>
                                <a:rPr lang="es-BO" i="1">
                                  <a:latin typeface="Cambria Math" panose="02040503050406030204" pitchFamily="18" charset="0"/>
                                </a:rPr>
                                <m:t>𝐵𝐾</m:t>
                              </m:r>
                              <m:r>
                                <a:rPr lang="es-BO" i="1">
                                  <a:latin typeface="Cambria Math" panose="02040503050406030204" pitchFamily="18" charset="0"/>
                                </a:rPr>
                                <m:t>)</m:t>
                              </m:r>
                            </m:e>
                          </m:d>
                        </m:e>
                        <m:sup>
                          <m:r>
                            <a:rPr lang="es-BO" i="1">
                              <a:latin typeface="Cambria Math" panose="02040503050406030204" pitchFamily="18" charset="0"/>
                            </a:rPr>
                            <m:t>−1</m:t>
                          </m:r>
                        </m:sup>
                      </m:sSup>
                      <m:r>
                        <a:rPr lang="es-BO" i="1">
                          <a:latin typeface="Cambria Math" panose="02040503050406030204" pitchFamily="18" charset="0"/>
                        </a:rPr>
                        <m:t>∗</m:t>
                      </m:r>
                      <m:r>
                        <a:rPr lang="es-BO" i="1">
                          <a:latin typeface="Cambria Math" panose="02040503050406030204" pitchFamily="18" charset="0"/>
                        </a:rPr>
                        <m:t>𝐵</m:t>
                      </m:r>
                      <m:r>
                        <a:rPr lang="es-BO" i="1">
                          <a:latin typeface="Cambria Math" panose="02040503050406030204" pitchFamily="18" charset="0"/>
                        </a:rPr>
                        <m:t> →    </m:t>
                      </m:r>
                      <m:r>
                        <a:rPr lang="es-BO" i="1">
                          <a:latin typeface="Cambria Math" panose="02040503050406030204" pitchFamily="18" charset="0"/>
                        </a:rPr>
                        <m:t>𝐺</m:t>
                      </m:r>
                      <m:d>
                        <m:dPr>
                          <m:ctrlPr>
                            <a:rPr lang="en-US" i="1">
                              <a:latin typeface="Cambria Math" panose="02040503050406030204" pitchFamily="18" charset="0"/>
                            </a:rPr>
                          </m:ctrlPr>
                        </m:dPr>
                        <m:e>
                          <m:r>
                            <a:rPr lang="es-BO" i="1">
                              <a:latin typeface="Cambria Math" panose="02040503050406030204" pitchFamily="18" charset="0"/>
                            </a:rPr>
                            <m:t>𝑠</m:t>
                          </m:r>
                        </m:e>
                      </m:d>
                      <m:r>
                        <a:rPr lang="es-BO" i="1">
                          <a:latin typeface="Cambria Math" panose="02040503050406030204" pitchFamily="18" charset="0"/>
                        </a:rPr>
                        <m:t>=</m:t>
                      </m:r>
                      <m:f>
                        <m:fPr>
                          <m:ctrlPr>
                            <a:rPr lang="en-US" i="1">
                              <a:latin typeface="Cambria Math" panose="02040503050406030204" pitchFamily="18" charset="0"/>
                            </a:rPr>
                          </m:ctrlPr>
                        </m:fPr>
                        <m:num>
                          <m:r>
                            <a:rPr lang="es-BO" b="0" i="1" smtClean="0">
                              <a:latin typeface="Cambria Math" panose="02040503050406030204" pitchFamily="18" charset="0"/>
                            </a:rPr>
                            <m:t>315,80</m:t>
                          </m:r>
                          <m:r>
                            <a:rPr lang="es-MX" i="1">
                              <a:latin typeface="Cambria Math" panose="02040503050406030204" pitchFamily="18" charset="0"/>
                            </a:rPr>
                            <m:t>∙</m:t>
                          </m:r>
                          <m:sSup>
                            <m:sSupPr>
                              <m:ctrlPr>
                                <a:rPr lang="en-US" i="1">
                                  <a:latin typeface="Cambria Math" panose="02040503050406030204" pitchFamily="18" charset="0"/>
                                </a:rPr>
                              </m:ctrlPr>
                            </m:sSupPr>
                            <m:e>
                              <m:r>
                                <a:rPr lang="es-MX" i="1">
                                  <a:latin typeface="Cambria Math" panose="02040503050406030204" pitchFamily="18" charset="0"/>
                                </a:rPr>
                                <m:t>10</m:t>
                              </m:r>
                            </m:e>
                            <m:sup>
                              <m:r>
                                <a:rPr lang="es-MX" i="1">
                                  <a:latin typeface="Cambria Math" panose="02040503050406030204" pitchFamily="18" charset="0"/>
                                </a:rPr>
                                <m:t>−6</m:t>
                              </m:r>
                            </m:sup>
                          </m:sSup>
                        </m:num>
                        <m:den>
                          <m:r>
                            <a:rPr lang="es-BO" i="1">
                              <a:latin typeface="Cambria Math" panose="02040503050406030204" pitchFamily="18" charset="0"/>
                            </a:rPr>
                            <m:t>𝑠</m:t>
                          </m:r>
                          <m:r>
                            <a:rPr lang="es-BO" i="1">
                              <a:latin typeface="Cambria Math" panose="02040503050406030204" pitchFamily="18" charset="0"/>
                            </a:rPr>
                            <m:t>+16.6667∙</m:t>
                          </m:r>
                          <m:sSup>
                            <m:sSupPr>
                              <m:ctrlPr>
                                <a:rPr lang="en-US" i="1">
                                  <a:latin typeface="Cambria Math" panose="02040503050406030204" pitchFamily="18" charset="0"/>
                                </a:rPr>
                              </m:ctrlPr>
                            </m:sSupPr>
                            <m:e>
                              <m:r>
                                <a:rPr lang="es-MX" i="1">
                                  <a:latin typeface="Cambria Math" panose="02040503050406030204" pitchFamily="18" charset="0"/>
                                </a:rPr>
                                <m:t>10</m:t>
                              </m:r>
                            </m:e>
                            <m:sup>
                              <m:r>
                                <a:rPr lang="es-MX" i="1">
                                  <a:latin typeface="Cambria Math" panose="02040503050406030204" pitchFamily="18" charset="0"/>
                                </a:rPr>
                                <m:t>−3</m:t>
                              </m:r>
                            </m:sup>
                          </m:sSup>
                        </m:den>
                      </m:f>
                    </m:oMath>
                  </m:oMathPara>
                </a14:m>
                <a:endParaRPr lang="en-US" dirty="0"/>
              </a:p>
              <a:p>
                <a:pPr marL="0" indent="0">
                  <a:buNone/>
                </a:pPr>
                <a14:m>
                  <m:oMathPara xmlns:m="http://schemas.openxmlformats.org/officeDocument/2006/math">
                    <m:oMathParaPr>
                      <m:jc m:val="centerGroup"/>
                    </m:oMathParaPr>
                    <m:oMath xmlns:m="http://schemas.openxmlformats.org/officeDocument/2006/math">
                      <m:r>
                        <a:rPr lang="es-BO" i="1">
                          <a:latin typeface="Cambria Math" panose="02040503050406030204" pitchFamily="18" charset="0"/>
                        </a:rPr>
                        <m:t>𝑆𝑖</m:t>
                      </m:r>
                      <m:r>
                        <a:rPr lang="es-BO" i="1">
                          <a:latin typeface="Cambria Math" panose="02040503050406030204" pitchFamily="18" charset="0"/>
                        </a:rPr>
                        <m:t>: </m:t>
                      </m:r>
                      <m:r>
                        <a:rPr lang="es-BO" i="1">
                          <a:latin typeface="Cambria Math" panose="02040503050406030204" pitchFamily="18" charset="0"/>
                        </a:rPr>
                        <m:t>𝑠</m:t>
                      </m:r>
                      <m:r>
                        <a:rPr lang="es-BO" i="1">
                          <a:latin typeface="Cambria Math" panose="02040503050406030204" pitchFamily="18" charset="0"/>
                        </a:rPr>
                        <m:t>→0     </m:t>
                      </m:r>
                      <m:r>
                        <a:rPr lang="es-BO" i="1">
                          <a:latin typeface="Cambria Math" panose="02040503050406030204" pitchFamily="18" charset="0"/>
                        </a:rPr>
                        <m:t>𝑒𝑛𝑡𝑜𝑛𝑐𝑒𝑠</m:t>
                      </m:r>
                      <m:r>
                        <a:rPr lang="es-BO" i="1">
                          <a:latin typeface="Cambria Math" panose="02040503050406030204" pitchFamily="18" charset="0"/>
                        </a:rPr>
                        <m:t>:     </m:t>
                      </m:r>
                      <m:f>
                        <m:fPr>
                          <m:ctrlPr>
                            <a:rPr lang="en-US" i="1">
                              <a:latin typeface="Cambria Math" panose="02040503050406030204" pitchFamily="18" charset="0"/>
                            </a:rPr>
                          </m:ctrlPr>
                        </m:fPr>
                        <m:num>
                          <m:r>
                            <a:rPr lang="es-BO" i="1">
                              <a:latin typeface="Cambria Math" panose="02040503050406030204" pitchFamily="18" charset="0"/>
                            </a:rPr>
                            <m:t>1</m:t>
                          </m:r>
                        </m:num>
                        <m:den>
                          <m:r>
                            <a:rPr lang="es-BO" i="1">
                              <a:latin typeface="Cambria Math" panose="02040503050406030204" pitchFamily="18" charset="0"/>
                            </a:rPr>
                            <m:t>𝑁</m:t>
                          </m:r>
                        </m:den>
                      </m:f>
                      <m:r>
                        <a:rPr lang="es-BO" i="1">
                          <a:latin typeface="Cambria Math" panose="02040503050406030204" pitchFamily="18" charset="0"/>
                        </a:rPr>
                        <m:t>=</m:t>
                      </m:r>
                      <m:r>
                        <a:rPr lang="es-BO" b="0" i="1" smtClean="0">
                          <a:latin typeface="Cambria Math" panose="02040503050406030204" pitchFamily="18" charset="0"/>
                        </a:rPr>
                        <m:t>18,9442</m:t>
                      </m:r>
                      <m:r>
                        <a:rPr lang="es-BO" i="1">
                          <a:latin typeface="Cambria Math" panose="02040503050406030204" pitchFamily="18" charset="0"/>
                        </a:rPr>
                        <m:t>.4999</m:t>
                      </m:r>
                      <m:r>
                        <a:rPr lang="es-MX" i="1">
                          <a:latin typeface="Cambria Math" panose="02040503050406030204" pitchFamily="18" charset="0"/>
                        </a:rPr>
                        <m:t>∙</m:t>
                      </m:r>
                      <m:sSup>
                        <m:sSupPr>
                          <m:ctrlPr>
                            <a:rPr lang="en-US" i="1">
                              <a:latin typeface="Cambria Math" panose="02040503050406030204" pitchFamily="18" charset="0"/>
                            </a:rPr>
                          </m:ctrlPr>
                        </m:sSupPr>
                        <m:e>
                          <m:r>
                            <a:rPr lang="es-MX" i="1">
                              <a:latin typeface="Cambria Math" panose="02040503050406030204" pitchFamily="18" charset="0"/>
                            </a:rPr>
                            <m:t>10</m:t>
                          </m:r>
                        </m:e>
                        <m:sup>
                          <m:r>
                            <a:rPr lang="es-MX" i="1">
                              <a:latin typeface="Cambria Math" panose="02040503050406030204" pitchFamily="18" charset="0"/>
                            </a:rPr>
                            <m:t>−3</m:t>
                          </m:r>
                        </m:sup>
                      </m:sSup>
                      <m:r>
                        <a:rPr lang="es-MX" i="1">
                          <a:latin typeface="Cambria Math" panose="02040503050406030204" pitchFamily="18" charset="0"/>
                        </a:rPr>
                        <m:t>  →   </m:t>
                      </m:r>
                      <m:r>
                        <a:rPr lang="es-MX" b="1" i="1">
                          <a:latin typeface="Cambria Math" panose="02040503050406030204" pitchFamily="18" charset="0"/>
                        </a:rPr>
                        <m:t>𝑵</m:t>
                      </m:r>
                      <m:r>
                        <a:rPr lang="es-MX" b="1" i="1">
                          <a:latin typeface="Cambria Math" panose="02040503050406030204" pitchFamily="18" charset="0"/>
                        </a:rPr>
                        <m:t>=</m:t>
                      </m:r>
                      <m:r>
                        <a:rPr lang="es-BO" b="1" i="1" smtClean="0">
                          <a:latin typeface="Cambria Math" panose="02040503050406030204" pitchFamily="18" charset="0"/>
                        </a:rPr>
                        <m:t>𝟓𝟐</m:t>
                      </m:r>
                      <m:r>
                        <a:rPr lang="es-MX" b="1" i="1">
                          <a:latin typeface="Cambria Math" panose="02040503050406030204" pitchFamily="18" charset="0"/>
                        </a:rPr>
                        <m:t>.</m:t>
                      </m:r>
                      <m:r>
                        <a:rPr lang="es-MX" b="1" i="1">
                          <a:latin typeface="Cambria Math" panose="02040503050406030204" pitchFamily="18" charset="0"/>
                        </a:rPr>
                        <m:t>𝟔𝟔𝟔𝟕</m:t>
                      </m:r>
                    </m:oMath>
                  </m:oMathPara>
                </a14:m>
                <a:endParaRPr lang="en-US" dirty="0"/>
              </a:p>
            </p:txBody>
          </p:sp>
        </mc:Choice>
        <mc:Fallback xmlns="">
          <p:sp>
            <p:nvSpPr>
              <p:cNvPr id="3" name="Marcador de contenido 2"/>
              <p:cNvSpPr>
                <a:spLocks noGrp="1" noRot="1" noChangeAspect="1" noMove="1" noResize="1" noEditPoints="1" noAdjustHandles="1" noChangeArrowheads="1" noChangeShapeType="1" noTextEdit="1"/>
              </p:cNvSpPr>
              <p:nvPr>
                <p:ph idx="1"/>
              </p:nvPr>
            </p:nvSpPr>
            <p:spPr>
              <a:xfrm>
                <a:off x="791173" y="1323703"/>
                <a:ext cx="8709877" cy="5068388"/>
              </a:xfrm>
              <a:blipFill>
                <a:blip r:embed="rId2"/>
                <a:stretch>
                  <a:fillRect t="-108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CuadroTexto 3"/>
              <p:cNvSpPr txBox="1"/>
              <p:nvPr/>
            </p:nvSpPr>
            <p:spPr>
              <a:xfrm>
                <a:off x="8565574" y="1162015"/>
                <a:ext cx="3328668" cy="523220"/>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pPr/>
                <a14:m>
                  <m:oMathPara xmlns:m="http://schemas.openxmlformats.org/officeDocument/2006/math">
                    <m:oMathParaPr>
                      <m:jc m:val="centerGroup"/>
                    </m:oMathParaPr>
                    <m:oMath xmlns:m="http://schemas.openxmlformats.org/officeDocument/2006/math">
                      <m:r>
                        <a:rPr lang="es-BO" sz="2800" b="1" i="1" smtClean="0">
                          <a:latin typeface="Cambria Math" panose="02040503050406030204" pitchFamily="18" charset="0"/>
                        </a:rPr>
                        <m:t>𝑬𝑿𝑷𝑬𝑹𝑰𝑴𝑬𝑵𝑻𝑨𝑳</m:t>
                      </m:r>
                    </m:oMath>
                  </m:oMathPara>
                </a14:m>
                <a:endParaRPr lang="es-BO" b="1" dirty="0"/>
              </a:p>
            </p:txBody>
          </p:sp>
        </mc:Choice>
        <mc:Fallback xmlns="">
          <p:sp>
            <p:nvSpPr>
              <p:cNvPr id="4" name="CuadroTexto 3"/>
              <p:cNvSpPr txBox="1">
                <a:spLocks noRot="1" noChangeAspect="1" noMove="1" noResize="1" noEditPoints="1" noAdjustHandles="1" noChangeArrowheads="1" noChangeShapeType="1" noTextEdit="1"/>
              </p:cNvSpPr>
              <p:nvPr/>
            </p:nvSpPr>
            <p:spPr>
              <a:xfrm>
                <a:off x="8565574" y="1162015"/>
                <a:ext cx="3328668" cy="523220"/>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Rectángulo 4"/>
              <p:cNvSpPr/>
              <p:nvPr/>
            </p:nvSpPr>
            <p:spPr>
              <a:xfrm>
                <a:off x="7350034" y="2933047"/>
                <a:ext cx="4447519" cy="1441100"/>
              </a:xfrm>
              <a:prstGeom prst="rect">
                <a:avLst/>
              </a:prstGeom>
            </p:spPr>
            <p:txBody>
              <a:bodyPr wrap="square">
                <a:spAutoFit/>
              </a:bodyPr>
              <a:lstStyle/>
              <a:p>
                <a:pPr>
                  <a:lnSpc>
                    <a:spcPct val="107000"/>
                  </a:lnSpc>
                  <a:spcBef>
                    <a:spcPts val="600"/>
                  </a:spcBef>
                  <a:spcAft>
                    <a:spcPts val="600"/>
                  </a:spcAft>
                </a:pPr>
                <a:r>
                  <a:rPr lang="es-BO" sz="1200" dirty="0">
                    <a:latin typeface="Calibri" panose="020F0502020204030204" pitchFamily="34" charset="0"/>
                    <a:ea typeface="Times New Roman" panose="02020603050405020304" pitchFamily="18" charset="0"/>
                    <a:cs typeface="Times New Roman" panose="02020603050405020304" pitchFamily="18" charset="0"/>
                  </a:rPr>
                  <a:t>Sea el polinomio característico de un sistema deseado:</a:t>
                </a:r>
                <a:endParaRPr lang="en-US" sz="12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Bef>
                    <a:spcPts val="600"/>
                  </a:spcBef>
                  <a:spcAft>
                    <a:spcPts val="600"/>
                  </a:spcAft>
                </a:pPr>
                <a14:m>
                  <m:oMathPara xmlns:m="http://schemas.openxmlformats.org/officeDocument/2006/math">
                    <m:oMathParaPr>
                      <m:jc m:val="centerGroup"/>
                    </m:oMathParaPr>
                    <m:oMath xmlns:m="http://schemas.openxmlformats.org/officeDocument/2006/math">
                      <m:r>
                        <a:rPr lang="es-MX" sz="1200" i="1">
                          <a:latin typeface="Cambria Math" panose="02040503050406030204" pitchFamily="18" charset="0"/>
                          <a:ea typeface="Calibri" panose="020F0502020204030204" pitchFamily="34" charset="0"/>
                          <a:cs typeface="Arial" panose="020B0604020202020204" pitchFamily="34" charset="0"/>
                        </a:rPr>
                        <m:t>𝑠</m:t>
                      </m:r>
                      <m:r>
                        <a:rPr lang="es-MX" sz="1200" i="1">
                          <a:latin typeface="Cambria Math" panose="02040503050406030204" pitchFamily="18" charset="0"/>
                          <a:ea typeface="Calibri" panose="020F0502020204030204" pitchFamily="34" charset="0"/>
                          <a:cs typeface="Arial" panose="020B0604020202020204" pitchFamily="34" charset="0"/>
                        </a:rPr>
                        <m:t>+</m:t>
                      </m:r>
                      <m:f>
                        <m:fPr>
                          <m:ctrlPr>
                            <a:rPr lang="en-US" sz="1200" i="1">
                              <a:latin typeface="Cambria Math" panose="02040503050406030204" pitchFamily="18" charset="0"/>
                              <a:ea typeface="Calibri" panose="020F0502020204030204" pitchFamily="34" charset="0"/>
                              <a:cs typeface="Arial" panose="020B0604020202020204" pitchFamily="34" charset="0"/>
                            </a:rPr>
                          </m:ctrlPr>
                        </m:fPr>
                        <m:num>
                          <m:r>
                            <a:rPr lang="es-MX" sz="1200" i="1">
                              <a:latin typeface="Cambria Math" panose="02040503050406030204" pitchFamily="18" charset="0"/>
                              <a:ea typeface="Calibri" panose="020F0502020204030204" pitchFamily="34" charset="0"/>
                              <a:cs typeface="Arial" panose="020B0604020202020204" pitchFamily="34" charset="0"/>
                            </a:rPr>
                            <m:t>1</m:t>
                          </m:r>
                        </m:num>
                        <m:den>
                          <m:r>
                            <a:rPr lang="es-MX" sz="1200" i="1">
                              <a:latin typeface="Cambria Math" panose="02040503050406030204" pitchFamily="18" charset="0"/>
                              <a:ea typeface="Calibri" panose="020F0502020204030204" pitchFamily="34" charset="0"/>
                              <a:cs typeface="Arial" panose="020B0604020202020204" pitchFamily="34" charset="0"/>
                            </a:rPr>
                            <m:t>𝜏</m:t>
                          </m:r>
                        </m:den>
                      </m:f>
                      <m:r>
                        <a:rPr lang="es-MX" sz="1200" i="1">
                          <a:latin typeface="Cambria Math" panose="02040503050406030204" pitchFamily="18" charset="0"/>
                          <a:ea typeface="Calibri" panose="020F0502020204030204" pitchFamily="34" charset="0"/>
                          <a:cs typeface="Arial" panose="020B0604020202020204" pitchFamily="34" charset="0"/>
                        </a:rPr>
                        <m:t>      →    </m:t>
                      </m:r>
                      <m:r>
                        <a:rPr lang="es-MX" sz="1200" i="1">
                          <a:latin typeface="Cambria Math" panose="02040503050406030204" pitchFamily="18" charset="0"/>
                          <a:ea typeface="Calibri" panose="020F0502020204030204" pitchFamily="34" charset="0"/>
                          <a:cs typeface="Arial" panose="020B0604020202020204" pitchFamily="34" charset="0"/>
                        </a:rPr>
                        <m:t>𝑠</m:t>
                      </m:r>
                      <m:r>
                        <a:rPr lang="es-MX" sz="1200" i="1">
                          <a:latin typeface="Cambria Math" panose="02040503050406030204" pitchFamily="18" charset="0"/>
                          <a:ea typeface="Calibri" panose="020F0502020204030204" pitchFamily="34" charset="0"/>
                          <a:cs typeface="Arial" panose="020B0604020202020204" pitchFamily="34" charset="0"/>
                        </a:rPr>
                        <m:t>+16.6667∙</m:t>
                      </m:r>
                      <m:sSup>
                        <m:sSupPr>
                          <m:ctrlPr>
                            <a:rPr lang="en-US" sz="1200" i="1">
                              <a:latin typeface="Cambria Math" panose="02040503050406030204" pitchFamily="18" charset="0"/>
                              <a:ea typeface="Calibri" panose="020F0502020204030204" pitchFamily="34" charset="0"/>
                              <a:cs typeface="Arial" panose="020B0604020202020204" pitchFamily="34" charset="0"/>
                            </a:rPr>
                          </m:ctrlPr>
                        </m:sSupPr>
                        <m:e>
                          <m:r>
                            <a:rPr lang="es-MX" sz="1200" i="1">
                              <a:latin typeface="Cambria Math" panose="02040503050406030204" pitchFamily="18" charset="0"/>
                              <a:ea typeface="Calibri" panose="020F0502020204030204" pitchFamily="34" charset="0"/>
                              <a:cs typeface="Arial" panose="020B0604020202020204" pitchFamily="34" charset="0"/>
                            </a:rPr>
                            <m:t>10</m:t>
                          </m:r>
                        </m:e>
                        <m:sup>
                          <m:r>
                            <a:rPr lang="es-MX" sz="1200" i="1">
                              <a:latin typeface="Cambria Math" panose="02040503050406030204" pitchFamily="18" charset="0"/>
                              <a:ea typeface="Calibri" panose="020F0502020204030204" pitchFamily="34" charset="0"/>
                              <a:cs typeface="Arial" panose="020B0604020202020204" pitchFamily="34" charset="0"/>
                            </a:rPr>
                            <m:t>−3</m:t>
                          </m:r>
                        </m:sup>
                      </m:sSup>
                    </m:oMath>
                  </m:oMathPara>
                </a14:m>
                <a:endParaRPr lang="en-US" sz="12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Bef>
                    <a:spcPts val="600"/>
                  </a:spcBef>
                  <a:spcAft>
                    <a:spcPts val="600"/>
                  </a:spcAft>
                </a:pPr>
                <a:r>
                  <a:rPr lang="es-MX" sz="1200" dirty="0">
                    <a:latin typeface="Calibri" panose="020F0502020204030204" pitchFamily="34" charset="0"/>
                    <a:ea typeface="Times New Roman" panose="02020603050405020304" pitchFamily="18" charset="0"/>
                    <a:cs typeface="Times New Roman" panose="02020603050405020304" pitchFamily="18" charset="0"/>
                  </a:rPr>
                  <a:t>La raíz que deseamos será:</a:t>
                </a:r>
                <a:endParaRPr lang="en-US" sz="12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Bef>
                    <a:spcPts val="600"/>
                  </a:spcBef>
                  <a:spcAft>
                    <a:spcPts val="600"/>
                  </a:spcAft>
                </a:pPr>
                <a14:m>
                  <m:oMathPara xmlns:m="http://schemas.openxmlformats.org/officeDocument/2006/math">
                    <m:oMathParaPr>
                      <m:jc m:val="centerGroup"/>
                    </m:oMathParaPr>
                    <m:oMath xmlns:m="http://schemas.openxmlformats.org/officeDocument/2006/math">
                      <m:r>
                        <a:rPr lang="es-BO" sz="1200" i="1">
                          <a:latin typeface="Cambria Math" panose="02040503050406030204" pitchFamily="18" charset="0"/>
                          <a:ea typeface="Times New Roman" panose="02020603050405020304" pitchFamily="18" charset="0"/>
                          <a:cs typeface="Times New Roman" panose="02020603050405020304" pitchFamily="18" charset="0"/>
                        </a:rPr>
                        <m:t>𝑠</m:t>
                      </m:r>
                      <m:r>
                        <a:rPr lang="es-BO" sz="1200" i="1">
                          <a:latin typeface="Cambria Math" panose="02040503050406030204" pitchFamily="18" charset="0"/>
                          <a:ea typeface="Times New Roman" panose="02020603050405020304" pitchFamily="18" charset="0"/>
                          <a:cs typeface="Times New Roman" panose="02020603050405020304" pitchFamily="18" charset="0"/>
                        </a:rPr>
                        <m:t>=−16.6667∙</m:t>
                      </m:r>
                      <m:sSup>
                        <m:sSupPr>
                          <m:ctrlPr>
                            <a:rPr lang="en-US" sz="1200" i="1">
                              <a:latin typeface="Cambria Math" panose="02040503050406030204" pitchFamily="18" charset="0"/>
                              <a:ea typeface="Calibri" panose="020F0502020204030204" pitchFamily="34" charset="0"/>
                              <a:cs typeface="Arial" panose="020B0604020202020204" pitchFamily="34" charset="0"/>
                            </a:rPr>
                          </m:ctrlPr>
                        </m:sSupPr>
                        <m:e>
                          <m:r>
                            <a:rPr lang="es-MX" sz="1200" i="1">
                              <a:latin typeface="Cambria Math" panose="02040503050406030204" pitchFamily="18" charset="0"/>
                              <a:ea typeface="Calibri" panose="020F0502020204030204" pitchFamily="34" charset="0"/>
                              <a:cs typeface="Arial" panose="020B0604020202020204" pitchFamily="34" charset="0"/>
                            </a:rPr>
                            <m:t>10</m:t>
                          </m:r>
                        </m:e>
                        <m:sup>
                          <m:r>
                            <a:rPr lang="es-MX" sz="1200" i="1">
                              <a:latin typeface="Cambria Math" panose="02040503050406030204" pitchFamily="18" charset="0"/>
                              <a:ea typeface="Calibri" panose="020F0502020204030204" pitchFamily="34" charset="0"/>
                              <a:cs typeface="Arial" panose="020B0604020202020204" pitchFamily="34" charset="0"/>
                            </a:rPr>
                            <m:t>−3</m:t>
                          </m:r>
                        </m:sup>
                      </m:sSup>
                    </m:oMath>
                  </m:oMathPara>
                </a14:m>
                <a:endParaRPr lang="en-US" sz="1200" dirty="0">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5" name="Rectángulo 4"/>
              <p:cNvSpPr>
                <a:spLocks noRot="1" noChangeAspect="1" noMove="1" noResize="1" noEditPoints="1" noAdjustHandles="1" noChangeArrowheads="1" noChangeShapeType="1" noTextEdit="1"/>
              </p:cNvSpPr>
              <p:nvPr/>
            </p:nvSpPr>
            <p:spPr>
              <a:xfrm>
                <a:off x="7350034" y="2933047"/>
                <a:ext cx="4447519" cy="1441100"/>
              </a:xfrm>
              <a:prstGeom prst="rect">
                <a:avLst/>
              </a:prstGeom>
              <a:blipFill>
                <a:blip r:embed="rId4"/>
                <a:stretch>
                  <a:fillRect l="-137"/>
                </a:stretch>
              </a:blipFill>
            </p:spPr>
            <p:txBody>
              <a:bodyPr/>
              <a:lstStyle/>
              <a:p>
                <a:r>
                  <a:rPr lang="en-US">
                    <a:noFill/>
                  </a:rPr>
                  <a:t> </a:t>
                </a:r>
              </a:p>
            </p:txBody>
          </p:sp>
        </mc:Fallback>
      </mc:AlternateContent>
      <p:sp>
        <p:nvSpPr>
          <p:cNvPr id="7" name="Rectángulo redondeado 6"/>
          <p:cNvSpPr/>
          <p:nvPr/>
        </p:nvSpPr>
        <p:spPr>
          <a:xfrm>
            <a:off x="7350034" y="2795451"/>
            <a:ext cx="3753395" cy="1950720"/>
          </a:xfrm>
          <a:prstGeom prst="roundRect">
            <a:avLst/>
          </a:prstGeom>
          <a:noFill/>
          <a:ln w="57150"/>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8" name="Flecha derecha 7"/>
          <p:cNvSpPr/>
          <p:nvPr/>
        </p:nvSpPr>
        <p:spPr>
          <a:xfrm>
            <a:off x="6801394" y="3453208"/>
            <a:ext cx="661852" cy="720550"/>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151693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15336" y="232083"/>
            <a:ext cx="11278906" cy="1609344"/>
          </a:xfrm>
        </p:spPr>
        <p:txBody>
          <a:bodyPr>
            <a:noAutofit/>
          </a:bodyPr>
          <a:lstStyle/>
          <a:p>
            <a:r>
              <a:rPr lang="es-BO" sz="3600" u="sng" dirty="0"/>
              <a:t>DISEÑO DEL CONTROLADOR EN TIEMPO CONTINUO</a:t>
            </a:r>
            <a:br>
              <a:rPr lang="en-US" sz="3600" dirty="0"/>
            </a:br>
            <a:endParaRPr lang="en-US" sz="3600" dirty="0"/>
          </a:p>
        </p:txBody>
      </p:sp>
      <mc:AlternateContent xmlns:mc="http://schemas.openxmlformats.org/markup-compatibility/2006" xmlns:a14="http://schemas.microsoft.com/office/drawing/2010/main">
        <mc:Choice Requires="a14">
          <p:sp>
            <p:nvSpPr>
              <p:cNvPr id="3" name="Marcador de contenido 2"/>
              <p:cNvSpPr>
                <a:spLocks noGrp="1"/>
              </p:cNvSpPr>
              <p:nvPr>
                <p:ph idx="1"/>
              </p:nvPr>
            </p:nvSpPr>
            <p:spPr>
              <a:xfrm>
                <a:off x="939218" y="1332411"/>
                <a:ext cx="9667822" cy="5068388"/>
              </a:xfrm>
            </p:spPr>
            <p:txBody>
              <a:bodyPr>
                <a:normAutofit fontScale="55000" lnSpcReduction="20000"/>
              </a:bodyPr>
              <a:lstStyle/>
              <a:p>
                <a:pPr marL="0" indent="0">
                  <a:buNone/>
                </a:pPr>
                <a:r>
                  <a:rPr lang="es-BO" dirty="0"/>
                  <a:t>Trabajando con el sistema de primer orden</a:t>
                </a:r>
                <a:endParaRPr lang="en-US" dirty="0"/>
              </a:p>
              <a:p>
                <a:pPr marL="0" indent="0">
                  <a:buNone/>
                </a:pPr>
                <a14:m>
                  <m:oMathPara xmlns:m="http://schemas.openxmlformats.org/officeDocument/2006/math">
                    <m:oMathParaPr>
                      <m:jc m:val="centerGroup"/>
                    </m:oMathParaPr>
                    <m:oMath xmlns:m="http://schemas.openxmlformats.org/officeDocument/2006/math">
                      <m:f>
                        <m:fPr>
                          <m:ctrlPr>
                            <a:rPr lang="en-US" b="1" i="1">
                              <a:latin typeface="Cambria Math" panose="02040503050406030204" pitchFamily="18" charset="0"/>
                            </a:rPr>
                          </m:ctrlPr>
                        </m:fPr>
                        <m:num>
                          <m:r>
                            <a:rPr lang="es-BO" b="1" i="1">
                              <a:latin typeface="Cambria Math" panose="02040503050406030204" pitchFamily="18" charset="0"/>
                            </a:rPr>
                            <m:t>𝑯</m:t>
                          </m:r>
                          <m:d>
                            <m:dPr>
                              <m:ctrlPr>
                                <a:rPr lang="en-US" b="1" i="1">
                                  <a:latin typeface="Cambria Math" panose="02040503050406030204" pitchFamily="18" charset="0"/>
                                </a:rPr>
                              </m:ctrlPr>
                            </m:dPr>
                            <m:e>
                              <m:r>
                                <a:rPr lang="es-BO" b="1" i="1">
                                  <a:latin typeface="Cambria Math" panose="02040503050406030204" pitchFamily="18" charset="0"/>
                                </a:rPr>
                                <m:t>𝒔</m:t>
                              </m:r>
                            </m:e>
                          </m:d>
                        </m:num>
                        <m:den>
                          <m:sSub>
                            <m:sSubPr>
                              <m:ctrlPr>
                                <a:rPr lang="en-US" b="1" i="1">
                                  <a:latin typeface="Cambria Math" panose="02040503050406030204" pitchFamily="18" charset="0"/>
                                </a:rPr>
                              </m:ctrlPr>
                            </m:sSubPr>
                            <m:e>
                              <m:r>
                                <a:rPr lang="es-BO" b="1" i="1">
                                  <a:latin typeface="Cambria Math" panose="02040503050406030204" pitchFamily="18" charset="0"/>
                                </a:rPr>
                                <m:t>𝑸</m:t>
                              </m:r>
                            </m:e>
                            <m:sub>
                              <m:r>
                                <a:rPr lang="es-BO" b="1" i="1">
                                  <a:latin typeface="Cambria Math" panose="02040503050406030204" pitchFamily="18" charset="0"/>
                                </a:rPr>
                                <m:t>𝒊</m:t>
                              </m:r>
                            </m:sub>
                          </m:sSub>
                          <m:d>
                            <m:dPr>
                              <m:ctrlPr>
                                <a:rPr lang="en-US" b="1" i="1">
                                  <a:latin typeface="Cambria Math" panose="02040503050406030204" pitchFamily="18" charset="0"/>
                                </a:rPr>
                              </m:ctrlPr>
                            </m:dPr>
                            <m:e>
                              <m:r>
                                <a:rPr lang="es-BO" b="1" i="1">
                                  <a:latin typeface="Cambria Math" panose="02040503050406030204" pitchFamily="18" charset="0"/>
                                </a:rPr>
                                <m:t>𝒔</m:t>
                              </m:r>
                            </m:e>
                          </m:d>
                        </m:den>
                      </m:f>
                      <m:r>
                        <a:rPr lang="es-BO" b="1" i="1">
                          <a:latin typeface="Cambria Math" panose="02040503050406030204" pitchFamily="18" charset="0"/>
                        </a:rPr>
                        <m:t>=</m:t>
                      </m:r>
                      <m:f>
                        <m:fPr>
                          <m:ctrlPr>
                            <a:rPr lang="en-US" b="1" i="1">
                              <a:latin typeface="Cambria Math" panose="02040503050406030204" pitchFamily="18" charset="0"/>
                            </a:rPr>
                          </m:ctrlPr>
                        </m:fPr>
                        <m:num>
                          <m:r>
                            <a:rPr lang="es-BO" b="1" i="1">
                              <a:latin typeface="Cambria Math" panose="02040503050406030204" pitchFamily="18" charset="0"/>
                            </a:rPr>
                            <m:t>𝑹</m:t>
                          </m:r>
                        </m:num>
                        <m:den>
                          <m:r>
                            <a:rPr lang="es-BO" b="1" i="1">
                              <a:latin typeface="Cambria Math" panose="02040503050406030204" pitchFamily="18" charset="0"/>
                            </a:rPr>
                            <m:t>𝒔𝑪𝑹</m:t>
                          </m:r>
                          <m:r>
                            <a:rPr lang="es-BO" b="1" i="1">
                              <a:latin typeface="Cambria Math" panose="02040503050406030204" pitchFamily="18" charset="0"/>
                            </a:rPr>
                            <m:t>+</m:t>
                          </m:r>
                          <m:r>
                            <a:rPr lang="es-BO" b="1" i="1">
                              <a:latin typeface="Cambria Math" panose="02040503050406030204" pitchFamily="18" charset="0"/>
                            </a:rPr>
                            <m:t>𝟏</m:t>
                          </m:r>
                        </m:den>
                      </m:f>
                      <m:r>
                        <a:rPr lang="es-BO" b="1" i="1">
                          <a:latin typeface="Cambria Math" panose="02040503050406030204" pitchFamily="18" charset="0"/>
                        </a:rPr>
                        <m:t>   →  </m:t>
                      </m:r>
                      <m:f>
                        <m:fPr>
                          <m:ctrlPr>
                            <a:rPr lang="en-US" b="1" i="1">
                              <a:latin typeface="Cambria Math" panose="02040503050406030204" pitchFamily="18" charset="0"/>
                            </a:rPr>
                          </m:ctrlPr>
                        </m:fPr>
                        <m:num>
                          <m:r>
                            <a:rPr lang="es-BO" b="1" i="1">
                              <a:latin typeface="Cambria Math" panose="02040503050406030204" pitchFamily="18" charset="0"/>
                            </a:rPr>
                            <m:t>𝑯</m:t>
                          </m:r>
                          <m:d>
                            <m:dPr>
                              <m:ctrlPr>
                                <a:rPr lang="en-US" b="1" i="1">
                                  <a:latin typeface="Cambria Math" panose="02040503050406030204" pitchFamily="18" charset="0"/>
                                </a:rPr>
                              </m:ctrlPr>
                            </m:dPr>
                            <m:e>
                              <m:r>
                                <a:rPr lang="es-BO" b="1" i="1">
                                  <a:latin typeface="Cambria Math" panose="02040503050406030204" pitchFamily="18" charset="0"/>
                                </a:rPr>
                                <m:t>𝒔</m:t>
                              </m:r>
                            </m:e>
                          </m:d>
                        </m:num>
                        <m:den>
                          <m:sSub>
                            <m:sSubPr>
                              <m:ctrlPr>
                                <a:rPr lang="en-US" b="1" i="1">
                                  <a:latin typeface="Cambria Math" panose="02040503050406030204" pitchFamily="18" charset="0"/>
                                </a:rPr>
                              </m:ctrlPr>
                            </m:sSubPr>
                            <m:e>
                              <m:r>
                                <a:rPr lang="es-BO" b="1" i="1">
                                  <a:latin typeface="Cambria Math" panose="02040503050406030204" pitchFamily="18" charset="0"/>
                                </a:rPr>
                                <m:t>𝑸</m:t>
                              </m:r>
                            </m:e>
                            <m:sub>
                              <m:r>
                                <a:rPr lang="es-BO" b="1" i="1">
                                  <a:latin typeface="Cambria Math" panose="02040503050406030204" pitchFamily="18" charset="0"/>
                                </a:rPr>
                                <m:t>𝒊</m:t>
                              </m:r>
                            </m:sub>
                          </m:sSub>
                          <m:d>
                            <m:dPr>
                              <m:ctrlPr>
                                <a:rPr lang="en-US" b="1" i="1">
                                  <a:latin typeface="Cambria Math" panose="02040503050406030204" pitchFamily="18" charset="0"/>
                                </a:rPr>
                              </m:ctrlPr>
                            </m:dPr>
                            <m:e>
                              <m:r>
                                <a:rPr lang="es-BO" b="1" i="1">
                                  <a:latin typeface="Cambria Math" panose="02040503050406030204" pitchFamily="18" charset="0"/>
                                </a:rPr>
                                <m:t>𝒔</m:t>
                              </m:r>
                            </m:e>
                          </m:d>
                        </m:den>
                      </m:f>
                      <m:r>
                        <a:rPr lang="es-BO" b="1" i="1">
                          <a:latin typeface="Cambria Math" panose="02040503050406030204" pitchFamily="18" charset="0"/>
                        </a:rPr>
                        <m:t>=</m:t>
                      </m:r>
                      <m:f>
                        <m:fPr>
                          <m:ctrlPr>
                            <a:rPr lang="en-US" b="1" i="1">
                              <a:latin typeface="Cambria Math" panose="02040503050406030204" pitchFamily="18" charset="0"/>
                            </a:rPr>
                          </m:ctrlPr>
                        </m:fPr>
                        <m:num>
                          <m:r>
                            <a:rPr lang="es-BO" b="1" i="1" smtClean="0">
                              <a:latin typeface="Cambria Math" panose="02040503050406030204" pitchFamily="18" charset="0"/>
                            </a:rPr>
                            <m:t>𝟎</m:t>
                          </m:r>
                          <m:r>
                            <a:rPr lang="es-BO" b="1" i="1" smtClean="0">
                              <a:latin typeface="Cambria Math" panose="02040503050406030204" pitchFamily="18" charset="0"/>
                            </a:rPr>
                            <m:t>.</m:t>
                          </m:r>
                          <m:r>
                            <a:rPr lang="es-BO" b="1" i="1" smtClean="0">
                              <a:latin typeface="Cambria Math" panose="02040503050406030204" pitchFamily="18" charset="0"/>
                            </a:rPr>
                            <m:t>𝟎𝟗𝟔𝟐𝟗</m:t>
                          </m:r>
                        </m:num>
                        <m:den>
                          <m:r>
                            <a:rPr lang="es-BO" b="1" i="1" smtClean="0">
                              <a:latin typeface="Cambria Math" panose="02040503050406030204" pitchFamily="18" charset="0"/>
                            </a:rPr>
                            <m:t>𝟏𝟓𝟐</m:t>
                          </m:r>
                          <m:r>
                            <a:rPr lang="es-BO" b="1" i="1" smtClean="0">
                              <a:latin typeface="Cambria Math" panose="02040503050406030204" pitchFamily="18" charset="0"/>
                            </a:rPr>
                            <m:t>,</m:t>
                          </m:r>
                          <m:r>
                            <a:rPr lang="es-BO" b="1" i="1" smtClean="0">
                              <a:latin typeface="Cambria Math" panose="02040503050406030204" pitchFamily="18" charset="0"/>
                            </a:rPr>
                            <m:t>𝟓</m:t>
                          </m:r>
                          <m:r>
                            <a:rPr lang="es-BO" b="1" i="1" smtClean="0">
                              <a:latin typeface="Cambria Math" panose="02040503050406030204" pitchFamily="18" charset="0"/>
                            </a:rPr>
                            <m:t>∗</m:t>
                          </m:r>
                          <m:r>
                            <a:rPr lang="es-BO" b="1" i="1">
                              <a:latin typeface="Cambria Math" panose="02040503050406030204" pitchFamily="18" charset="0"/>
                            </a:rPr>
                            <m:t>𝒔</m:t>
                          </m:r>
                          <m:r>
                            <a:rPr lang="es-BO" b="1" i="1">
                              <a:latin typeface="Cambria Math" panose="02040503050406030204" pitchFamily="18" charset="0"/>
                            </a:rPr>
                            <m:t>+</m:t>
                          </m:r>
                          <m:r>
                            <a:rPr lang="es-BO" b="1" i="1">
                              <a:latin typeface="Cambria Math" panose="02040503050406030204" pitchFamily="18" charset="0"/>
                            </a:rPr>
                            <m:t>𝟏</m:t>
                          </m:r>
                        </m:den>
                      </m:f>
                    </m:oMath>
                  </m:oMathPara>
                </a14:m>
                <a:endParaRPr lang="en-US" dirty="0"/>
              </a:p>
              <a:p>
                <a:pPr marL="0" indent="0">
                  <a:buNone/>
                </a:pPr>
                <a:r>
                  <a:rPr lang="es-BO" dirty="0"/>
                  <a:t>Tomando las ecuaciones diferenciales ordinarias que modelan el sistema (1 y 2).</a:t>
                </a:r>
                <a:endParaRPr lang="en-US" dirty="0"/>
              </a:p>
              <a:p>
                <a:pPr marL="0" indent="0">
                  <a:buNone/>
                </a:pPr>
                <a14:m>
                  <m:oMathPara xmlns:m="http://schemas.openxmlformats.org/officeDocument/2006/math">
                    <m:oMathParaPr>
                      <m:jc m:val="centerGroup"/>
                    </m:oMathParaPr>
                    <m:oMath xmlns:m="http://schemas.openxmlformats.org/officeDocument/2006/math">
                      <m:m>
                        <m:mPr>
                          <m:mcs>
                            <m:mc>
                              <m:mcPr>
                                <m:count m:val="1"/>
                                <m:mcJc m:val="center"/>
                              </m:mcPr>
                            </m:mc>
                          </m:mcs>
                          <m:ctrlPr>
                            <a:rPr lang="en-US" i="1">
                              <a:latin typeface="Cambria Math" panose="02040503050406030204" pitchFamily="18" charset="0"/>
                            </a:rPr>
                          </m:ctrlPr>
                        </m:mPr>
                        <m:mr>
                          <m:e>
                            <m:acc>
                              <m:accPr>
                                <m:chr m:val="̇"/>
                                <m:ctrlPr>
                                  <a:rPr lang="en-US" i="1">
                                    <a:latin typeface="Cambria Math" panose="02040503050406030204" pitchFamily="18" charset="0"/>
                                  </a:rPr>
                                </m:ctrlPr>
                              </m:accPr>
                              <m:e>
                                <m:r>
                                  <a:rPr lang="es-BO" i="1">
                                    <a:latin typeface="Cambria Math" panose="02040503050406030204" pitchFamily="18" charset="0"/>
                                  </a:rPr>
                                  <m:t>𝑥</m:t>
                                </m:r>
                              </m:e>
                            </m:acc>
                            <m:d>
                              <m:dPr>
                                <m:ctrlPr>
                                  <a:rPr lang="en-US" i="1">
                                    <a:latin typeface="Cambria Math" panose="02040503050406030204" pitchFamily="18" charset="0"/>
                                  </a:rPr>
                                </m:ctrlPr>
                              </m:dPr>
                              <m:e>
                                <m:r>
                                  <a:rPr lang="es-BO" i="1">
                                    <a:latin typeface="Cambria Math" panose="02040503050406030204" pitchFamily="18" charset="0"/>
                                  </a:rPr>
                                  <m:t>𝑡</m:t>
                                </m:r>
                              </m:e>
                            </m:d>
                            <m:r>
                              <a:rPr lang="es-BO" i="1">
                                <a:latin typeface="Cambria Math" panose="02040503050406030204" pitchFamily="18" charset="0"/>
                              </a:rPr>
                              <m:t>=</m:t>
                            </m:r>
                            <m:r>
                              <a:rPr lang="es-BO" i="1">
                                <a:latin typeface="Cambria Math" panose="02040503050406030204" pitchFamily="18" charset="0"/>
                              </a:rPr>
                              <m:t>𝐴𝑥</m:t>
                            </m:r>
                            <m:d>
                              <m:dPr>
                                <m:ctrlPr>
                                  <a:rPr lang="en-US" i="1">
                                    <a:latin typeface="Cambria Math" panose="02040503050406030204" pitchFamily="18" charset="0"/>
                                  </a:rPr>
                                </m:ctrlPr>
                              </m:dPr>
                              <m:e>
                                <m:r>
                                  <a:rPr lang="es-BO" i="1">
                                    <a:latin typeface="Cambria Math" panose="02040503050406030204" pitchFamily="18" charset="0"/>
                                  </a:rPr>
                                  <m:t>𝑡</m:t>
                                </m:r>
                              </m:e>
                            </m:d>
                            <m:r>
                              <a:rPr lang="es-BO" i="1">
                                <a:latin typeface="Cambria Math" panose="02040503050406030204" pitchFamily="18" charset="0"/>
                              </a:rPr>
                              <m:t>+</m:t>
                            </m:r>
                            <m:r>
                              <a:rPr lang="es-BO" i="1">
                                <a:latin typeface="Cambria Math" panose="02040503050406030204" pitchFamily="18" charset="0"/>
                              </a:rPr>
                              <m:t>𝐵</m:t>
                            </m:r>
                            <m:sSub>
                              <m:sSubPr>
                                <m:ctrlPr>
                                  <a:rPr lang="en-US" i="1">
                                    <a:latin typeface="Cambria Math" panose="02040503050406030204" pitchFamily="18" charset="0"/>
                                  </a:rPr>
                                </m:ctrlPr>
                              </m:sSubPr>
                              <m:e>
                                <m:r>
                                  <a:rPr lang="es-BO" i="1">
                                    <a:latin typeface="Cambria Math" panose="02040503050406030204" pitchFamily="18" charset="0"/>
                                  </a:rPr>
                                  <m:t>𝑞</m:t>
                                </m:r>
                              </m:e>
                              <m:sub>
                                <m:r>
                                  <a:rPr lang="es-BO" i="1">
                                    <a:latin typeface="Cambria Math" panose="02040503050406030204" pitchFamily="18" charset="0"/>
                                  </a:rPr>
                                  <m:t>𝑖</m:t>
                                </m:r>
                              </m:sub>
                            </m:sSub>
                            <m:r>
                              <a:rPr lang="es-BO" i="1">
                                <a:latin typeface="Cambria Math" panose="02040503050406030204" pitchFamily="18" charset="0"/>
                              </a:rPr>
                              <m:t>(</m:t>
                            </m:r>
                            <m:r>
                              <a:rPr lang="es-BO" i="1">
                                <a:latin typeface="Cambria Math" panose="02040503050406030204" pitchFamily="18" charset="0"/>
                              </a:rPr>
                              <m:t>𝑡</m:t>
                            </m:r>
                            <m:r>
                              <a:rPr lang="es-BO" i="1">
                                <a:latin typeface="Cambria Math" panose="02040503050406030204" pitchFamily="18" charset="0"/>
                              </a:rPr>
                              <m:t>)</m:t>
                            </m:r>
                          </m:e>
                        </m:mr>
                        <m:mr>
                          <m:e>
                            <m:r>
                              <a:rPr lang="es-BO" i="1">
                                <a:latin typeface="Cambria Math" panose="02040503050406030204" pitchFamily="18" charset="0"/>
                              </a:rPr>
                              <m:t>𝑦</m:t>
                            </m:r>
                            <m:d>
                              <m:dPr>
                                <m:ctrlPr>
                                  <a:rPr lang="en-US" i="1">
                                    <a:latin typeface="Cambria Math" panose="02040503050406030204" pitchFamily="18" charset="0"/>
                                  </a:rPr>
                                </m:ctrlPr>
                              </m:dPr>
                              <m:e>
                                <m:r>
                                  <a:rPr lang="es-BO" i="1">
                                    <a:latin typeface="Cambria Math" panose="02040503050406030204" pitchFamily="18" charset="0"/>
                                  </a:rPr>
                                  <m:t>𝑡</m:t>
                                </m:r>
                              </m:e>
                            </m:d>
                            <m:r>
                              <a:rPr lang="es-BO" i="1">
                                <a:latin typeface="Cambria Math" panose="02040503050406030204" pitchFamily="18" charset="0"/>
                              </a:rPr>
                              <m:t>=</m:t>
                            </m:r>
                            <m:r>
                              <a:rPr lang="es-BO" i="1">
                                <a:latin typeface="Cambria Math" panose="02040503050406030204" pitchFamily="18" charset="0"/>
                              </a:rPr>
                              <m:t>𝐶𝑥</m:t>
                            </m:r>
                            <m:r>
                              <a:rPr lang="es-BO" i="1">
                                <a:latin typeface="Cambria Math" panose="02040503050406030204" pitchFamily="18" charset="0"/>
                              </a:rPr>
                              <m:t>(</m:t>
                            </m:r>
                            <m:r>
                              <a:rPr lang="es-BO" i="1">
                                <a:latin typeface="Cambria Math" panose="02040503050406030204" pitchFamily="18" charset="0"/>
                              </a:rPr>
                              <m:t>𝑡</m:t>
                            </m:r>
                            <m:r>
                              <a:rPr lang="es-BO" i="1">
                                <a:latin typeface="Cambria Math" panose="02040503050406030204" pitchFamily="18" charset="0"/>
                              </a:rPr>
                              <m:t>)</m:t>
                            </m:r>
                          </m:e>
                        </m:mr>
                      </m:m>
                      <m:r>
                        <a:rPr lang="es-BO" i="1">
                          <a:latin typeface="Cambria Math" panose="02040503050406030204" pitchFamily="18" charset="0"/>
                        </a:rPr>
                        <m:t>              →          </m:t>
                      </m:r>
                      <m:r>
                        <a:rPr lang="es-BO" i="1">
                          <a:latin typeface="Cambria Math" panose="02040503050406030204" pitchFamily="18" charset="0"/>
                        </a:rPr>
                        <m:t>𝐴</m:t>
                      </m:r>
                      <m:r>
                        <a:rPr lang="es-BO" i="1">
                          <a:latin typeface="Cambria Math" panose="02040503050406030204" pitchFamily="18" charset="0"/>
                        </a:rPr>
                        <m:t>=</m:t>
                      </m:r>
                      <m:d>
                        <m:dPr>
                          <m:begChr m:val="["/>
                          <m:endChr m:val="]"/>
                          <m:ctrlPr>
                            <a:rPr lang="en-US" i="1">
                              <a:latin typeface="Cambria Math" panose="02040503050406030204" pitchFamily="18" charset="0"/>
                            </a:rPr>
                          </m:ctrlPr>
                        </m:dPr>
                        <m:e>
                          <m:f>
                            <m:fPr>
                              <m:ctrlPr>
                                <a:rPr lang="en-US" i="1">
                                  <a:latin typeface="Cambria Math" panose="02040503050406030204" pitchFamily="18" charset="0"/>
                                </a:rPr>
                              </m:ctrlPr>
                            </m:fPr>
                            <m:num>
                              <m:r>
                                <a:rPr lang="es-BO" i="1">
                                  <a:latin typeface="Cambria Math" panose="02040503050406030204" pitchFamily="18" charset="0"/>
                                </a:rPr>
                                <m:t>−1</m:t>
                              </m:r>
                            </m:num>
                            <m:den>
                              <m:r>
                                <a:rPr lang="es-BO" b="0" i="1" smtClean="0">
                                  <a:latin typeface="Cambria Math" panose="02040503050406030204" pitchFamily="18" charset="0"/>
                                </a:rPr>
                                <m:t>152,5</m:t>
                              </m:r>
                            </m:den>
                          </m:f>
                        </m:e>
                      </m:d>
                      <m:r>
                        <a:rPr lang="es-BO" i="1">
                          <a:latin typeface="Cambria Math" panose="02040503050406030204" pitchFamily="18" charset="0"/>
                        </a:rPr>
                        <m:t>,      </m:t>
                      </m:r>
                      <m:r>
                        <a:rPr lang="es-BO" i="1">
                          <a:latin typeface="Cambria Math" panose="02040503050406030204" pitchFamily="18" charset="0"/>
                        </a:rPr>
                        <m:t>𝐵</m:t>
                      </m:r>
                      <m:r>
                        <a:rPr lang="es-BO" i="1">
                          <a:latin typeface="Cambria Math" panose="02040503050406030204" pitchFamily="18" charset="0"/>
                        </a:rPr>
                        <m:t>=</m:t>
                      </m:r>
                      <m:d>
                        <m:dPr>
                          <m:begChr m:val="["/>
                          <m:endChr m:val="]"/>
                          <m:ctrlPr>
                            <a:rPr lang="en-US" i="1">
                              <a:latin typeface="Cambria Math" panose="02040503050406030204" pitchFamily="18" charset="0"/>
                            </a:rPr>
                          </m:ctrlPr>
                        </m:dPr>
                        <m:e>
                          <m:f>
                            <m:fPr>
                              <m:ctrlPr>
                                <a:rPr lang="en-US" i="1">
                                  <a:latin typeface="Cambria Math" panose="02040503050406030204" pitchFamily="18" charset="0"/>
                                </a:rPr>
                              </m:ctrlPr>
                            </m:fPr>
                            <m:num>
                              <m:r>
                                <a:rPr lang="es-BO" i="1">
                                  <a:latin typeface="Cambria Math" panose="02040503050406030204" pitchFamily="18" charset="0"/>
                                </a:rPr>
                                <m:t>1</m:t>
                              </m:r>
                            </m:num>
                            <m:den>
                              <m:r>
                                <a:rPr lang="es-BO" b="0" i="1" smtClean="0">
                                  <a:latin typeface="Cambria Math" panose="02040503050406030204" pitchFamily="18" charset="0"/>
                                </a:rPr>
                                <m:t>1583,75</m:t>
                              </m:r>
                            </m:den>
                          </m:f>
                        </m:e>
                      </m:d>
                      <m:r>
                        <a:rPr lang="es-BO" i="1">
                          <a:latin typeface="Cambria Math" panose="02040503050406030204" pitchFamily="18" charset="0"/>
                        </a:rPr>
                        <m:t>,     </m:t>
                      </m:r>
                      <m:r>
                        <a:rPr lang="es-BO" i="1">
                          <a:latin typeface="Cambria Math" panose="02040503050406030204" pitchFamily="18" charset="0"/>
                        </a:rPr>
                        <m:t>𝐶</m:t>
                      </m:r>
                      <m:r>
                        <a:rPr lang="es-BO" i="1">
                          <a:latin typeface="Cambria Math" panose="02040503050406030204" pitchFamily="18" charset="0"/>
                        </a:rPr>
                        <m:t>=</m:t>
                      </m:r>
                      <m:d>
                        <m:dPr>
                          <m:begChr m:val="["/>
                          <m:endChr m:val="]"/>
                          <m:ctrlPr>
                            <a:rPr lang="en-US" i="1">
                              <a:latin typeface="Cambria Math" panose="02040503050406030204" pitchFamily="18" charset="0"/>
                            </a:rPr>
                          </m:ctrlPr>
                        </m:dPr>
                        <m:e>
                          <m:r>
                            <a:rPr lang="es-BO" i="1">
                              <a:latin typeface="Cambria Math" panose="02040503050406030204" pitchFamily="18" charset="0"/>
                            </a:rPr>
                            <m:t>1</m:t>
                          </m:r>
                        </m:e>
                      </m:d>
                      <m:r>
                        <a:rPr lang="es-BO" b="1" i="1">
                          <a:latin typeface="Cambria Math" panose="02040503050406030204" pitchFamily="18" charset="0"/>
                        </a:rPr>
                        <m:t> </m:t>
                      </m:r>
                    </m:oMath>
                  </m:oMathPara>
                </a14:m>
                <a:endParaRPr lang="en-US" dirty="0"/>
              </a:p>
              <a:p>
                <a:pPr marL="0" indent="0">
                  <a:buNone/>
                </a:pPr>
                <a:r>
                  <a:rPr lang="es-BO" dirty="0"/>
                  <a:t>Analizamos el requerimiento (</a:t>
                </a:r>
                <a:r>
                  <a:rPr lang="es-BO" dirty="0" err="1"/>
                  <a:t>ts</a:t>
                </a:r>
                <a:r>
                  <a:rPr lang="es-BO" dirty="0"/>
                  <a:t> = 4 min = 240 </a:t>
                </a:r>
                <a:r>
                  <a:rPr lang="es-BO" dirty="0" err="1"/>
                  <a:t>seg</a:t>
                </a:r>
                <a:r>
                  <a:rPr lang="es-BO" dirty="0"/>
                  <a:t>):</a:t>
                </a:r>
                <a:endParaRPr lang="en-US" dirty="0"/>
              </a:p>
              <a:p>
                <a:pPr marL="0" indent="0">
                  <a:buNone/>
                </a:pPr>
                <a14:m>
                  <m:oMathPara xmlns:m="http://schemas.openxmlformats.org/officeDocument/2006/math">
                    <m:oMathParaPr>
                      <m:jc m:val="centerGroup"/>
                    </m:oMathParaPr>
                    <m:oMath xmlns:m="http://schemas.openxmlformats.org/officeDocument/2006/math">
                      <m:r>
                        <a:rPr lang="es-MX" i="1">
                          <a:latin typeface="Cambria Math" panose="02040503050406030204" pitchFamily="18" charset="0"/>
                        </a:rPr>
                        <m:t>240=</m:t>
                      </m:r>
                      <m:sSub>
                        <m:sSubPr>
                          <m:ctrlPr>
                            <a:rPr lang="en-US" i="1">
                              <a:latin typeface="Cambria Math" panose="02040503050406030204" pitchFamily="18" charset="0"/>
                            </a:rPr>
                          </m:ctrlPr>
                        </m:sSubPr>
                        <m:e>
                          <m:r>
                            <a:rPr lang="es-MX" i="1">
                              <a:latin typeface="Cambria Math" panose="02040503050406030204" pitchFamily="18" charset="0"/>
                            </a:rPr>
                            <m:t>𝑡</m:t>
                          </m:r>
                        </m:e>
                        <m:sub>
                          <m:r>
                            <a:rPr lang="es-MX" i="1">
                              <a:latin typeface="Cambria Math" panose="02040503050406030204" pitchFamily="18" charset="0"/>
                            </a:rPr>
                            <m:t>𝑠</m:t>
                          </m:r>
                        </m:sub>
                      </m:sSub>
                      <m:r>
                        <a:rPr lang="es-MX" i="1">
                          <a:latin typeface="Cambria Math" panose="02040503050406030204" pitchFamily="18" charset="0"/>
                        </a:rPr>
                        <m:t>≥4</m:t>
                      </m:r>
                      <m:r>
                        <a:rPr lang="es-MX" i="1">
                          <a:latin typeface="Cambria Math" panose="02040503050406030204" pitchFamily="18" charset="0"/>
                        </a:rPr>
                        <m:t>𝜏</m:t>
                      </m:r>
                      <m:r>
                        <a:rPr lang="es-MX" i="1">
                          <a:latin typeface="Cambria Math" panose="02040503050406030204" pitchFamily="18" charset="0"/>
                        </a:rPr>
                        <m:t>   ;      </m:t>
                      </m:r>
                      <m:r>
                        <a:rPr lang="es-MX" i="1">
                          <a:latin typeface="Cambria Math" panose="02040503050406030204" pitchFamily="18" charset="0"/>
                        </a:rPr>
                        <m:t>𝜏</m:t>
                      </m:r>
                      <m:r>
                        <a:rPr lang="es-MX" i="1">
                          <a:latin typeface="Cambria Math" panose="02040503050406030204" pitchFamily="18" charset="0"/>
                        </a:rPr>
                        <m:t>=60</m:t>
                      </m:r>
                    </m:oMath>
                  </m:oMathPara>
                </a14:m>
                <a:endParaRPr lang="en-US" dirty="0"/>
              </a:p>
              <a:p>
                <a:pPr marL="0" indent="0">
                  <a:buNone/>
                </a:pPr>
                <a:r>
                  <a:rPr lang="es-BO" dirty="0"/>
                  <a:t>Sea el polinomio característico de un sistema deseado:</a:t>
                </a:r>
                <a:endParaRPr lang="en-US" dirty="0"/>
              </a:p>
              <a:p>
                <a:pPr marL="0" indent="0">
                  <a:buNone/>
                </a:pPr>
                <a14:m>
                  <m:oMathPara xmlns:m="http://schemas.openxmlformats.org/officeDocument/2006/math">
                    <m:oMathParaPr>
                      <m:jc m:val="centerGroup"/>
                    </m:oMathParaPr>
                    <m:oMath xmlns:m="http://schemas.openxmlformats.org/officeDocument/2006/math">
                      <m:r>
                        <a:rPr lang="es-MX" i="1" smtClean="0">
                          <a:solidFill>
                            <a:srgbClr val="FF0000"/>
                          </a:solidFill>
                          <a:latin typeface="Cambria Math" panose="02040503050406030204" pitchFamily="18" charset="0"/>
                        </a:rPr>
                        <m:t>→    </m:t>
                      </m:r>
                      <m:sSup>
                        <m:sSupPr>
                          <m:ctrlPr>
                            <a:rPr lang="en-US" i="1">
                              <a:solidFill>
                                <a:srgbClr val="FF0000"/>
                              </a:solidFill>
                              <a:latin typeface="Cambria Math" panose="02040503050406030204" pitchFamily="18" charset="0"/>
                            </a:rPr>
                          </m:ctrlPr>
                        </m:sSupPr>
                        <m:e>
                          <m:r>
                            <a:rPr lang="es-MX" i="1">
                              <a:solidFill>
                                <a:srgbClr val="FF0000"/>
                              </a:solidFill>
                              <a:latin typeface="Cambria Math" panose="02040503050406030204" pitchFamily="18" charset="0"/>
                            </a:rPr>
                            <m:t>𝑠</m:t>
                          </m:r>
                        </m:e>
                        <m:sup>
                          <m:r>
                            <a:rPr lang="es-MX" i="1">
                              <a:solidFill>
                                <a:srgbClr val="FF0000"/>
                              </a:solidFill>
                              <a:latin typeface="Cambria Math" panose="02040503050406030204" pitchFamily="18" charset="0"/>
                            </a:rPr>
                            <m:t>2</m:t>
                          </m:r>
                        </m:sup>
                      </m:sSup>
                      <m:r>
                        <a:rPr lang="es-MX" i="1">
                          <a:solidFill>
                            <a:srgbClr val="FF0000"/>
                          </a:solidFill>
                          <a:latin typeface="Cambria Math" panose="02040503050406030204" pitchFamily="18" charset="0"/>
                        </a:rPr>
                        <m:t>+0.0267</m:t>
                      </m:r>
                      <m:r>
                        <a:rPr lang="es-MX" i="1">
                          <a:solidFill>
                            <a:srgbClr val="FF0000"/>
                          </a:solidFill>
                          <a:latin typeface="Cambria Math" panose="02040503050406030204" pitchFamily="18" charset="0"/>
                        </a:rPr>
                        <m:t>𝑠</m:t>
                      </m:r>
                      <m:r>
                        <a:rPr lang="es-MX" i="1">
                          <a:solidFill>
                            <a:srgbClr val="FF0000"/>
                          </a:solidFill>
                          <a:latin typeface="Cambria Math" panose="02040503050406030204" pitchFamily="18" charset="0"/>
                        </a:rPr>
                        <m:t>+0.2146∙</m:t>
                      </m:r>
                      <m:sSup>
                        <m:sSupPr>
                          <m:ctrlPr>
                            <a:rPr lang="en-US" i="1">
                              <a:solidFill>
                                <a:srgbClr val="FF0000"/>
                              </a:solidFill>
                              <a:latin typeface="Cambria Math" panose="02040503050406030204" pitchFamily="18" charset="0"/>
                            </a:rPr>
                          </m:ctrlPr>
                        </m:sSupPr>
                        <m:e>
                          <m:r>
                            <a:rPr lang="es-MX" i="1">
                              <a:solidFill>
                                <a:srgbClr val="FF0000"/>
                              </a:solidFill>
                              <a:latin typeface="Cambria Math" panose="02040503050406030204" pitchFamily="18" charset="0"/>
                            </a:rPr>
                            <m:t>10</m:t>
                          </m:r>
                        </m:e>
                        <m:sup>
                          <m:r>
                            <a:rPr lang="es-MX" i="1">
                              <a:solidFill>
                                <a:srgbClr val="FF0000"/>
                              </a:solidFill>
                              <a:latin typeface="Cambria Math" panose="02040503050406030204" pitchFamily="18" charset="0"/>
                            </a:rPr>
                            <m:t>−3</m:t>
                          </m:r>
                        </m:sup>
                      </m:sSup>
                    </m:oMath>
                  </m:oMathPara>
                </a14:m>
                <a:endParaRPr lang="en-US" dirty="0">
                  <a:solidFill>
                    <a:srgbClr val="FF0000"/>
                  </a:solidFill>
                </a:endParaRPr>
              </a:p>
              <a:p>
                <a:pPr marL="0" indent="0">
                  <a:buNone/>
                </a:pPr>
                <a:r>
                  <a:rPr lang="es-BO" dirty="0">
                    <a:solidFill>
                      <a:srgbClr val="FF0000"/>
                    </a:solidFill>
                  </a:rPr>
                  <a:t>			</a:t>
                </a:r>
                <a14:m>
                  <m:oMath xmlns:m="http://schemas.openxmlformats.org/officeDocument/2006/math">
                    <m:r>
                      <a:rPr lang="es-MX" i="1">
                        <a:solidFill>
                          <a:srgbClr val="FF0000"/>
                        </a:solidFill>
                        <a:latin typeface="Cambria Math" panose="02040503050406030204" pitchFamily="18" charset="0"/>
                      </a:rPr>
                      <m:t>→</m:t>
                    </m:r>
                    <m:r>
                      <a:rPr lang="es-BO" i="1">
                        <a:solidFill>
                          <a:srgbClr val="FF0000"/>
                        </a:solidFill>
                        <a:latin typeface="Cambria Math" panose="02040503050406030204" pitchFamily="18" charset="0"/>
                      </a:rPr>
                      <m:t>𝜙</m:t>
                    </m:r>
                    <m:d>
                      <m:dPr>
                        <m:ctrlPr>
                          <a:rPr lang="en-US" i="1">
                            <a:solidFill>
                              <a:srgbClr val="FF0000"/>
                            </a:solidFill>
                            <a:latin typeface="Cambria Math" panose="02040503050406030204" pitchFamily="18" charset="0"/>
                          </a:rPr>
                        </m:ctrlPr>
                      </m:dPr>
                      <m:e>
                        <m:r>
                          <a:rPr lang="es-BO" i="1">
                            <a:solidFill>
                              <a:srgbClr val="FF0000"/>
                            </a:solidFill>
                            <a:latin typeface="Cambria Math" panose="02040503050406030204" pitchFamily="18" charset="0"/>
                          </a:rPr>
                          <m:t>𝐴</m:t>
                        </m:r>
                      </m:e>
                    </m:d>
                    <m:r>
                      <a:rPr lang="es-BO" b="0" i="1" smtClean="0">
                        <a:solidFill>
                          <a:srgbClr val="FF0000"/>
                        </a:solidFill>
                        <a:latin typeface="Cambria Math" panose="02040503050406030204" pitchFamily="18" charset="0"/>
                      </a:rPr>
                      <m:t>=</m:t>
                    </m:r>
                    <m:r>
                      <a:rPr lang="es-MX" i="1">
                        <a:solidFill>
                          <a:srgbClr val="FF0000"/>
                        </a:solidFill>
                        <a:latin typeface="Cambria Math" panose="02040503050406030204" pitchFamily="18" charset="0"/>
                      </a:rPr>
                      <m:t> </m:t>
                    </m:r>
                    <m:sSup>
                      <m:sSupPr>
                        <m:ctrlPr>
                          <a:rPr lang="en-US" i="1">
                            <a:solidFill>
                              <a:srgbClr val="FF0000"/>
                            </a:solidFill>
                            <a:latin typeface="Cambria Math" panose="02040503050406030204" pitchFamily="18" charset="0"/>
                          </a:rPr>
                        </m:ctrlPr>
                      </m:sSupPr>
                      <m:e>
                        <m:d>
                          <m:dPr>
                            <m:begChr m:val="["/>
                            <m:endChr m:val="]"/>
                            <m:ctrlPr>
                              <a:rPr lang="en-US" i="1">
                                <a:solidFill>
                                  <a:srgbClr val="FF0000"/>
                                </a:solidFill>
                                <a:latin typeface="Cambria Math" panose="02040503050406030204" pitchFamily="18" charset="0"/>
                              </a:rPr>
                            </m:ctrlPr>
                          </m:dPr>
                          <m:e>
                            <m:f>
                              <m:fPr>
                                <m:ctrlPr>
                                  <a:rPr lang="en-US" i="1">
                                    <a:solidFill>
                                      <a:srgbClr val="FF0000"/>
                                    </a:solidFill>
                                    <a:latin typeface="Cambria Math" panose="02040503050406030204" pitchFamily="18" charset="0"/>
                                  </a:rPr>
                                </m:ctrlPr>
                              </m:fPr>
                              <m:num>
                                <m:r>
                                  <a:rPr lang="es-BO" i="1">
                                    <a:solidFill>
                                      <a:srgbClr val="FF0000"/>
                                    </a:solidFill>
                                    <a:latin typeface="Cambria Math" panose="02040503050406030204" pitchFamily="18" charset="0"/>
                                  </a:rPr>
                                  <m:t>−1</m:t>
                                </m:r>
                              </m:num>
                              <m:den>
                                <m:r>
                                  <a:rPr lang="es-BO" i="1">
                                    <a:solidFill>
                                      <a:srgbClr val="FF0000"/>
                                    </a:solidFill>
                                    <a:latin typeface="Cambria Math" panose="02040503050406030204" pitchFamily="18" charset="0"/>
                                  </a:rPr>
                                  <m:t>303</m:t>
                                </m:r>
                              </m:den>
                            </m:f>
                          </m:e>
                        </m:d>
                      </m:e>
                      <m:sup>
                        <m:r>
                          <a:rPr lang="es-MX" i="1">
                            <a:solidFill>
                              <a:srgbClr val="FF0000"/>
                            </a:solidFill>
                            <a:latin typeface="Cambria Math" panose="02040503050406030204" pitchFamily="18" charset="0"/>
                          </a:rPr>
                          <m:t>2</m:t>
                        </m:r>
                      </m:sup>
                    </m:sSup>
                    <m:r>
                      <a:rPr lang="es-MX" i="1">
                        <a:solidFill>
                          <a:srgbClr val="FF0000"/>
                        </a:solidFill>
                        <a:latin typeface="Cambria Math" panose="02040503050406030204" pitchFamily="18" charset="0"/>
                      </a:rPr>
                      <m:t>+0.0267</m:t>
                    </m:r>
                    <m:r>
                      <a:rPr lang="es-BO" b="0" i="1" smtClean="0">
                        <a:solidFill>
                          <a:srgbClr val="FF0000"/>
                        </a:solidFill>
                        <a:latin typeface="Cambria Math" panose="02040503050406030204" pitchFamily="18" charset="0"/>
                      </a:rPr>
                      <m:t>∗</m:t>
                    </m:r>
                    <m:d>
                      <m:dPr>
                        <m:begChr m:val="["/>
                        <m:endChr m:val="]"/>
                        <m:ctrlPr>
                          <a:rPr lang="en-US" i="1">
                            <a:solidFill>
                              <a:srgbClr val="FF0000"/>
                            </a:solidFill>
                            <a:latin typeface="Cambria Math" panose="02040503050406030204" pitchFamily="18" charset="0"/>
                          </a:rPr>
                        </m:ctrlPr>
                      </m:dPr>
                      <m:e>
                        <m:f>
                          <m:fPr>
                            <m:ctrlPr>
                              <a:rPr lang="en-US" i="1">
                                <a:solidFill>
                                  <a:srgbClr val="FF0000"/>
                                </a:solidFill>
                                <a:latin typeface="Cambria Math" panose="02040503050406030204" pitchFamily="18" charset="0"/>
                              </a:rPr>
                            </m:ctrlPr>
                          </m:fPr>
                          <m:num>
                            <m:r>
                              <a:rPr lang="es-BO" i="1">
                                <a:solidFill>
                                  <a:srgbClr val="FF0000"/>
                                </a:solidFill>
                                <a:latin typeface="Cambria Math" panose="02040503050406030204" pitchFamily="18" charset="0"/>
                              </a:rPr>
                              <m:t>−1</m:t>
                            </m:r>
                          </m:num>
                          <m:den>
                            <m:r>
                              <a:rPr lang="es-BO" i="1">
                                <a:solidFill>
                                  <a:srgbClr val="FF0000"/>
                                </a:solidFill>
                                <a:latin typeface="Cambria Math" panose="02040503050406030204" pitchFamily="18" charset="0"/>
                              </a:rPr>
                              <m:t>303</m:t>
                            </m:r>
                          </m:den>
                        </m:f>
                      </m:e>
                    </m:d>
                    <m:r>
                      <a:rPr lang="es-MX" i="1">
                        <a:solidFill>
                          <a:srgbClr val="FF0000"/>
                        </a:solidFill>
                        <a:latin typeface="Cambria Math" panose="02040503050406030204" pitchFamily="18" charset="0"/>
                      </a:rPr>
                      <m:t>+0.2146∙</m:t>
                    </m:r>
                    <m:sSup>
                      <m:sSupPr>
                        <m:ctrlPr>
                          <a:rPr lang="en-US" i="1">
                            <a:solidFill>
                              <a:srgbClr val="FF0000"/>
                            </a:solidFill>
                            <a:latin typeface="Cambria Math" panose="02040503050406030204" pitchFamily="18" charset="0"/>
                          </a:rPr>
                        </m:ctrlPr>
                      </m:sSupPr>
                      <m:e>
                        <m:r>
                          <a:rPr lang="es-MX" i="1">
                            <a:solidFill>
                              <a:srgbClr val="FF0000"/>
                            </a:solidFill>
                            <a:latin typeface="Cambria Math" panose="02040503050406030204" pitchFamily="18" charset="0"/>
                          </a:rPr>
                          <m:t>10</m:t>
                        </m:r>
                      </m:e>
                      <m:sup>
                        <m:r>
                          <a:rPr lang="es-MX" i="1">
                            <a:solidFill>
                              <a:srgbClr val="FF0000"/>
                            </a:solidFill>
                            <a:latin typeface="Cambria Math" panose="02040503050406030204" pitchFamily="18" charset="0"/>
                          </a:rPr>
                          <m:t>−3</m:t>
                        </m:r>
                      </m:sup>
                    </m:sSup>
                  </m:oMath>
                </a14:m>
                <a:r>
                  <a:rPr lang="en-US" dirty="0">
                    <a:solidFill>
                      <a:srgbClr val="FF0000"/>
                    </a:solidFill>
                  </a:rPr>
                  <a:t>*[1]</a:t>
                </a:r>
              </a:p>
              <a:p>
                <a:pPr marL="0" indent="0">
                  <a:buNone/>
                </a:pPr>
                <a:endParaRPr lang="en-US" dirty="0">
                  <a:solidFill>
                    <a:srgbClr val="FF0000"/>
                  </a:solidFill>
                </a:endParaRPr>
              </a:p>
              <a:p>
                <a:pPr marL="0" indent="0">
                  <a:buNone/>
                </a:pPr>
                <a14:m>
                  <m:oMathPara xmlns:m="http://schemas.openxmlformats.org/officeDocument/2006/math">
                    <m:oMathParaPr>
                      <m:jc m:val="centerGroup"/>
                    </m:oMathParaPr>
                    <m:oMath xmlns:m="http://schemas.openxmlformats.org/officeDocument/2006/math">
                      <m:r>
                        <a:rPr lang="es-BO" i="1">
                          <a:solidFill>
                            <a:srgbClr val="FF0000"/>
                          </a:solidFill>
                          <a:latin typeface="Cambria Math" panose="02040503050406030204" pitchFamily="18" charset="0"/>
                        </a:rPr>
                        <m:t>𝜙</m:t>
                      </m:r>
                      <m:d>
                        <m:dPr>
                          <m:ctrlPr>
                            <a:rPr lang="en-US" i="1">
                              <a:solidFill>
                                <a:srgbClr val="FF0000"/>
                              </a:solidFill>
                              <a:latin typeface="Cambria Math" panose="02040503050406030204" pitchFamily="18" charset="0"/>
                            </a:rPr>
                          </m:ctrlPr>
                        </m:dPr>
                        <m:e>
                          <m:r>
                            <a:rPr lang="es-BO" i="1">
                              <a:solidFill>
                                <a:srgbClr val="FF0000"/>
                              </a:solidFill>
                              <a:latin typeface="Cambria Math" panose="02040503050406030204" pitchFamily="18" charset="0"/>
                            </a:rPr>
                            <m:t>𝐴</m:t>
                          </m:r>
                        </m:e>
                      </m:d>
                      <m:r>
                        <a:rPr lang="es-BO" b="0" i="1" smtClean="0">
                          <a:solidFill>
                            <a:srgbClr val="FF0000"/>
                          </a:solidFill>
                          <a:latin typeface="Cambria Math" panose="02040503050406030204" pitchFamily="18" charset="0"/>
                        </a:rPr>
                        <m:t>=1.3737∗</m:t>
                      </m:r>
                      <m:sSup>
                        <m:sSupPr>
                          <m:ctrlPr>
                            <a:rPr lang="en-US" i="1" smtClean="0">
                              <a:solidFill>
                                <a:srgbClr val="FF0000"/>
                              </a:solidFill>
                              <a:latin typeface="Cambria Math" panose="02040503050406030204" pitchFamily="18" charset="0"/>
                            </a:rPr>
                          </m:ctrlPr>
                        </m:sSupPr>
                        <m:e>
                          <m:r>
                            <a:rPr lang="es-MX" i="1">
                              <a:solidFill>
                                <a:srgbClr val="FF0000"/>
                              </a:solidFill>
                              <a:latin typeface="Cambria Math" panose="02040503050406030204" pitchFamily="18" charset="0"/>
                            </a:rPr>
                            <m:t>10</m:t>
                          </m:r>
                        </m:e>
                        <m:sup>
                          <m:r>
                            <a:rPr lang="es-MX" i="1">
                              <a:solidFill>
                                <a:srgbClr val="FF0000"/>
                              </a:solidFill>
                              <a:latin typeface="Cambria Math" panose="02040503050406030204" pitchFamily="18" charset="0"/>
                            </a:rPr>
                            <m:t>−</m:t>
                          </m:r>
                          <m:r>
                            <a:rPr lang="es-BO" b="0" i="1" smtClean="0">
                              <a:solidFill>
                                <a:srgbClr val="FF0000"/>
                              </a:solidFill>
                              <a:latin typeface="Cambria Math" panose="02040503050406030204" pitchFamily="18" charset="0"/>
                            </a:rPr>
                            <m:t>4</m:t>
                          </m:r>
                        </m:sup>
                      </m:sSup>
                    </m:oMath>
                  </m:oMathPara>
                </a14:m>
                <a:endParaRPr lang="en-US" dirty="0"/>
              </a:p>
              <a:p>
                <a:pPr marL="0" indent="0">
                  <a:buNone/>
                </a:pPr>
                <a:r>
                  <a:rPr lang="es-BO" dirty="0"/>
                  <a:t>Calculamos las matrices de ganancia para la realimentación por el método de </a:t>
                </a:r>
                <a:r>
                  <a:rPr lang="es-BO" dirty="0" err="1"/>
                  <a:t>Ackerman</a:t>
                </a:r>
                <a:r>
                  <a:rPr lang="es-BO" dirty="0"/>
                  <a:t>:</a:t>
                </a:r>
                <a:endParaRPr lang="en-US" dirty="0"/>
              </a:p>
              <a:p>
                <a:pPr marL="0" indent="0">
                  <a:buNone/>
                </a:pPr>
                <a14:m>
                  <m:oMathPara xmlns:m="http://schemas.openxmlformats.org/officeDocument/2006/math">
                    <m:oMathParaPr>
                      <m:jc m:val="centerGroup"/>
                    </m:oMathParaPr>
                    <m:oMath xmlns:m="http://schemas.openxmlformats.org/officeDocument/2006/math">
                      <m:r>
                        <a:rPr lang="es-BO" i="1">
                          <a:latin typeface="Cambria Math" panose="02040503050406030204" pitchFamily="18" charset="0"/>
                        </a:rPr>
                        <m:t>𝐾</m:t>
                      </m:r>
                      <m:r>
                        <a:rPr lang="es-BO" i="1">
                          <a:latin typeface="Cambria Math" panose="02040503050406030204" pitchFamily="18" charset="0"/>
                        </a:rPr>
                        <m:t>=</m:t>
                      </m:r>
                      <m:d>
                        <m:dPr>
                          <m:begChr m:val="["/>
                          <m:endChr m:val="]"/>
                          <m:ctrlPr>
                            <a:rPr lang="en-US" i="1">
                              <a:latin typeface="Cambria Math" panose="02040503050406030204" pitchFamily="18" charset="0"/>
                            </a:rPr>
                          </m:ctrlPr>
                        </m:dPr>
                        <m:e>
                          <m:r>
                            <a:rPr lang="es-BO" i="1">
                              <a:latin typeface="Cambria Math" panose="02040503050406030204" pitchFamily="18" charset="0"/>
                            </a:rPr>
                            <m:t>1</m:t>
                          </m:r>
                        </m:e>
                      </m:d>
                      <m:r>
                        <a:rPr lang="es-BO" i="1">
                          <a:latin typeface="Cambria Math" panose="02040503050406030204" pitchFamily="18" charset="0"/>
                        </a:rPr>
                        <m:t>∗</m:t>
                      </m:r>
                      <m:sSubSup>
                        <m:sSubSupPr>
                          <m:ctrlPr>
                            <a:rPr lang="en-US" i="1">
                              <a:latin typeface="Cambria Math" panose="02040503050406030204" pitchFamily="18" charset="0"/>
                            </a:rPr>
                          </m:ctrlPr>
                        </m:sSubSupPr>
                        <m:e>
                          <m:r>
                            <a:rPr lang="es-BO" i="1">
                              <a:latin typeface="Cambria Math" panose="02040503050406030204" pitchFamily="18" charset="0"/>
                            </a:rPr>
                            <m:t>𝐶</m:t>
                          </m:r>
                        </m:e>
                        <m:sub>
                          <m:r>
                            <a:rPr lang="es-BO" i="1">
                              <a:latin typeface="Cambria Math" panose="02040503050406030204" pitchFamily="18" charset="0"/>
                            </a:rPr>
                            <m:t>𝑜</m:t>
                          </m:r>
                        </m:sub>
                        <m:sup>
                          <m:r>
                            <a:rPr lang="es-BO" i="1">
                              <a:latin typeface="Cambria Math" panose="02040503050406030204" pitchFamily="18" charset="0"/>
                            </a:rPr>
                            <m:t>−1</m:t>
                          </m:r>
                        </m:sup>
                      </m:sSubSup>
                      <m:r>
                        <a:rPr lang="es-BO" i="1">
                          <a:latin typeface="Cambria Math" panose="02040503050406030204" pitchFamily="18" charset="0"/>
                        </a:rPr>
                        <m:t>∗</m:t>
                      </m:r>
                      <m:r>
                        <a:rPr lang="es-BO" i="1">
                          <a:latin typeface="Cambria Math" panose="02040503050406030204" pitchFamily="18" charset="0"/>
                        </a:rPr>
                        <m:t>𝜙</m:t>
                      </m:r>
                      <m:d>
                        <m:dPr>
                          <m:ctrlPr>
                            <a:rPr lang="en-US" i="1">
                              <a:latin typeface="Cambria Math" panose="02040503050406030204" pitchFamily="18" charset="0"/>
                            </a:rPr>
                          </m:ctrlPr>
                        </m:dPr>
                        <m:e>
                          <m:r>
                            <a:rPr lang="es-BO" i="1">
                              <a:latin typeface="Cambria Math" panose="02040503050406030204" pitchFamily="18" charset="0"/>
                            </a:rPr>
                            <m:t>𝐴</m:t>
                          </m:r>
                        </m:e>
                      </m:d>
                    </m:oMath>
                  </m:oMathPara>
                </a14:m>
                <a:endParaRPr lang="en-US" dirty="0"/>
              </a:p>
              <a:p>
                <a:pPr marL="0" indent="0">
                  <a:buNone/>
                </a:pPr>
                <a14:m>
                  <m:oMathPara xmlns:m="http://schemas.openxmlformats.org/officeDocument/2006/math">
                    <m:oMathParaPr>
                      <m:jc m:val="centerGroup"/>
                    </m:oMathParaPr>
                    <m:oMath xmlns:m="http://schemas.openxmlformats.org/officeDocument/2006/math">
                      <m:r>
                        <a:rPr lang="es-BO" i="1">
                          <a:latin typeface="Cambria Math" panose="02040503050406030204" pitchFamily="18" charset="0"/>
                        </a:rPr>
                        <m:t> </m:t>
                      </m:r>
                      <m:r>
                        <a:rPr lang="es-BO" i="1">
                          <a:latin typeface="Cambria Math" panose="02040503050406030204" pitchFamily="18" charset="0"/>
                        </a:rPr>
                        <m:t>𝐾</m:t>
                      </m:r>
                      <m:r>
                        <a:rPr lang="es-BO" i="1">
                          <a:latin typeface="Cambria Math" panose="02040503050406030204" pitchFamily="18" charset="0"/>
                        </a:rPr>
                        <m:t>=</m:t>
                      </m:r>
                      <m:d>
                        <m:dPr>
                          <m:begChr m:val="["/>
                          <m:endChr m:val="]"/>
                          <m:ctrlPr>
                            <a:rPr lang="en-US" i="1">
                              <a:latin typeface="Cambria Math" panose="02040503050406030204" pitchFamily="18" charset="0"/>
                            </a:rPr>
                          </m:ctrlPr>
                        </m:dPr>
                        <m:e>
                          <m:r>
                            <a:rPr lang="es-BO" i="1">
                              <a:latin typeface="Cambria Math" panose="02040503050406030204" pitchFamily="18" charset="0"/>
                            </a:rPr>
                            <m:t>1</m:t>
                          </m:r>
                        </m:e>
                      </m:d>
                      <m:r>
                        <a:rPr lang="es-BO" i="1">
                          <a:latin typeface="Cambria Math" panose="02040503050406030204" pitchFamily="18" charset="0"/>
                        </a:rPr>
                        <m:t>∗</m:t>
                      </m:r>
                      <m:sSup>
                        <m:sSupPr>
                          <m:ctrlPr>
                            <a:rPr lang="en-US" i="1">
                              <a:latin typeface="Cambria Math" panose="02040503050406030204" pitchFamily="18" charset="0"/>
                            </a:rPr>
                          </m:ctrlPr>
                        </m:sSupPr>
                        <m:e>
                          <m:d>
                            <m:dPr>
                              <m:begChr m:val="["/>
                              <m:endChr m:val="]"/>
                              <m:ctrlPr>
                                <a:rPr lang="en-US" i="1">
                                  <a:latin typeface="Cambria Math" panose="02040503050406030204" pitchFamily="18" charset="0"/>
                                </a:rPr>
                              </m:ctrlPr>
                            </m:dPr>
                            <m:e>
                              <m:f>
                                <m:fPr>
                                  <m:ctrlPr>
                                    <a:rPr lang="en-US" i="1">
                                      <a:latin typeface="Cambria Math" panose="02040503050406030204" pitchFamily="18" charset="0"/>
                                    </a:rPr>
                                  </m:ctrlPr>
                                </m:fPr>
                                <m:num>
                                  <m:r>
                                    <a:rPr lang="es-BO" i="1">
                                      <a:latin typeface="Cambria Math" panose="02040503050406030204" pitchFamily="18" charset="0"/>
                                    </a:rPr>
                                    <m:t>1</m:t>
                                  </m:r>
                                </m:num>
                                <m:den>
                                  <m:r>
                                    <a:rPr lang="es-BO" i="1">
                                      <a:latin typeface="Cambria Math" panose="02040503050406030204" pitchFamily="18" charset="0"/>
                                    </a:rPr>
                                    <m:t>1583,75</m:t>
                                  </m:r>
                                </m:den>
                              </m:f>
                            </m:e>
                          </m:d>
                        </m:e>
                        <m:sup>
                          <m:r>
                            <a:rPr lang="es-BO" i="1">
                              <a:latin typeface="Cambria Math" panose="02040503050406030204" pitchFamily="18" charset="0"/>
                            </a:rPr>
                            <m:t>−1</m:t>
                          </m:r>
                        </m:sup>
                      </m:sSup>
                      <m:r>
                        <a:rPr lang="es-BO" i="1">
                          <a:latin typeface="Cambria Math" panose="02040503050406030204" pitchFamily="18" charset="0"/>
                        </a:rPr>
                        <m:t>∗</m:t>
                      </m:r>
                      <m:d>
                        <m:dPr>
                          <m:begChr m:val="["/>
                          <m:endChr m:val="]"/>
                          <m:ctrlPr>
                            <a:rPr lang="en-US" i="1">
                              <a:latin typeface="Cambria Math" panose="02040503050406030204" pitchFamily="18" charset="0"/>
                            </a:rPr>
                          </m:ctrlPr>
                        </m:dPr>
                        <m:e>
                          <m:f>
                            <m:fPr>
                              <m:ctrlPr>
                                <a:rPr lang="en-US" i="1">
                                  <a:latin typeface="Cambria Math" panose="02040503050406030204" pitchFamily="18" charset="0"/>
                                </a:rPr>
                              </m:ctrlPr>
                            </m:fPr>
                            <m:num>
                              <m:r>
                                <a:rPr lang="es-BO" i="1">
                                  <a:latin typeface="Cambria Math" panose="02040503050406030204" pitchFamily="18" charset="0"/>
                                </a:rPr>
                                <m:t>−1</m:t>
                              </m:r>
                            </m:num>
                            <m:den>
                              <m:r>
                                <a:rPr lang="es-BO" i="1">
                                  <a:latin typeface="Cambria Math" panose="02040503050406030204" pitchFamily="18" charset="0"/>
                                </a:rPr>
                                <m:t>152,5</m:t>
                              </m:r>
                            </m:den>
                          </m:f>
                          <m:r>
                            <a:rPr lang="es-BO" b="0" i="1" smtClean="0">
                              <a:latin typeface="Cambria Math" panose="02040503050406030204" pitchFamily="18" charset="0"/>
                            </a:rPr>
                            <m:t>+</m:t>
                          </m:r>
                          <m:r>
                            <a:rPr lang="es-MX" i="1">
                              <a:latin typeface="Cambria Math" panose="02040503050406030204" pitchFamily="18" charset="0"/>
                              <a:ea typeface="Calibri" panose="020F0502020204030204" pitchFamily="34" charset="0"/>
                              <a:cs typeface="Arial" panose="020B0604020202020204" pitchFamily="34" charset="0"/>
                            </a:rPr>
                            <m:t>16.6667∙</m:t>
                          </m:r>
                          <m:sSup>
                            <m:sSupPr>
                              <m:ctrlPr>
                                <a:rPr lang="en-US" i="1">
                                  <a:latin typeface="Cambria Math" panose="02040503050406030204" pitchFamily="18" charset="0"/>
                                  <a:ea typeface="Calibri" panose="020F0502020204030204" pitchFamily="34" charset="0"/>
                                  <a:cs typeface="Arial" panose="020B0604020202020204" pitchFamily="34" charset="0"/>
                                </a:rPr>
                              </m:ctrlPr>
                            </m:sSupPr>
                            <m:e>
                              <m:r>
                                <a:rPr lang="es-MX" i="1">
                                  <a:latin typeface="Cambria Math" panose="02040503050406030204" pitchFamily="18" charset="0"/>
                                  <a:ea typeface="Calibri" panose="020F0502020204030204" pitchFamily="34" charset="0"/>
                                  <a:cs typeface="Arial" panose="020B0604020202020204" pitchFamily="34" charset="0"/>
                                </a:rPr>
                                <m:t>10</m:t>
                              </m:r>
                            </m:e>
                            <m:sup>
                              <m:r>
                                <a:rPr lang="es-MX" i="1">
                                  <a:latin typeface="Cambria Math" panose="02040503050406030204" pitchFamily="18" charset="0"/>
                                  <a:ea typeface="Calibri" panose="020F0502020204030204" pitchFamily="34" charset="0"/>
                                  <a:cs typeface="Arial" panose="020B0604020202020204" pitchFamily="34" charset="0"/>
                                </a:rPr>
                                <m:t>−3</m:t>
                              </m:r>
                            </m:sup>
                          </m:sSup>
                        </m:e>
                      </m:d>
                    </m:oMath>
                  </m:oMathPara>
                </a14:m>
                <a:endParaRPr lang="en-US" dirty="0"/>
              </a:p>
              <a:p>
                <a:pPr marL="0" indent="0">
                  <a:buNone/>
                </a:pPr>
                <a14:m>
                  <m:oMathPara xmlns:m="http://schemas.openxmlformats.org/officeDocument/2006/math">
                    <m:oMathParaPr>
                      <m:jc m:val="centerGroup"/>
                    </m:oMathParaPr>
                    <m:oMath xmlns:m="http://schemas.openxmlformats.org/officeDocument/2006/math">
                      <m:r>
                        <a:rPr lang="es-BO" i="1">
                          <a:latin typeface="Cambria Math" panose="02040503050406030204" pitchFamily="18" charset="0"/>
                        </a:rPr>
                        <m:t>𝐾</m:t>
                      </m:r>
                      <m:r>
                        <a:rPr lang="es-BO" i="1">
                          <a:latin typeface="Cambria Math" panose="02040503050406030204" pitchFamily="18" charset="0"/>
                        </a:rPr>
                        <m:t>=1∗3166.5∗1.3737∗</m:t>
                      </m:r>
                      <m:sSup>
                        <m:sSupPr>
                          <m:ctrlPr>
                            <a:rPr lang="en-US" i="1">
                              <a:latin typeface="Cambria Math" panose="02040503050406030204" pitchFamily="18" charset="0"/>
                            </a:rPr>
                          </m:ctrlPr>
                        </m:sSupPr>
                        <m:e>
                          <m:r>
                            <a:rPr lang="es-MX" i="1">
                              <a:latin typeface="Cambria Math" panose="02040503050406030204" pitchFamily="18" charset="0"/>
                            </a:rPr>
                            <m:t>10</m:t>
                          </m:r>
                        </m:e>
                        <m:sup>
                          <m:r>
                            <a:rPr lang="es-MX" i="1">
                              <a:latin typeface="Cambria Math" panose="02040503050406030204" pitchFamily="18" charset="0"/>
                            </a:rPr>
                            <m:t>−</m:t>
                          </m:r>
                          <m:r>
                            <a:rPr lang="es-BO" i="1">
                              <a:latin typeface="Cambria Math" panose="02040503050406030204" pitchFamily="18" charset="0"/>
                            </a:rPr>
                            <m:t>4</m:t>
                          </m:r>
                        </m:sup>
                      </m:sSup>
                    </m:oMath>
                  </m:oMathPara>
                </a14:m>
                <a:endParaRPr lang="en-US" dirty="0"/>
              </a:p>
              <a:p>
                <a:pPr marL="0" indent="0">
                  <a:buNone/>
                </a:pPr>
                <a14:m>
                  <m:oMathPara xmlns:m="http://schemas.openxmlformats.org/officeDocument/2006/math">
                    <m:oMathParaPr>
                      <m:jc m:val="centerGroup"/>
                    </m:oMathParaPr>
                    <m:oMath xmlns:m="http://schemas.openxmlformats.org/officeDocument/2006/math">
                      <m:r>
                        <a:rPr lang="es-BO" b="1" i="1">
                          <a:latin typeface="Cambria Math" panose="02040503050406030204" pitchFamily="18" charset="0"/>
                        </a:rPr>
                        <m:t>𝑲</m:t>
                      </m:r>
                      <m:r>
                        <a:rPr lang="es-BO" b="1" i="1">
                          <a:latin typeface="Cambria Math" panose="02040503050406030204" pitchFamily="18" charset="0"/>
                        </a:rPr>
                        <m:t>=</m:t>
                      </m:r>
                      <m:r>
                        <a:rPr lang="es-BO" b="1" i="1" smtClean="0">
                          <a:latin typeface="Cambria Math" panose="02040503050406030204" pitchFamily="18" charset="0"/>
                        </a:rPr>
                        <m:t>𝟏𝟔</m:t>
                      </m:r>
                      <m:r>
                        <a:rPr lang="es-BO" b="1" i="1" smtClean="0">
                          <a:latin typeface="Cambria Math" panose="02040503050406030204" pitchFamily="18" charset="0"/>
                        </a:rPr>
                        <m:t>.</m:t>
                      </m:r>
                      <m:r>
                        <a:rPr lang="es-BO" b="1" i="1" smtClean="0">
                          <a:latin typeface="Cambria Math" panose="02040503050406030204" pitchFamily="18" charset="0"/>
                        </a:rPr>
                        <m:t>𝟎𝟐</m:t>
                      </m:r>
                    </m:oMath>
                  </m:oMathPara>
                </a14:m>
                <a:endParaRPr lang="en-US" dirty="0"/>
              </a:p>
              <a:p>
                <a:pPr marL="0" indent="0">
                  <a:buNone/>
                </a:pPr>
                <a:r>
                  <a:rPr lang="es-BO" dirty="0"/>
                  <a:t>Calculamos la matriz de recompensación para el seguimiento a referencia:</a:t>
                </a:r>
                <a:endParaRPr lang="en-US" dirty="0"/>
              </a:p>
              <a:p>
                <a:pPr marL="0" indent="0">
                  <a:buNone/>
                </a:pPr>
                <a14:m>
                  <m:oMathPara xmlns:m="http://schemas.openxmlformats.org/officeDocument/2006/math">
                    <m:oMathParaPr>
                      <m:jc m:val="centerGroup"/>
                    </m:oMathParaPr>
                    <m:oMath xmlns:m="http://schemas.openxmlformats.org/officeDocument/2006/math">
                      <m:r>
                        <a:rPr lang="es-BO" i="1">
                          <a:latin typeface="Cambria Math" panose="02040503050406030204" pitchFamily="18" charset="0"/>
                        </a:rPr>
                        <m:t>𝐺</m:t>
                      </m:r>
                      <m:d>
                        <m:dPr>
                          <m:ctrlPr>
                            <a:rPr lang="en-US" i="1">
                              <a:latin typeface="Cambria Math" panose="02040503050406030204" pitchFamily="18" charset="0"/>
                            </a:rPr>
                          </m:ctrlPr>
                        </m:dPr>
                        <m:e>
                          <m:r>
                            <a:rPr lang="es-BO" i="1">
                              <a:latin typeface="Cambria Math" panose="02040503050406030204" pitchFamily="18" charset="0"/>
                            </a:rPr>
                            <m:t>𝑠</m:t>
                          </m:r>
                        </m:e>
                      </m:d>
                      <m:r>
                        <a:rPr lang="es-BO" i="1">
                          <a:latin typeface="Cambria Math" panose="02040503050406030204" pitchFamily="18" charset="0"/>
                        </a:rPr>
                        <m:t>=</m:t>
                      </m:r>
                      <m:sSup>
                        <m:sSupPr>
                          <m:ctrlPr>
                            <a:rPr lang="en-US" i="1">
                              <a:latin typeface="Cambria Math" panose="02040503050406030204" pitchFamily="18" charset="0"/>
                            </a:rPr>
                          </m:ctrlPr>
                        </m:sSupPr>
                        <m:e>
                          <m:r>
                            <a:rPr lang="es-BO" i="1">
                              <a:latin typeface="Cambria Math" panose="02040503050406030204" pitchFamily="18" charset="0"/>
                            </a:rPr>
                            <m:t>𝐶</m:t>
                          </m:r>
                          <m:r>
                            <a:rPr lang="es-BO" i="1">
                              <a:latin typeface="Cambria Math" panose="02040503050406030204" pitchFamily="18" charset="0"/>
                            </a:rPr>
                            <m:t>∗</m:t>
                          </m:r>
                          <m:d>
                            <m:dPr>
                              <m:ctrlPr>
                                <a:rPr lang="en-US" i="1">
                                  <a:latin typeface="Cambria Math" panose="02040503050406030204" pitchFamily="18" charset="0"/>
                                </a:rPr>
                              </m:ctrlPr>
                            </m:dPr>
                            <m:e>
                              <m:r>
                                <a:rPr lang="es-BO" i="1">
                                  <a:latin typeface="Cambria Math" panose="02040503050406030204" pitchFamily="18" charset="0"/>
                                </a:rPr>
                                <m:t>𝑠𝐼</m:t>
                              </m:r>
                              <m:r>
                                <a:rPr lang="es-BO" i="1">
                                  <a:latin typeface="Cambria Math" panose="02040503050406030204" pitchFamily="18" charset="0"/>
                                </a:rPr>
                                <m:t>−(</m:t>
                              </m:r>
                              <m:r>
                                <a:rPr lang="es-BO" i="1">
                                  <a:latin typeface="Cambria Math" panose="02040503050406030204" pitchFamily="18" charset="0"/>
                                </a:rPr>
                                <m:t>𝐴</m:t>
                              </m:r>
                              <m:r>
                                <a:rPr lang="es-BO" i="1">
                                  <a:latin typeface="Cambria Math" panose="02040503050406030204" pitchFamily="18" charset="0"/>
                                </a:rPr>
                                <m:t>−</m:t>
                              </m:r>
                              <m:r>
                                <a:rPr lang="es-BO" i="1">
                                  <a:latin typeface="Cambria Math" panose="02040503050406030204" pitchFamily="18" charset="0"/>
                                </a:rPr>
                                <m:t>𝐵𝐾</m:t>
                              </m:r>
                              <m:r>
                                <a:rPr lang="es-BO" i="1">
                                  <a:latin typeface="Cambria Math" panose="02040503050406030204" pitchFamily="18" charset="0"/>
                                </a:rPr>
                                <m:t>)</m:t>
                              </m:r>
                            </m:e>
                          </m:d>
                        </m:e>
                        <m:sup>
                          <m:r>
                            <a:rPr lang="es-BO" i="1">
                              <a:latin typeface="Cambria Math" panose="02040503050406030204" pitchFamily="18" charset="0"/>
                            </a:rPr>
                            <m:t>−1</m:t>
                          </m:r>
                        </m:sup>
                      </m:sSup>
                      <m:r>
                        <a:rPr lang="es-BO" i="1">
                          <a:latin typeface="Cambria Math" panose="02040503050406030204" pitchFamily="18" charset="0"/>
                        </a:rPr>
                        <m:t>∗</m:t>
                      </m:r>
                      <m:r>
                        <a:rPr lang="es-BO" i="1">
                          <a:latin typeface="Cambria Math" panose="02040503050406030204" pitchFamily="18" charset="0"/>
                        </a:rPr>
                        <m:t>𝐵</m:t>
                      </m:r>
                      <m:r>
                        <a:rPr lang="es-BO" i="1">
                          <a:latin typeface="Cambria Math" panose="02040503050406030204" pitchFamily="18" charset="0"/>
                        </a:rPr>
                        <m:t> →    </m:t>
                      </m:r>
                      <m:r>
                        <a:rPr lang="es-BO" i="1">
                          <a:latin typeface="Cambria Math" panose="02040503050406030204" pitchFamily="18" charset="0"/>
                        </a:rPr>
                        <m:t>𝐺</m:t>
                      </m:r>
                      <m:d>
                        <m:dPr>
                          <m:ctrlPr>
                            <a:rPr lang="en-US" i="1">
                              <a:latin typeface="Cambria Math" panose="02040503050406030204" pitchFamily="18" charset="0"/>
                            </a:rPr>
                          </m:ctrlPr>
                        </m:dPr>
                        <m:e>
                          <m:r>
                            <a:rPr lang="es-BO" i="1">
                              <a:latin typeface="Cambria Math" panose="02040503050406030204" pitchFamily="18" charset="0"/>
                            </a:rPr>
                            <m:t>𝑠</m:t>
                          </m:r>
                        </m:e>
                      </m:d>
                      <m:r>
                        <a:rPr lang="es-BO" i="1">
                          <a:latin typeface="Cambria Math" panose="02040503050406030204" pitchFamily="18" charset="0"/>
                        </a:rPr>
                        <m:t>=</m:t>
                      </m:r>
                      <m:f>
                        <m:fPr>
                          <m:ctrlPr>
                            <a:rPr lang="en-US" i="1">
                              <a:latin typeface="Cambria Math" panose="02040503050406030204" pitchFamily="18" charset="0"/>
                            </a:rPr>
                          </m:ctrlPr>
                        </m:fPr>
                        <m:num>
                          <m:r>
                            <a:rPr lang="es-BO" i="1">
                              <a:latin typeface="Cambria Math" panose="02040503050406030204" pitchFamily="18" charset="0"/>
                            </a:rPr>
                            <m:t>6</m:t>
                          </m:r>
                          <m:r>
                            <a:rPr lang="es-BO" b="0" i="1" smtClean="0">
                              <a:latin typeface="Cambria Math" panose="02040503050406030204" pitchFamily="18" charset="0"/>
                            </a:rPr>
                            <m:t>.314∗</m:t>
                          </m:r>
                          <m:sSup>
                            <m:sSupPr>
                              <m:ctrlPr>
                                <a:rPr lang="en-US" i="1">
                                  <a:latin typeface="Cambria Math" panose="02040503050406030204" pitchFamily="18" charset="0"/>
                                </a:rPr>
                              </m:ctrlPr>
                            </m:sSupPr>
                            <m:e>
                              <m:r>
                                <a:rPr lang="es-MX" i="1">
                                  <a:latin typeface="Cambria Math" panose="02040503050406030204" pitchFamily="18" charset="0"/>
                                </a:rPr>
                                <m:t>10</m:t>
                              </m:r>
                            </m:e>
                            <m:sup>
                              <m:r>
                                <a:rPr lang="es-MX" i="1">
                                  <a:latin typeface="Cambria Math" panose="02040503050406030204" pitchFamily="18" charset="0"/>
                                </a:rPr>
                                <m:t>−</m:t>
                              </m:r>
                              <m:r>
                                <a:rPr lang="es-BO" b="0" i="1" smtClean="0">
                                  <a:latin typeface="Cambria Math" panose="02040503050406030204" pitchFamily="18" charset="0"/>
                                </a:rPr>
                                <m:t>4</m:t>
                              </m:r>
                            </m:sup>
                          </m:sSup>
                        </m:num>
                        <m:den>
                          <m:r>
                            <a:rPr lang="es-BO" i="1">
                              <a:latin typeface="Cambria Math" panose="02040503050406030204" pitchFamily="18" charset="0"/>
                            </a:rPr>
                            <m:t>𝑠</m:t>
                          </m:r>
                          <m:r>
                            <a:rPr lang="es-BO" i="1">
                              <a:latin typeface="Cambria Math" panose="02040503050406030204" pitchFamily="18" charset="0"/>
                            </a:rPr>
                            <m:t>+16.6667∙</m:t>
                          </m:r>
                          <m:sSup>
                            <m:sSupPr>
                              <m:ctrlPr>
                                <a:rPr lang="en-US" i="1">
                                  <a:latin typeface="Cambria Math" panose="02040503050406030204" pitchFamily="18" charset="0"/>
                                </a:rPr>
                              </m:ctrlPr>
                            </m:sSupPr>
                            <m:e>
                              <m:r>
                                <a:rPr lang="es-MX" i="1">
                                  <a:latin typeface="Cambria Math" panose="02040503050406030204" pitchFamily="18" charset="0"/>
                                </a:rPr>
                                <m:t>10</m:t>
                              </m:r>
                            </m:e>
                            <m:sup>
                              <m:r>
                                <a:rPr lang="es-MX" i="1">
                                  <a:latin typeface="Cambria Math" panose="02040503050406030204" pitchFamily="18" charset="0"/>
                                </a:rPr>
                                <m:t>−3</m:t>
                              </m:r>
                            </m:sup>
                          </m:sSup>
                        </m:den>
                      </m:f>
                    </m:oMath>
                  </m:oMathPara>
                </a14:m>
                <a:endParaRPr lang="en-US" dirty="0"/>
              </a:p>
              <a:p>
                <a:pPr marL="0" indent="0">
                  <a:buNone/>
                </a:pPr>
                <a14:m>
                  <m:oMathPara xmlns:m="http://schemas.openxmlformats.org/officeDocument/2006/math">
                    <m:oMathParaPr>
                      <m:jc m:val="centerGroup"/>
                    </m:oMathParaPr>
                    <m:oMath xmlns:m="http://schemas.openxmlformats.org/officeDocument/2006/math">
                      <m:r>
                        <a:rPr lang="es-BO" i="1">
                          <a:latin typeface="Cambria Math" panose="02040503050406030204" pitchFamily="18" charset="0"/>
                        </a:rPr>
                        <m:t>𝑆𝑖</m:t>
                      </m:r>
                      <m:r>
                        <a:rPr lang="es-BO" i="1">
                          <a:latin typeface="Cambria Math" panose="02040503050406030204" pitchFamily="18" charset="0"/>
                        </a:rPr>
                        <m:t>: </m:t>
                      </m:r>
                      <m:r>
                        <a:rPr lang="es-BO" i="1">
                          <a:latin typeface="Cambria Math" panose="02040503050406030204" pitchFamily="18" charset="0"/>
                        </a:rPr>
                        <m:t>𝑠</m:t>
                      </m:r>
                      <m:r>
                        <a:rPr lang="es-BO" i="1">
                          <a:latin typeface="Cambria Math" panose="02040503050406030204" pitchFamily="18" charset="0"/>
                        </a:rPr>
                        <m:t>→0     </m:t>
                      </m:r>
                      <m:r>
                        <a:rPr lang="es-BO" i="1">
                          <a:latin typeface="Cambria Math" panose="02040503050406030204" pitchFamily="18" charset="0"/>
                        </a:rPr>
                        <m:t>𝑒𝑛𝑡𝑜𝑛𝑐𝑒𝑠</m:t>
                      </m:r>
                      <m:r>
                        <a:rPr lang="es-BO" i="1">
                          <a:latin typeface="Cambria Math" panose="02040503050406030204" pitchFamily="18" charset="0"/>
                        </a:rPr>
                        <m:t>:     </m:t>
                      </m:r>
                      <m:f>
                        <m:fPr>
                          <m:ctrlPr>
                            <a:rPr lang="en-US" i="1">
                              <a:latin typeface="Cambria Math" panose="02040503050406030204" pitchFamily="18" charset="0"/>
                            </a:rPr>
                          </m:ctrlPr>
                        </m:fPr>
                        <m:num>
                          <m:r>
                            <a:rPr lang="es-BO" i="1">
                              <a:latin typeface="Cambria Math" panose="02040503050406030204" pitchFamily="18" charset="0"/>
                            </a:rPr>
                            <m:t>1</m:t>
                          </m:r>
                        </m:num>
                        <m:den>
                          <m:r>
                            <a:rPr lang="es-BO" i="1">
                              <a:latin typeface="Cambria Math" panose="02040503050406030204" pitchFamily="18" charset="0"/>
                            </a:rPr>
                            <m:t>𝑁</m:t>
                          </m:r>
                        </m:den>
                      </m:f>
                      <m:r>
                        <a:rPr lang="es-BO" i="1">
                          <a:latin typeface="Cambria Math" panose="02040503050406030204" pitchFamily="18" charset="0"/>
                        </a:rPr>
                        <m:t>=37.</m:t>
                      </m:r>
                      <m:r>
                        <a:rPr lang="es-BO" b="0" i="1" smtClean="0">
                          <a:latin typeface="Cambria Math" panose="02040503050406030204" pitchFamily="18" charset="0"/>
                        </a:rPr>
                        <m:t>8770</m:t>
                      </m:r>
                      <m:r>
                        <a:rPr lang="es-MX" i="1">
                          <a:latin typeface="Cambria Math" panose="02040503050406030204" pitchFamily="18" charset="0"/>
                        </a:rPr>
                        <m:t>∙</m:t>
                      </m:r>
                      <m:sSup>
                        <m:sSupPr>
                          <m:ctrlPr>
                            <a:rPr lang="en-US" i="1">
                              <a:latin typeface="Cambria Math" panose="02040503050406030204" pitchFamily="18" charset="0"/>
                            </a:rPr>
                          </m:ctrlPr>
                        </m:sSupPr>
                        <m:e>
                          <m:r>
                            <a:rPr lang="es-MX" i="1">
                              <a:latin typeface="Cambria Math" panose="02040503050406030204" pitchFamily="18" charset="0"/>
                            </a:rPr>
                            <m:t>10</m:t>
                          </m:r>
                        </m:e>
                        <m:sup>
                          <m:r>
                            <a:rPr lang="es-MX" i="1">
                              <a:latin typeface="Cambria Math" panose="02040503050406030204" pitchFamily="18" charset="0"/>
                            </a:rPr>
                            <m:t>−3</m:t>
                          </m:r>
                        </m:sup>
                      </m:sSup>
                      <m:r>
                        <a:rPr lang="es-MX" i="1">
                          <a:latin typeface="Cambria Math" panose="02040503050406030204" pitchFamily="18" charset="0"/>
                        </a:rPr>
                        <m:t>  →   </m:t>
                      </m:r>
                      <m:r>
                        <a:rPr lang="es-MX" b="1" i="1">
                          <a:latin typeface="Cambria Math" panose="02040503050406030204" pitchFamily="18" charset="0"/>
                        </a:rPr>
                        <m:t>𝑵</m:t>
                      </m:r>
                      <m:r>
                        <a:rPr lang="es-MX" b="1" i="1">
                          <a:latin typeface="Cambria Math" panose="02040503050406030204" pitchFamily="18" charset="0"/>
                        </a:rPr>
                        <m:t>=</m:t>
                      </m:r>
                      <m:r>
                        <a:rPr lang="es-MX" b="1" i="1">
                          <a:latin typeface="Cambria Math" panose="02040503050406030204" pitchFamily="18" charset="0"/>
                        </a:rPr>
                        <m:t>𝟐𝟔</m:t>
                      </m:r>
                      <m:r>
                        <a:rPr lang="es-MX" b="1" i="1">
                          <a:latin typeface="Cambria Math" panose="02040503050406030204" pitchFamily="18" charset="0"/>
                        </a:rPr>
                        <m:t>.</m:t>
                      </m:r>
                      <m:r>
                        <a:rPr lang="es-BO" b="1" i="1" smtClean="0">
                          <a:latin typeface="Cambria Math" panose="02040503050406030204" pitchFamily="18" charset="0"/>
                        </a:rPr>
                        <m:t>𝟒𝟎𝟏𝟐</m:t>
                      </m:r>
                    </m:oMath>
                  </m:oMathPara>
                </a14:m>
                <a:endParaRPr lang="en-US" dirty="0"/>
              </a:p>
            </p:txBody>
          </p:sp>
        </mc:Choice>
        <mc:Fallback xmlns="">
          <p:sp>
            <p:nvSpPr>
              <p:cNvPr id="3" name="Marcador de contenido 2"/>
              <p:cNvSpPr>
                <a:spLocks noGrp="1" noRot="1" noChangeAspect="1" noMove="1" noResize="1" noEditPoints="1" noAdjustHandles="1" noChangeArrowheads="1" noChangeShapeType="1" noTextEdit="1"/>
              </p:cNvSpPr>
              <p:nvPr>
                <p:ph idx="1"/>
              </p:nvPr>
            </p:nvSpPr>
            <p:spPr>
              <a:xfrm>
                <a:off x="939218" y="1332411"/>
                <a:ext cx="9667822" cy="5068388"/>
              </a:xfrm>
              <a:blipFill>
                <a:blip r:embed="rId2"/>
                <a:stretch>
                  <a:fillRect t="-108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CuadroTexto 3"/>
              <p:cNvSpPr txBox="1"/>
              <p:nvPr/>
            </p:nvSpPr>
            <p:spPr>
              <a:xfrm>
                <a:off x="8565574" y="1162015"/>
                <a:ext cx="3328668" cy="523220"/>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pPr/>
                <a14:m>
                  <m:oMathPara xmlns:m="http://schemas.openxmlformats.org/officeDocument/2006/math">
                    <m:oMathParaPr>
                      <m:jc m:val="centerGroup"/>
                    </m:oMathParaPr>
                    <m:oMath xmlns:m="http://schemas.openxmlformats.org/officeDocument/2006/math">
                      <m:r>
                        <a:rPr lang="es-BO" sz="2800" b="1" i="1" smtClean="0">
                          <a:latin typeface="Cambria Math" panose="02040503050406030204" pitchFamily="18" charset="0"/>
                        </a:rPr>
                        <m:t>𝑻𝑬𝑶𝑹𝑰𝑪𝑶</m:t>
                      </m:r>
                    </m:oMath>
                  </m:oMathPara>
                </a14:m>
                <a:endParaRPr lang="es-BO" b="1" dirty="0"/>
              </a:p>
            </p:txBody>
          </p:sp>
        </mc:Choice>
        <mc:Fallback xmlns="">
          <p:sp>
            <p:nvSpPr>
              <p:cNvPr id="4" name="CuadroTexto 3"/>
              <p:cNvSpPr txBox="1">
                <a:spLocks noRot="1" noChangeAspect="1" noMove="1" noResize="1" noEditPoints="1" noAdjustHandles="1" noChangeArrowheads="1" noChangeShapeType="1" noTextEdit="1"/>
              </p:cNvSpPr>
              <p:nvPr/>
            </p:nvSpPr>
            <p:spPr>
              <a:xfrm>
                <a:off x="8565574" y="1162015"/>
                <a:ext cx="3328668" cy="523220"/>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Rectángulo 4"/>
              <p:cNvSpPr/>
              <p:nvPr/>
            </p:nvSpPr>
            <p:spPr>
              <a:xfrm>
                <a:off x="7350034" y="2933047"/>
                <a:ext cx="4447519" cy="1441100"/>
              </a:xfrm>
              <a:prstGeom prst="rect">
                <a:avLst/>
              </a:prstGeom>
            </p:spPr>
            <p:txBody>
              <a:bodyPr wrap="square">
                <a:spAutoFit/>
              </a:bodyPr>
              <a:lstStyle/>
              <a:p>
                <a:pPr>
                  <a:lnSpc>
                    <a:spcPct val="107000"/>
                  </a:lnSpc>
                  <a:spcBef>
                    <a:spcPts val="600"/>
                  </a:spcBef>
                  <a:spcAft>
                    <a:spcPts val="600"/>
                  </a:spcAft>
                </a:pPr>
                <a:r>
                  <a:rPr lang="es-BO" sz="1200" dirty="0">
                    <a:latin typeface="Calibri" panose="020F0502020204030204" pitchFamily="34" charset="0"/>
                    <a:ea typeface="Times New Roman" panose="02020603050405020304" pitchFamily="18" charset="0"/>
                    <a:cs typeface="Times New Roman" panose="02020603050405020304" pitchFamily="18" charset="0"/>
                  </a:rPr>
                  <a:t>Sea el polinomio característico de un sistema deseado:</a:t>
                </a:r>
                <a:endParaRPr lang="en-US" sz="12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Bef>
                    <a:spcPts val="600"/>
                  </a:spcBef>
                  <a:spcAft>
                    <a:spcPts val="600"/>
                  </a:spcAft>
                </a:pPr>
                <a14:m>
                  <m:oMathPara xmlns:m="http://schemas.openxmlformats.org/officeDocument/2006/math">
                    <m:oMathParaPr>
                      <m:jc m:val="centerGroup"/>
                    </m:oMathParaPr>
                    <m:oMath xmlns:m="http://schemas.openxmlformats.org/officeDocument/2006/math">
                      <m:r>
                        <a:rPr lang="es-MX" sz="1200" i="1">
                          <a:latin typeface="Cambria Math" panose="02040503050406030204" pitchFamily="18" charset="0"/>
                          <a:ea typeface="Calibri" panose="020F0502020204030204" pitchFamily="34" charset="0"/>
                          <a:cs typeface="Arial" panose="020B0604020202020204" pitchFamily="34" charset="0"/>
                        </a:rPr>
                        <m:t>𝑠</m:t>
                      </m:r>
                      <m:r>
                        <a:rPr lang="es-MX" sz="1200" i="1">
                          <a:latin typeface="Cambria Math" panose="02040503050406030204" pitchFamily="18" charset="0"/>
                          <a:ea typeface="Calibri" panose="020F0502020204030204" pitchFamily="34" charset="0"/>
                          <a:cs typeface="Arial" panose="020B0604020202020204" pitchFamily="34" charset="0"/>
                        </a:rPr>
                        <m:t>+</m:t>
                      </m:r>
                      <m:f>
                        <m:fPr>
                          <m:ctrlPr>
                            <a:rPr lang="en-US" sz="1200" i="1">
                              <a:latin typeface="Cambria Math" panose="02040503050406030204" pitchFamily="18" charset="0"/>
                              <a:ea typeface="Calibri" panose="020F0502020204030204" pitchFamily="34" charset="0"/>
                              <a:cs typeface="Arial" panose="020B0604020202020204" pitchFamily="34" charset="0"/>
                            </a:rPr>
                          </m:ctrlPr>
                        </m:fPr>
                        <m:num>
                          <m:r>
                            <a:rPr lang="es-MX" sz="1200" i="1">
                              <a:latin typeface="Cambria Math" panose="02040503050406030204" pitchFamily="18" charset="0"/>
                              <a:ea typeface="Calibri" panose="020F0502020204030204" pitchFamily="34" charset="0"/>
                              <a:cs typeface="Arial" panose="020B0604020202020204" pitchFamily="34" charset="0"/>
                            </a:rPr>
                            <m:t>1</m:t>
                          </m:r>
                        </m:num>
                        <m:den>
                          <m:r>
                            <a:rPr lang="es-MX" sz="1200" i="1">
                              <a:latin typeface="Cambria Math" panose="02040503050406030204" pitchFamily="18" charset="0"/>
                              <a:ea typeface="Calibri" panose="020F0502020204030204" pitchFamily="34" charset="0"/>
                              <a:cs typeface="Arial" panose="020B0604020202020204" pitchFamily="34" charset="0"/>
                            </a:rPr>
                            <m:t>𝜏</m:t>
                          </m:r>
                        </m:den>
                      </m:f>
                      <m:r>
                        <a:rPr lang="es-MX" sz="1200" i="1">
                          <a:latin typeface="Cambria Math" panose="02040503050406030204" pitchFamily="18" charset="0"/>
                          <a:ea typeface="Calibri" panose="020F0502020204030204" pitchFamily="34" charset="0"/>
                          <a:cs typeface="Arial" panose="020B0604020202020204" pitchFamily="34" charset="0"/>
                        </a:rPr>
                        <m:t>      →    </m:t>
                      </m:r>
                      <m:r>
                        <a:rPr lang="es-MX" sz="1200" i="1">
                          <a:latin typeface="Cambria Math" panose="02040503050406030204" pitchFamily="18" charset="0"/>
                          <a:ea typeface="Calibri" panose="020F0502020204030204" pitchFamily="34" charset="0"/>
                          <a:cs typeface="Arial" panose="020B0604020202020204" pitchFamily="34" charset="0"/>
                        </a:rPr>
                        <m:t>𝑠</m:t>
                      </m:r>
                      <m:r>
                        <a:rPr lang="es-MX" sz="1200" i="1">
                          <a:latin typeface="Cambria Math" panose="02040503050406030204" pitchFamily="18" charset="0"/>
                          <a:ea typeface="Calibri" panose="020F0502020204030204" pitchFamily="34" charset="0"/>
                          <a:cs typeface="Arial" panose="020B0604020202020204" pitchFamily="34" charset="0"/>
                        </a:rPr>
                        <m:t>+16.6667∙</m:t>
                      </m:r>
                      <m:sSup>
                        <m:sSupPr>
                          <m:ctrlPr>
                            <a:rPr lang="en-US" sz="1200" i="1">
                              <a:latin typeface="Cambria Math" panose="02040503050406030204" pitchFamily="18" charset="0"/>
                              <a:ea typeface="Calibri" panose="020F0502020204030204" pitchFamily="34" charset="0"/>
                              <a:cs typeface="Arial" panose="020B0604020202020204" pitchFamily="34" charset="0"/>
                            </a:rPr>
                          </m:ctrlPr>
                        </m:sSupPr>
                        <m:e>
                          <m:r>
                            <a:rPr lang="es-MX" sz="1200" i="1">
                              <a:latin typeface="Cambria Math" panose="02040503050406030204" pitchFamily="18" charset="0"/>
                              <a:ea typeface="Calibri" panose="020F0502020204030204" pitchFamily="34" charset="0"/>
                              <a:cs typeface="Arial" panose="020B0604020202020204" pitchFamily="34" charset="0"/>
                            </a:rPr>
                            <m:t>10</m:t>
                          </m:r>
                        </m:e>
                        <m:sup>
                          <m:r>
                            <a:rPr lang="es-MX" sz="1200" i="1">
                              <a:latin typeface="Cambria Math" panose="02040503050406030204" pitchFamily="18" charset="0"/>
                              <a:ea typeface="Calibri" panose="020F0502020204030204" pitchFamily="34" charset="0"/>
                              <a:cs typeface="Arial" panose="020B0604020202020204" pitchFamily="34" charset="0"/>
                            </a:rPr>
                            <m:t>−3</m:t>
                          </m:r>
                        </m:sup>
                      </m:sSup>
                    </m:oMath>
                  </m:oMathPara>
                </a14:m>
                <a:endParaRPr lang="en-US" sz="12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Bef>
                    <a:spcPts val="600"/>
                  </a:spcBef>
                  <a:spcAft>
                    <a:spcPts val="600"/>
                  </a:spcAft>
                </a:pPr>
                <a:r>
                  <a:rPr lang="es-MX" sz="1200" dirty="0">
                    <a:latin typeface="Calibri" panose="020F0502020204030204" pitchFamily="34" charset="0"/>
                    <a:ea typeface="Times New Roman" panose="02020603050405020304" pitchFamily="18" charset="0"/>
                    <a:cs typeface="Times New Roman" panose="02020603050405020304" pitchFamily="18" charset="0"/>
                  </a:rPr>
                  <a:t>La raíz que deseamos será:</a:t>
                </a:r>
                <a:endParaRPr lang="en-US" sz="12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Bef>
                    <a:spcPts val="600"/>
                  </a:spcBef>
                  <a:spcAft>
                    <a:spcPts val="600"/>
                  </a:spcAft>
                </a:pPr>
                <a14:m>
                  <m:oMathPara xmlns:m="http://schemas.openxmlformats.org/officeDocument/2006/math">
                    <m:oMathParaPr>
                      <m:jc m:val="centerGroup"/>
                    </m:oMathParaPr>
                    <m:oMath xmlns:m="http://schemas.openxmlformats.org/officeDocument/2006/math">
                      <m:r>
                        <a:rPr lang="es-BO" sz="1200" i="1">
                          <a:latin typeface="Cambria Math" panose="02040503050406030204" pitchFamily="18" charset="0"/>
                          <a:ea typeface="Times New Roman" panose="02020603050405020304" pitchFamily="18" charset="0"/>
                          <a:cs typeface="Times New Roman" panose="02020603050405020304" pitchFamily="18" charset="0"/>
                        </a:rPr>
                        <m:t>𝑠</m:t>
                      </m:r>
                      <m:r>
                        <a:rPr lang="es-BO" sz="1200" i="1">
                          <a:latin typeface="Cambria Math" panose="02040503050406030204" pitchFamily="18" charset="0"/>
                          <a:ea typeface="Times New Roman" panose="02020603050405020304" pitchFamily="18" charset="0"/>
                          <a:cs typeface="Times New Roman" panose="02020603050405020304" pitchFamily="18" charset="0"/>
                        </a:rPr>
                        <m:t>=−16.6667∙</m:t>
                      </m:r>
                      <m:sSup>
                        <m:sSupPr>
                          <m:ctrlPr>
                            <a:rPr lang="en-US" sz="1200" i="1">
                              <a:latin typeface="Cambria Math" panose="02040503050406030204" pitchFamily="18" charset="0"/>
                              <a:ea typeface="Calibri" panose="020F0502020204030204" pitchFamily="34" charset="0"/>
                              <a:cs typeface="Arial" panose="020B0604020202020204" pitchFamily="34" charset="0"/>
                            </a:rPr>
                          </m:ctrlPr>
                        </m:sSupPr>
                        <m:e>
                          <m:r>
                            <a:rPr lang="es-MX" sz="1200" i="1">
                              <a:latin typeface="Cambria Math" panose="02040503050406030204" pitchFamily="18" charset="0"/>
                              <a:ea typeface="Calibri" panose="020F0502020204030204" pitchFamily="34" charset="0"/>
                              <a:cs typeface="Arial" panose="020B0604020202020204" pitchFamily="34" charset="0"/>
                            </a:rPr>
                            <m:t>10</m:t>
                          </m:r>
                        </m:e>
                        <m:sup>
                          <m:r>
                            <a:rPr lang="es-MX" sz="1200" i="1">
                              <a:latin typeface="Cambria Math" panose="02040503050406030204" pitchFamily="18" charset="0"/>
                              <a:ea typeface="Calibri" panose="020F0502020204030204" pitchFamily="34" charset="0"/>
                              <a:cs typeface="Arial" panose="020B0604020202020204" pitchFamily="34" charset="0"/>
                            </a:rPr>
                            <m:t>−3</m:t>
                          </m:r>
                        </m:sup>
                      </m:sSup>
                    </m:oMath>
                  </m:oMathPara>
                </a14:m>
                <a:endParaRPr lang="en-US" sz="1200" dirty="0">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5" name="Rectángulo 4"/>
              <p:cNvSpPr>
                <a:spLocks noRot="1" noChangeAspect="1" noMove="1" noResize="1" noEditPoints="1" noAdjustHandles="1" noChangeArrowheads="1" noChangeShapeType="1" noTextEdit="1"/>
              </p:cNvSpPr>
              <p:nvPr/>
            </p:nvSpPr>
            <p:spPr>
              <a:xfrm>
                <a:off x="7350034" y="2933047"/>
                <a:ext cx="4447519" cy="1441100"/>
              </a:xfrm>
              <a:prstGeom prst="rect">
                <a:avLst/>
              </a:prstGeom>
              <a:blipFill>
                <a:blip r:embed="rId4"/>
                <a:stretch>
                  <a:fillRect l="-13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Rectángulo 5"/>
              <p:cNvSpPr/>
              <p:nvPr/>
            </p:nvSpPr>
            <p:spPr>
              <a:xfrm>
                <a:off x="7741820" y="2298167"/>
                <a:ext cx="3326873" cy="609013"/>
              </a:xfrm>
              <a:prstGeom prst="rect">
                <a:avLst/>
              </a:prstGeom>
            </p:spPr>
            <p:txBody>
              <a:bodyPr wrap="none">
                <a:spAutoFit/>
              </a:bodyPr>
              <a:lstStyle/>
              <a:p>
                <a:pPr algn="just">
                  <a:lnSpc>
                    <a:spcPct val="107000"/>
                  </a:lnSpc>
                  <a:spcBef>
                    <a:spcPts val="600"/>
                  </a:spcBef>
                  <a:spcAft>
                    <a:spcPts val="600"/>
                  </a:spcAft>
                </a:pPr>
                <a14:m>
                  <m:oMathPara xmlns:m="http://schemas.openxmlformats.org/officeDocument/2006/math">
                    <m:oMathParaPr>
                      <m:jc m:val="centerGroup"/>
                    </m:oMathParaPr>
                    <m:oMath xmlns:m="http://schemas.openxmlformats.org/officeDocument/2006/math">
                      <m:r>
                        <a:rPr lang="es-BO" sz="1200" i="1">
                          <a:latin typeface="Cambria Math" panose="02040503050406030204" pitchFamily="18" charset="0"/>
                          <a:ea typeface="Times New Roman" panose="02020603050405020304" pitchFamily="18" charset="0"/>
                          <a:cs typeface="Times New Roman" panose="02020603050405020304" pitchFamily="18" charset="0"/>
                        </a:rPr>
                        <m:t>→         </m:t>
                      </m:r>
                      <m:r>
                        <a:rPr lang="es-BO" sz="1200" i="1">
                          <a:latin typeface="Cambria Math" panose="02040503050406030204" pitchFamily="18" charset="0"/>
                          <a:ea typeface="Calibri" panose="020F0502020204030204" pitchFamily="34" charset="0"/>
                          <a:cs typeface="Times New Roman" panose="02020603050405020304" pitchFamily="18" charset="0"/>
                        </a:rPr>
                        <m:t> </m:t>
                      </m:r>
                      <m:r>
                        <a:rPr lang="es-BO" sz="1200" i="1">
                          <a:latin typeface="Cambria Math" panose="02040503050406030204" pitchFamily="18" charset="0"/>
                          <a:ea typeface="Calibri" panose="020F0502020204030204" pitchFamily="34" charset="0"/>
                          <a:cs typeface="Times New Roman" panose="02020603050405020304" pitchFamily="18" charset="0"/>
                        </a:rPr>
                        <m:t>𝐴</m:t>
                      </m:r>
                      <m:r>
                        <a:rPr lang="es-BO" sz="1200" i="1">
                          <a:latin typeface="Cambria Math" panose="02040503050406030204" pitchFamily="18" charset="0"/>
                          <a:ea typeface="Calibri" panose="020F0502020204030204" pitchFamily="34" charset="0"/>
                          <a:cs typeface="Times New Roman" panose="02020603050405020304" pitchFamily="18" charset="0"/>
                        </a:rPr>
                        <m:t>=</m:t>
                      </m:r>
                      <m:d>
                        <m:dPr>
                          <m:begChr m:val="["/>
                          <m:endChr m:val="]"/>
                          <m:ctrlPr>
                            <a:rPr lang="en-US" sz="1200" i="1">
                              <a:latin typeface="Cambria Math" panose="02040503050406030204" pitchFamily="18" charset="0"/>
                              <a:ea typeface="Calibri" panose="020F0502020204030204" pitchFamily="34" charset="0"/>
                              <a:cs typeface="Times New Roman" panose="02020603050405020304" pitchFamily="18" charset="0"/>
                            </a:rPr>
                          </m:ctrlPr>
                        </m:dPr>
                        <m:e>
                          <m:f>
                            <m:fPr>
                              <m:ctrlPr>
                                <a:rPr lang="en-US" sz="1200" i="1">
                                  <a:latin typeface="Cambria Math" panose="02040503050406030204" pitchFamily="18" charset="0"/>
                                  <a:ea typeface="Calibri" panose="020F0502020204030204" pitchFamily="34" charset="0"/>
                                  <a:cs typeface="Times New Roman" panose="02020603050405020304" pitchFamily="18" charset="0"/>
                                </a:rPr>
                              </m:ctrlPr>
                            </m:fPr>
                            <m:num>
                              <m:r>
                                <a:rPr lang="es-BO" sz="1200" i="1">
                                  <a:latin typeface="Cambria Math" panose="02040503050406030204" pitchFamily="18" charset="0"/>
                                  <a:ea typeface="Calibri" panose="020F0502020204030204" pitchFamily="34" charset="0"/>
                                  <a:cs typeface="Times New Roman" panose="02020603050405020304" pitchFamily="18" charset="0"/>
                                </a:rPr>
                                <m:t>−1</m:t>
                              </m:r>
                            </m:num>
                            <m:den>
                              <m:r>
                                <a:rPr lang="es-BO" sz="1200" i="1">
                                  <a:latin typeface="Cambria Math" panose="02040503050406030204" pitchFamily="18" charset="0"/>
                                  <a:ea typeface="Calibri" panose="020F0502020204030204" pitchFamily="34" charset="0"/>
                                  <a:cs typeface="Times New Roman" panose="02020603050405020304" pitchFamily="18" charset="0"/>
                                </a:rPr>
                                <m:t>𝑅𝐶</m:t>
                              </m:r>
                            </m:den>
                          </m:f>
                        </m:e>
                      </m:d>
                      <m:r>
                        <a:rPr lang="es-BO" sz="1200" i="1">
                          <a:latin typeface="Cambria Math" panose="02040503050406030204" pitchFamily="18" charset="0"/>
                          <a:ea typeface="Calibri" panose="020F0502020204030204" pitchFamily="34" charset="0"/>
                          <a:cs typeface="Times New Roman" panose="02020603050405020304" pitchFamily="18" charset="0"/>
                        </a:rPr>
                        <m:t>,      </m:t>
                      </m:r>
                      <m:r>
                        <a:rPr lang="es-BO" sz="1200" i="1">
                          <a:latin typeface="Cambria Math" panose="02040503050406030204" pitchFamily="18" charset="0"/>
                          <a:ea typeface="Calibri" panose="020F0502020204030204" pitchFamily="34" charset="0"/>
                          <a:cs typeface="Times New Roman" panose="02020603050405020304" pitchFamily="18" charset="0"/>
                        </a:rPr>
                        <m:t>𝐵</m:t>
                      </m:r>
                      <m:r>
                        <a:rPr lang="es-BO" sz="1200" i="1">
                          <a:latin typeface="Cambria Math" panose="02040503050406030204" pitchFamily="18" charset="0"/>
                          <a:ea typeface="Calibri" panose="020F0502020204030204" pitchFamily="34" charset="0"/>
                          <a:cs typeface="Times New Roman" panose="02020603050405020304" pitchFamily="18" charset="0"/>
                        </a:rPr>
                        <m:t>=</m:t>
                      </m:r>
                      <m:d>
                        <m:dPr>
                          <m:begChr m:val="["/>
                          <m:endChr m:val="]"/>
                          <m:ctrlPr>
                            <a:rPr lang="en-US" sz="1200" i="1">
                              <a:latin typeface="Cambria Math" panose="02040503050406030204" pitchFamily="18" charset="0"/>
                              <a:ea typeface="Calibri" panose="020F0502020204030204" pitchFamily="34" charset="0"/>
                              <a:cs typeface="Times New Roman" panose="02020603050405020304" pitchFamily="18" charset="0"/>
                            </a:rPr>
                          </m:ctrlPr>
                        </m:dPr>
                        <m:e>
                          <m:f>
                            <m:fPr>
                              <m:ctrlPr>
                                <a:rPr lang="en-US" sz="1200" i="1">
                                  <a:latin typeface="Cambria Math" panose="02040503050406030204" pitchFamily="18" charset="0"/>
                                  <a:ea typeface="Calibri" panose="020F0502020204030204" pitchFamily="34" charset="0"/>
                                  <a:cs typeface="Times New Roman" panose="02020603050405020304" pitchFamily="18" charset="0"/>
                                </a:rPr>
                              </m:ctrlPr>
                            </m:fPr>
                            <m:num>
                              <m:r>
                                <a:rPr lang="es-BO" sz="1200" i="1">
                                  <a:latin typeface="Cambria Math" panose="02040503050406030204" pitchFamily="18" charset="0"/>
                                  <a:ea typeface="Calibri" panose="020F0502020204030204" pitchFamily="34" charset="0"/>
                                  <a:cs typeface="Times New Roman" panose="02020603050405020304" pitchFamily="18" charset="0"/>
                                </a:rPr>
                                <m:t>1</m:t>
                              </m:r>
                            </m:num>
                            <m:den>
                              <m:r>
                                <a:rPr lang="es-BO" sz="1200" i="1">
                                  <a:latin typeface="Cambria Math" panose="02040503050406030204" pitchFamily="18" charset="0"/>
                                  <a:ea typeface="Calibri" panose="020F0502020204030204" pitchFamily="34" charset="0"/>
                                  <a:cs typeface="Times New Roman" panose="02020603050405020304" pitchFamily="18" charset="0"/>
                                </a:rPr>
                                <m:t>𝐶</m:t>
                              </m:r>
                            </m:den>
                          </m:f>
                        </m:e>
                      </m:d>
                      <m:r>
                        <a:rPr lang="es-BO" sz="1200" i="1">
                          <a:latin typeface="Cambria Math" panose="02040503050406030204" pitchFamily="18" charset="0"/>
                          <a:ea typeface="Calibri" panose="020F0502020204030204" pitchFamily="34" charset="0"/>
                          <a:cs typeface="Times New Roman" panose="02020603050405020304" pitchFamily="18" charset="0"/>
                        </a:rPr>
                        <m:t>,     </m:t>
                      </m:r>
                      <m:r>
                        <a:rPr lang="es-BO" sz="1200" i="1">
                          <a:latin typeface="Cambria Math" panose="02040503050406030204" pitchFamily="18" charset="0"/>
                          <a:ea typeface="Calibri" panose="020F0502020204030204" pitchFamily="34" charset="0"/>
                          <a:cs typeface="Times New Roman" panose="02020603050405020304" pitchFamily="18" charset="0"/>
                        </a:rPr>
                        <m:t>𝐶</m:t>
                      </m:r>
                      <m:r>
                        <a:rPr lang="es-BO" sz="1200" i="1">
                          <a:latin typeface="Cambria Math" panose="02040503050406030204" pitchFamily="18" charset="0"/>
                          <a:ea typeface="Calibri" panose="020F0502020204030204" pitchFamily="34" charset="0"/>
                          <a:cs typeface="Times New Roman" panose="02020603050405020304" pitchFamily="18" charset="0"/>
                        </a:rPr>
                        <m:t>=</m:t>
                      </m:r>
                      <m:d>
                        <m:dPr>
                          <m:begChr m:val="["/>
                          <m:endChr m:val="]"/>
                          <m:ctrlPr>
                            <a:rPr lang="en-US" sz="1200" i="1">
                              <a:latin typeface="Cambria Math" panose="02040503050406030204" pitchFamily="18" charset="0"/>
                              <a:ea typeface="Calibri" panose="020F0502020204030204" pitchFamily="34" charset="0"/>
                              <a:cs typeface="Times New Roman" panose="02020603050405020304" pitchFamily="18" charset="0"/>
                            </a:rPr>
                          </m:ctrlPr>
                        </m:dPr>
                        <m:e>
                          <m:r>
                            <a:rPr lang="es-BO" sz="1200" i="1">
                              <a:latin typeface="Cambria Math" panose="02040503050406030204" pitchFamily="18" charset="0"/>
                              <a:ea typeface="Calibri" panose="020F0502020204030204" pitchFamily="34" charset="0"/>
                              <a:cs typeface="Times New Roman" panose="02020603050405020304" pitchFamily="18" charset="0"/>
                            </a:rPr>
                            <m:t>1</m:t>
                          </m:r>
                        </m:e>
                      </m:d>
                    </m:oMath>
                  </m:oMathPara>
                </a14:m>
                <a:endParaRPr lang="en-US" sz="1200" dirty="0">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6" name="Rectángulo 5"/>
              <p:cNvSpPr>
                <a:spLocks noRot="1" noChangeAspect="1" noMove="1" noResize="1" noEditPoints="1" noAdjustHandles="1" noChangeArrowheads="1" noChangeShapeType="1" noTextEdit="1"/>
              </p:cNvSpPr>
              <p:nvPr/>
            </p:nvSpPr>
            <p:spPr>
              <a:xfrm>
                <a:off x="7741820" y="2298167"/>
                <a:ext cx="3326873" cy="609013"/>
              </a:xfrm>
              <a:prstGeom prst="rect">
                <a:avLst/>
              </a:prstGeom>
              <a:blipFill>
                <a:blip r:embed="rId5"/>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4465778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txBox="1">
            <a:spLocks/>
          </p:cNvSpPr>
          <p:nvPr/>
        </p:nvSpPr>
        <p:spPr>
          <a:xfrm>
            <a:off x="1069848" y="484632"/>
            <a:ext cx="10058400" cy="1609344"/>
          </a:xfrm>
          <a:prstGeom prst="rect">
            <a:avLst/>
          </a:prstGeom>
        </p:spPr>
        <p:txBody>
          <a:bodyPr/>
          <a:lstStyle>
            <a:lvl1pPr algn="l" defTabSz="914400" rtl="0" eaLnBrk="1" latinLnBrk="0" hangingPunct="1">
              <a:lnSpc>
                <a:spcPct val="90000"/>
              </a:lnSpc>
              <a:spcBef>
                <a:spcPct val="0"/>
              </a:spcBef>
              <a:buNone/>
              <a:defRPr sz="4800" b="1" kern="1200" cap="none" baseline="0">
                <a:blipFill>
                  <a:blip r:embed="rId2">
                    <a:extLst>
                      <a:ext uri="{28A0092B-C50C-407E-A947-70E740481C1C}">
                        <a14:useLocalDpi xmlns:a14="http://schemas.microsoft.com/office/drawing/2010/main" val="0"/>
                      </a:ext>
                    </a:extLst>
                  </a:blip>
                  <a:tile tx="6350" ty="-127000" sx="65000" sy="64000" flip="none" algn="tl"/>
                </a:blipFill>
                <a:latin typeface="+mj-lt"/>
                <a:ea typeface="+mj-ea"/>
                <a:cs typeface="+mj-cs"/>
              </a:defRPr>
            </a:lvl1pPr>
          </a:lstStyle>
          <a:p>
            <a:r>
              <a:rPr lang="es-BO" u="sng" dirty="0"/>
              <a:t>Verificando los valores obtenidos </a:t>
            </a:r>
            <a:endParaRPr lang="en-US" dirty="0"/>
          </a:p>
        </p:txBody>
      </p:sp>
      <p:sp>
        <p:nvSpPr>
          <p:cNvPr id="3" name="Marcador de contenido 2"/>
          <p:cNvSpPr txBox="1">
            <a:spLocks/>
          </p:cNvSpPr>
          <p:nvPr/>
        </p:nvSpPr>
        <p:spPr>
          <a:xfrm>
            <a:off x="1372194" y="1365161"/>
            <a:ext cx="10154398" cy="4932608"/>
          </a:xfrm>
          <a:prstGeom prst="rect">
            <a:avLst/>
          </a:prstGeom>
        </p:spPr>
        <p:txBody>
          <a:bodyPr/>
          <a:lstStyle>
            <a:lvl1pPr marL="182880" indent="-182880" algn="l" defTabSz="914400" rtl="0" eaLnBrk="1" latinLnBrk="0" hangingPunct="1">
              <a:lnSpc>
                <a:spcPct val="90000"/>
              </a:lnSpc>
              <a:spcBef>
                <a:spcPts val="1200"/>
              </a:spcBef>
              <a:buClr>
                <a:schemeClr val="accent2"/>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2"/>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2"/>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2"/>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2"/>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2"/>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2"/>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2"/>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2"/>
              </a:buClr>
              <a:buSzPct val="85000"/>
              <a:buFont typeface="Wingdings" pitchFamily="2" charset="2"/>
              <a:buChar char="§"/>
              <a:defRPr sz="1600" kern="1200">
                <a:solidFill>
                  <a:schemeClr val="tx1"/>
                </a:solidFill>
                <a:latin typeface="+mn-lt"/>
                <a:ea typeface="+mn-ea"/>
                <a:cs typeface="+mn-cs"/>
              </a:defRPr>
            </a:lvl9pPr>
          </a:lstStyle>
          <a:p>
            <a:pPr algn="just"/>
            <a:r>
              <a:rPr lang="es-BO" sz="3200" dirty="0"/>
              <a:t>Una vez obtenido los valores de N=20.42 y k=26.67:</a:t>
            </a:r>
          </a:p>
          <a:p>
            <a:pPr algn="just"/>
            <a:r>
              <a:rPr lang="es-BO" sz="3200" dirty="0"/>
              <a:t>El sistema tenga un tiempo de establecimiento de 4 min</a:t>
            </a:r>
          </a:p>
          <a:p>
            <a:pPr algn="just"/>
            <a:r>
              <a:rPr lang="es-BO" sz="3200" dirty="0"/>
              <a:t>Un máximo sobrepaso menor al  1% </a:t>
            </a:r>
          </a:p>
          <a:p>
            <a:pPr algn="just"/>
            <a:r>
              <a:rPr lang="es-BO" sz="3200" dirty="0"/>
              <a:t>Si bien la simulación en </a:t>
            </a:r>
            <a:r>
              <a:rPr lang="es-BO" sz="3200" dirty="0" err="1"/>
              <a:t>matlab</a:t>
            </a:r>
            <a:r>
              <a:rPr lang="es-BO" sz="3200" dirty="0"/>
              <a:t> es buena, al introducir los valores de N y K al PLC, este manda una señal de “</a:t>
            </a:r>
            <a:r>
              <a:rPr lang="es-BO" sz="3200" dirty="0" err="1"/>
              <a:t>fault</a:t>
            </a:r>
            <a:r>
              <a:rPr lang="es-BO" sz="3200" dirty="0"/>
              <a:t>”</a:t>
            </a:r>
          </a:p>
          <a:p>
            <a:pPr algn="just"/>
            <a:r>
              <a:rPr lang="es-BO" sz="3200" dirty="0"/>
              <a:t>El sistema no funciona</a:t>
            </a:r>
          </a:p>
          <a:p>
            <a:pPr algn="just"/>
            <a:endParaRPr lang="en-US" dirty="0"/>
          </a:p>
        </p:txBody>
      </p:sp>
    </p:spTree>
    <p:extLst>
      <p:ext uri="{BB962C8B-B14F-4D97-AF65-F5344CB8AC3E}">
        <p14:creationId xmlns:p14="http://schemas.microsoft.com/office/powerpoint/2010/main" val="15767235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txBox="1">
            <a:spLocks/>
          </p:cNvSpPr>
          <p:nvPr/>
        </p:nvSpPr>
        <p:spPr>
          <a:xfrm>
            <a:off x="1069848" y="484632"/>
            <a:ext cx="10058400" cy="1609344"/>
          </a:xfrm>
          <a:prstGeom prst="rect">
            <a:avLst/>
          </a:prstGeom>
        </p:spPr>
        <p:txBody>
          <a:bodyPr/>
          <a:lstStyle>
            <a:lvl1pPr algn="l" defTabSz="914400" rtl="0" eaLnBrk="1" latinLnBrk="0" hangingPunct="1">
              <a:lnSpc>
                <a:spcPct val="90000"/>
              </a:lnSpc>
              <a:spcBef>
                <a:spcPct val="0"/>
              </a:spcBef>
              <a:buNone/>
              <a:defRPr sz="4800" b="1" kern="1200" cap="none" baseline="0">
                <a:blipFill>
                  <a:blip r:embed="rId2">
                    <a:extLst>
                      <a:ext uri="{28A0092B-C50C-407E-A947-70E740481C1C}">
                        <a14:useLocalDpi xmlns:a14="http://schemas.microsoft.com/office/drawing/2010/main" val="0"/>
                      </a:ext>
                    </a:extLst>
                  </a:blip>
                  <a:tile tx="6350" ty="-127000" sx="65000" sy="64000" flip="none" algn="tl"/>
                </a:blipFill>
                <a:latin typeface="+mj-lt"/>
                <a:ea typeface="+mj-ea"/>
                <a:cs typeface="+mj-cs"/>
              </a:defRPr>
            </a:lvl1pPr>
          </a:lstStyle>
          <a:p>
            <a:r>
              <a:rPr lang="es-BO" u="sng" dirty="0"/>
              <a:t>Verificando los valores obtenidos </a:t>
            </a:r>
            <a:endParaRPr lang="en-US" dirty="0"/>
          </a:p>
        </p:txBody>
      </p:sp>
      <p:sp>
        <p:nvSpPr>
          <p:cNvPr id="3" name="Marcador de contenido 2"/>
          <p:cNvSpPr txBox="1">
            <a:spLocks/>
          </p:cNvSpPr>
          <p:nvPr/>
        </p:nvSpPr>
        <p:spPr>
          <a:xfrm>
            <a:off x="1372194" y="1365161"/>
            <a:ext cx="9411920" cy="4774382"/>
          </a:xfrm>
          <a:prstGeom prst="rect">
            <a:avLst/>
          </a:prstGeom>
        </p:spPr>
        <p:txBody>
          <a:bodyPr/>
          <a:lstStyle>
            <a:lvl1pPr marL="182880" indent="-182880" algn="l" defTabSz="914400" rtl="0" eaLnBrk="1" latinLnBrk="0" hangingPunct="1">
              <a:lnSpc>
                <a:spcPct val="90000"/>
              </a:lnSpc>
              <a:spcBef>
                <a:spcPts val="1200"/>
              </a:spcBef>
              <a:buClr>
                <a:schemeClr val="accent2"/>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2"/>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2"/>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2"/>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2"/>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2"/>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2"/>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2"/>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2"/>
              </a:buClr>
              <a:buSzPct val="85000"/>
              <a:buFont typeface="Wingdings" pitchFamily="2" charset="2"/>
              <a:buChar char="§"/>
              <a:defRPr sz="1600" kern="1200">
                <a:solidFill>
                  <a:schemeClr val="tx1"/>
                </a:solidFill>
                <a:latin typeface="+mn-lt"/>
                <a:ea typeface="+mn-ea"/>
                <a:cs typeface="+mn-cs"/>
              </a:defRPr>
            </a:lvl9pPr>
          </a:lstStyle>
          <a:p>
            <a:pPr algn="just"/>
            <a:r>
              <a:rPr lang="es-BO" sz="3200" dirty="0"/>
              <a:t>Modificando el tiempo de establecimiento de 8 min</a:t>
            </a:r>
          </a:p>
          <a:p>
            <a:pPr algn="just"/>
            <a:r>
              <a:rPr lang="es-BO" sz="3200" dirty="0"/>
              <a:t>Obtenemos los valores de N=13.183 y k=2.733:</a:t>
            </a:r>
          </a:p>
          <a:p>
            <a:pPr algn="just"/>
            <a:r>
              <a:rPr lang="es-BO" sz="3200" dirty="0"/>
              <a:t>La simulación en Matlab es buena, al introducir los nuevos valores de N y K al PLC, este ya no manda una señal de “</a:t>
            </a:r>
            <a:r>
              <a:rPr lang="es-BO" sz="3200" dirty="0" err="1"/>
              <a:t>fault</a:t>
            </a:r>
            <a:r>
              <a:rPr lang="es-BO" sz="3200" dirty="0"/>
              <a:t>”</a:t>
            </a:r>
          </a:p>
          <a:p>
            <a:pPr algn="just"/>
            <a:r>
              <a:rPr lang="es-BO" sz="3200" dirty="0"/>
              <a:t>El sistema funciona.</a:t>
            </a:r>
          </a:p>
          <a:p>
            <a:pPr algn="just"/>
            <a:endParaRPr lang="en-US" dirty="0"/>
          </a:p>
        </p:txBody>
      </p:sp>
    </p:spTree>
    <p:extLst>
      <p:ext uri="{BB962C8B-B14F-4D97-AF65-F5344CB8AC3E}">
        <p14:creationId xmlns:p14="http://schemas.microsoft.com/office/powerpoint/2010/main" val="9251600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p:cNvPicPr>
            <a:picLocks noChangeAspect="1"/>
          </p:cNvPicPr>
          <p:nvPr/>
        </p:nvPicPr>
        <p:blipFill>
          <a:blip r:embed="rId2"/>
          <a:stretch>
            <a:fillRect/>
          </a:stretch>
        </p:blipFill>
        <p:spPr>
          <a:xfrm>
            <a:off x="337584" y="723195"/>
            <a:ext cx="11078164" cy="5980157"/>
          </a:xfrm>
          <a:prstGeom prst="rect">
            <a:avLst/>
          </a:prstGeom>
        </p:spPr>
      </p:pic>
    </p:spTree>
    <p:extLst>
      <p:ext uri="{BB962C8B-B14F-4D97-AF65-F5344CB8AC3E}">
        <p14:creationId xmlns:p14="http://schemas.microsoft.com/office/powerpoint/2010/main" val="17098970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p:cNvPicPr>
            <a:picLocks noChangeAspect="1"/>
          </p:cNvPicPr>
          <p:nvPr/>
        </p:nvPicPr>
        <p:blipFill>
          <a:blip r:embed="rId2"/>
          <a:stretch>
            <a:fillRect/>
          </a:stretch>
        </p:blipFill>
        <p:spPr>
          <a:xfrm>
            <a:off x="313921" y="429429"/>
            <a:ext cx="10813425" cy="6004496"/>
          </a:xfrm>
          <a:prstGeom prst="rect">
            <a:avLst/>
          </a:prstGeom>
        </p:spPr>
      </p:pic>
    </p:spTree>
    <p:extLst>
      <p:ext uri="{BB962C8B-B14F-4D97-AF65-F5344CB8AC3E}">
        <p14:creationId xmlns:p14="http://schemas.microsoft.com/office/powerpoint/2010/main" val="42265970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1"/>
          <p:cNvSpPr txBox="1">
            <a:spLocks/>
          </p:cNvSpPr>
          <p:nvPr/>
        </p:nvSpPr>
        <p:spPr>
          <a:xfrm>
            <a:off x="1069848" y="484632"/>
            <a:ext cx="10058400" cy="1609344"/>
          </a:xfrm>
          <a:prstGeom prst="rect">
            <a:avLst/>
          </a:prstGeom>
        </p:spPr>
        <p:txBody>
          <a:bodyPr/>
          <a:lstStyle>
            <a:lvl1pPr algn="l" defTabSz="914400" rtl="0" eaLnBrk="1" latinLnBrk="0" hangingPunct="1">
              <a:lnSpc>
                <a:spcPct val="90000"/>
              </a:lnSpc>
              <a:spcBef>
                <a:spcPct val="0"/>
              </a:spcBef>
              <a:buNone/>
              <a:defRPr sz="4800" b="1" kern="1200" cap="none" baseline="0">
                <a:blipFill>
                  <a:blip r:embed="rId2">
                    <a:extLst>
                      <a:ext uri="{28A0092B-C50C-407E-A947-70E740481C1C}">
                        <a14:useLocalDpi xmlns:a14="http://schemas.microsoft.com/office/drawing/2010/main" val="0"/>
                      </a:ext>
                    </a:extLst>
                  </a:blip>
                  <a:tile tx="6350" ty="-127000" sx="65000" sy="64000" flip="none" algn="tl"/>
                </a:blipFill>
                <a:latin typeface="+mj-lt"/>
                <a:ea typeface="+mj-ea"/>
                <a:cs typeface="+mj-cs"/>
              </a:defRPr>
            </a:lvl1pPr>
          </a:lstStyle>
          <a:p>
            <a:r>
              <a:rPr lang="es-BO" u="sng" dirty="0"/>
              <a:t>Programación en PLC</a:t>
            </a:r>
            <a:endParaRPr lang="en-US" dirty="0"/>
          </a:p>
        </p:txBody>
      </p:sp>
      <p:pic>
        <p:nvPicPr>
          <p:cNvPr id="4" name="Imagen 3"/>
          <p:cNvPicPr>
            <a:picLocks noChangeAspect="1"/>
          </p:cNvPicPr>
          <p:nvPr/>
        </p:nvPicPr>
        <p:blipFill>
          <a:blip r:embed="rId3"/>
          <a:stretch>
            <a:fillRect/>
          </a:stretch>
        </p:blipFill>
        <p:spPr>
          <a:xfrm>
            <a:off x="531169" y="1942966"/>
            <a:ext cx="11135757" cy="4097226"/>
          </a:xfrm>
          <a:prstGeom prst="rect">
            <a:avLst/>
          </a:prstGeom>
        </p:spPr>
      </p:pic>
    </p:spTree>
    <p:extLst>
      <p:ext uri="{BB962C8B-B14F-4D97-AF65-F5344CB8AC3E}">
        <p14:creationId xmlns:p14="http://schemas.microsoft.com/office/powerpoint/2010/main" val="124193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2"/>
          <a:stretch>
            <a:fillRect/>
          </a:stretch>
        </p:blipFill>
        <p:spPr>
          <a:xfrm>
            <a:off x="1296942" y="196671"/>
            <a:ext cx="9624342" cy="6073248"/>
          </a:xfrm>
          <a:prstGeom prst="rect">
            <a:avLst/>
          </a:prstGeom>
        </p:spPr>
      </p:pic>
    </p:spTree>
    <p:extLst>
      <p:ext uri="{BB962C8B-B14F-4D97-AF65-F5344CB8AC3E}">
        <p14:creationId xmlns:p14="http://schemas.microsoft.com/office/powerpoint/2010/main" val="11560976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p:cNvPicPr>
            <a:picLocks noChangeAspect="1"/>
          </p:cNvPicPr>
          <p:nvPr/>
        </p:nvPicPr>
        <p:blipFill>
          <a:blip r:embed="rId2"/>
          <a:stretch>
            <a:fillRect/>
          </a:stretch>
        </p:blipFill>
        <p:spPr>
          <a:xfrm>
            <a:off x="854901" y="351016"/>
            <a:ext cx="10401686" cy="5599023"/>
          </a:xfrm>
          <a:prstGeom prst="rect">
            <a:avLst/>
          </a:prstGeom>
        </p:spPr>
      </p:pic>
    </p:spTree>
    <p:extLst>
      <p:ext uri="{BB962C8B-B14F-4D97-AF65-F5344CB8AC3E}">
        <p14:creationId xmlns:p14="http://schemas.microsoft.com/office/powerpoint/2010/main" val="28185021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2"/>
          <a:stretch>
            <a:fillRect/>
          </a:stretch>
        </p:blipFill>
        <p:spPr>
          <a:xfrm>
            <a:off x="364230" y="1740056"/>
            <a:ext cx="11334750" cy="3171825"/>
          </a:xfrm>
          <a:prstGeom prst="rect">
            <a:avLst/>
          </a:prstGeom>
        </p:spPr>
      </p:pic>
    </p:spTree>
    <p:extLst>
      <p:ext uri="{BB962C8B-B14F-4D97-AF65-F5344CB8AC3E}">
        <p14:creationId xmlns:p14="http://schemas.microsoft.com/office/powerpoint/2010/main" val="4967679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1"/>
          <p:cNvSpPr txBox="1">
            <a:spLocks/>
          </p:cNvSpPr>
          <p:nvPr/>
        </p:nvSpPr>
        <p:spPr>
          <a:xfrm>
            <a:off x="1069848" y="484632"/>
            <a:ext cx="10058400" cy="1609344"/>
          </a:xfrm>
          <a:prstGeom prst="rect">
            <a:avLst/>
          </a:prstGeom>
        </p:spPr>
        <p:txBody>
          <a:bodyPr/>
          <a:lstStyle>
            <a:lvl1pPr algn="l" defTabSz="914400" rtl="0" eaLnBrk="1" latinLnBrk="0" hangingPunct="1">
              <a:lnSpc>
                <a:spcPct val="90000"/>
              </a:lnSpc>
              <a:spcBef>
                <a:spcPct val="0"/>
              </a:spcBef>
              <a:buNone/>
              <a:defRPr sz="4800" b="1" kern="1200" cap="none" baseline="0">
                <a:blipFill>
                  <a:blip r:embed="rId2">
                    <a:extLst>
                      <a:ext uri="{28A0092B-C50C-407E-A947-70E740481C1C}">
                        <a14:useLocalDpi xmlns:a14="http://schemas.microsoft.com/office/drawing/2010/main" val="0"/>
                      </a:ext>
                    </a:extLst>
                  </a:blip>
                  <a:tile tx="6350" ty="-127000" sx="65000" sy="64000" flip="none" algn="tl"/>
                </a:blipFill>
                <a:latin typeface="+mj-lt"/>
                <a:ea typeface="+mj-ea"/>
                <a:cs typeface="+mj-cs"/>
              </a:defRPr>
            </a:lvl1pPr>
          </a:lstStyle>
          <a:p>
            <a:r>
              <a:rPr lang="es-BO" u="sng" dirty="0"/>
              <a:t>Conclusiones</a:t>
            </a:r>
            <a:endParaRPr lang="en-US" dirty="0"/>
          </a:p>
        </p:txBody>
      </p:sp>
      <p:sp>
        <p:nvSpPr>
          <p:cNvPr id="4" name="Marcador de contenido 2"/>
          <p:cNvSpPr txBox="1">
            <a:spLocks/>
          </p:cNvSpPr>
          <p:nvPr/>
        </p:nvSpPr>
        <p:spPr>
          <a:xfrm>
            <a:off x="1069848" y="1384300"/>
            <a:ext cx="10058400" cy="4989068"/>
          </a:xfrm>
          <a:prstGeom prst="rect">
            <a:avLst/>
          </a:prstGeom>
        </p:spPr>
        <p:txBody>
          <a:bodyPr>
            <a:normAutofit/>
          </a:bodyPr>
          <a:lstStyle>
            <a:lvl1pPr marL="182880" indent="-182880" algn="l" defTabSz="914400" rtl="0" eaLnBrk="1" latinLnBrk="0" hangingPunct="1">
              <a:lnSpc>
                <a:spcPct val="90000"/>
              </a:lnSpc>
              <a:spcBef>
                <a:spcPts val="1200"/>
              </a:spcBef>
              <a:buClr>
                <a:schemeClr val="accent2"/>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2"/>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2"/>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2"/>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2"/>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2"/>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2"/>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2"/>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2"/>
              </a:buClr>
              <a:buSzPct val="85000"/>
              <a:buFont typeface="Wingdings" pitchFamily="2" charset="2"/>
              <a:buChar char="§"/>
              <a:defRPr sz="1600" kern="1200">
                <a:solidFill>
                  <a:schemeClr val="tx1"/>
                </a:solidFill>
                <a:latin typeface="+mn-lt"/>
                <a:ea typeface="+mn-ea"/>
                <a:cs typeface="+mn-cs"/>
              </a:defRPr>
            </a:lvl9pPr>
          </a:lstStyle>
          <a:p>
            <a:r>
              <a:rPr lang="es-BO" sz="2800" dirty="0"/>
              <a:t>Al tratar de replicar los datos obtenidos por el grupo del anterior semestre, se verifico que no funcionaba el sistema, lograron operar con datos implementados en el PLC que no se replicaba en sus informes.</a:t>
            </a:r>
          </a:p>
          <a:p>
            <a:r>
              <a:rPr lang="es-BO" sz="2800" dirty="0"/>
              <a:t>Los requerimientos que propusieron eran de un tiempo de establecimiento de 4 minutos, y verificamos que había saturación en el actuador (El variador de frecuencia superaba los 50Hz).</a:t>
            </a:r>
          </a:p>
          <a:p>
            <a:r>
              <a:rPr lang="es-BO" sz="2800" dirty="0"/>
              <a:t>Nuestro grupo obtuvo un desempeño satisfactorio del sistema para unos 8 minutos para el tiempo de establecimiento, logrando no saturar al actuador.</a:t>
            </a:r>
          </a:p>
          <a:p>
            <a:endParaRPr lang="es-BO" sz="2800" dirty="0"/>
          </a:p>
          <a:p>
            <a:pPr lvl="0"/>
            <a:endParaRPr lang="es-BO" sz="2400" dirty="0"/>
          </a:p>
          <a:p>
            <a:pPr lvl="0"/>
            <a:endParaRPr lang="es-BO" sz="2400" dirty="0"/>
          </a:p>
          <a:p>
            <a:pPr marL="0" indent="0">
              <a:buFont typeface="Wingdings" pitchFamily="2" charset="2"/>
              <a:buNone/>
            </a:pPr>
            <a:endParaRPr lang="en-US" sz="2400" dirty="0"/>
          </a:p>
        </p:txBody>
      </p:sp>
    </p:spTree>
    <p:extLst>
      <p:ext uri="{BB962C8B-B14F-4D97-AF65-F5344CB8AC3E}">
        <p14:creationId xmlns:p14="http://schemas.microsoft.com/office/powerpoint/2010/main" val="12068752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1051560" y="1432223"/>
            <a:ext cx="10698480" cy="3035808"/>
          </a:xfrm>
        </p:spPr>
        <p:txBody>
          <a:bodyPr/>
          <a:lstStyle/>
          <a:p>
            <a:r>
              <a:rPr lang="es-BO" sz="8000" dirty="0"/>
              <a:t>DISEÑO DEL CONTROLADOR</a:t>
            </a:r>
            <a:endParaRPr lang="en-US" sz="8000" dirty="0"/>
          </a:p>
        </p:txBody>
      </p:sp>
      <p:sp>
        <p:nvSpPr>
          <p:cNvPr id="3" name="Subtítulo 2"/>
          <p:cNvSpPr>
            <a:spLocks noGrp="1"/>
          </p:cNvSpPr>
          <p:nvPr>
            <p:ph type="subTitle" idx="1"/>
          </p:nvPr>
        </p:nvSpPr>
        <p:spPr/>
        <p:txBody>
          <a:bodyPr>
            <a:normAutofit/>
          </a:bodyPr>
          <a:lstStyle/>
          <a:p>
            <a:r>
              <a:rPr lang="es-BO" sz="3200" dirty="0"/>
              <a:t>CONSIDERANDO LA DINAMICA DEL ACTUADOR</a:t>
            </a:r>
            <a:endParaRPr lang="en-US" sz="3200" dirty="0"/>
          </a:p>
        </p:txBody>
      </p:sp>
    </p:spTree>
    <p:extLst>
      <p:ext uri="{BB962C8B-B14F-4D97-AF65-F5344CB8AC3E}">
        <p14:creationId xmlns:p14="http://schemas.microsoft.com/office/powerpoint/2010/main" val="341028665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69848" y="258209"/>
            <a:ext cx="10058400" cy="1609344"/>
          </a:xfrm>
        </p:spPr>
        <p:txBody>
          <a:bodyPr/>
          <a:lstStyle/>
          <a:p>
            <a:r>
              <a:rPr lang="es-BO" dirty="0"/>
              <a:t>ANALISIS DEL ACTUADOR VF-B</a:t>
            </a:r>
            <a:endParaRPr lang="en-US" dirty="0"/>
          </a:p>
        </p:txBody>
      </p:sp>
      <p:graphicFrame>
        <p:nvGraphicFramePr>
          <p:cNvPr id="4" name="Marcador de contenido 3"/>
          <p:cNvGraphicFramePr>
            <a:graphicFrameLocks noGrp="1"/>
          </p:cNvGraphicFramePr>
          <p:nvPr>
            <p:ph idx="1"/>
            <p:extLst>
              <p:ext uri="{D42A27DB-BD31-4B8C-83A1-F6EECF244321}">
                <p14:modId xmlns:p14="http://schemas.microsoft.com/office/powerpoint/2010/main" val="3347748106"/>
              </p:ext>
            </p:extLst>
          </p:nvPr>
        </p:nvGraphicFramePr>
        <p:xfrm>
          <a:off x="1271440" y="1716854"/>
          <a:ext cx="9535896" cy="2883449"/>
        </p:xfrm>
        <a:graphic>
          <a:graphicData uri="http://schemas.openxmlformats.org/drawingml/2006/table">
            <a:tbl>
              <a:tblPr>
                <a:tableStyleId>{5940675A-B579-460E-94D1-54222C63F5DA}</a:tableStyleId>
              </a:tblPr>
              <a:tblGrid>
                <a:gridCol w="1589316">
                  <a:extLst>
                    <a:ext uri="{9D8B030D-6E8A-4147-A177-3AD203B41FA5}">
                      <a16:colId xmlns:a16="http://schemas.microsoft.com/office/drawing/2014/main" val="2314624434"/>
                    </a:ext>
                  </a:extLst>
                </a:gridCol>
                <a:gridCol w="1589316">
                  <a:extLst>
                    <a:ext uri="{9D8B030D-6E8A-4147-A177-3AD203B41FA5}">
                      <a16:colId xmlns:a16="http://schemas.microsoft.com/office/drawing/2014/main" val="3345059570"/>
                    </a:ext>
                  </a:extLst>
                </a:gridCol>
                <a:gridCol w="1589316">
                  <a:extLst>
                    <a:ext uri="{9D8B030D-6E8A-4147-A177-3AD203B41FA5}">
                      <a16:colId xmlns:a16="http://schemas.microsoft.com/office/drawing/2014/main" val="631851017"/>
                    </a:ext>
                  </a:extLst>
                </a:gridCol>
                <a:gridCol w="1589316">
                  <a:extLst>
                    <a:ext uri="{9D8B030D-6E8A-4147-A177-3AD203B41FA5}">
                      <a16:colId xmlns:a16="http://schemas.microsoft.com/office/drawing/2014/main" val="16338077"/>
                    </a:ext>
                  </a:extLst>
                </a:gridCol>
                <a:gridCol w="1589316">
                  <a:extLst>
                    <a:ext uri="{9D8B030D-6E8A-4147-A177-3AD203B41FA5}">
                      <a16:colId xmlns:a16="http://schemas.microsoft.com/office/drawing/2014/main" val="1353012777"/>
                    </a:ext>
                  </a:extLst>
                </a:gridCol>
                <a:gridCol w="1589316">
                  <a:extLst>
                    <a:ext uri="{9D8B030D-6E8A-4147-A177-3AD203B41FA5}">
                      <a16:colId xmlns:a16="http://schemas.microsoft.com/office/drawing/2014/main" val="2437888138"/>
                    </a:ext>
                  </a:extLst>
                </a:gridCol>
              </a:tblGrid>
              <a:tr h="270710">
                <a:tc>
                  <a:txBody>
                    <a:bodyPr/>
                    <a:lstStyle/>
                    <a:p>
                      <a:pPr algn="ctr" fontAlgn="b"/>
                      <a:r>
                        <a:rPr lang="en-US" sz="1800" u="none" strike="noStrike" dirty="0">
                          <a:effectLst/>
                        </a:rPr>
                        <a:t>FRECUENCIA</a:t>
                      </a:r>
                      <a:endParaRPr lang="en-US" sz="18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US" sz="1800" u="none" strike="noStrike" dirty="0">
                          <a:effectLst/>
                        </a:rPr>
                        <a:t>TIEMPO1</a:t>
                      </a:r>
                      <a:endParaRPr lang="en-US" sz="18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US" sz="1800" u="none" strike="noStrike" dirty="0">
                          <a:effectLst/>
                        </a:rPr>
                        <a:t>TIEMPO2</a:t>
                      </a:r>
                      <a:endParaRPr lang="en-US" sz="18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US" sz="1800" u="none" strike="noStrike" dirty="0">
                          <a:effectLst/>
                        </a:rPr>
                        <a:t>TPROMEDIO</a:t>
                      </a:r>
                      <a:endParaRPr lang="en-US" sz="18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US" sz="1800" u="none" strike="noStrike" dirty="0">
                          <a:effectLst/>
                        </a:rPr>
                        <a:t>CAUDAL(L/S)</a:t>
                      </a:r>
                      <a:endParaRPr lang="en-US" sz="18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US" sz="1800" u="none" strike="noStrike" dirty="0">
                          <a:effectLst/>
                        </a:rPr>
                        <a:t>VOLTAJE</a:t>
                      </a:r>
                      <a:endParaRPr lang="en-US" sz="18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220151910"/>
                  </a:ext>
                </a:extLst>
              </a:tr>
              <a:tr h="270710">
                <a:tc>
                  <a:txBody>
                    <a:bodyPr/>
                    <a:lstStyle/>
                    <a:p>
                      <a:pPr algn="ctr" fontAlgn="b"/>
                      <a:r>
                        <a:rPr lang="en-US" sz="1800" u="none" strike="noStrike">
                          <a:effectLst/>
                        </a:rPr>
                        <a:t>20</a:t>
                      </a:r>
                      <a:endParaRPr lang="en-US" sz="18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800" u="none" strike="noStrike">
                          <a:effectLst/>
                        </a:rPr>
                        <a:t>27,36</a:t>
                      </a:r>
                      <a:endParaRPr lang="en-US" sz="18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800" u="none" strike="noStrike">
                          <a:effectLst/>
                        </a:rPr>
                        <a:t>27,21</a:t>
                      </a:r>
                      <a:endParaRPr lang="en-US" sz="18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800" u="none" strike="noStrike">
                          <a:effectLst/>
                        </a:rPr>
                        <a:t>27,285</a:t>
                      </a:r>
                      <a:endParaRPr lang="en-US" sz="18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800" u="none" strike="noStrike">
                          <a:effectLst/>
                        </a:rPr>
                        <a:t>146,600696</a:t>
                      </a:r>
                      <a:endParaRPr lang="en-US" sz="18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800" u="none" strike="noStrike">
                          <a:effectLst/>
                        </a:rPr>
                        <a:t>98,9</a:t>
                      </a:r>
                      <a:endParaRPr lang="en-US" sz="18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4066484930"/>
                  </a:ext>
                </a:extLst>
              </a:tr>
              <a:tr h="270710">
                <a:tc>
                  <a:txBody>
                    <a:bodyPr/>
                    <a:lstStyle/>
                    <a:p>
                      <a:pPr algn="ctr" fontAlgn="b"/>
                      <a:r>
                        <a:rPr lang="en-US" sz="1800" u="none" strike="noStrike">
                          <a:effectLst/>
                        </a:rPr>
                        <a:t>22,5</a:t>
                      </a:r>
                      <a:endParaRPr lang="en-US" sz="18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800" u="none" strike="noStrike">
                          <a:effectLst/>
                        </a:rPr>
                        <a:t>18,9</a:t>
                      </a:r>
                      <a:endParaRPr lang="en-US" sz="18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800" u="none" strike="noStrike">
                          <a:effectLst/>
                        </a:rPr>
                        <a:t>18,48</a:t>
                      </a:r>
                      <a:endParaRPr lang="en-US" sz="18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800" u="none" strike="noStrike">
                          <a:effectLst/>
                        </a:rPr>
                        <a:t>22,9875</a:t>
                      </a:r>
                      <a:endParaRPr lang="en-US" sz="18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800" u="none" strike="noStrike">
                          <a:effectLst/>
                        </a:rPr>
                        <a:t>174,007613</a:t>
                      </a:r>
                      <a:endParaRPr lang="en-US" sz="18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800" u="none" strike="noStrike">
                          <a:effectLst/>
                        </a:rPr>
                        <a:t>109,75</a:t>
                      </a:r>
                      <a:endParaRPr lang="en-US" sz="18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036904466"/>
                  </a:ext>
                </a:extLst>
              </a:tr>
              <a:tr h="345989">
                <a:tc>
                  <a:txBody>
                    <a:bodyPr/>
                    <a:lstStyle/>
                    <a:p>
                      <a:pPr algn="ctr" fontAlgn="b"/>
                      <a:r>
                        <a:rPr lang="en-US" sz="1800" u="none" strike="noStrike">
                          <a:effectLst/>
                        </a:rPr>
                        <a:t>25</a:t>
                      </a:r>
                      <a:endParaRPr lang="en-US" sz="18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800" u="none" strike="noStrike">
                          <a:effectLst/>
                        </a:rPr>
                        <a:t>18,9</a:t>
                      </a:r>
                      <a:endParaRPr lang="en-US" sz="18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800" u="none" strike="noStrike">
                          <a:effectLst/>
                        </a:rPr>
                        <a:t>18,48</a:t>
                      </a:r>
                      <a:endParaRPr lang="en-US" sz="18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800" u="none" strike="noStrike">
                          <a:effectLst/>
                        </a:rPr>
                        <a:t>18,69</a:t>
                      </a:r>
                      <a:endParaRPr lang="en-US" sz="18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800" u="none" strike="noStrike">
                          <a:effectLst/>
                        </a:rPr>
                        <a:t>214,018192</a:t>
                      </a:r>
                      <a:endParaRPr lang="en-US" sz="18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800" u="none" strike="noStrike" dirty="0">
                          <a:effectLst/>
                        </a:rPr>
                        <a:t>120,6</a:t>
                      </a:r>
                      <a:endParaRPr lang="en-US" sz="18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166078723"/>
                  </a:ext>
                </a:extLst>
              </a:tr>
              <a:tr h="270710">
                <a:tc>
                  <a:txBody>
                    <a:bodyPr/>
                    <a:lstStyle/>
                    <a:p>
                      <a:pPr algn="ctr" fontAlgn="b"/>
                      <a:r>
                        <a:rPr lang="en-US" sz="1800" u="none" strike="noStrike">
                          <a:effectLst/>
                        </a:rPr>
                        <a:t>28</a:t>
                      </a:r>
                      <a:endParaRPr lang="en-US" sz="18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800" u="none" strike="noStrike">
                          <a:effectLst/>
                        </a:rPr>
                        <a:t>15,27</a:t>
                      </a:r>
                      <a:endParaRPr lang="en-US" sz="18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800" u="none" strike="noStrike">
                          <a:effectLst/>
                        </a:rPr>
                        <a:t>15,01</a:t>
                      </a:r>
                      <a:endParaRPr lang="en-US" sz="18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800" u="none" strike="noStrike">
                          <a:effectLst/>
                        </a:rPr>
                        <a:t>15,14</a:t>
                      </a:r>
                      <a:endParaRPr lang="en-US" sz="18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800" u="none" strike="noStrike">
                          <a:effectLst/>
                        </a:rPr>
                        <a:t>264,200793</a:t>
                      </a:r>
                      <a:endParaRPr lang="en-US" sz="18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800" u="none" strike="noStrike">
                          <a:effectLst/>
                        </a:rPr>
                        <a:t>136,3</a:t>
                      </a:r>
                      <a:endParaRPr lang="en-US" sz="18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798505546"/>
                  </a:ext>
                </a:extLst>
              </a:tr>
              <a:tr h="270710">
                <a:tc>
                  <a:txBody>
                    <a:bodyPr/>
                    <a:lstStyle/>
                    <a:p>
                      <a:pPr algn="ctr" fontAlgn="b"/>
                      <a:r>
                        <a:rPr lang="en-US" sz="1800" u="none" strike="noStrike">
                          <a:effectLst/>
                        </a:rPr>
                        <a:t>30</a:t>
                      </a:r>
                      <a:endParaRPr lang="en-US" sz="18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800" u="none" strike="noStrike">
                          <a:effectLst/>
                        </a:rPr>
                        <a:t>13,24</a:t>
                      </a:r>
                      <a:endParaRPr lang="en-US" sz="18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800" u="none" strike="noStrike">
                          <a:effectLst/>
                        </a:rPr>
                        <a:t>13,53</a:t>
                      </a:r>
                      <a:endParaRPr lang="en-US" sz="18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800" u="none" strike="noStrike">
                          <a:effectLst/>
                        </a:rPr>
                        <a:t>13,385</a:t>
                      </a:r>
                      <a:endParaRPr lang="en-US" sz="18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800" u="none" strike="noStrike">
                          <a:effectLst/>
                        </a:rPr>
                        <a:t>298,841987</a:t>
                      </a:r>
                      <a:endParaRPr lang="en-US" sz="18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800" u="none" strike="noStrike">
                          <a:effectLst/>
                        </a:rPr>
                        <a:t>145,8</a:t>
                      </a:r>
                      <a:endParaRPr lang="en-US" sz="18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991527971"/>
                  </a:ext>
                </a:extLst>
              </a:tr>
              <a:tr h="270710">
                <a:tc>
                  <a:txBody>
                    <a:bodyPr/>
                    <a:lstStyle/>
                    <a:p>
                      <a:pPr algn="ctr" fontAlgn="b"/>
                      <a:r>
                        <a:rPr lang="en-US" sz="1800" u="none" strike="noStrike">
                          <a:effectLst/>
                        </a:rPr>
                        <a:t>33,1</a:t>
                      </a:r>
                      <a:endParaRPr lang="en-US" sz="18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800" u="none" strike="noStrike">
                          <a:effectLst/>
                        </a:rPr>
                        <a:t>12,01</a:t>
                      </a:r>
                      <a:endParaRPr lang="en-US" sz="18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800" u="none" strike="noStrike">
                          <a:effectLst/>
                        </a:rPr>
                        <a:t>11,67</a:t>
                      </a:r>
                      <a:endParaRPr lang="en-US" sz="18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800" u="none" strike="noStrike">
                          <a:effectLst/>
                        </a:rPr>
                        <a:t>11,84</a:t>
                      </a:r>
                      <a:endParaRPr lang="en-US" sz="18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800" u="none" strike="noStrike">
                          <a:effectLst/>
                        </a:rPr>
                        <a:t>337,837838</a:t>
                      </a:r>
                      <a:endParaRPr lang="en-US" sz="18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800" u="none" strike="noStrike">
                          <a:effectLst/>
                        </a:rPr>
                        <a:t>163,8</a:t>
                      </a:r>
                      <a:endParaRPr lang="en-US" sz="18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378838460"/>
                  </a:ext>
                </a:extLst>
              </a:tr>
              <a:tr h="270710">
                <a:tc>
                  <a:txBody>
                    <a:bodyPr/>
                    <a:lstStyle/>
                    <a:p>
                      <a:pPr algn="ctr" fontAlgn="b"/>
                      <a:r>
                        <a:rPr lang="en-US" sz="1800" u="none" strike="noStrike">
                          <a:effectLst/>
                        </a:rPr>
                        <a:t>35</a:t>
                      </a:r>
                      <a:endParaRPr lang="en-US" sz="18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800" u="none" strike="noStrike">
                          <a:effectLst/>
                        </a:rPr>
                        <a:t>10,9</a:t>
                      </a:r>
                      <a:endParaRPr lang="en-US" sz="18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800" u="none" strike="noStrike">
                          <a:effectLst/>
                        </a:rPr>
                        <a:t>11,59</a:t>
                      </a:r>
                      <a:endParaRPr lang="en-US" sz="18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800" u="none" strike="noStrike">
                          <a:effectLst/>
                        </a:rPr>
                        <a:t>11,245</a:t>
                      </a:r>
                      <a:endParaRPr lang="en-US" sz="18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800" u="none" strike="noStrike">
                          <a:effectLst/>
                        </a:rPr>
                        <a:t>355,713651</a:t>
                      </a:r>
                      <a:endParaRPr lang="en-US" sz="18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800" u="none" strike="noStrike">
                          <a:effectLst/>
                        </a:rPr>
                        <a:t>173,3</a:t>
                      </a:r>
                      <a:endParaRPr lang="en-US" sz="18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376006868"/>
                  </a:ext>
                </a:extLst>
              </a:tr>
              <a:tr h="270710">
                <a:tc>
                  <a:txBody>
                    <a:bodyPr/>
                    <a:lstStyle/>
                    <a:p>
                      <a:pPr algn="ctr" fontAlgn="b"/>
                      <a:r>
                        <a:rPr lang="en-US" sz="1800" u="none" strike="noStrike">
                          <a:effectLst/>
                        </a:rPr>
                        <a:t>37</a:t>
                      </a:r>
                      <a:endParaRPr lang="en-US" sz="18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800" u="none" strike="noStrike">
                          <a:effectLst/>
                        </a:rPr>
                        <a:t>9,9</a:t>
                      </a:r>
                      <a:endParaRPr lang="en-US" sz="18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800" u="none" strike="noStrike">
                          <a:effectLst/>
                        </a:rPr>
                        <a:t>9,7</a:t>
                      </a:r>
                      <a:endParaRPr lang="en-US" sz="18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800" u="none" strike="noStrike">
                          <a:effectLst/>
                        </a:rPr>
                        <a:t>9,8</a:t>
                      </a:r>
                      <a:endParaRPr lang="en-US" sz="18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800" u="none" strike="noStrike">
                          <a:effectLst/>
                        </a:rPr>
                        <a:t>408,163265</a:t>
                      </a:r>
                      <a:endParaRPr lang="en-US" sz="18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800" u="none" strike="noStrike">
                          <a:effectLst/>
                        </a:rPr>
                        <a:t>183,6</a:t>
                      </a:r>
                      <a:endParaRPr lang="en-US" sz="18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68175237"/>
                  </a:ext>
                </a:extLst>
              </a:tr>
              <a:tr h="270710">
                <a:tc>
                  <a:txBody>
                    <a:bodyPr/>
                    <a:lstStyle/>
                    <a:p>
                      <a:pPr algn="ctr" fontAlgn="b"/>
                      <a:r>
                        <a:rPr lang="en-US" sz="1800" u="none" strike="noStrike" dirty="0">
                          <a:effectLst/>
                        </a:rPr>
                        <a:t>40</a:t>
                      </a:r>
                      <a:endParaRPr lang="en-US" sz="18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US" sz="1800" u="none" strike="noStrike">
                          <a:effectLst/>
                        </a:rPr>
                        <a:t>9,25</a:t>
                      </a:r>
                      <a:endParaRPr lang="en-US" sz="18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800" u="none" strike="noStrike">
                          <a:effectLst/>
                        </a:rPr>
                        <a:t>9,06</a:t>
                      </a:r>
                      <a:endParaRPr lang="en-US" sz="18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800" u="none" strike="noStrike">
                          <a:effectLst/>
                        </a:rPr>
                        <a:t>9,155</a:t>
                      </a:r>
                      <a:endParaRPr lang="en-US" sz="18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800" u="none" strike="noStrike">
                          <a:effectLst/>
                        </a:rPr>
                        <a:t>436,919716</a:t>
                      </a:r>
                      <a:endParaRPr lang="en-US" sz="18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800" u="none" strike="noStrike" dirty="0">
                          <a:effectLst/>
                        </a:rPr>
                        <a:t>199,9</a:t>
                      </a:r>
                      <a:endParaRPr lang="en-US" sz="18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426490756"/>
                  </a:ext>
                </a:extLst>
              </a:tr>
            </a:tbl>
          </a:graphicData>
        </a:graphic>
      </p:graphicFrame>
      <p:sp>
        <p:nvSpPr>
          <p:cNvPr id="6" name="Rectángulo redondeado 5"/>
          <p:cNvSpPr/>
          <p:nvPr/>
        </p:nvSpPr>
        <p:spPr>
          <a:xfrm>
            <a:off x="950528" y="1392066"/>
            <a:ext cx="1995569" cy="3683725"/>
          </a:xfrm>
          <a:prstGeom prst="roundRect">
            <a:avLst/>
          </a:prstGeom>
          <a:noFill/>
          <a:ln w="57150"/>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7" name="Rectángulo redondeado 6"/>
          <p:cNvSpPr/>
          <p:nvPr/>
        </p:nvSpPr>
        <p:spPr>
          <a:xfrm>
            <a:off x="7416642" y="1392066"/>
            <a:ext cx="1995569" cy="3683725"/>
          </a:xfrm>
          <a:prstGeom prst="roundRect">
            <a:avLst/>
          </a:prstGeom>
          <a:noFill/>
          <a:ln w="57150"/>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8" name="Flecha abajo 7"/>
          <p:cNvSpPr/>
          <p:nvPr/>
        </p:nvSpPr>
        <p:spPr>
          <a:xfrm>
            <a:off x="1446918" y="5075791"/>
            <a:ext cx="1158240" cy="879566"/>
          </a:xfrm>
          <a:prstGeom prst="down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9" name="Flecha abajo 8"/>
          <p:cNvSpPr/>
          <p:nvPr/>
        </p:nvSpPr>
        <p:spPr>
          <a:xfrm>
            <a:off x="7835306" y="5075791"/>
            <a:ext cx="1158240" cy="879566"/>
          </a:xfrm>
          <a:prstGeom prst="down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8622786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635905" y="-90133"/>
            <a:ext cx="10058400" cy="1609344"/>
          </a:xfrm>
        </p:spPr>
        <p:txBody>
          <a:bodyPr/>
          <a:lstStyle/>
          <a:p>
            <a:r>
              <a:rPr lang="es-BO" dirty="0"/>
              <a:t>CON MATLAB</a:t>
            </a:r>
            <a:endParaRPr lang="en-US" dirty="0"/>
          </a:p>
        </p:txBody>
      </p:sp>
      <p:pic>
        <p:nvPicPr>
          <p:cNvPr id="4" name="Marcador de contenido 3"/>
          <p:cNvPicPr>
            <a:picLocks noGrp="1" noChangeAspect="1"/>
          </p:cNvPicPr>
          <p:nvPr>
            <p:ph idx="1"/>
          </p:nvPr>
        </p:nvPicPr>
        <p:blipFill>
          <a:blip r:embed="rId2"/>
          <a:stretch>
            <a:fillRect/>
          </a:stretch>
        </p:blipFill>
        <p:spPr>
          <a:xfrm>
            <a:off x="864282" y="1238251"/>
            <a:ext cx="7412174" cy="3709124"/>
          </a:xfrm>
          <a:prstGeom prst="rect">
            <a:avLst/>
          </a:prstGeom>
        </p:spPr>
      </p:pic>
      <p:pic>
        <p:nvPicPr>
          <p:cNvPr id="5" name="Imagen 4"/>
          <p:cNvPicPr>
            <a:picLocks noChangeAspect="1"/>
          </p:cNvPicPr>
          <p:nvPr/>
        </p:nvPicPr>
        <p:blipFill>
          <a:blip r:embed="rId3"/>
          <a:stretch>
            <a:fillRect/>
          </a:stretch>
        </p:blipFill>
        <p:spPr>
          <a:xfrm>
            <a:off x="1003619" y="4371703"/>
            <a:ext cx="5536518" cy="2198913"/>
          </a:xfrm>
          <a:prstGeom prst="rect">
            <a:avLst/>
          </a:prstGeom>
        </p:spPr>
      </p:pic>
      <p:pic>
        <p:nvPicPr>
          <p:cNvPr id="6" name="Imagen 5"/>
          <p:cNvPicPr>
            <a:picLocks noChangeAspect="1"/>
          </p:cNvPicPr>
          <p:nvPr/>
        </p:nvPicPr>
        <p:blipFill>
          <a:blip r:embed="rId4"/>
          <a:stretch>
            <a:fillRect/>
          </a:stretch>
        </p:blipFill>
        <p:spPr>
          <a:xfrm>
            <a:off x="8569814" y="1439633"/>
            <a:ext cx="3439308" cy="2844984"/>
          </a:xfrm>
          <a:prstGeom prst="rect">
            <a:avLst/>
          </a:prstGeom>
        </p:spPr>
      </p:pic>
      <p:sp>
        <p:nvSpPr>
          <p:cNvPr id="7" name="Flecha derecha 6"/>
          <p:cNvSpPr/>
          <p:nvPr/>
        </p:nvSpPr>
        <p:spPr>
          <a:xfrm>
            <a:off x="7446408" y="1778508"/>
            <a:ext cx="1123406" cy="748937"/>
          </a:xfrm>
          <a:prstGeom prst="rightArrow">
            <a:avLst/>
          </a:prstGeom>
          <a:solidFill>
            <a:srgbClr val="00B050"/>
          </a:solidFill>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8" name="Flecha abajo 7"/>
          <p:cNvSpPr/>
          <p:nvPr/>
        </p:nvSpPr>
        <p:spPr>
          <a:xfrm>
            <a:off x="1017596" y="3954898"/>
            <a:ext cx="618309" cy="833610"/>
          </a:xfrm>
          <a:prstGeom prst="downArrow">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9" name="Rectángulo 8"/>
              <p:cNvSpPr/>
              <p:nvPr/>
            </p:nvSpPr>
            <p:spPr>
              <a:xfrm>
                <a:off x="7168357" y="5101827"/>
                <a:ext cx="3062057" cy="64633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s-BO" i="1" smtClean="0">
                              <a:latin typeface="Cambria Math" panose="02040503050406030204" pitchFamily="18" charset="0"/>
                            </a:rPr>
                          </m:ctrlPr>
                        </m:sSubPr>
                        <m:e>
                          <m:r>
                            <a:rPr lang="es-BO" i="1">
                              <a:latin typeface="Cambria Math" panose="02040503050406030204" pitchFamily="18" charset="0"/>
                            </a:rPr>
                            <m:t>𝑘</m:t>
                          </m:r>
                        </m:e>
                        <m:sub>
                          <m:r>
                            <a:rPr lang="es-BO" i="1">
                              <a:latin typeface="Cambria Math" panose="02040503050406030204" pitchFamily="18" charset="0"/>
                            </a:rPr>
                            <m:t>𝑥</m:t>
                          </m:r>
                        </m:sub>
                      </m:sSub>
                      <m:r>
                        <a:rPr lang="es-BO" i="1">
                          <a:latin typeface="Cambria Math" panose="02040503050406030204" pitchFamily="18" charset="0"/>
                        </a:rPr>
                        <m:t>:</m:t>
                      </m:r>
                      <m:r>
                        <a:rPr lang="es-BO" i="1">
                          <a:latin typeface="Cambria Math" panose="02040503050406030204" pitchFamily="18" charset="0"/>
                        </a:rPr>
                        <m:t>𝑑𝑖𝑛𝑎𝑚𝑖𝑐𝑎</m:t>
                      </m:r>
                      <m:r>
                        <a:rPr lang="es-BO" i="1">
                          <a:latin typeface="Cambria Math" panose="02040503050406030204" pitchFamily="18" charset="0"/>
                        </a:rPr>
                        <m:t> </m:t>
                      </m:r>
                      <m:r>
                        <a:rPr lang="es-BO" i="1">
                          <a:latin typeface="Cambria Math" panose="02040503050406030204" pitchFamily="18" charset="0"/>
                        </a:rPr>
                        <m:t>𝑑𝑒𝑙</m:t>
                      </m:r>
                      <m:r>
                        <a:rPr lang="es-BO" i="1">
                          <a:latin typeface="Cambria Math" panose="02040503050406030204" pitchFamily="18" charset="0"/>
                        </a:rPr>
                        <m:t> </m:t>
                      </m:r>
                      <m:r>
                        <a:rPr lang="es-BO" i="1">
                          <a:latin typeface="Cambria Math" panose="02040503050406030204" pitchFamily="18" charset="0"/>
                        </a:rPr>
                        <m:t>𝑎𝑐𝑡𝑢𝑎𝑑𝑜𝑟</m:t>
                      </m:r>
                      <m:r>
                        <a:rPr lang="es-BO" i="1">
                          <a:latin typeface="Cambria Math" panose="02040503050406030204" pitchFamily="18" charset="0"/>
                        </a:rPr>
                        <m:t> </m:t>
                      </m:r>
                    </m:oMath>
                  </m:oMathPara>
                </a14:m>
                <a:endParaRPr lang="es-BO" dirty="0"/>
              </a:p>
              <a:p>
                <a:pPr/>
                <a14:m>
                  <m:oMathPara xmlns:m="http://schemas.openxmlformats.org/officeDocument/2006/math">
                    <m:oMathParaPr>
                      <m:jc m:val="centerGroup"/>
                    </m:oMathParaPr>
                    <m:oMath xmlns:m="http://schemas.openxmlformats.org/officeDocument/2006/math">
                      <m:sSub>
                        <m:sSubPr>
                          <m:ctrlPr>
                            <a:rPr lang="es-BO" i="1">
                              <a:latin typeface="Cambria Math" panose="02040503050406030204" pitchFamily="18" charset="0"/>
                            </a:rPr>
                          </m:ctrlPr>
                        </m:sSubPr>
                        <m:e>
                          <m:r>
                            <a:rPr lang="es-BO" i="1">
                              <a:latin typeface="Cambria Math" panose="02040503050406030204" pitchFamily="18" charset="0"/>
                            </a:rPr>
                            <m:t>𝑘</m:t>
                          </m:r>
                        </m:e>
                        <m:sub>
                          <m:r>
                            <a:rPr lang="es-BO" i="1">
                              <a:latin typeface="Cambria Math" panose="02040503050406030204" pitchFamily="18" charset="0"/>
                            </a:rPr>
                            <m:t>𝑥</m:t>
                          </m:r>
                        </m:sub>
                      </m:sSub>
                      <m:r>
                        <a:rPr lang="es-BO" b="0" i="1" smtClean="0">
                          <a:latin typeface="Cambria Math" panose="02040503050406030204" pitchFamily="18" charset="0"/>
                        </a:rPr>
                        <m:t>=9.967</m:t>
                      </m:r>
                    </m:oMath>
                  </m:oMathPara>
                </a14:m>
                <a:endParaRPr lang="en-US" dirty="0"/>
              </a:p>
            </p:txBody>
          </p:sp>
        </mc:Choice>
        <mc:Fallback xmlns="">
          <p:sp>
            <p:nvSpPr>
              <p:cNvPr id="9" name="Rectángulo 8"/>
              <p:cNvSpPr>
                <a:spLocks noRot="1" noChangeAspect="1" noMove="1" noResize="1" noEditPoints="1" noAdjustHandles="1" noChangeArrowheads="1" noChangeShapeType="1" noTextEdit="1"/>
              </p:cNvSpPr>
              <p:nvPr/>
            </p:nvSpPr>
            <p:spPr>
              <a:xfrm>
                <a:off x="7168357" y="5101827"/>
                <a:ext cx="3062057" cy="646331"/>
              </a:xfrm>
              <a:prstGeom prst="rect">
                <a:avLst/>
              </a:prstGeom>
              <a:blipFill>
                <a:blip r:embed="rId5"/>
                <a:stretch>
                  <a:fillRect/>
                </a:stretch>
              </a:blipFill>
            </p:spPr>
            <p:txBody>
              <a:bodyPr/>
              <a:lstStyle/>
              <a:p>
                <a:r>
                  <a:rPr lang="en-US">
                    <a:noFill/>
                  </a:rPr>
                  <a:t> </a:t>
                </a:r>
              </a:p>
            </p:txBody>
          </p:sp>
        </mc:Fallback>
      </mc:AlternateContent>
      <p:sp>
        <p:nvSpPr>
          <p:cNvPr id="10" name="Rectángulo redondeado 9"/>
          <p:cNvSpPr/>
          <p:nvPr/>
        </p:nvSpPr>
        <p:spPr>
          <a:xfrm>
            <a:off x="7001691" y="4788508"/>
            <a:ext cx="3492138" cy="1298783"/>
          </a:xfrm>
          <a:prstGeom prst="roundRect">
            <a:avLst/>
          </a:prstGeom>
          <a:no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lecha derecha 10"/>
          <p:cNvSpPr/>
          <p:nvPr/>
        </p:nvSpPr>
        <p:spPr>
          <a:xfrm rot="5400000">
            <a:off x="7615409" y="4120002"/>
            <a:ext cx="935566" cy="850162"/>
          </a:xfrm>
          <a:prstGeom prst="rightArrow">
            <a:avLst/>
          </a:prstGeom>
          <a:solidFill>
            <a:srgbClr val="00B050"/>
          </a:solidFill>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2" name="Rectángulo 11"/>
              <p:cNvSpPr/>
              <p:nvPr/>
            </p:nvSpPr>
            <p:spPr>
              <a:xfrm>
                <a:off x="3042622" y="4894405"/>
                <a:ext cx="1425390" cy="61734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en-US" b="1" i="1" smtClean="0">
                              <a:latin typeface="Cambria Math" panose="02040503050406030204" pitchFamily="18" charset="0"/>
                            </a:rPr>
                          </m:ctrlPr>
                        </m:fPr>
                        <m:num>
                          <m:r>
                            <a:rPr lang="es-BO" b="1" i="1" smtClean="0">
                              <a:latin typeface="Cambria Math" panose="02040503050406030204" pitchFamily="18" charset="0"/>
                            </a:rPr>
                            <m:t>𝟒</m:t>
                          </m:r>
                          <m:r>
                            <a:rPr lang="es-BO" b="1" i="1">
                              <a:latin typeface="Cambria Math" panose="02040503050406030204" pitchFamily="18" charset="0"/>
                            </a:rPr>
                            <m:t>.</m:t>
                          </m:r>
                          <m:r>
                            <a:rPr lang="es-BO" b="1" i="1" smtClean="0">
                              <a:latin typeface="Cambria Math" panose="02040503050406030204" pitchFamily="18" charset="0"/>
                            </a:rPr>
                            <m:t>𝟔𝟐𝟑</m:t>
                          </m:r>
                        </m:num>
                        <m:den>
                          <m:r>
                            <a:rPr lang="es-BO" b="1" i="1">
                              <a:latin typeface="Cambria Math" panose="02040503050406030204" pitchFamily="18" charset="0"/>
                            </a:rPr>
                            <m:t>𝒔</m:t>
                          </m:r>
                          <m:r>
                            <a:rPr lang="es-BO" b="1" i="1">
                              <a:latin typeface="Cambria Math" panose="02040503050406030204" pitchFamily="18" charset="0"/>
                            </a:rPr>
                            <m:t>+</m:t>
                          </m:r>
                          <m:r>
                            <a:rPr lang="es-BO" b="1" i="1" smtClean="0">
                              <a:latin typeface="Cambria Math" panose="02040503050406030204" pitchFamily="18" charset="0"/>
                            </a:rPr>
                            <m:t>𝟎</m:t>
                          </m:r>
                          <m:r>
                            <a:rPr lang="es-BO" b="1" i="1" smtClean="0">
                              <a:latin typeface="Cambria Math" panose="02040503050406030204" pitchFamily="18" charset="0"/>
                            </a:rPr>
                            <m:t>.</m:t>
                          </m:r>
                          <m:r>
                            <a:rPr lang="es-BO" b="1" i="1" smtClean="0">
                              <a:latin typeface="Cambria Math" panose="02040503050406030204" pitchFamily="18" charset="0"/>
                            </a:rPr>
                            <m:t>𝟑𝟐𝟕𝟓</m:t>
                          </m:r>
                        </m:den>
                      </m:f>
                    </m:oMath>
                  </m:oMathPara>
                </a14:m>
                <a:endParaRPr lang="en-US" dirty="0"/>
              </a:p>
            </p:txBody>
          </p:sp>
        </mc:Choice>
        <mc:Fallback xmlns="">
          <p:sp>
            <p:nvSpPr>
              <p:cNvPr id="12" name="Rectángulo 11"/>
              <p:cNvSpPr>
                <a:spLocks noRot="1" noChangeAspect="1" noMove="1" noResize="1" noEditPoints="1" noAdjustHandles="1" noChangeArrowheads="1" noChangeShapeType="1" noTextEdit="1"/>
              </p:cNvSpPr>
              <p:nvPr/>
            </p:nvSpPr>
            <p:spPr>
              <a:xfrm>
                <a:off x="3042622" y="4894405"/>
                <a:ext cx="1425390" cy="617348"/>
              </a:xfrm>
              <a:prstGeom prst="rect">
                <a:avLst/>
              </a:prstGeom>
              <a:blipFill>
                <a:blip r:embed="rId6"/>
                <a:stretch>
                  <a:fillRect/>
                </a:stretch>
              </a:blipFill>
            </p:spPr>
            <p:txBody>
              <a:bodyPr/>
              <a:lstStyle/>
              <a:p>
                <a:r>
                  <a:rPr lang="en-US">
                    <a:noFill/>
                  </a:rPr>
                  <a:t> </a:t>
                </a:r>
              </a:p>
            </p:txBody>
          </p:sp>
        </mc:Fallback>
      </mc:AlternateContent>
      <p:sp>
        <p:nvSpPr>
          <p:cNvPr id="13" name="Rectángulo redondeado 12"/>
          <p:cNvSpPr/>
          <p:nvPr/>
        </p:nvSpPr>
        <p:spPr>
          <a:xfrm>
            <a:off x="3095788" y="4776358"/>
            <a:ext cx="1659092" cy="805835"/>
          </a:xfrm>
          <a:prstGeom prst="roundRect">
            <a:avLst/>
          </a:prstGeom>
          <a:noFill/>
          <a:ln w="571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9104139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Rectángulo 3"/>
              <p:cNvSpPr/>
              <p:nvPr/>
            </p:nvSpPr>
            <p:spPr>
              <a:xfrm>
                <a:off x="2231472" y="2152837"/>
                <a:ext cx="6096000" cy="1878784"/>
              </a:xfrm>
              <a:prstGeom prst="rect">
                <a:avLst/>
              </a:prstGeom>
            </p:spPr>
            <p:txBody>
              <a:bodyPr>
                <a:spAutoFit/>
              </a:bodyPr>
              <a:lstStyle/>
              <a:p>
                <a:pPr algn="just">
                  <a:lnSpc>
                    <a:spcPct val="107000"/>
                  </a:lnSpc>
                  <a:spcBef>
                    <a:spcPts val="600"/>
                  </a:spcBef>
                  <a:spcAft>
                    <a:spcPts val="600"/>
                  </a:spcAft>
                </a:pPr>
                <a14:m>
                  <m:oMathPara xmlns:m="http://schemas.openxmlformats.org/officeDocument/2006/math">
                    <m:oMathParaPr>
                      <m:jc m:val="centerGroup"/>
                    </m:oMathParaPr>
                    <m:oMath xmlns:m="http://schemas.openxmlformats.org/officeDocument/2006/math">
                      <m:r>
                        <a:rPr lang="es-BO" sz="2400" i="1" smtClean="0">
                          <a:latin typeface="Cambria Math" panose="02040503050406030204" pitchFamily="18" charset="0"/>
                          <a:ea typeface="Calibri" panose="020F0502020204030204" pitchFamily="34" charset="0"/>
                          <a:cs typeface="Times New Roman" panose="02020603050405020304" pitchFamily="18" charset="0"/>
                        </a:rPr>
                        <m:t>𝑠𝑖</m:t>
                      </m:r>
                      <m:r>
                        <a:rPr lang="es-BO" sz="2400" i="1" smtClean="0">
                          <a:latin typeface="Cambria Math" panose="02040503050406030204" pitchFamily="18" charset="0"/>
                          <a:ea typeface="Calibri" panose="020F0502020204030204" pitchFamily="34" charset="0"/>
                          <a:cs typeface="Times New Roman" panose="02020603050405020304" pitchFamily="18" charset="0"/>
                        </a:rPr>
                        <m:t>:  </m:t>
                      </m:r>
                      <m:sSub>
                        <m:sSubPr>
                          <m:ctrlPr>
                            <a:rPr lang="en-US" sz="2400" i="1">
                              <a:latin typeface="Cambria Math" panose="02040503050406030204" pitchFamily="18" charset="0"/>
                              <a:ea typeface="Calibri" panose="020F0502020204030204" pitchFamily="34" charset="0"/>
                              <a:cs typeface="Times New Roman" panose="02020603050405020304" pitchFamily="18" charset="0"/>
                            </a:rPr>
                          </m:ctrlPr>
                        </m:sSubPr>
                        <m:e>
                          <m:r>
                            <a:rPr lang="es-BO" sz="2400" i="1">
                              <a:latin typeface="Cambria Math" panose="02040503050406030204" pitchFamily="18" charset="0"/>
                              <a:ea typeface="Calibri" panose="020F0502020204030204" pitchFamily="34" charset="0"/>
                              <a:cs typeface="Times New Roman" panose="02020603050405020304" pitchFamily="18" charset="0"/>
                            </a:rPr>
                            <m:t>𝑥</m:t>
                          </m:r>
                        </m:e>
                        <m:sub>
                          <m:r>
                            <a:rPr lang="es-BO" sz="2400" i="1">
                              <a:latin typeface="Cambria Math" panose="02040503050406030204" pitchFamily="18" charset="0"/>
                              <a:ea typeface="Calibri" panose="020F0502020204030204" pitchFamily="34" charset="0"/>
                              <a:cs typeface="Times New Roman" panose="02020603050405020304" pitchFamily="18" charset="0"/>
                            </a:rPr>
                            <m:t>1</m:t>
                          </m:r>
                        </m:sub>
                      </m:sSub>
                      <m:r>
                        <a:rPr lang="es-BO" sz="2400" i="1">
                          <a:latin typeface="Cambria Math" panose="02040503050406030204" pitchFamily="18" charset="0"/>
                          <a:ea typeface="Calibri" panose="020F0502020204030204" pitchFamily="34" charset="0"/>
                          <a:cs typeface="Times New Roman" panose="02020603050405020304" pitchFamily="18" charset="0"/>
                        </a:rPr>
                        <m:t>=</m:t>
                      </m:r>
                      <m:r>
                        <a:rPr lang="es-BO" sz="2400" i="1">
                          <a:latin typeface="Cambria Math" panose="02040503050406030204" pitchFamily="18" charset="0"/>
                          <a:ea typeface="Calibri" panose="020F0502020204030204" pitchFamily="34" charset="0"/>
                          <a:cs typeface="Times New Roman" panose="02020603050405020304" pitchFamily="18" charset="0"/>
                        </a:rPr>
                        <m:t>h</m:t>
                      </m:r>
                      <m:d>
                        <m:dPr>
                          <m:ctrlPr>
                            <a:rPr lang="en-US" sz="2400" i="1">
                              <a:latin typeface="Cambria Math" panose="02040503050406030204" pitchFamily="18" charset="0"/>
                              <a:ea typeface="Calibri" panose="020F0502020204030204" pitchFamily="34" charset="0"/>
                              <a:cs typeface="Times New Roman" panose="02020603050405020304" pitchFamily="18" charset="0"/>
                            </a:rPr>
                          </m:ctrlPr>
                        </m:dPr>
                        <m:e>
                          <m:r>
                            <a:rPr lang="es-BO" sz="2400" i="1">
                              <a:latin typeface="Cambria Math" panose="02040503050406030204" pitchFamily="18" charset="0"/>
                              <a:ea typeface="Calibri" panose="020F0502020204030204" pitchFamily="34" charset="0"/>
                              <a:cs typeface="Times New Roman" panose="02020603050405020304" pitchFamily="18" charset="0"/>
                            </a:rPr>
                            <m:t>𝑡</m:t>
                          </m:r>
                        </m:e>
                      </m:d>
                      <m:r>
                        <a:rPr lang="es-BO" sz="2400" i="1">
                          <a:latin typeface="Cambria Math" panose="02040503050406030204" pitchFamily="18" charset="0"/>
                          <a:ea typeface="Calibri" panose="020F0502020204030204" pitchFamily="34" charset="0"/>
                          <a:cs typeface="Times New Roman" panose="02020603050405020304" pitchFamily="18" charset="0"/>
                        </a:rPr>
                        <m:t>  </m:t>
                      </m:r>
                    </m:oMath>
                  </m:oMathPara>
                </a14:m>
                <a:endParaRPr lang="es-BO" sz="2400" i="1" dirty="0">
                  <a:latin typeface="Cambria Math" panose="02040503050406030204" pitchFamily="18" charset="0"/>
                  <a:ea typeface="Calibri" panose="020F0502020204030204" pitchFamily="34" charset="0"/>
                  <a:cs typeface="Times New Roman" panose="02020603050405020304" pitchFamily="18" charset="0"/>
                </a:endParaRPr>
              </a:p>
              <a:p>
                <a:pPr algn="just">
                  <a:lnSpc>
                    <a:spcPct val="107000"/>
                  </a:lnSpc>
                  <a:spcBef>
                    <a:spcPts val="600"/>
                  </a:spcBef>
                  <a:spcAft>
                    <a:spcPts val="600"/>
                  </a:spcAft>
                </a:pPr>
                <a14:m>
                  <m:oMathPara xmlns:m="http://schemas.openxmlformats.org/officeDocument/2006/math">
                    <m:oMathParaPr>
                      <m:jc m:val="centerGroup"/>
                    </m:oMathParaPr>
                    <m:oMath xmlns:m="http://schemas.openxmlformats.org/officeDocument/2006/math">
                      <m:r>
                        <a:rPr lang="es-BO" sz="2400" i="1">
                          <a:latin typeface="Cambria Math" panose="02040503050406030204" pitchFamily="18" charset="0"/>
                          <a:ea typeface="Calibri" panose="020F0502020204030204" pitchFamily="34" charset="0"/>
                          <a:cs typeface="Times New Roman" panose="02020603050405020304" pitchFamily="18" charset="0"/>
                        </a:rPr>
                        <m:t>  →      </m:t>
                      </m:r>
                      <m:sSub>
                        <m:sSubPr>
                          <m:ctrlPr>
                            <a:rPr lang="en-US" sz="2400" i="1">
                              <a:latin typeface="Cambria Math" panose="02040503050406030204" pitchFamily="18" charset="0"/>
                              <a:ea typeface="Calibri" panose="020F0502020204030204" pitchFamily="34" charset="0"/>
                              <a:cs typeface="Times New Roman" panose="02020603050405020304" pitchFamily="18" charset="0"/>
                            </a:rPr>
                          </m:ctrlPr>
                        </m:sSubPr>
                        <m:e>
                          <m:acc>
                            <m:accPr>
                              <m:chr m:val="̇"/>
                              <m:ctrlPr>
                                <a:rPr lang="en-US" sz="2400" i="1">
                                  <a:latin typeface="Cambria Math" panose="02040503050406030204" pitchFamily="18" charset="0"/>
                                  <a:ea typeface="Calibri" panose="020F0502020204030204" pitchFamily="34" charset="0"/>
                                  <a:cs typeface="Times New Roman" panose="02020603050405020304" pitchFamily="18" charset="0"/>
                                </a:rPr>
                              </m:ctrlPr>
                            </m:accPr>
                            <m:e>
                              <m:r>
                                <a:rPr lang="es-BO" sz="2400" i="1">
                                  <a:latin typeface="Cambria Math" panose="02040503050406030204" pitchFamily="18" charset="0"/>
                                  <a:ea typeface="Calibri" panose="020F0502020204030204" pitchFamily="34" charset="0"/>
                                  <a:cs typeface="Times New Roman" panose="02020603050405020304" pitchFamily="18" charset="0"/>
                                </a:rPr>
                                <m:t>𝑥</m:t>
                              </m:r>
                            </m:e>
                          </m:acc>
                        </m:e>
                        <m:sub>
                          <m:r>
                            <a:rPr lang="es-BO" sz="2400" i="1">
                              <a:latin typeface="Cambria Math" panose="02040503050406030204" pitchFamily="18" charset="0"/>
                              <a:ea typeface="Calibri" panose="020F0502020204030204" pitchFamily="34" charset="0"/>
                              <a:cs typeface="Times New Roman" panose="02020603050405020304" pitchFamily="18" charset="0"/>
                            </a:rPr>
                            <m:t>1</m:t>
                          </m:r>
                        </m:sub>
                      </m:sSub>
                      <m:r>
                        <a:rPr lang="es-BO" sz="2400" i="1">
                          <a:latin typeface="Cambria Math" panose="02040503050406030204" pitchFamily="18" charset="0"/>
                          <a:ea typeface="Calibri" panose="020F0502020204030204" pitchFamily="34" charset="0"/>
                          <a:cs typeface="Times New Roman" panose="02020603050405020304" pitchFamily="18" charset="0"/>
                        </a:rPr>
                        <m:t>= </m:t>
                      </m:r>
                      <m:acc>
                        <m:accPr>
                          <m:chr m:val="̇"/>
                          <m:ctrlPr>
                            <a:rPr lang="en-US" sz="2400" i="1">
                              <a:latin typeface="Cambria Math" panose="02040503050406030204" pitchFamily="18" charset="0"/>
                              <a:ea typeface="Calibri" panose="020F0502020204030204" pitchFamily="34" charset="0"/>
                              <a:cs typeface="Times New Roman" panose="02020603050405020304" pitchFamily="18" charset="0"/>
                            </a:rPr>
                          </m:ctrlPr>
                        </m:accPr>
                        <m:e>
                          <m:r>
                            <a:rPr lang="es-BO" sz="2400" i="1">
                              <a:latin typeface="Cambria Math" panose="02040503050406030204" pitchFamily="18" charset="0"/>
                              <a:ea typeface="Calibri" panose="020F0502020204030204" pitchFamily="34" charset="0"/>
                              <a:cs typeface="Times New Roman" panose="02020603050405020304" pitchFamily="18" charset="0"/>
                            </a:rPr>
                            <m:t>h</m:t>
                          </m:r>
                        </m:e>
                      </m:acc>
                      <m:d>
                        <m:dPr>
                          <m:ctrlPr>
                            <a:rPr lang="en-US" sz="2400" i="1">
                              <a:latin typeface="Cambria Math" panose="02040503050406030204" pitchFamily="18" charset="0"/>
                              <a:ea typeface="Calibri" panose="020F0502020204030204" pitchFamily="34" charset="0"/>
                              <a:cs typeface="Times New Roman" panose="02020603050405020304" pitchFamily="18" charset="0"/>
                            </a:rPr>
                          </m:ctrlPr>
                        </m:dPr>
                        <m:e>
                          <m:r>
                            <a:rPr lang="es-BO" sz="2400" i="1">
                              <a:latin typeface="Cambria Math" panose="02040503050406030204" pitchFamily="18" charset="0"/>
                              <a:ea typeface="Calibri" panose="020F0502020204030204" pitchFamily="34" charset="0"/>
                              <a:cs typeface="Times New Roman" panose="02020603050405020304" pitchFamily="18" charset="0"/>
                            </a:rPr>
                            <m:t>𝑡</m:t>
                          </m:r>
                        </m:e>
                      </m:d>
                      <m:r>
                        <a:rPr lang="es-BO" sz="2400" i="1">
                          <a:latin typeface="Cambria Math" panose="02040503050406030204" pitchFamily="18" charset="0"/>
                          <a:ea typeface="Calibri" panose="020F0502020204030204" pitchFamily="34" charset="0"/>
                          <a:cs typeface="Times New Roman" panose="02020603050405020304" pitchFamily="18" charset="0"/>
                        </a:rPr>
                        <m:t>  </m:t>
                      </m:r>
                    </m:oMath>
                  </m:oMathPara>
                </a14:m>
                <a:endParaRPr lang="en-US" sz="24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US" sz="2400" i="1">
                              <a:latin typeface="Cambria Math" panose="02040503050406030204" pitchFamily="18" charset="0"/>
                              <a:ea typeface="Calibri" panose="020F0502020204030204" pitchFamily="34" charset="0"/>
                              <a:cs typeface="Times New Roman" panose="02020603050405020304" pitchFamily="18" charset="0"/>
                            </a:rPr>
                          </m:ctrlPr>
                        </m:sSubPr>
                        <m:e>
                          <m:acc>
                            <m:accPr>
                              <m:chr m:val="̇"/>
                              <m:ctrlPr>
                                <a:rPr lang="en-US" sz="2400" i="1">
                                  <a:latin typeface="Cambria Math" panose="02040503050406030204" pitchFamily="18" charset="0"/>
                                  <a:ea typeface="Calibri" panose="020F0502020204030204" pitchFamily="34" charset="0"/>
                                  <a:cs typeface="Times New Roman" panose="02020603050405020304" pitchFamily="18" charset="0"/>
                                </a:rPr>
                              </m:ctrlPr>
                            </m:accPr>
                            <m:e>
                              <m:r>
                                <a:rPr lang="es-BO" sz="2400" i="1">
                                  <a:latin typeface="Cambria Math" panose="02040503050406030204" pitchFamily="18" charset="0"/>
                                  <a:ea typeface="Calibri" panose="020F0502020204030204" pitchFamily="34" charset="0"/>
                                  <a:cs typeface="Times New Roman" panose="02020603050405020304" pitchFamily="18" charset="0"/>
                                </a:rPr>
                                <m:t>𝑥</m:t>
                              </m:r>
                            </m:e>
                          </m:acc>
                        </m:e>
                        <m:sub>
                          <m:r>
                            <a:rPr lang="es-BO" sz="2400" i="1">
                              <a:latin typeface="Cambria Math" panose="02040503050406030204" pitchFamily="18" charset="0"/>
                              <a:ea typeface="Calibri" panose="020F0502020204030204" pitchFamily="34" charset="0"/>
                              <a:cs typeface="Times New Roman" panose="02020603050405020304" pitchFamily="18" charset="0"/>
                            </a:rPr>
                            <m:t>1</m:t>
                          </m:r>
                        </m:sub>
                      </m:sSub>
                      <m:r>
                        <a:rPr lang="es-BO" sz="2400" i="1">
                          <a:latin typeface="Cambria Math" panose="02040503050406030204" pitchFamily="18" charset="0"/>
                          <a:ea typeface="Calibri" panose="020F0502020204030204" pitchFamily="34" charset="0"/>
                          <a:cs typeface="Times New Roman" panose="02020603050405020304" pitchFamily="18" charset="0"/>
                        </a:rPr>
                        <m:t>=</m:t>
                      </m:r>
                      <m:f>
                        <m:fPr>
                          <m:ctrlPr>
                            <a:rPr lang="en-US" sz="2400" i="1">
                              <a:latin typeface="Cambria Math" panose="02040503050406030204" pitchFamily="18" charset="0"/>
                              <a:ea typeface="Calibri" panose="020F0502020204030204" pitchFamily="34" charset="0"/>
                              <a:cs typeface="Times New Roman" panose="02020603050405020304" pitchFamily="18" charset="0"/>
                            </a:rPr>
                          </m:ctrlPr>
                        </m:fPr>
                        <m:num>
                          <m:r>
                            <a:rPr lang="es-BO" sz="2400" b="0" i="1" smtClean="0">
                              <a:latin typeface="Cambria Math" panose="02040503050406030204" pitchFamily="18" charset="0"/>
                              <a:ea typeface="Calibri" panose="020F0502020204030204" pitchFamily="34" charset="0"/>
                              <a:cs typeface="Times New Roman" panose="02020603050405020304" pitchFamily="18" charset="0"/>
                            </a:rPr>
                            <m:t>1</m:t>
                          </m:r>
                        </m:num>
                        <m:den>
                          <m:r>
                            <a:rPr lang="es-BO" sz="2400" i="1">
                              <a:latin typeface="Cambria Math" panose="02040503050406030204" pitchFamily="18" charset="0"/>
                              <a:ea typeface="Calibri" panose="020F0502020204030204" pitchFamily="34" charset="0"/>
                              <a:cs typeface="Times New Roman" panose="02020603050405020304" pitchFamily="18" charset="0"/>
                            </a:rPr>
                            <m:t>𝐶</m:t>
                          </m:r>
                        </m:den>
                      </m:f>
                      <m:r>
                        <a:rPr lang="es-BO" sz="2400" b="0" i="1" smtClean="0">
                          <a:latin typeface="Cambria Math" panose="02040503050406030204" pitchFamily="18" charset="0"/>
                          <a:ea typeface="Calibri" panose="020F0502020204030204" pitchFamily="34" charset="0"/>
                          <a:cs typeface="Times New Roman" panose="02020603050405020304" pitchFamily="18" charset="0"/>
                        </a:rPr>
                        <m:t>∗</m:t>
                      </m:r>
                      <m:sSub>
                        <m:sSubPr>
                          <m:ctrlPr>
                            <a:rPr lang="es-BO" sz="2400" i="1">
                              <a:latin typeface="Cambria Math" panose="02040503050406030204" pitchFamily="18" charset="0"/>
                            </a:rPr>
                          </m:ctrlPr>
                        </m:sSubPr>
                        <m:e>
                          <m:r>
                            <a:rPr lang="es-BO" sz="2400" i="1">
                              <a:latin typeface="Cambria Math" panose="02040503050406030204" pitchFamily="18" charset="0"/>
                            </a:rPr>
                            <m:t>𝑘</m:t>
                          </m:r>
                        </m:e>
                        <m:sub>
                          <m:r>
                            <a:rPr lang="es-BO" sz="2400" i="1">
                              <a:latin typeface="Cambria Math" panose="02040503050406030204" pitchFamily="18" charset="0"/>
                            </a:rPr>
                            <m:t>𝑥</m:t>
                          </m:r>
                        </m:sub>
                      </m:sSub>
                      <m:r>
                        <a:rPr lang="es-BO" sz="2400" b="0" i="1" smtClean="0">
                          <a:latin typeface="Cambria Math" panose="02040503050406030204" pitchFamily="18" charset="0"/>
                          <a:ea typeface="Calibri" panose="020F0502020204030204" pitchFamily="34" charset="0"/>
                          <a:cs typeface="Times New Roman" panose="02020603050405020304" pitchFamily="18" charset="0"/>
                        </a:rPr>
                        <m:t>∗</m:t>
                      </m:r>
                      <m:sSub>
                        <m:sSubPr>
                          <m:ctrlPr>
                            <a:rPr lang="en-US" sz="2400" i="1">
                              <a:latin typeface="Cambria Math" panose="02040503050406030204" pitchFamily="18" charset="0"/>
                              <a:ea typeface="Calibri" panose="020F0502020204030204" pitchFamily="34" charset="0"/>
                              <a:cs typeface="Times New Roman" panose="02020603050405020304" pitchFamily="18" charset="0"/>
                            </a:rPr>
                          </m:ctrlPr>
                        </m:sSubPr>
                        <m:e>
                          <m:r>
                            <a:rPr lang="es-BO" sz="2400" i="1">
                              <a:latin typeface="Cambria Math" panose="02040503050406030204" pitchFamily="18" charset="0"/>
                              <a:ea typeface="Calibri" panose="020F0502020204030204" pitchFamily="34" charset="0"/>
                              <a:cs typeface="Times New Roman" panose="02020603050405020304" pitchFamily="18" charset="0"/>
                            </a:rPr>
                            <m:t>𝑞</m:t>
                          </m:r>
                        </m:e>
                        <m:sub>
                          <m:r>
                            <a:rPr lang="es-BO" sz="2400" i="1">
                              <a:latin typeface="Cambria Math" panose="02040503050406030204" pitchFamily="18" charset="0"/>
                              <a:ea typeface="Calibri" panose="020F0502020204030204" pitchFamily="34" charset="0"/>
                              <a:cs typeface="Times New Roman" panose="02020603050405020304" pitchFamily="18" charset="0"/>
                            </a:rPr>
                            <m:t>𝑖</m:t>
                          </m:r>
                        </m:sub>
                      </m:sSub>
                      <m:d>
                        <m:dPr>
                          <m:ctrlPr>
                            <a:rPr lang="en-US" sz="2400" i="1">
                              <a:latin typeface="Cambria Math" panose="02040503050406030204" pitchFamily="18" charset="0"/>
                              <a:ea typeface="Calibri" panose="020F0502020204030204" pitchFamily="34" charset="0"/>
                              <a:cs typeface="Times New Roman" panose="02020603050405020304" pitchFamily="18" charset="0"/>
                            </a:rPr>
                          </m:ctrlPr>
                        </m:dPr>
                        <m:e>
                          <m:r>
                            <a:rPr lang="es-BO" sz="2400" i="1">
                              <a:latin typeface="Cambria Math" panose="02040503050406030204" pitchFamily="18" charset="0"/>
                              <a:ea typeface="Calibri" panose="020F0502020204030204" pitchFamily="34" charset="0"/>
                              <a:cs typeface="Times New Roman" panose="02020603050405020304" pitchFamily="18" charset="0"/>
                            </a:rPr>
                            <m:t>𝑡</m:t>
                          </m:r>
                        </m:e>
                      </m:d>
                      <m:r>
                        <a:rPr lang="es-BO" sz="2400" i="1">
                          <a:latin typeface="Cambria Math" panose="02040503050406030204" pitchFamily="18" charset="0"/>
                          <a:ea typeface="Calibri" panose="020F0502020204030204" pitchFamily="34" charset="0"/>
                          <a:cs typeface="Times New Roman" panose="02020603050405020304" pitchFamily="18" charset="0"/>
                        </a:rPr>
                        <m:t>−</m:t>
                      </m:r>
                      <m:f>
                        <m:fPr>
                          <m:ctrlPr>
                            <a:rPr lang="en-US" sz="2400" i="1">
                              <a:latin typeface="Cambria Math" panose="02040503050406030204" pitchFamily="18" charset="0"/>
                              <a:ea typeface="Calibri" panose="020F0502020204030204" pitchFamily="34" charset="0"/>
                              <a:cs typeface="Times New Roman" panose="02020603050405020304" pitchFamily="18" charset="0"/>
                            </a:rPr>
                          </m:ctrlPr>
                        </m:fPr>
                        <m:num>
                          <m:r>
                            <a:rPr lang="es-BO" sz="2400" b="0" i="1" smtClean="0">
                              <a:latin typeface="Cambria Math" panose="02040503050406030204" pitchFamily="18" charset="0"/>
                              <a:ea typeface="Calibri" panose="020F0502020204030204" pitchFamily="34" charset="0"/>
                              <a:cs typeface="Times New Roman" panose="02020603050405020304" pitchFamily="18" charset="0"/>
                            </a:rPr>
                            <m:t>1</m:t>
                          </m:r>
                        </m:num>
                        <m:den>
                          <m:r>
                            <a:rPr lang="es-BO" sz="2400" i="1">
                              <a:latin typeface="Cambria Math" panose="02040503050406030204" pitchFamily="18" charset="0"/>
                              <a:ea typeface="Calibri" panose="020F0502020204030204" pitchFamily="34" charset="0"/>
                              <a:cs typeface="Times New Roman" panose="02020603050405020304" pitchFamily="18" charset="0"/>
                            </a:rPr>
                            <m:t>𝑅𝐶</m:t>
                          </m:r>
                        </m:den>
                      </m:f>
                      <m:r>
                        <a:rPr lang="es-BO" sz="2400" b="0" i="1" smtClean="0">
                          <a:latin typeface="Cambria Math" panose="02040503050406030204" pitchFamily="18" charset="0"/>
                          <a:ea typeface="Calibri" panose="020F0502020204030204" pitchFamily="34" charset="0"/>
                          <a:cs typeface="Times New Roman" panose="02020603050405020304" pitchFamily="18" charset="0"/>
                        </a:rPr>
                        <m:t>∗</m:t>
                      </m:r>
                      <m:sSub>
                        <m:sSubPr>
                          <m:ctrlPr>
                            <a:rPr lang="en-US" sz="2400" i="1">
                              <a:latin typeface="Cambria Math" panose="02040503050406030204" pitchFamily="18" charset="0"/>
                              <a:ea typeface="Calibri" panose="020F0502020204030204" pitchFamily="34" charset="0"/>
                              <a:cs typeface="Times New Roman" panose="02020603050405020304" pitchFamily="18" charset="0"/>
                            </a:rPr>
                          </m:ctrlPr>
                        </m:sSubPr>
                        <m:e>
                          <m:r>
                            <a:rPr lang="es-BO" sz="2400" i="1">
                              <a:latin typeface="Cambria Math" panose="02040503050406030204" pitchFamily="18" charset="0"/>
                              <a:ea typeface="Calibri" panose="020F0502020204030204" pitchFamily="34" charset="0"/>
                              <a:cs typeface="Times New Roman" panose="02020603050405020304" pitchFamily="18" charset="0"/>
                            </a:rPr>
                            <m:t>𝑥</m:t>
                          </m:r>
                        </m:e>
                        <m:sub>
                          <m:r>
                            <a:rPr lang="es-BO" sz="2400" i="1">
                              <a:latin typeface="Cambria Math" panose="02040503050406030204" pitchFamily="18" charset="0"/>
                              <a:ea typeface="Calibri" panose="020F0502020204030204" pitchFamily="34" charset="0"/>
                              <a:cs typeface="Times New Roman" panose="02020603050405020304" pitchFamily="18" charset="0"/>
                            </a:rPr>
                            <m:t>1</m:t>
                          </m:r>
                        </m:sub>
                      </m:sSub>
                    </m:oMath>
                  </m:oMathPara>
                </a14:m>
                <a:endParaRPr lang="en-US" sz="2400" dirty="0">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4" name="Rectángulo 3"/>
              <p:cNvSpPr>
                <a:spLocks noRot="1" noChangeAspect="1" noMove="1" noResize="1" noEditPoints="1" noAdjustHandles="1" noChangeArrowheads="1" noChangeShapeType="1" noTextEdit="1"/>
              </p:cNvSpPr>
              <p:nvPr/>
            </p:nvSpPr>
            <p:spPr>
              <a:xfrm>
                <a:off x="2231472" y="2152837"/>
                <a:ext cx="6096000" cy="1878784"/>
              </a:xfrm>
              <a:prstGeom prst="rect">
                <a:avLst/>
              </a:prstGeom>
              <a:blipFill>
                <a:blip r:embed="rId2"/>
                <a:stretch>
                  <a:fillRect/>
                </a:stretch>
              </a:blipFill>
            </p:spPr>
            <p:txBody>
              <a:bodyPr/>
              <a:lstStyle/>
              <a:p>
                <a:r>
                  <a:rPr lang="en-US">
                    <a:noFill/>
                  </a:rPr>
                  <a:t> </a:t>
                </a:r>
              </a:p>
            </p:txBody>
          </p:sp>
        </mc:Fallback>
      </mc:AlternateContent>
      <p:grpSp>
        <p:nvGrpSpPr>
          <p:cNvPr id="7" name="Grupo 6">
            <a:extLst>
              <a:ext uri="{FF2B5EF4-FFF2-40B4-BE49-F238E27FC236}">
                <a16:creationId xmlns:a16="http://schemas.microsoft.com/office/drawing/2014/main" id="{DBBBCB9E-8FF2-A746-B67D-E2A129965E92}"/>
              </a:ext>
            </a:extLst>
          </p:cNvPr>
          <p:cNvGrpSpPr/>
          <p:nvPr/>
        </p:nvGrpSpPr>
        <p:grpSpPr>
          <a:xfrm>
            <a:off x="8229600" y="2265644"/>
            <a:ext cx="2903281" cy="1280160"/>
            <a:chOff x="8301317" y="2788920"/>
            <a:chExt cx="2903281" cy="1280160"/>
          </a:xfrm>
        </p:grpSpPr>
        <mc:AlternateContent xmlns:mc="http://schemas.openxmlformats.org/markup-compatibility/2006" xmlns:a14="http://schemas.microsoft.com/office/drawing/2010/main">
          <mc:Choice Requires="a14">
            <p:sp>
              <p:nvSpPr>
                <p:cNvPr id="2" name="Rectángulo 1"/>
                <p:cNvSpPr/>
                <p:nvPr/>
              </p:nvSpPr>
              <p:spPr>
                <a:xfrm>
                  <a:off x="8399189" y="3074511"/>
                  <a:ext cx="2707536" cy="70897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m>
                          <m:mPr>
                            <m:mcs>
                              <m:mc>
                                <m:mcPr>
                                  <m:count m:val="1"/>
                                  <m:mcJc m:val="center"/>
                                </m:mcPr>
                              </m:mc>
                            </m:mcs>
                            <m:ctrlPr>
                              <a:rPr lang="en-US" sz="2000" i="1">
                                <a:latin typeface="Cambria Math" panose="02040503050406030204" pitchFamily="18" charset="0"/>
                                <a:ea typeface="Calibri" panose="020F0502020204030204" pitchFamily="34" charset="0"/>
                                <a:cs typeface="Times New Roman" panose="02020603050405020304" pitchFamily="18" charset="0"/>
                              </a:rPr>
                            </m:ctrlPr>
                          </m:mPr>
                          <m:mr>
                            <m:e>
                              <m:acc>
                                <m:accPr>
                                  <m:chr m:val="̇"/>
                                  <m:ctrlPr>
                                    <a:rPr lang="en-US" sz="2000" i="1">
                                      <a:latin typeface="Cambria Math" panose="02040503050406030204" pitchFamily="18" charset="0"/>
                                      <a:ea typeface="Times New Roman" panose="02020603050405020304" pitchFamily="18" charset="0"/>
                                      <a:cs typeface="Times New Roman" panose="02020603050405020304" pitchFamily="18" charset="0"/>
                                    </a:rPr>
                                  </m:ctrlPr>
                                </m:accPr>
                                <m:e>
                                  <m:r>
                                    <a:rPr lang="es-BO" sz="2000" i="1">
                                      <a:latin typeface="Cambria Math" panose="02040503050406030204" pitchFamily="18" charset="0"/>
                                      <a:ea typeface="Times New Roman" panose="02020603050405020304" pitchFamily="18" charset="0"/>
                                      <a:cs typeface="Times New Roman" panose="02020603050405020304" pitchFamily="18" charset="0"/>
                                    </a:rPr>
                                    <m:t>𝑥</m:t>
                                  </m:r>
                                </m:e>
                              </m:acc>
                              <m:d>
                                <m:dPr>
                                  <m:ctrlPr>
                                    <a:rPr lang="en-US" sz="2000" i="1">
                                      <a:latin typeface="Cambria Math" panose="02040503050406030204" pitchFamily="18" charset="0"/>
                                      <a:ea typeface="Times New Roman" panose="02020603050405020304" pitchFamily="18" charset="0"/>
                                      <a:cs typeface="Times New Roman" panose="02020603050405020304" pitchFamily="18" charset="0"/>
                                    </a:rPr>
                                  </m:ctrlPr>
                                </m:dPr>
                                <m:e>
                                  <m:r>
                                    <a:rPr lang="es-BO" sz="2000" i="1">
                                      <a:latin typeface="Cambria Math" panose="02040503050406030204" pitchFamily="18" charset="0"/>
                                      <a:ea typeface="Times New Roman" panose="02020603050405020304" pitchFamily="18" charset="0"/>
                                      <a:cs typeface="Times New Roman" panose="02020603050405020304" pitchFamily="18" charset="0"/>
                                    </a:rPr>
                                    <m:t>𝑡</m:t>
                                  </m:r>
                                </m:e>
                              </m:d>
                              <m:r>
                                <a:rPr lang="es-BO" sz="2000" i="1">
                                  <a:latin typeface="Cambria Math" panose="02040503050406030204" pitchFamily="18" charset="0"/>
                                  <a:ea typeface="Times New Roman" panose="02020603050405020304" pitchFamily="18" charset="0"/>
                                  <a:cs typeface="Times New Roman" panose="02020603050405020304" pitchFamily="18" charset="0"/>
                                </a:rPr>
                                <m:t>=</m:t>
                              </m:r>
                              <m:r>
                                <a:rPr lang="es-BO" sz="2000" i="1">
                                  <a:latin typeface="Cambria Math" panose="02040503050406030204" pitchFamily="18" charset="0"/>
                                  <a:ea typeface="Times New Roman" panose="02020603050405020304" pitchFamily="18" charset="0"/>
                                  <a:cs typeface="Times New Roman" panose="02020603050405020304" pitchFamily="18" charset="0"/>
                                </a:rPr>
                                <m:t>𝐴𝑥</m:t>
                              </m:r>
                              <m:d>
                                <m:dPr>
                                  <m:ctrlPr>
                                    <a:rPr lang="en-US" sz="2000" i="1">
                                      <a:latin typeface="Cambria Math" panose="02040503050406030204" pitchFamily="18" charset="0"/>
                                      <a:ea typeface="Times New Roman" panose="02020603050405020304" pitchFamily="18" charset="0"/>
                                      <a:cs typeface="Times New Roman" panose="02020603050405020304" pitchFamily="18" charset="0"/>
                                    </a:rPr>
                                  </m:ctrlPr>
                                </m:dPr>
                                <m:e>
                                  <m:r>
                                    <a:rPr lang="es-BO" sz="2000" i="1">
                                      <a:latin typeface="Cambria Math" panose="02040503050406030204" pitchFamily="18" charset="0"/>
                                      <a:ea typeface="Times New Roman" panose="02020603050405020304" pitchFamily="18" charset="0"/>
                                      <a:cs typeface="Times New Roman" panose="02020603050405020304" pitchFamily="18" charset="0"/>
                                    </a:rPr>
                                    <m:t>𝑡</m:t>
                                  </m:r>
                                </m:e>
                              </m:d>
                              <m:r>
                                <a:rPr lang="es-BO" sz="2000" i="1">
                                  <a:latin typeface="Cambria Math" panose="02040503050406030204" pitchFamily="18" charset="0"/>
                                  <a:ea typeface="Times New Roman" panose="02020603050405020304" pitchFamily="18" charset="0"/>
                                  <a:cs typeface="Times New Roman" panose="02020603050405020304" pitchFamily="18" charset="0"/>
                                </a:rPr>
                                <m:t>+</m:t>
                              </m:r>
                              <m:r>
                                <a:rPr lang="es-BO" sz="2000" i="1">
                                  <a:latin typeface="Cambria Math" panose="02040503050406030204" pitchFamily="18" charset="0"/>
                                  <a:ea typeface="Times New Roman" panose="02020603050405020304" pitchFamily="18" charset="0"/>
                                  <a:cs typeface="Times New Roman" panose="02020603050405020304" pitchFamily="18" charset="0"/>
                                </a:rPr>
                                <m:t>𝐵</m:t>
                              </m:r>
                              <m:sSub>
                                <m:sSubPr>
                                  <m:ctrlPr>
                                    <a:rPr lang="en-US" sz="2000" i="1">
                                      <a:latin typeface="Cambria Math" panose="02040503050406030204" pitchFamily="18" charset="0"/>
                                      <a:ea typeface="Times New Roman" panose="02020603050405020304" pitchFamily="18" charset="0"/>
                                      <a:cs typeface="Times New Roman" panose="02020603050405020304" pitchFamily="18" charset="0"/>
                                    </a:rPr>
                                  </m:ctrlPr>
                                </m:sSubPr>
                                <m:e>
                                  <m:r>
                                    <a:rPr lang="es-BO" sz="2000" i="1">
                                      <a:latin typeface="Cambria Math" panose="02040503050406030204" pitchFamily="18" charset="0"/>
                                      <a:ea typeface="Times New Roman" panose="02020603050405020304" pitchFamily="18" charset="0"/>
                                      <a:cs typeface="Times New Roman" panose="02020603050405020304" pitchFamily="18" charset="0"/>
                                    </a:rPr>
                                    <m:t>𝑞</m:t>
                                  </m:r>
                                </m:e>
                                <m:sub>
                                  <m:r>
                                    <a:rPr lang="es-BO" sz="2000" i="1">
                                      <a:latin typeface="Cambria Math" panose="02040503050406030204" pitchFamily="18" charset="0"/>
                                      <a:ea typeface="Times New Roman" panose="02020603050405020304" pitchFamily="18" charset="0"/>
                                      <a:cs typeface="Times New Roman" panose="02020603050405020304" pitchFamily="18" charset="0"/>
                                    </a:rPr>
                                    <m:t>𝑖</m:t>
                                  </m:r>
                                </m:sub>
                              </m:sSub>
                              <m:r>
                                <a:rPr lang="es-BO" sz="2000" i="1">
                                  <a:latin typeface="Cambria Math" panose="02040503050406030204" pitchFamily="18" charset="0"/>
                                  <a:ea typeface="Times New Roman" panose="02020603050405020304" pitchFamily="18" charset="0"/>
                                  <a:cs typeface="Times New Roman" panose="02020603050405020304" pitchFamily="18" charset="0"/>
                                </a:rPr>
                                <m:t>(</m:t>
                              </m:r>
                              <m:r>
                                <a:rPr lang="es-BO" sz="2000" i="1">
                                  <a:latin typeface="Cambria Math" panose="02040503050406030204" pitchFamily="18" charset="0"/>
                                  <a:ea typeface="Times New Roman" panose="02020603050405020304" pitchFamily="18" charset="0"/>
                                  <a:cs typeface="Times New Roman" panose="02020603050405020304" pitchFamily="18" charset="0"/>
                                </a:rPr>
                                <m:t>𝑡</m:t>
                              </m:r>
                              <m:r>
                                <a:rPr lang="es-BO" sz="2000" i="1">
                                  <a:latin typeface="Cambria Math" panose="02040503050406030204" pitchFamily="18" charset="0"/>
                                  <a:ea typeface="Times New Roman" panose="02020603050405020304" pitchFamily="18" charset="0"/>
                                  <a:cs typeface="Times New Roman" panose="02020603050405020304" pitchFamily="18" charset="0"/>
                                </a:rPr>
                                <m:t>)</m:t>
                              </m:r>
                            </m:e>
                          </m:mr>
                          <m:mr>
                            <m:e>
                              <m:r>
                                <a:rPr lang="es-BO" sz="2000" i="1">
                                  <a:latin typeface="Cambria Math" panose="02040503050406030204" pitchFamily="18" charset="0"/>
                                  <a:ea typeface="Calibri" panose="020F0502020204030204" pitchFamily="34" charset="0"/>
                                  <a:cs typeface="Times New Roman" panose="02020603050405020304" pitchFamily="18" charset="0"/>
                                </a:rPr>
                                <m:t>𝑦</m:t>
                              </m:r>
                              <m:d>
                                <m:dPr>
                                  <m:ctrlPr>
                                    <a:rPr lang="en-US" sz="2000" i="1">
                                      <a:latin typeface="Cambria Math" panose="02040503050406030204" pitchFamily="18" charset="0"/>
                                      <a:ea typeface="Calibri" panose="020F0502020204030204" pitchFamily="34" charset="0"/>
                                      <a:cs typeface="Times New Roman" panose="02020603050405020304" pitchFamily="18" charset="0"/>
                                    </a:rPr>
                                  </m:ctrlPr>
                                </m:dPr>
                                <m:e>
                                  <m:r>
                                    <a:rPr lang="es-BO" sz="2000" i="1">
                                      <a:latin typeface="Cambria Math" panose="02040503050406030204" pitchFamily="18" charset="0"/>
                                      <a:ea typeface="Calibri" panose="020F0502020204030204" pitchFamily="34" charset="0"/>
                                      <a:cs typeface="Times New Roman" panose="02020603050405020304" pitchFamily="18" charset="0"/>
                                    </a:rPr>
                                    <m:t>𝑡</m:t>
                                  </m:r>
                                </m:e>
                              </m:d>
                              <m:r>
                                <a:rPr lang="es-BO" sz="2000" i="1">
                                  <a:latin typeface="Cambria Math" panose="02040503050406030204" pitchFamily="18" charset="0"/>
                                  <a:ea typeface="Calibri" panose="020F0502020204030204" pitchFamily="34" charset="0"/>
                                  <a:cs typeface="Times New Roman" panose="02020603050405020304" pitchFamily="18" charset="0"/>
                                </a:rPr>
                                <m:t>=</m:t>
                              </m:r>
                              <m:r>
                                <a:rPr lang="es-BO" sz="2000" i="1">
                                  <a:latin typeface="Cambria Math" panose="02040503050406030204" pitchFamily="18" charset="0"/>
                                  <a:ea typeface="Calibri" panose="020F0502020204030204" pitchFamily="34" charset="0"/>
                                  <a:cs typeface="Times New Roman" panose="02020603050405020304" pitchFamily="18" charset="0"/>
                                </a:rPr>
                                <m:t>𝐶𝑥</m:t>
                              </m:r>
                              <m:r>
                                <a:rPr lang="es-BO" sz="2000" i="1">
                                  <a:latin typeface="Cambria Math" panose="02040503050406030204" pitchFamily="18" charset="0"/>
                                  <a:ea typeface="Calibri" panose="020F0502020204030204" pitchFamily="34" charset="0"/>
                                  <a:cs typeface="Times New Roman" panose="02020603050405020304" pitchFamily="18" charset="0"/>
                                </a:rPr>
                                <m:t>(</m:t>
                              </m:r>
                              <m:r>
                                <a:rPr lang="es-BO" sz="2000" i="1">
                                  <a:latin typeface="Cambria Math" panose="02040503050406030204" pitchFamily="18" charset="0"/>
                                  <a:ea typeface="Calibri" panose="020F0502020204030204" pitchFamily="34" charset="0"/>
                                  <a:cs typeface="Times New Roman" panose="02020603050405020304" pitchFamily="18" charset="0"/>
                                </a:rPr>
                                <m:t>𝑡</m:t>
                              </m:r>
                              <m:r>
                                <a:rPr lang="es-BO" sz="2000" i="1">
                                  <a:latin typeface="Cambria Math" panose="02040503050406030204" pitchFamily="18" charset="0"/>
                                  <a:ea typeface="Calibri" panose="020F0502020204030204" pitchFamily="34" charset="0"/>
                                  <a:cs typeface="Times New Roman" panose="02020603050405020304" pitchFamily="18" charset="0"/>
                                </a:rPr>
                                <m:t>)</m:t>
                              </m:r>
                            </m:e>
                          </m:mr>
                        </m:m>
                      </m:oMath>
                    </m:oMathPara>
                  </a14:m>
                  <a:endParaRPr lang="en-US" sz="2000" dirty="0"/>
                </a:p>
              </p:txBody>
            </p:sp>
          </mc:Choice>
          <mc:Fallback xmlns="">
            <p:sp>
              <p:nvSpPr>
                <p:cNvPr id="2" name="Rectángulo 1"/>
                <p:cNvSpPr>
                  <a:spLocks noRot="1" noChangeAspect="1" noMove="1" noResize="1" noEditPoints="1" noAdjustHandles="1" noChangeArrowheads="1" noChangeShapeType="1" noTextEdit="1"/>
                </p:cNvSpPr>
                <p:nvPr/>
              </p:nvSpPr>
              <p:spPr>
                <a:xfrm>
                  <a:off x="8399189" y="3074511"/>
                  <a:ext cx="2707536" cy="708977"/>
                </a:xfrm>
                <a:prstGeom prst="rect">
                  <a:avLst/>
                </a:prstGeom>
                <a:blipFill>
                  <a:blip r:embed="rId3"/>
                  <a:stretch>
                    <a:fillRect/>
                  </a:stretch>
                </a:blipFill>
              </p:spPr>
              <p:txBody>
                <a:bodyPr/>
                <a:lstStyle/>
                <a:p>
                  <a:r>
                    <a:rPr lang="es-BO">
                      <a:noFill/>
                    </a:rPr>
                    <a:t> </a:t>
                  </a:r>
                </a:p>
              </p:txBody>
            </p:sp>
          </mc:Fallback>
        </mc:AlternateContent>
        <p:sp>
          <p:nvSpPr>
            <p:cNvPr id="3" name="Rectángulo redondeado 2"/>
            <p:cNvSpPr/>
            <p:nvPr/>
          </p:nvSpPr>
          <p:spPr>
            <a:xfrm>
              <a:off x="8301317" y="2788920"/>
              <a:ext cx="2903281" cy="1280160"/>
            </a:xfrm>
            <a:prstGeom prst="round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mc:AlternateContent xmlns:mc="http://schemas.openxmlformats.org/markup-compatibility/2006" xmlns:a14="http://schemas.microsoft.com/office/drawing/2010/main">
        <mc:Choice Requires="a14">
          <p:sp>
            <p:nvSpPr>
              <p:cNvPr id="5" name="Rectángulo 4"/>
              <p:cNvSpPr/>
              <p:nvPr/>
            </p:nvSpPr>
            <p:spPr>
              <a:xfrm>
                <a:off x="2186396" y="4517438"/>
                <a:ext cx="6546729" cy="1048685"/>
              </a:xfrm>
              <a:prstGeom prst="rect">
                <a:avLst/>
              </a:prstGeom>
            </p:spPr>
            <p:txBody>
              <a:bodyPr wrap="none">
                <a:spAutoFit/>
              </a:bodyPr>
              <a:lstStyle/>
              <a:p>
                <a:pPr algn="just">
                  <a:lnSpc>
                    <a:spcPct val="107000"/>
                  </a:lnSpc>
                  <a:spcBef>
                    <a:spcPts val="600"/>
                  </a:spcBef>
                  <a:spcAft>
                    <a:spcPts val="600"/>
                  </a:spcAft>
                </a:pPr>
                <a14:m>
                  <m:oMathPara xmlns:m="http://schemas.openxmlformats.org/officeDocument/2006/math">
                    <m:oMathParaPr>
                      <m:jc m:val="centerGroup"/>
                    </m:oMathParaPr>
                    <m:oMath xmlns:m="http://schemas.openxmlformats.org/officeDocument/2006/math">
                      <m:r>
                        <a:rPr lang="es-BO" sz="2400" i="1">
                          <a:latin typeface="Cambria Math" panose="02040503050406030204" pitchFamily="18" charset="0"/>
                          <a:ea typeface="Times New Roman" panose="02020603050405020304" pitchFamily="18" charset="0"/>
                          <a:cs typeface="Times New Roman" panose="02020603050405020304" pitchFamily="18" charset="0"/>
                        </a:rPr>
                        <m:t>→         </m:t>
                      </m:r>
                      <m:r>
                        <a:rPr lang="es-BO" sz="2400" i="1">
                          <a:latin typeface="Cambria Math" panose="02040503050406030204" pitchFamily="18" charset="0"/>
                          <a:ea typeface="Calibri" panose="020F0502020204030204" pitchFamily="34" charset="0"/>
                          <a:cs typeface="Times New Roman" panose="02020603050405020304" pitchFamily="18" charset="0"/>
                        </a:rPr>
                        <m:t> </m:t>
                      </m:r>
                      <m:r>
                        <a:rPr lang="es-BO" sz="2400" i="1">
                          <a:latin typeface="Cambria Math" panose="02040503050406030204" pitchFamily="18" charset="0"/>
                          <a:ea typeface="Calibri" panose="020F0502020204030204" pitchFamily="34" charset="0"/>
                          <a:cs typeface="Times New Roman" panose="02020603050405020304" pitchFamily="18" charset="0"/>
                        </a:rPr>
                        <m:t>𝐴</m:t>
                      </m:r>
                      <m:r>
                        <a:rPr lang="es-BO" sz="2400" i="1">
                          <a:latin typeface="Cambria Math" panose="02040503050406030204" pitchFamily="18" charset="0"/>
                          <a:ea typeface="Calibri" panose="020F0502020204030204" pitchFamily="34" charset="0"/>
                          <a:cs typeface="Times New Roman" panose="02020603050405020304" pitchFamily="18" charset="0"/>
                        </a:rPr>
                        <m:t>=</m:t>
                      </m:r>
                      <m:d>
                        <m:dPr>
                          <m:begChr m:val="["/>
                          <m:endChr m:val="]"/>
                          <m:ctrlPr>
                            <a:rPr lang="en-US" sz="2400" i="1">
                              <a:latin typeface="Cambria Math" panose="02040503050406030204" pitchFamily="18" charset="0"/>
                              <a:ea typeface="Calibri" panose="020F0502020204030204" pitchFamily="34" charset="0"/>
                              <a:cs typeface="Times New Roman" panose="02020603050405020304" pitchFamily="18" charset="0"/>
                            </a:rPr>
                          </m:ctrlPr>
                        </m:dPr>
                        <m:e>
                          <m:f>
                            <m:fPr>
                              <m:ctrlPr>
                                <a:rPr lang="en-US" sz="2400" i="1">
                                  <a:latin typeface="Cambria Math" panose="02040503050406030204" pitchFamily="18" charset="0"/>
                                  <a:ea typeface="Calibri" panose="020F0502020204030204" pitchFamily="34" charset="0"/>
                                  <a:cs typeface="Times New Roman" panose="02020603050405020304" pitchFamily="18" charset="0"/>
                                </a:rPr>
                              </m:ctrlPr>
                            </m:fPr>
                            <m:num>
                              <m:r>
                                <a:rPr lang="es-BO" sz="2400" i="1">
                                  <a:latin typeface="Cambria Math" panose="02040503050406030204" pitchFamily="18" charset="0"/>
                                  <a:ea typeface="Calibri" panose="020F0502020204030204" pitchFamily="34" charset="0"/>
                                  <a:cs typeface="Times New Roman" panose="02020603050405020304" pitchFamily="18" charset="0"/>
                                </a:rPr>
                                <m:t>−1</m:t>
                              </m:r>
                            </m:num>
                            <m:den>
                              <m:r>
                                <a:rPr lang="es-BO" sz="2400" i="1">
                                  <a:latin typeface="Cambria Math" panose="02040503050406030204" pitchFamily="18" charset="0"/>
                                  <a:ea typeface="Calibri" panose="020F0502020204030204" pitchFamily="34" charset="0"/>
                                  <a:cs typeface="Times New Roman" panose="02020603050405020304" pitchFamily="18" charset="0"/>
                                </a:rPr>
                                <m:t>𝑅𝐶</m:t>
                              </m:r>
                            </m:den>
                          </m:f>
                        </m:e>
                      </m:d>
                      <m:r>
                        <a:rPr lang="es-BO" sz="2400" i="1">
                          <a:latin typeface="Cambria Math" panose="02040503050406030204" pitchFamily="18" charset="0"/>
                          <a:ea typeface="Calibri" panose="020F0502020204030204" pitchFamily="34" charset="0"/>
                          <a:cs typeface="Times New Roman" panose="02020603050405020304" pitchFamily="18" charset="0"/>
                        </a:rPr>
                        <m:t>,      </m:t>
                      </m:r>
                      <m:r>
                        <a:rPr lang="es-BO" sz="2400" i="1">
                          <a:latin typeface="Cambria Math" panose="02040503050406030204" pitchFamily="18" charset="0"/>
                          <a:ea typeface="Calibri" panose="020F0502020204030204" pitchFamily="34" charset="0"/>
                          <a:cs typeface="Times New Roman" panose="02020603050405020304" pitchFamily="18" charset="0"/>
                        </a:rPr>
                        <m:t>𝐵</m:t>
                      </m:r>
                      <m:r>
                        <a:rPr lang="es-BO" sz="2400" i="1">
                          <a:latin typeface="Cambria Math" panose="02040503050406030204" pitchFamily="18" charset="0"/>
                          <a:ea typeface="Calibri" panose="020F0502020204030204" pitchFamily="34" charset="0"/>
                          <a:cs typeface="Times New Roman" panose="02020603050405020304" pitchFamily="18" charset="0"/>
                        </a:rPr>
                        <m:t>=</m:t>
                      </m:r>
                      <m:d>
                        <m:dPr>
                          <m:begChr m:val="["/>
                          <m:endChr m:val="]"/>
                          <m:ctrlPr>
                            <a:rPr lang="en-US" sz="2400" i="1">
                              <a:latin typeface="Cambria Math" panose="02040503050406030204" pitchFamily="18" charset="0"/>
                              <a:ea typeface="Calibri" panose="020F0502020204030204" pitchFamily="34" charset="0"/>
                              <a:cs typeface="Times New Roman" panose="02020603050405020304" pitchFamily="18" charset="0"/>
                            </a:rPr>
                          </m:ctrlPr>
                        </m:dPr>
                        <m:e>
                          <m:f>
                            <m:fPr>
                              <m:ctrlPr>
                                <a:rPr lang="en-US" sz="2400" i="1">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s-BO" sz="2400" i="1">
                                      <a:latin typeface="Cambria Math" panose="02040503050406030204" pitchFamily="18" charset="0"/>
                                    </a:rPr>
                                  </m:ctrlPr>
                                </m:sSubPr>
                                <m:e>
                                  <m:r>
                                    <a:rPr lang="es-BO" sz="2400" i="1">
                                      <a:latin typeface="Cambria Math" panose="02040503050406030204" pitchFamily="18" charset="0"/>
                                    </a:rPr>
                                    <m:t>𝑘</m:t>
                                  </m:r>
                                </m:e>
                                <m:sub>
                                  <m:r>
                                    <a:rPr lang="es-BO" sz="2400" i="1">
                                      <a:latin typeface="Cambria Math" panose="02040503050406030204" pitchFamily="18" charset="0"/>
                                    </a:rPr>
                                    <m:t>𝑥</m:t>
                                  </m:r>
                                </m:sub>
                              </m:sSub>
                            </m:num>
                            <m:den>
                              <m:r>
                                <a:rPr lang="es-BO" sz="2400" i="1">
                                  <a:latin typeface="Cambria Math" panose="02040503050406030204" pitchFamily="18" charset="0"/>
                                  <a:ea typeface="Calibri" panose="020F0502020204030204" pitchFamily="34" charset="0"/>
                                  <a:cs typeface="Times New Roman" panose="02020603050405020304" pitchFamily="18" charset="0"/>
                                </a:rPr>
                                <m:t>𝐶</m:t>
                              </m:r>
                            </m:den>
                          </m:f>
                        </m:e>
                      </m:d>
                      <m:r>
                        <a:rPr lang="es-BO" sz="2400" i="1">
                          <a:latin typeface="Cambria Math" panose="02040503050406030204" pitchFamily="18" charset="0"/>
                          <a:ea typeface="Calibri" panose="020F0502020204030204" pitchFamily="34" charset="0"/>
                          <a:cs typeface="Times New Roman" panose="02020603050405020304" pitchFamily="18" charset="0"/>
                        </a:rPr>
                        <m:t>,     </m:t>
                      </m:r>
                      <m:r>
                        <a:rPr lang="es-BO" sz="2400" i="1">
                          <a:latin typeface="Cambria Math" panose="02040503050406030204" pitchFamily="18" charset="0"/>
                          <a:ea typeface="Calibri" panose="020F0502020204030204" pitchFamily="34" charset="0"/>
                          <a:cs typeface="Times New Roman" panose="02020603050405020304" pitchFamily="18" charset="0"/>
                        </a:rPr>
                        <m:t>𝐶</m:t>
                      </m:r>
                      <m:r>
                        <a:rPr lang="es-BO" sz="2400" i="1">
                          <a:latin typeface="Cambria Math" panose="02040503050406030204" pitchFamily="18" charset="0"/>
                          <a:ea typeface="Calibri" panose="020F0502020204030204" pitchFamily="34" charset="0"/>
                          <a:cs typeface="Times New Roman" panose="02020603050405020304" pitchFamily="18" charset="0"/>
                        </a:rPr>
                        <m:t>=</m:t>
                      </m:r>
                      <m:d>
                        <m:dPr>
                          <m:begChr m:val="["/>
                          <m:endChr m:val="]"/>
                          <m:ctrlPr>
                            <a:rPr lang="en-US" sz="2400" i="1">
                              <a:latin typeface="Cambria Math" panose="02040503050406030204" pitchFamily="18" charset="0"/>
                              <a:ea typeface="Calibri" panose="020F0502020204030204" pitchFamily="34" charset="0"/>
                              <a:cs typeface="Times New Roman" panose="02020603050405020304" pitchFamily="18" charset="0"/>
                            </a:rPr>
                          </m:ctrlPr>
                        </m:dPr>
                        <m:e>
                          <m:r>
                            <a:rPr lang="es-BO" sz="2400" i="1">
                              <a:latin typeface="Cambria Math" panose="02040503050406030204" pitchFamily="18" charset="0"/>
                              <a:ea typeface="Calibri" panose="020F0502020204030204" pitchFamily="34" charset="0"/>
                              <a:cs typeface="Times New Roman" panose="02020603050405020304" pitchFamily="18" charset="0"/>
                            </a:rPr>
                            <m:t>1</m:t>
                          </m:r>
                        </m:e>
                      </m:d>
                    </m:oMath>
                  </m:oMathPara>
                </a14:m>
                <a:endParaRPr lang="en-US" sz="2400" dirty="0">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5" name="Rectángulo 4"/>
              <p:cNvSpPr>
                <a:spLocks noRot="1" noChangeAspect="1" noMove="1" noResize="1" noEditPoints="1" noAdjustHandles="1" noChangeArrowheads="1" noChangeShapeType="1" noTextEdit="1"/>
              </p:cNvSpPr>
              <p:nvPr/>
            </p:nvSpPr>
            <p:spPr>
              <a:xfrm>
                <a:off x="2186396" y="4517438"/>
                <a:ext cx="6546729" cy="1048685"/>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42C0D53B-D576-9A55-8B31-57C0FE184C0D}"/>
                  </a:ext>
                </a:extLst>
              </p:cNvPr>
              <p:cNvSpPr txBox="1"/>
              <p:nvPr/>
            </p:nvSpPr>
            <p:spPr>
              <a:xfrm>
                <a:off x="3852687" y="1118392"/>
                <a:ext cx="3091543" cy="73545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s-BO" sz="2000" b="0" i="1" smtClean="0">
                              <a:latin typeface="Cambria Math" panose="02040503050406030204" pitchFamily="18" charset="0"/>
                            </a:rPr>
                          </m:ctrlPr>
                        </m:fPr>
                        <m:num>
                          <m:r>
                            <a:rPr lang="es-BO" sz="2000" b="0" i="1" smtClean="0">
                              <a:latin typeface="Cambria Math" panose="02040503050406030204" pitchFamily="18" charset="0"/>
                            </a:rPr>
                            <m:t>𝐻</m:t>
                          </m:r>
                          <m:d>
                            <m:dPr>
                              <m:ctrlPr>
                                <a:rPr lang="es-BO" sz="2000" b="0" i="1" smtClean="0">
                                  <a:latin typeface="Cambria Math" panose="02040503050406030204" pitchFamily="18" charset="0"/>
                                </a:rPr>
                              </m:ctrlPr>
                            </m:dPr>
                            <m:e>
                              <m:r>
                                <a:rPr lang="es-BO" sz="2000" b="0" i="1" smtClean="0">
                                  <a:latin typeface="Cambria Math" panose="02040503050406030204" pitchFamily="18" charset="0"/>
                                </a:rPr>
                                <m:t>𝑠</m:t>
                              </m:r>
                            </m:e>
                          </m:d>
                        </m:num>
                        <m:den>
                          <m:r>
                            <a:rPr lang="es-BO" sz="2000" b="0" i="1" smtClean="0">
                              <a:latin typeface="Cambria Math" panose="02040503050406030204" pitchFamily="18" charset="0"/>
                            </a:rPr>
                            <m:t>𝑄</m:t>
                          </m:r>
                          <m:d>
                            <m:dPr>
                              <m:ctrlPr>
                                <a:rPr lang="es-BO" sz="2000" b="0" i="1" smtClean="0">
                                  <a:latin typeface="Cambria Math" panose="02040503050406030204" pitchFamily="18" charset="0"/>
                                </a:rPr>
                              </m:ctrlPr>
                            </m:dPr>
                            <m:e>
                              <m:r>
                                <a:rPr lang="es-BO" sz="2000" b="0" i="1" smtClean="0">
                                  <a:latin typeface="Cambria Math" panose="02040503050406030204" pitchFamily="18" charset="0"/>
                                </a:rPr>
                                <m:t>𝑠</m:t>
                              </m:r>
                            </m:e>
                          </m:d>
                        </m:den>
                      </m:f>
                      <m:r>
                        <a:rPr lang="es-BO" sz="2000" b="0" i="1" smtClean="0">
                          <a:latin typeface="Cambria Math" panose="02040503050406030204" pitchFamily="18" charset="0"/>
                        </a:rPr>
                        <m:t>=</m:t>
                      </m:r>
                      <m:sSub>
                        <m:sSubPr>
                          <m:ctrlPr>
                            <a:rPr lang="es-BO" sz="2000" b="0" i="1" smtClean="0">
                              <a:latin typeface="Cambria Math" panose="02040503050406030204" pitchFamily="18" charset="0"/>
                            </a:rPr>
                          </m:ctrlPr>
                        </m:sSubPr>
                        <m:e>
                          <m:r>
                            <a:rPr lang="es-BO" sz="2000" b="0" i="1" smtClean="0">
                              <a:latin typeface="Cambria Math" panose="02040503050406030204" pitchFamily="18" charset="0"/>
                            </a:rPr>
                            <m:t>𝑘</m:t>
                          </m:r>
                        </m:e>
                        <m:sub>
                          <m:r>
                            <a:rPr lang="es-BO" sz="2000" b="0" i="1" smtClean="0">
                              <a:latin typeface="Cambria Math" panose="02040503050406030204" pitchFamily="18" charset="0"/>
                            </a:rPr>
                            <m:t>𝑥</m:t>
                          </m:r>
                        </m:sub>
                      </m:sSub>
                      <m:r>
                        <a:rPr lang="es-BO" sz="2000" b="0" i="1" smtClean="0">
                          <a:latin typeface="Cambria Math" panose="02040503050406030204" pitchFamily="18" charset="0"/>
                        </a:rPr>
                        <m:t>∗</m:t>
                      </m:r>
                      <m:f>
                        <m:fPr>
                          <m:ctrlPr>
                            <a:rPr lang="es-BO" sz="2000" b="0" i="1" smtClean="0">
                              <a:latin typeface="Cambria Math" panose="02040503050406030204" pitchFamily="18" charset="0"/>
                            </a:rPr>
                          </m:ctrlPr>
                        </m:fPr>
                        <m:num>
                          <m:r>
                            <a:rPr lang="es-BO" sz="2000" b="0" i="1" smtClean="0">
                              <a:latin typeface="Cambria Math" panose="02040503050406030204" pitchFamily="18" charset="0"/>
                            </a:rPr>
                            <m:t>𝑅</m:t>
                          </m:r>
                        </m:num>
                        <m:den>
                          <m:r>
                            <a:rPr lang="es-BO" sz="2000" b="0" i="1" smtClean="0">
                              <a:latin typeface="Cambria Math" panose="02040503050406030204" pitchFamily="18" charset="0"/>
                            </a:rPr>
                            <m:t>1+</m:t>
                          </m:r>
                          <m:r>
                            <a:rPr lang="es-BO" sz="2000" b="0" i="1" smtClean="0">
                              <a:latin typeface="Cambria Math" panose="02040503050406030204" pitchFamily="18" charset="0"/>
                            </a:rPr>
                            <m:t>𝑅𝐶𝑠</m:t>
                          </m:r>
                        </m:den>
                      </m:f>
                      <m:r>
                        <a:rPr lang="es-BO" sz="2000" b="0" i="1" smtClean="0">
                          <a:latin typeface="Cambria Math" panose="02040503050406030204" pitchFamily="18" charset="0"/>
                        </a:rPr>
                        <m:t>  </m:t>
                      </m:r>
                    </m:oMath>
                  </m:oMathPara>
                </a14:m>
                <a:endParaRPr lang="es-BO" sz="2000" dirty="0"/>
              </a:p>
            </p:txBody>
          </p:sp>
        </mc:Choice>
        <mc:Fallback xmlns="">
          <p:sp>
            <p:nvSpPr>
              <p:cNvPr id="9" name="CuadroTexto 8">
                <a:extLst>
                  <a:ext uri="{FF2B5EF4-FFF2-40B4-BE49-F238E27FC236}">
                    <a16:creationId xmlns:a16="http://schemas.microsoft.com/office/drawing/2014/main" id="{42C0D53B-D576-9A55-8B31-57C0FE184C0D}"/>
                  </a:ext>
                </a:extLst>
              </p:cNvPr>
              <p:cNvSpPr txBox="1">
                <a:spLocks noRot="1" noChangeAspect="1" noMove="1" noResize="1" noEditPoints="1" noAdjustHandles="1" noChangeArrowheads="1" noChangeShapeType="1" noTextEdit="1"/>
              </p:cNvSpPr>
              <p:nvPr/>
            </p:nvSpPr>
            <p:spPr>
              <a:xfrm>
                <a:off x="3852687" y="1118392"/>
                <a:ext cx="3091543" cy="735458"/>
              </a:xfrm>
              <a:prstGeom prst="rect">
                <a:avLst/>
              </a:prstGeom>
              <a:blipFill>
                <a:blip r:embed="rId5"/>
                <a:stretch>
                  <a:fillRect/>
                </a:stretch>
              </a:blipFill>
            </p:spPr>
            <p:txBody>
              <a:bodyPr/>
              <a:lstStyle/>
              <a:p>
                <a:r>
                  <a:rPr lang="en-US">
                    <a:noFill/>
                  </a:rPr>
                  <a:t> </a:t>
                </a:r>
              </a:p>
            </p:txBody>
          </p:sp>
        </mc:Fallback>
      </mc:AlternateContent>
      <p:sp>
        <p:nvSpPr>
          <p:cNvPr id="11" name="CuadroTexto 10">
            <a:extLst>
              <a:ext uri="{FF2B5EF4-FFF2-40B4-BE49-F238E27FC236}">
                <a16:creationId xmlns:a16="http://schemas.microsoft.com/office/drawing/2014/main" id="{84D0ADA8-EA6F-7930-0393-6530070CC227}"/>
              </a:ext>
            </a:extLst>
          </p:cNvPr>
          <p:cNvSpPr txBox="1"/>
          <p:nvPr/>
        </p:nvSpPr>
        <p:spPr>
          <a:xfrm>
            <a:off x="1045027" y="519767"/>
            <a:ext cx="9768115" cy="470000"/>
          </a:xfrm>
          <a:prstGeom prst="rect">
            <a:avLst/>
          </a:prstGeom>
          <a:noFill/>
        </p:spPr>
        <p:txBody>
          <a:bodyPr wrap="square">
            <a:spAutoFit/>
          </a:bodyPr>
          <a:lstStyle/>
          <a:p>
            <a:pPr algn="just">
              <a:lnSpc>
                <a:spcPct val="107000"/>
              </a:lnSpc>
              <a:spcBef>
                <a:spcPts val="600"/>
              </a:spcBef>
              <a:spcAft>
                <a:spcPts val="600"/>
              </a:spcAft>
            </a:pPr>
            <a:r>
              <a:rPr lang="es-BO" sz="2400" dirty="0">
                <a:latin typeface="Calibri" panose="020F0502020204030204" pitchFamily="34" charset="0"/>
                <a:ea typeface="Times New Roman" panose="02020603050405020304" pitchFamily="18" charset="0"/>
                <a:cs typeface="Times New Roman" panose="02020603050405020304" pitchFamily="18" charset="0"/>
              </a:rPr>
              <a:t>R</a:t>
            </a:r>
            <a:r>
              <a:rPr lang="es-BO" sz="2400" dirty="0">
                <a:effectLst/>
                <a:latin typeface="Calibri" panose="020F0502020204030204" pitchFamily="34" charset="0"/>
                <a:ea typeface="Times New Roman" panose="02020603050405020304" pitchFamily="18" charset="0"/>
                <a:cs typeface="Times New Roman" panose="02020603050405020304" pitchFamily="18" charset="0"/>
              </a:rPr>
              <a:t>ealizamos el siguiente análisis, partimos de la representación externa:</a:t>
            </a:r>
            <a:endParaRPr lang="es-BO" sz="2000" dirty="0">
              <a:effectLst/>
              <a:latin typeface="Calibri" panose="020F0502020204030204" pitchFamily="34" charset="0"/>
              <a:ea typeface="Calibri" panose="020F0502020204030204" pitchFamily="34"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6" name="Rectángulo 5"/>
              <p:cNvSpPr/>
              <p:nvPr/>
            </p:nvSpPr>
            <p:spPr>
              <a:xfrm>
                <a:off x="7205302" y="1300894"/>
                <a:ext cx="3010761"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s-BO" i="1" smtClean="0">
                              <a:latin typeface="Cambria Math" panose="02040503050406030204" pitchFamily="18" charset="0"/>
                            </a:rPr>
                          </m:ctrlPr>
                        </m:sSubPr>
                        <m:e>
                          <m:r>
                            <a:rPr lang="es-BO" i="1">
                              <a:latin typeface="Cambria Math" panose="02040503050406030204" pitchFamily="18" charset="0"/>
                            </a:rPr>
                            <m:t>𝑘</m:t>
                          </m:r>
                        </m:e>
                        <m:sub>
                          <m:r>
                            <a:rPr lang="es-BO" i="1">
                              <a:latin typeface="Cambria Math" panose="02040503050406030204" pitchFamily="18" charset="0"/>
                            </a:rPr>
                            <m:t>𝑥</m:t>
                          </m:r>
                        </m:sub>
                      </m:sSub>
                      <m:r>
                        <a:rPr lang="es-BO" b="0" i="1" smtClean="0">
                          <a:latin typeface="Cambria Math" panose="02040503050406030204" pitchFamily="18" charset="0"/>
                        </a:rPr>
                        <m:t>:</m:t>
                      </m:r>
                      <m:r>
                        <a:rPr lang="es-BO" b="0" i="1" smtClean="0">
                          <a:latin typeface="Cambria Math" panose="02040503050406030204" pitchFamily="18" charset="0"/>
                        </a:rPr>
                        <m:t>𝑑𝑖𝑛𝑎𝑚𝑖𝑐𝑎</m:t>
                      </m:r>
                      <m:r>
                        <a:rPr lang="es-BO" b="0" i="1" smtClean="0">
                          <a:latin typeface="Cambria Math" panose="02040503050406030204" pitchFamily="18" charset="0"/>
                        </a:rPr>
                        <m:t> </m:t>
                      </m:r>
                      <m:r>
                        <a:rPr lang="es-BO" b="0" i="1" smtClean="0">
                          <a:latin typeface="Cambria Math" panose="02040503050406030204" pitchFamily="18" charset="0"/>
                        </a:rPr>
                        <m:t>𝑑𝑒𝑙</m:t>
                      </m:r>
                      <m:r>
                        <a:rPr lang="es-BO" b="0" i="1" smtClean="0">
                          <a:latin typeface="Cambria Math" panose="02040503050406030204" pitchFamily="18" charset="0"/>
                        </a:rPr>
                        <m:t> </m:t>
                      </m:r>
                      <m:r>
                        <a:rPr lang="es-BO" b="0" i="1" smtClean="0">
                          <a:latin typeface="Cambria Math" panose="02040503050406030204" pitchFamily="18" charset="0"/>
                        </a:rPr>
                        <m:t>𝑎𝑐𝑡𝑢𝑎𝑑𝑜𝑟</m:t>
                      </m:r>
                      <m:r>
                        <a:rPr lang="es-BO" b="0" i="1" smtClean="0">
                          <a:latin typeface="Cambria Math" panose="02040503050406030204" pitchFamily="18" charset="0"/>
                        </a:rPr>
                        <m:t> </m:t>
                      </m:r>
                    </m:oMath>
                  </m:oMathPara>
                </a14:m>
                <a:endParaRPr lang="en-US" dirty="0"/>
              </a:p>
            </p:txBody>
          </p:sp>
        </mc:Choice>
        <mc:Fallback xmlns="">
          <p:sp>
            <p:nvSpPr>
              <p:cNvPr id="6" name="Rectángulo 5"/>
              <p:cNvSpPr>
                <a:spLocks noRot="1" noChangeAspect="1" noMove="1" noResize="1" noEditPoints="1" noAdjustHandles="1" noChangeArrowheads="1" noChangeShapeType="1" noTextEdit="1"/>
              </p:cNvSpPr>
              <p:nvPr/>
            </p:nvSpPr>
            <p:spPr>
              <a:xfrm>
                <a:off x="7205302" y="1300894"/>
                <a:ext cx="3010761" cy="36933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Rectángulo 7"/>
              <p:cNvSpPr/>
              <p:nvPr/>
            </p:nvSpPr>
            <p:spPr>
              <a:xfrm>
                <a:off x="5844417" y="5867274"/>
                <a:ext cx="1360885"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s-BO" i="1">
                              <a:latin typeface="Cambria Math" panose="02040503050406030204" pitchFamily="18" charset="0"/>
                            </a:rPr>
                          </m:ctrlPr>
                        </m:sSubPr>
                        <m:e>
                          <m:r>
                            <a:rPr lang="es-BO" i="1">
                              <a:latin typeface="Cambria Math" panose="02040503050406030204" pitchFamily="18" charset="0"/>
                            </a:rPr>
                            <m:t>𝑘</m:t>
                          </m:r>
                        </m:e>
                        <m:sub>
                          <m:r>
                            <a:rPr lang="es-BO" i="1">
                              <a:latin typeface="Cambria Math" panose="02040503050406030204" pitchFamily="18" charset="0"/>
                            </a:rPr>
                            <m:t>𝑥</m:t>
                          </m:r>
                        </m:sub>
                      </m:sSub>
                      <m:r>
                        <a:rPr lang="es-BO" i="1">
                          <a:latin typeface="Cambria Math" panose="02040503050406030204" pitchFamily="18" charset="0"/>
                        </a:rPr>
                        <m:t>=9.967</m:t>
                      </m:r>
                    </m:oMath>
                  </m:oMathPara>
                </a14:m>
                <a:endParaRPr lang="en-US" dirty="0"/>
              </a:p>
            </p:txBody>
          </p:sp>
        </mc:Choice>
        <mc:Fallback xmlns="">
          <p:sp>
            <p:nvSpPr>
              <p:cNvPr id="8" name="Rectángulo 7"/>
              <p:cNvSpPr>
                <a:spLocks noRot="1" noChangeAspect="1" noMove="1" noResize="1" noEditPoints="1" noAdjustHandles="1" noChangeArrowheads="1" noChangeShapeType="1" noTextEdit="1"/>
              </p:cNvSpPr>
              <p:nvPr/>
            </p:nvSpPr>
            <p:spPr>
              <a:xfrm>
                <a:off x="5844417" y="5867274"/>
                <a:ext cx="1360885" cy="369332"/>
              </a:xfrm>
              <a:prstGeom prst="rect">
                <a:avLst/>
              </a:prstGeom>
              <a:blipFill>
                <a:blip r:embed="rId7"/>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38766332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15336" y="232083"/>
            <a:ext cx="11278906" cy="1609344"/>
          </a:xfrm>
        </p:spPr>
        <p:txBody>
          <a:bodyPr>
            <a:noAutofit/>
          </a:bodyPr>
          <a:lstStyle/>
          <a:p>
            <a:r>
              <a:rPr lang="es-BO" sz="3600" u="sng" dirty="0"/>
              <a:t>DISEÑO DEL CONTROLADOR EN TIEMPO CONTINUO</a:t>
            </a:r>
            <a:br>
              <a:rPr lang="en-US" sz="3600" dirty="0"/>
            </a:br>
            <a:endParaRPr lang="en-US" sz="3600" dirty="0"/>
          </a:p>
        </p:txBody>
      </p:sp>
      <mc:AlternateContent xmlns:mc="http://schemas.openxmlformats.org/markup-compatibility/2006" xmlns:a14="http://schemas.microsoft.com/office/drawing/2010/main">
        <mc:Choice Requires="a14">
          <p:sp>
            <p:nvSpPr>
              <p:cNvPr id="3" name="Marcador de contenido 2"/>
              <p:cNvSpPr>
                <a:spLocks noGrp="1"/>
              </p:cNvSpPr>
              <p:nvPr>
                <p:ph idx="1"/>
              </p:nvPr>
            </p:nvSpPr>
            <p:spPr>
              <a:xfrm>
                <a:off x="1278853" y="1272902"/>
                <a:ext cx="8709877" cy="5290457"/>
              </a:xfrm>
            </p:spPr>
            <p:txBody>
              <a:bodyPr>
                <a:normAutofit fontScale="62500" lnSpcReduction="20000"/>
              </a:bodyPr>
              <a:lstStyle/>
              <a:p>
                <a:pPr marL="0" indent="0">
                  <a:buNone/>
                </a:pPr>
                <a:r>
                  <a:rPr lang="es-BO" dirty="0"/>
                  <a:t>Trabajando con el sistema de primer orden</a:t>
                </a:r>
                <a:endParaRPr lang="en-US" dirty="0"/>
              </a:p>
              <a:p>
                <a:pPr marL="0" indent="0">
                  <a:buNone/>
                </a:pPr>
                <a14:m>
                  <m:oMathPara xmlns:m="http://schemas.openxmlformats.org/officeDocument/2006/math">
                    <m:oMathParaPr>
                      <m:jc m:val="centerGroup"/>
                    </m:oMathParaPr>
                    <m:oMath xmlns:m="http://schemas.openxmlformats.org/officeDocument/2006/math">
                      <m:f>
                        <m:fPr>
                          <m:ctrlPr>
                            <a:rPr lang="en-US" b="1" i="1">
                              <a:latin typeface="Cambria Math" panose="02040503050406030204" pitchFamily="18" charset="0"/>
                            </a:rPr>
                          </m:ctrlPr>
                        </m:fPr>
                        <m:num>
                          <m:r>
                            <a:rPr lang="es-BO" b="1" i="1">
                              <a:latin typeface="Cambria Math" panose="02040503050406030204" pitchFamily="18" charset="0"/>
                            </a:rPr>
                            <m:t>𝑯</m:t>
                          </m:r>
                          <m:d>
                            <m:dPr>
                              <m:ctrlPr>
                                <a:rPr lang="en-US" b="1" i="1">
                                  <a:latin typeface="Cambria Math" panose="02040503050406030204" pitchFamily="18" charset="0"/>
                                </a:rPr>
                              </m:ctrlPr>
                            </m:dPr>
                            <m:e>
                              <m:r>
                                <a:rPr lang="es-BO" b="1" i="1">
                                  <a:latin typeface="Cambria Math" panose="02040503050406030204" pitchFamily="18" charset="0"/>
                                </a:rPr>
                                <m:t>𝒔</m:t>
                              </m:r>
                            </m:e>
                          </m:d>
                        </m:num>
                        <m:den>
                          <m:sSub>
                            <m:sSubPr>
                              <m:ctrlPr>
                                <a:rPr lang="en-US" b="1" i="1">
                                  <a:latin typeface="Cambria Math" panose="02040503050406030204" pitchFamily="18" charset="0"/>
                                </a:rPr>
                              </m:ctrlPr>
                            </m:sSubPr>
                            <m:e>
                              <m:r>
                                <a:rPr lang="es-BO" b="1" i="1">
                                  <a:latin typeface="Cambria Math" panose="02040503050406030204" pitchFamily="18" charset="0"/>
                                </a:rPr>
                                <m:t>𝑸</m:t>
                              </m:r>
                            </m:e>
                            <m:sub>
                              <m:r>
                                <a:rPr lang="es-BO" b="1" i="1">
                                  <a:latin typeface="Cambria Math" panose="02040503050406030204" pitchFamily="18" charset="0"/>
                                </a:rPr>
                                <m:t>𝒊</m:t>
                              </m:r>
                            </m:sub>
                          </m:sSub>
                          <m:d>
                            <m:dPr>
                              <m:ctrlPr>
                                <a:rPr lang="en-US" b="1" i="1">
                                  <a:latin typeface="Cambria Math" panose="02040503050406030204" pitchFamily="18" charset="0"/>
                                </a:rPr>
                              </m:ctrlPr>
                            </m:dPr>
                            <m:e>
                              <m:r>
                                <a:rPr lang="es-BO" b="1" i="1">
                                  <a:latin typeface="Cambria Math" panose="02040503050406030204" pitchFamily="18" charset="0"/>
                                </a:rPr>
                                <m:t>𝒔</m:t>
                              </m:r>
                            </m:e>
                          </m:d>
                        </m:den>
                      </m:f>
                      <m:r>
                        <a:rPr lang="es-BO" b="1" i="1">
                          <a:latin typeface="Cambria Math" panose="02040503050406030204" pitchFamily="18" charset="0"/>
                        </a:rPr>
                        <m:t>=</m:t>
                      </m:r>
                      <m:f>
                        <m:fPr>
                          <m:ctrlPr>
                            <a:rPr lang="en-US" b="1" i="1">
                              <a:latin typeface="Cambria Math" panose="02040503050406030204" pitchFamily="18" charset="0"/>
                            </a:rPr>
                          </m:ctrlPr>
                        </m:fPr>
                        <m:num>
                          <m:r>
                            <a:rPr lang="es-BO" b="1" i="1">
                              <a:latin typeface="Cambria Math" panose="02040503050406030204" pitchFamily="18" charset="0"/>
                            </a:rPr>
                            <m:t>𝑹</m:t>
                          </m:r>
                        </m:num>
                        <m:den>
                          <m:r>
                            <a:rPr lang="es-BO" b="1" i="1">
                              <a:latin typeface="Cambria Math" panose="02040503050406030204" pitchFamily="18" charset="0"/>
                            </a:rPr>
                            <m:t>𝒔𝑪𝑹</m:t>
                          </m:r>
                          <m:r>
                            <a:rPr lang="es-BO" b="1" i="1">
                              <a:latin typeface="Cambria Math" panose="02040503050406030204" pitchFamily="18" charset="0"/>
                            </a:rPr>
                            <m:t>+</m:t>
                          </m:r>
                          <m:r>
                            <a:rPr lang="es-BO" b="1" i="1">
                              <a:latin typeface="Cambria Math" panose="02040503050406030204" pitchFamily="18" charset="0"/>
                            </a:rPr>
                            <m:t>𝟏</m:t>
                          </m:r>
                        </m:den>
                      </m:f>
                      <m:r>
                        <a:rPr lang="es-BO" b="1" i="1">
                          <a:latin typeface="Cambria Math" panose="02040503050406030204" pitchFamily="18" charset="0"/>
                        </a:rPr>
                        <m:t>   →  </m:t>
                      </m:r>
                      <m:f>
                        <m:fPr>
                          <m:ctrlPr>
                            <a:rPr lang="en-US" b="1" i="1">
                              <a:latin typeface="Cambria Math" panose="02040503050406030204" pitchFamily="18" charset="0"/>
                            </a:rPr>
                          </m:ctrlPr>
                        </m:fPr>
                        <m:num>
                          <m:r>
                            <a:rPr lang="es-BO" b="1" i="1">
                              <a:latin typeface="Cambria Math" panose="02040503050406030204" pitchFamily="18" charset="0"/>
                            </a:rPr>
                            <m:t>𝑯</m:t>
                          </m:r>
                          <m:d>
                            <m:dPr>
                              <m:ctrlPr>
                                <a:rPr lang="en-US" b="1" i="1">
                                  <a:latin typeface="Cambria Math" panose="02040503050406030204" pitchFamily="18" charset="0"/>
                                </a:rPr>
                              </m:ctrlPr>
                            </m:dPr>
                            <m:e>
                              <m:r>
                                <a:rPr lang="es-BO" b="1" i="1">
                                  <a:latin typeface="Cambria Math" panose="02040503050406030204" pitchFamily="18" charset="0"/>
                                </a:rPr>
                                <m:t>𝒔</m:t>
                              </m:r>
                            </m:e>
                          </m:d>
                        </m:num>
                        <m:den>
                          <m:sSub>
                            <m:sSubPr>
                              <m:ctrlPr>
                                <a:rPr lang="en-US" b="1" i="1">
                                  <a:latin typeface="Cambria Math" panose="02040503050406030204" pitchFamily="18" charset="0"/>
                                </a:rPr>
                              </m:ctrlPr>
                            </m:sSubPr>
                            <m:e>
                              <m:r>
                                <a:rPr lang="es-BO" b="1" i="1">
                                  <a:latin typeface="Cambria Math" panose="02040503050406030204" pitchFamily="18" charset="0"/>
                                </a:rPr>
                                <m:t>𝑸</m:t>
                              </m:r>
                            </m:e>
                            <m:sub>
                              <m:r>
                                <a:rPr lang="es-BO" b="1" i="1">
                                  <a:latin typeface="Cambria Math" panose="02040503050406030204" pitchFamily="18" charset="0"/>
                                </a:rPr>
                                <m:t>𝒊</m:t>
                              </m:r>
                            </m:sub>
                          </m:sSub>
                          <m:d>
                            <m:dPr>
                              <m:ctrlPr>
                                <a:rPr lang="en-US" b="1" i="1">
                                  <a:latin typeface="Cambria Math" panose="02040503050406030204" pitchFamily="18" charset="0"/>
                                </a:rPr>
                              </m:ctrlPr>
                            </m:dPr>
                            <m:e>
                              <m:r>
                                <a:rPr lang="es-BO" b="1" i="1">
                                  <a:latin typeface="Cambria Math" panose="02040503050406030204" pitchFamily="18" charset="0"/>
                                </a:rPr>
                                <m:t>𝒔</m:t>
                              </m:r>
                            </m:e>
                          </m:d>
                        </m:den>
                      </m:f>
                      <m:r>
                        <a:rPr lang="es-BO" b="1" i="1">
                          <a:latin typeface="Cambria Math" panose="02040503050406030204" pitchFamily="18" charset="0"/>
                        </a:rPr>
                        <m:t>=</m:t>
                      </m:r>
                      <m:r>
                        <a:rPr lang="es-BO" i="1">
                          <a:latin typeface="Cambria Math" panose="02040503050406030204" pitchFamily="18" charset="0"/>
                        </a:rPr>
                        <m:t>𝑘𝑥</m:t>
                      </m:r>
                      <m:r>
                        <a:rPr lang="es-BO" b="1" i="1" smtClean="0">
                          <a:latin typeface="Cambria Math" panose="02040503050406030204" pitchFamily="18" charset="0"/>
                        </a:rPr>
                        <m:t>∗</m:t>
                      </m:r>
                      <m:f>
                        <m:fPr>
                          <m:ctrlPr>
                            <a:rPr lang="en-US" b="1" i="1">
                              <a:latin typeface="Cambria Math" panose="02040503050406030204" pitchFamily="18" charset="0"/>
                            </a:rPr>
                          </m:ctrlPr>
                        </m:fPr>
                        <m:num>
                          <m:r>
                            <a:rPr lang="es-BO" b="1" i="1" smtClean="0">
                              <a:latin typeface="Cambria Math" panose="02040503050406030204" pitchFamily="18" charset="0"/>
                            </a:rPr>
                            <m:t>𝟎</m:t>
                          </m:r>
                          <m:r>
                            <a:rPr lang="es-BO" b="1" i="1" smtClean="0">
                              <a:latin typeface="Cambria Math" panose="02040503050406030204" pitchFamily="18" charset="0"/>
                            </a:rPr>
                            <m:t>.</m:t>
                          </m:r>
                          <m:r>
                            <a:rPr lang="es-BO" b="1" i="1" smtClean="0">
                              <a:latin typeface="Cambria Math" panose="02040503050406030204" pitchFamily="18" charset="0"/>
                            </a:rPr>
                            <m:t>𝟎𝟗𝟓𝟔𝟗</m:t>
                          </m:r>
                        </m:num>
                        <m:den>
                          <m:r>
                            <a:rPr lang="es-BO" b="1" i="1" smtClean="0">
                              <a:latin typeface="Cambria Math" panose="02040503050406030204" pitchFamily="18" charset="0"/>
                            </a:rPr>
                            <m:t>𝟑𝟎𝟑</m:t>
                          </m:r>
                          <m:r>
                            <a:rPr lang="es-BO" b="1" i="1" smtClean="0">
                              <a:latin typeface="Cambria Math" panose="02040503050406030204" pitchFamily="18" charset="0"/>
                            </a:rPr>
                            <m:t>∗</m:t>
                          </m:r>
                          <m:r>
                            <a:rPr lang="es-BO" b="1" i="1">
                              <a:latin typeface="Cambria Math" panose="02040503050406030204" pitchFamily="18" charset="0"/>
                            </a:rPr>
                            <m:t>𝒔</m:t>
                          </m:r>
                          <m:r>
                            <a:rPr lang="es-BO" b="1" i="1">
                              <a:latin typeface="Cambria Math" panose="02040503050406030204" pitchFamily="18" charset="0"/>
                            </a:rPr>
                            <m:t>+</m:t>
                          </m:r>
                          <m:r>
                            <a:rPr lang="es-BO" b="1" i="1">
                              <a:latin typeface="Cambria Math" panose="02040503050406030204" pitchFamily="18" charset="0"/>
                            </a:rPr>
                            <m:t>𝟏</m:t>
                          </m:r>
                        </m:den>
                      </m:f>
                    </m:oMath>
                  </m:oMathPara>
                </a14:m>
                <a:endParaRPr lang="en-US" dirty="0"/>
              </a:p>
              <a:p>
                <a:pPr marL="0" indent="0">
                  <a:buNone/>
                </a:pPr>
                <a:r>
                  <a:rPr lang="es-BO" dirty="0"/>
                  <a:t>Tomando las ecuaciones diferenciales ordinarias que modelan el sistema (1 y 2).</a:t>
                </a:r>
                <a:endParaRPr lang="en-US" dirty="0"/>
              </a:p>
              <a:p>
                <a:pPr marL="0" indent="0">
                  <a:buNone/>
                </a:pPr>
                <a14:m>
                  <m:oMathPara xmlns:m="http://schemas.openxmlformats.org/officeDocument/2006/math">
                    <m:oMathParaPr>
                      <m:jc m:val="centerGroup"/>
                    </m:oMathParaPr>
                    <m:oMath xmlns:m="http://schemas.openxmlformats.org/officeDocument/2006/math">
                      <m:m>
                        <m:mPr>
                          <m:mcs>
                            <m:mc>
                              <m:mcPr>
                                <m:count m:val="1"/>
                                <m:mcJc m:val="center"/>
                              </m:mcPr>
                            </m:mc>
                          </m:mcs>
                          <m:ctrlPr>
                            <a:rPr lang="en-US" i="1">
                              <a:latin typeface="Cambria Math" panose="02040503050406030204" pitchFamily="18" charset="0"/>
                            </a:rPr>
                          </m:ctrlPr>
                        </m:mPr>
                        <m:mr>
                          <m:e>
                            <m:acc>
                              <m:accPr>
                                <m:chr m:val="̇"/>
                                <m:ctrlPr>
                                  <a:rPr lang="en-US" i="1">
                                    <a:latin typeface="Cambria Math" panose="02040503050406030204" pitchFamily="18" charset="0"/>
                                  </a:rPr>
                                </m:ctrlPr>
                              </m:accPr>
                              <m:e>
                                <m:r>
                                  <a:rPr lang="es-BO" i="1">
                                    <a:latin typeface="Cambria Math" panose="02040503050406030204" pitchFamily="18" charset="0"/>
                                  </a:rPr>
                                  <m:t>𝑥</m:t>
                                </m:r>
                              </m:e>
                            </m:acc>
                            <m:d>
                              <m:dPr>
                                <m:ctrlPr>
                                  <a:rPr lang="en-US" i="1">
                                    <a:latin typeface="Cambria Math" panose="02040503050406030204" pitchFamily="18" charset="0"/>
                                  </a:rPr>
                                </m:ctrlPr>
                              </m:dPr>
                              <m:e>
                                <m:r>
                                  <a:rPr lang="es-BO" i="1">
                                    <a:latin typeface="Cambria Math" panose="02040503050406030204" pitchFamily="18" charset="0"/>
                                  </a:rPr>
                                  <m:t>𝑡</m:t>
                                </m:r>
                              </m:e>
                            </m:d>
                            <m:r>
                              <a:rPr lang="es-BO" i="1">
                                <a:latin typeface="Cambria Math" panose="02040503050406030204" pitchFamily="18" charset="0"/>
                              </a:rPr>
                              <m:t>=</m:t>
                            </m:r>
                            <m:r>
                              <a:rPr lang="es-BO" i="1">
                                <a:latin typeface="Cambria Math" panose="02040503050406030204" pitchFamily="18" charset="0"/>
                              </a:rPr>
                              <m:t>𝐴𝑥</m:t>
                            </m:r>
                            <m:d>
                              <m:dPr>
                                <m:ctrlPr>
                                  <a:rPr lang="en-US" i="1">
                                    <a:latin typeface="Cambria Math" panose="02040503050406030204" pitchFamily="18" charset="0"/>
                                  </a:rPr>
                                </m:ctrlPr>
                              </m:dPr>
                              <m:e>
                                <m:r>
                                  <a:rPr lang="es-BO" i="1">
                                    <a:latin typeface="Cambria Math" panose="02040503050406030204" pitchFamily="18" charset="0"/>
                                  </a:rPr>
                                  <m:t>𝑡</m:t>
                                </m:r>
                              </m:e>
                            </m:d>
                            <m:r>
                              <a:rPr lang="es-BO" i="1">
                                <a:latin typeface="Cambria Math" panose="02040503050406030204" pitchFamily="18" charset="0"/>
                              </a:rPr>
                              <m:t>+</m:t>
                            </m:r>
                            <m:r>
                              <a:rPr lang="es-BO" i="1">
                                <a:latin typeface="Cambria Math" panose="02040503050406030204" pitchFamily="18" charset="0"/>
                              </a:rPr>
                              <m:t>𝐵</m:t>
                            </m:r>
                            <m:sSub>
                              <m:sSubPr>
                                <m:ctrlPr>
                                  <a:rPr lang="en-US" i="1">
                                    <a:latin typeface="Cambria Math" panose="02040503050406030204" pitchFamily="18" charset="0"/>
                                  </a:rPr>
                                </m:ctrlPr>
                              </m:sSubPr>
                              <m:e>
                                <m:r>
                                  <a:rPr lang="es-BO" i="1">
                                    <a:latin typeface="Cambria Math" panose="02040503050406030204" pitchFamily="18" charset="0"/>
                                  </a:rPr>
                                  <m:t>𝑞</m:t>
                                </m:r>
                              </m:e>
                              <m:sub>
                                <m:r>
                                  <a:rPr lang="es-BO" i="1">
                                    <a:latin typeface="Cambria Math" panose="02040503050406030204" pitchFamily="18" charset="0"/>
                                  </a:rPr>
                                  <m:t>𝑖</m:t>
                                </m:r>
                              </m:sub>
                            </m:sSub>
                            <m:r>
                              <a:rPr lang="es-BO" i="1">
                                <a:latin typeface="Cambria Math" panose="02040503050406030204" pitchFamily="18" charset="0"/>
                              </a:rPr>
                              <m:t>(</m:t>
                            </m:r>
                            <m:r>
                              <a:rPr lang="es-BO" i="1">
                                <a:latin typeface="Cambria Math" panose="02040503050406030204" pitchFamily="18" charset="0"/>
                              </a:rPr>
                              <m:t>𝑡</m:t>
                            </m:r>
                            <m:r>
                              <a:rPr lang="es-BO" i="1">
                                <a:latin typeface="Cambria Math" panose="02040503050406030204" pitchFamily="18" charset="0"/>
                              </a:rPr>
                              <m:t>)</m:t>
                            </m:r>
                          </m:e>
                        </m:mr>
                        <m:mr>
                          <m:e>
                            <m:r>
                              <a:rPr lang="es-BO" i="1">
                                <a:latin typeface="Cambria Math" panose="02040503050406030204" pitchFamily="18" charset="0"/>
                              </a:rPr>
                              <m:t>𝑦</m:t>
                            </m:r>
                            <m:d>
                              <m:dPr>
                                <m:ctrlPr>
                                  <a:rPr lang="en-US" i="1">
                                    <a:latin typeface="Cambria Math" panose="02040503050406030204" pitchFamily="18" charset="0"/>
                                  </a:rPr>
                                </m:ctrlPr>
                              </m:dPr>
                              <m:e>
                                <m:r>
                                  <a:rPr lang="es-BO" i="1">
                                    <a:latin typeface="Cambria Math" panose="02040503050406030204" pitchFamily="18" charset="0"/>
                                  </a:rPr>
                                  <m:t>𝑡</m:t>
                                </m:r>
                              </m:e>
                            </m:d>
                            <m:r>
                              <a:rPr lang="es-BO" i="1">
                                <a:latin typeface="Cambria Math" panose="02040503050406030204" pitchFamily="18" charset="0"/>
                              </a:rPr>
                              <m:t>=</m:t>
                            </m:r>
                            <m:r>
                              <a:rPr lang="es-BO" i="1">
                                <a:latin typeface="Cambria Math" panose="02040503050406030204" pitchFamily="18" charset="0"/>
                              </a:rPr>
                              <m:t>𝐶𝑥</m:t>
                            </m:r>
                            <m:r>
                              <a:rPr lang="es-BO" i="1">
                                <a:latin typeface="Cambria Math" panose="02040503050406030204" pitchFamily="18" charset="0"/>
                              </a:rPr>
                              <m:t>(</m:t>
                            </m:r>
                            <m:r>
                              <a:rPr lang="es-BO" i="1">
                                <a:latin typeface="Cambria Math" panose="02040503050406030204" pitchFamily="18" charset="0"/>
                              </a:rPr>
                              <m:t>𝑡</m:t>
                            </m:r>
                            <m:r>
                              <a:rPr lang="es-BO" i="1">
                                <a:latin typeface="Cambria Math" panose="02040503050406030204" pitchFamily="18" charset="0"/>
                              </a:rPr>
                              <m:t>)</m:t>
                            </m:r>
                          </m:e>
                        </m:mr>
                      </m:m>
                      <m:r>
                        <a:rPr lang="es-BO" i="1">
                          <a:latin typeface="Cambria Math" panose="02040503050406030204" pitchFamily="18" charset="0"/>
                        </a:rPr>
                        <m:t>              →          </m:t>
                      </m:r>
                      <m:r>
                        <a:rPr lang="es-BO" i="1">
                          <a:latin typeface="Cambria Math" panose="02040503050406030204" pitchFamily="18" charset="0"/>
                        </a:rPr>
                        <m:t>𝐴</m:t>
                      </m:r>
                      <m:r>
                        <a:rPr lang="es-BO" i="1">
                          <a:latin typeface="Cambria Math" panose="02040503050406030204" pitchFamily="18" charset="0"/>
                        </a:rPr>
                        <m:t>=</m:t>
                      </m:r>
                      <m:d>
                        <m:dPr>
                          <m:begChr m:val="["/>
                          <m:endChr m:val="]"/>
                          <m:ctrlPr>
                            <a:rPr lang="en-US" i="1">
                              <a:latin typeface="Cambria Math" panose="02040503050406030204" pitchFamily="18" charset="0"/>
                            </a:rPr>
                          </m:ctrlPr>
                        </m:dPr>
                        <m:e>
                          <m:f>
                            <m:fPr>
                              <m:ctrlPr>
                                <a:rPr lang="en-US" i="1">
                                  <a:latin typeface="Cambria Math" panose="02040503050406030204" pitchFamily="18" charset="0"/>
                                </a:rPr>
                              </m:ctrlPr>
                            </m:fPr>
                            <m:num>
                              <m:r>
                                <a:rPr lang="es-BO" i="1">
                                  <a:latin typeface="Cambria Math" panose="02040503050406030204" pitchFamily="18" charset="0"/>
                                </a:rPr>
                                <m:t>−1</m:t>
                              </m:r>
                            </m:num>
                            <m:den>
                              <m:r>
                                <a:rPr lang="es-BO" b="0" i="1" smtClean="0">
                                  <a:latin typeface="Cambria Math" panose="02040503050406030204" pitchFamily="18" charset="0"/>
                                </a:rPr>
                                <m:t>303</m:t>
                              </m:r>
                            </m:den>
                          </m:f>
                        </m:e>
                      </m:d>
                      <m:r>
                        <a:rPr lang="es-BO" i="1">
                          <a:latin typeface="Cambria Math" panose="02040503050406030204" pitchFamily="18" charset="0"/>
                        </a:rPr>
                        <m:t>,      </m:t>
                      </m:r>
                      <m:r>
                        <a:rPr lang="es-BO" i="1">
                          <a:latin typeface="Cambria Math" panose="02040503050406030204" pitchFamily="18" charset="0"/>
                        </a:rPr>
                        <m:t>𝐵</m:t>
                      </m:r>
                      <m:r>
                        <a:rPr lang="es-BO" i="1">
                          <a:latin typeface="Cambria Math" panose="02040503050406030204" pitchFamily="18" charset="0"/>
                        </a:rPr>
                        <m:t>=</m:t>
                      </m:r>
                      <m:d>
                        <m:dPr>
                          <m:begChr m:val="["/>
                          <m:endChr m:val="]"/>
                          <m:ctrlPr>
                            <a:rPr lang="en-US" i="1">
                              <a:latin typeface="Cambria Math" panose="02040503050406030204" pitchFamily="18" charset="0"/>
                            </a:rPr>
                          </m:ctrlPr>
                        </m:dPr>
                        <m:e>
                          <m:f>
                            <m:fPr>
                              <m:ctrlPr>
                                <a:rPr lang="en-US" i="1">
                                  <a:latin typeface="Cambria Math" panose="02040503050406030204" pitchFamily="18" charset="0"/>
                                </a:rPr>
                              </m:ctrlPr>
                            </m:fPr>
                            <m:num>
                              <m:r>
                                <a:rPr lang="es-BO" b="0" i="1" smtClean="0">
                                  <a:latin typeface="Cambria Math" panose="02040503050406030204" pitchFamily="18" charset="0"/>
                                </a:rPr>
                                <m:t>𝑘𝑥</m:t>
                              </m:r>
                            </m:num>
                            <m:den>
                              <m:r>
                                <a:rPr lang="es-BO" b="0" i="1" smtClean="0">
                                  <a:latin typeface="Cambria Math" panose="02040503050406030204" pitchFamily="18" charset="0"/>
                                </a:rPr>
                                <m:t>3166.47</m:t>
                              </m:r>
                            </m:den>
                          </m:f>
                        </m:e>
                      </m:d>
                      <m:r>
                        <a:rPr lang="es-BO" i="1">
                          <a:latin typeface="Cambria Math" panose="02040503050406030204" pitchFamily="18" charset="0"/>
                        </a:rPr>
                        <m:t>,     </m:t>
                      </m:r>
                      <m:r>
                        <a:rPr lang="es-BO" i="1">
                          <a:latin typeface="Cambria Math" panose="02040503050406030204" pitchFamily="18" charset="0"/>
                        </a:rPr>
                        <m:t>𝐶</m:t>
                      </m:r>
                      <m:r>
                        <a:rPr lang="es-BO" i="1">
                          <a:latin typeface="Cambria Math" panose="02040503050406030204" pitchFamily="18" charset="0"/>
                        </a:rPr>
                        <m:t>=</m:t>
                      </m:r>
                      <m:d>
                        <m:dPr>
                          <m:begChr m:val="["/>
                          <m:endChr m:val="]"/>
                          <m:ctrlPr>
                            <a:rPr lang="en-US" i="1">
                              <a:latin typeface="Cambria Math" panose="02040503050406030204" pitchFamily="18" charset="0"/>
                            </a:rPr>
                          </m:ctrlPr>
                        </m:dPr>
                        <m:e>
                          <m:r>
                            <a:rPr lang="es-BO" i="1">
                              <a:latin typeface="Cambria Math" panose="02040503050406030204" pitchFamily="18" charset="0"/>
                            </a:rPr>
                            <m:t>1</m:t>
                          </m:r>
                        </m:e>
                      </m:d>
                      <m:r>
                        <a:rPr lang="es-BO" b="1" i="1">
                          <a:latin typeface="Cambria Math" panose="02040503050406030204" pitchFamily="18" charset="0"/>
                        </a:rPr>
                        <m:t> </m:t>
                      </m:r>
                    </m:oMath>
                  </m:oMathPara>
                </a14:m>
                <a:endParaRPr lang="en-US" dirty="0"/>
              </a:p>
              <a:p>
                <a:pPr marL="0" indent="0">
                  <a:buNone/>
                </a:pPr>
                <a:r>
                  <a:rPr lang="es-BO" dirty="0"/>
                  <a:t>Analizamos el requerimiento (</a:t>
                </a:r>
                <a:r>
                  <a:rPr lang="es-BO" dirty="0" err="1"/>
                  <a:t>ts</a:t>
                </a:r>
                <a:r>
                  <a:rPr lang="es-BO" dirty="0"/>
                  <a:t> = 10 min = 600 </a:t>
                </a:r>
                <a:r>
                  <a:rPr lang="es-BO" dirty="0" err="1"/>
                  <a:t>seg</a:t>
                </a:r>
                <a:r>
                  <a:rPr lang="es-BO" dirty="0"/>
                  <a:t>):</a:t>
                </a:r>
                <a:endParaRPr lang="en-US" dirty="0"/>
              </a:p>
              <a:p>
                <a:pPr marL="0" indent="0">
                  <a:buNone/>
                </a:pPr>
                <a14:m>
                  <m:oMathPara xmlns:m="http://schemas.openxmlformats.org/officeDocument/2006/math">
                    <m:oMathParaPr>
                      <m:jc m:val="centerGroup"/>
                    </m:oMathParaPr>
                    <m:oMath xmlns:m="http://schemas.openxmlformats.org/officeDocument/2006/math">
                      <m:r>
                        <a:rPr lang="es-BO" b="0" i="1" smtClean="0">
                          <a:latin typeface="Cambria Math" panose="02040503050406030204" pitchFamily="18" charset="0"/>
                        </a:rPr>
                        <m:t>600</m:t>
                      </m:r>
                      <m:r>
                        <a:rPr lang="es-MX" i="1" smtClean="0">
                          <a:latin typeface="Cambria Math" panose="02040503050406030204" pitchFamily="18" charset="0"/>
                        </a:rPr>
                        <m:t>=</m:t>
                      </m:r>
                      <m:sSub>
                        <m:sSubPr>
                          <m:ctrlPr>
                            <a:rPr lang="en-US" i="1">
                              <a:latin typeface="Cambria Math" panose="02040503050406030204" pitchFamily="18" charset="0"/>
                            </a:rPr>
                          </m:ctrlPr>
                        </m:sSubPr>
                        <m:e>
                          <m:r>
                            <a:rPr lang="es-MX" i="1">
                              <a:latin typeface="Cambria Math" panose="02040503050406030204" pitchFamily="18" charset="0"/>
                            </a:rPr>
                            <m:t>𝑡</m:t>
                          </m:r>
                        </m:e>
                        <m:sub>
                          <m:r>
                            <a:rPr lang="es-MX" i="1">
                              <a:latin typeface="Cambria Math" panose="02040503050406030204" pitchFamily="18" charset="0"/>
                            </a:rPr>
                            <m:t>𝑠</m:t>
                          </m:r>
                        </m:sub>
                      </m:sSub>
                      <m:r>
                        <a:rPr lang="es-MX" i="1">
                          <a:latin typeface="Cambria Math" panose="02040503050406030204" pitchFamily="18" charset="0"/>
                        </a:rPr>
                        <m:t>≥4</m:t>
                      </m:r>
                      <m:r>
                        <a:rPr lang="es-MX" i="1">
                          <a:latin typeface="Cambria Math" panose="02040503050406030204" pitchFamily="18" charset="0"/>
                        </a:rPr>
                        <m:t>𝜏</m:t>
                      </m:r>
                      <m:r>
                        <a:rPr lang="es-MX" i="1">
                          <a:latin typeface="Cambria Math" panose="02040503050406030204" pitchFamily="18" charset="0"/>
                        </a:rPr>
                        <m:t>   ;      </m:t>
                      </m:r>
                      <m:r>
                        <a:rPr lang="es-MX" i="1">
                          <a:latin typeface="Cambria Math" panose="02040503050406030204" pitchFamily="18" charset="0"/>
                        </a:rPr>
                        <m:t>𝜏</m:t>
                      </m:r>
                      <m:r>
                        <a:rPr lang="es-MX" i="1">
                          <a:latin typeface="Cambria Math" panose="02040503050406030204" pitchFamily="18" charset="0"/>
                        </a:rPr>
                        <m:t>=600/4</m:t>
                      </m:r>
                    </m:oMath>
                  </m:oMathPara>
                </a14:m>
                <a:endParaRPr lang="en-US" dirty="0"/>
              </a:p>
              <a:p>
                <a:pPr marL="0" indent="0">
                  <a:lnSpc>
                    <a:spcPct val="107000"/>
                  </a:lnSpc>
                  <a:spcBef>
                    <a:spcPts val="600"/>
                  </a:spcBef>
                  <a:spcAft>
                    <a:spcPts val="600"/>
                  </a:spcAft>
                  <a:buNone/>
                </a:pPr>
                <a:r>
                  <a:rPr lang="es-BO" dirty="0">
                    <a:latin typeface="Calibri" panose="020F0502020204030204" pitchFamily="34" charset="0"/>
                    <a:ea typeface="Times New Roman" panose="02020603050405020304" pitchFamily="18" charset="0"/>
                    <a:cs typeface="Times New Roman" panose="02020603050405020304" pitchFamily="18" charset="0"/>
                  </a:rPr>
                  <a:t>Sea el polinomio característico deseado:</a:t>
                </a:r>
                <a:endParaRPr lang="en-US" dirty="0">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Bef>
                    <a:spcPts val="600"/>
                  </a:spcBef>
                  <a:spcAft>
                    <a:spcPts val="600"/>
                  </a:spcAft>
                  <a:buNone/>
                </a:pPr>
                <a14:m>
                  <m:oMathPara xmlns:m="http://schemas.openxmlformats.org/officeDocument/2006/math">
                    <m:oMathParaPr>
                      <m:jc m:val="centerGroup"/>
                    </m:oMathParaPr>
                    <m:oMath xmlns:m="http://schemas.openxmlformats.org/officeDocument/2006/math">
                      <m:r>
                        <a:rPr lang="es-MX" i="1">
                          <a:latin typeface="Cambria Math" panose="02040503050406030204" pitchFamily="18" charset="0"/>
                          <a:ea typeface="Calibri" panose="020F0502020204030204" pitchFamily="34" charset="0"/>
                          <a:cs typeface="Arial" panose="020B0604020202020204" pitchFamily="34" charset="0"/>
                        </a:rPr>
                        <m:t>𝑠</m:t>
                      </m:r>
                      <m:r>
                        <a:rPr lang="es-MX" i="1">
                          <a:latin typeface="Cambria Math" panose="02040503050406030204" pitchFamily="18" charset="0"/>
                          <a:ea typeface="Calibri" panose="020F0502020204030204" pitchFamily="34" charset="0"/>
                          <a:cs typeface="Arial" panose="020B0604020202020204" pitchFamily="34" charset="0"/>
                        </a:rPr>
                        <m:t>+</m:t>
                      </m:r>
                      <m:f>
                        <m:fPr>
                          <m:ctrlPr>
                            <a:rPr lang="en-US" i="1">
                              <a:latin typeface="Cambria Math" panose="02040503050406030204" pitchFamily="18" charset="0"/>
                              <a:ea typeface="Calibri" panose="020F0502020204030204" pitchFamily="34" charset="0"/>
                              <a:cs typeface="Arial" panose="020B0604020202020204" pitchFamily="34" charset="0"/>
                            </a:rPr>
                          </m:ctrlPr>
                        </m:fPr>
                        <m:num>
                          <m:r>
                            <a:rPr lang="es-MX" i="1">
                              <a:latin typeface="Cambria Math" panose="02040503050406030204" pitchFamily="18" charset="0"/>
                              <a:ea typeface="Calibri" panose="020F0502020204030204" pitchFamily="34" charset="0"/>
                              <a:cs typeface="Arial" panose="020B0604020202020204" pitchFamily="34" charset="0"/>
                            </a:rPr>
                            <m:t>1</m:t>
                          </m:r>
                        </m:num>
                        <m:den>
                          <m:r>
                            <a:rPr lang="es-MX" i="1">
                              <a:latin typeface="Cambria Math" panose="02040503050406030204" pitchFamily="18" charset="0"/>
                              <a:ea typeface="Calibri" panose="020F0502020204030204" pitchFamily="34" charset="0"/>
                              <a:cs typeface="Arial" panose="020B0604020202020204" pitchFamily="34" charset="0"/>
                            </a:rPr>
                            <m:t>𝜏</m:t>
                          </m:r>
                        </m:den>
                      </m:f>
                      <m:r>
                        <a:rPr lang="es-MX" i="1">
                          <a:latin typeface="Cambria Math" panose="02040503050406030204" pitchFamily="18" charset="0"/>
                          <a:ea typeface="Calibri" panose="020F0502020204030204" pitchFamily="34" charset="0"/>
                          <a:cs typeface="Arial" panose="020B0604020202020204" pitchFamily="34" charset="0"/>
                        </a:rPr>
                        <m:t>      →    </m:t>
                      </m:r>
                      <m:r>
                        <a:rPr lang="es-MX" i="1">
                          <a:latin typeface="Cambria Math" panose="02040503050406030204" pitchFamily="18" charset="0"/>
                          <a:ea typeface="Calibri" panose="020F0502020204030204" pitchFamily="34" charset="0"/>
                          <a:cs typeface="Arial" panose="020B0604020202020204" pitchFamily="34" charset="0"/>
                        </a:rPr>
                        <m:t>𝑠</m:t>
                      </m:r>
                      <m:r>
                        <a:rPr lang="es-MX" i="1">
                          <a:latin typeface="Cambria Math" panose="02040503050406030204" pitchFamily="18" charset="0"/>
                          <a:ea typeface="Calibri" panose="020F0502020204030204" pitchFamily="34" charset="0"/>
                          <a:cs typeface="Arial" panose="020B0604020202020204" pitchFamily="34" charset="0"/>
                        </a:rPr>
                        <m:t>+6.70∙</m:t>
                      </m:r>
                      <m:sSup>
                        <m:sSupPr>
                          <m:ctrlPr>
                            <a:rPr lang="en-US" i="1">
                              <a:latin typeface="Cambria Math" panose="02040503050406030204" pitchFamily="18" charset="0"/>
                              <a:ea typeface="Calibri" panose="020F0502020204030204" pitchFamily="34" charset="0"/>
                              <a:cs typeface="Arial" panose="020B0604020202020204" pitchFamily="34" charset="0"/>
                            </a:rPr>
                          </m:ctrlPr>
                        </m:sSupPr>
                        <m:e>
                          <m:r>
                            <a:rPr lang="es-MX" i="1">
                              <a:latin typeface="Cambria Math" panose="02040503050406030204" pitchFamily="18" charset="0"/>
                              <a:ea typeface="Calibri" panose="020F0502020204030204" pitchFamily="34" charset="0"/>
                              <a:cs typeface="Arial" panose="020B0604020202020204" pitchFamily="34" charset="0"/>
                            </a:rPr>
                            <m:t>10</m:t>
                          </m:r>
                        </m:e>
                        <m:sup>
                          <m:r>
                            <a:rPr lang="es-MX" i="1">
                              <a:latin typeface="Cambria Math" panose="02040503050406030204" pitchFamily="18" charset="0"/>
                              <a:ea typeface="Calibri" panose="020F0502020204030204" pitchFamily="34" charset="0"/>
                              <a:cs typeface="Arial" panose="020B0604020202020204" pitchFamily="34" charset="0"/>
                            </a:rPr>
                            <m:t>−3</m:t>
                          </m:r>
                        </m:sup>
                      </m:sSup>
                    </m:oMath>
                  </m:oMathPara>
                </a14:m>
                <a:endParaRPr lang="en-US" dirty="0">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Bef>
                    <a:spcPts val="600"/>
                  </a:spcBef>
                  <a:spcAft>
                    <a:spcPts val="600"/>
                  </a:spcAft>
                  <a:buNone/>
                </a:pPr>
                <a:r>
                  <a:rPr lang="es-MX" dirty="0">
                    <a:latin typeface="Calibri" panose="020F0502020204030204" pitchFamily="34" charset="0"/>
                    <a:ea typeface="Times New Roman" panose="02020603050405020304" pitchFamily="18" charset="0"/>
                    <a:cs typeface="Times New Roman" panose="02020603050405020304" pitchFamily="18" charset="0"/>
                  </a:rPr>
                  <a:t>La raíz que deseamos será:</a:t>
                </a:r>
                <a:r>
                  <a:rPr lang="en-US" dirty="0">
                    <a:latin typeface="Calibri" panose="020F0502020204030204" pitchFamily="34" charset="0"/>
                    <a:ea typeface="Times New Roman" panose="02020603050405020304" pitchFamily="18" charset="0"/>
                    <a:cs typeface="Times New Roman" panose="02020603050405020304" pitchFamily="18" charset="0"/>
                  </a:rPr>
                  <a:t>			</a:t>
                </a:r>
                <a14:m>
                  <m:oMath xmlns:m="http://schemas.openxmlformats.org/officeDocument/2006/math">
                    <m:r>
                      <a:rPr lang="es-BO" i="1">
                        <a:latin typeface="Cambria Math" panose="02040503050406030204" pitchFamily="18" charset="0"/>
                        <a:ea typeface="Times New Roman" panose="02020603050405020304" pitchFamily="18" charset="0"/>
                        <a:cs typeface="Times New Roman" panose="02020603050405020304" pitchFamily="18" charset="0"/>
                      </a:rPr>
                      <m:t>𝑠</m:t>
                    </m:r>
                    <m:r>
                      <a:rPr lang="es-BO" i="1">
                        <a:latin typeface="Cambria Math" panose="02040503050406030204" pitchFamily="18" charset="0"/>
                        <a:ea typeface="Times New Roman" panose="02020603050405020304" pitchFamily="18" charset="0"/>
                        <a:cs typeface="Times New Roman" panose="02020603050405020304" pitchFamily="18" charset="0"/>
                      </a:rPr>
                      <m:t>=−6. 70∙</m:t>
                    </m:r>
                    <m:sSup>
                      <m:sSupPr>
                        <m:ctrlPr>
                          <a:rPr lang="en-US" i="1">
                            <a:latin typeface="Cambria Math" panose="02040503050406030204" pitchFamily="18" charset="0"/>
                            <a:ea typeface="Calibri" panose="020F0502020204030204" pitchFamily="34" charset="0"/>
                            <a:cs typeface="Arial" panose="020B0604020202020204" pitchFamily="34" charset="0"/>
                          </a:rPr>
                        </m:ctrlPr>
                      </m:sSupPr>
                      <m:e>
                        <m:r>
                          <a:rPr lang="es-MX" i="1">
                            <a:latin typeface="Cambria Math" panose="02040503050406030204" pitchFamily="18" charset="0"/>
                            <a:ea typeface="Calibri" panose="020F0502020204030204" pitchFamily="34" charset="0"/>
                            <a:cs typeface="Arial" panose="020B0604020202020204" pitchFamily="34" charset="0"/>
                          </a:rPr>
                          <m:t>10</m:t>
                        </m:r>
                      </m:e>
                      <m:sup>
                        <m:r>
                          <a:rPr lang="es-MX" i="1">
                            <a:latin typeface="Cambria Math" panose="02040503050406030204" pitchFamily="18" charset="0"/>
                            <a:ea typeface="Calibri" panose="020F0502020204030204" pitchFamily="34" charset="0"/>
                            <a:cs typeface="Arial" panose="020B0604020202020204" pitchFamily="34" charset="0"/>
                          </a:rPr>
                          <m:t>−3</m:t>
                        </m:r>
                      </m:sup>
                    </m:sSup>
                  </m:oMath>
                </a14:m>
                <a:endParaRPr lang="en-US" b="1" dirty="0"/>
              </a:p>
              <a:p>
                <a:pPr marL="0" indent="0">
                  <a:buNone/>
                </a:pPr>
                <a:r>
                  <a:rPr lang="es-BO" dirty="0"/>
                  <a:t>Calculamos las matrices de ganancia para la realimentación por el método de </a:t>
                </a:r>
                <a:r>
                  <a:rPr lang="es-BO" dirty="0" err="1"/>
                  <a:t>Ackerman</a:t>
                </a:r>
                <a:r>
                  <a:rPr lang="es-BO" dirty="0"/>
                  <a:t>:</a:t>
                </a:r>
                <a:endParaRPr lang="en-US" dirty="0"/>
              </a:p>
              <a:p>
                <a:pPr marL="0" indent="0">
                  <a:buNone/>
                </a:pPr>
                <a14:m>
                  <m:oMathPara xmlns:m="http://schemas.openxmlformats.org/officeDocument/2006/math">
                    <m:oMathParaPr>
                      <m:jc m:val="centerGroup"/>
                    </m:oMathParaPr>
                    <m:oMath xmlns:m="http://schemas.openxmlformats.org/officeDocument/2006/math">
                      <m:r>
                        <a:rPr lang="es-BO" i="1">
                          <a:latin typeface="Cambria Math" panose="02040503050406030204" pitchFamily="18" charset="0"/>
                        </a:rPr>
                        <m:t>𝐾</m:t>
                      </m:r>
                      <m:r>
                        <a:rPr lang="es-BO" i="1">
                          <a:latin typeface="Cambria Math" panose="02040503050406030204" pitchFamily="18" charset="0"/>
                        </a:rPr>
                        <m:t>=</m:t>
                      </m:r>
                      <m:d>
                        <m:dPr>
                          <m:begChr m:val="["/>
                          <m:endChr m:val="]"/>
                          <m:ctrlPr>
                            <a:rPr lang="en-US" i="1">
                              <a:latin typeface="Cambria Math" panose="02040503050406030204" pitchFamily="18" charset="0"/>
                            </a:rPr>
                          </m:ctrlPr>
                        </m:dPr>
                        <m:e>
                          <m:r>
                            <a:rPr lang="es-BO" i="1">
                              <a:latin typeface="Cambria Math" panose="02040503050406030204" pitchFamily="18" charset="0"/>
                            </a:rPr>
                            <m:t>1</m:t>
                          </m:r>
                        </m:e>
                      </m:d>
                      <m:r>
                        <a:rPr lang="es-BO" i="1">
                          <a:latin typeface="Cambria Math" panose="02040503050406030204" pitchFamily="18" charset="0"/>
                        </a:rPr>
                        <m:t>∗</m:t>
                      </m:r>
                      <m:sSubSup>
                        <m:sSubSupPr>
                          <m:ctrlPr>
                            <a:rPr lang="en-US" i="1">
                              <a:latin typeface="Cambria Math" panose="02040503050406030204" pitchFamily="18" charset="0"/>
                            </a:rPr>
                          </m:ctrlPr>
                        </m:sSubSupPr>
                        <m:e>
                          <m:r>
                            <a:rPr lang="es-BO" i="1">
                              <a:latin typeface="Cambria Math" panose="02040503050406030204" pitchFamily="18" charset="0"/>
                            </a:rPr>
                            <m:t>𝐶</m:t>
                          </m:r>
                        </m:e>
                        <m:sub>
                          <m:r>
                            <a:rPr lang="es-BO" i="1">
                              <a:latin typeface="Cambria Math" panose="02040503050406030204" pitchFamily="18" charset="0"/>
                            </a:rPr>
                            <m:t>𝑜</m:t>
                          </m:r>
                        </m:sub>
                        <m:sup>
                          <m:r>
                            <a:rPr lang="es-BO" i="1">
                              <a:latin typeface="Cambria Math" panose="02040503050406030204" pitchFamily="18" charset="0"/>
                            </a:rPr>
                            <m:t>−1</m:t>
                          </m:r>
                        </m:sup>
                      </m:sSubSup>
                      <m:r>
                        <a:rPr lang="es-BO" i="1">
                          <a:latin typeface="Cambria Math" panose="02040503050406030204" pitchFamily="18" charset="0"/>
                        </a:rPr>
                        <m:t>∗</m:t>
                      </m:r>
                      <m:r>
                        <a:rPr lang="es-BO" i="1">
                          <a:latin typeface="Cambria Math" panose="02040503050406030204" pitchFamily="18" charset="0"/>
                        </a:rPr>
                        <m:t>𝜙</m:t>
                      </m:r>
                      <m:d>
                        <m:dPr>
                          <m:ctrlPr>
                            <a:rPr lang="en-US" i="1">
                              <a:latin typeface="Cambria Math" panose="02040503050406030204" pitchFamily="18" charset="0"/>
                            </a:rPr>
                          </m:ctrlPr>
                        </m:dPr>
                        <m:e>
                          <m:r>
                            <a:rPr lang="es-BO" i="1">
                              <a:latin typeface="Cambria Math" panose="02040503050406030204" pitchFamily="18" charset="0"/>
                            </a:rPr>
                            <m:t>𝐴</m:t>
                          </m:r>
                        </m:e>
                      </m:d>
                    </m:oMath>
                  </m:oMathPara>
                </a14:m>
                <a:endParaRPr lang="en-US" dirty="0"/>
              </a:p>
              <a:p>
                <a:pPr marL="0" indent="0">
                  <a:buNone/>
                </a:pPr>
                <a14:m>
                  <m:oMathPara xmlns:m="http://schemas.openxmlformats.org/officeDocument/2006/math">
                    <m:oMathParaPr>
                      <m:jc m:val="centerGroup"/>
                    </m:oMathParaPr>
                    <m:oMath xmlns:m="http://schemas.openxmlformats.org/officeDocument/2006/math">
                      <m:r>
                        <a:rPr lang="es-BO" i="1">
                          <a:latin typeface="Cambria Math" panose="02040503050406030204" pitchFamily="18" charset="0"/>
                        </a:rPr>
                        <m:t> </m:t>
                      </m:r>
                      <m:r>
                        <a:rPr lang="es-BO" i="1">
                          <a:latin typeface="Cambria Math" panose="02040503050406030204" pitchFamily="18" charset="0"/>
                        </a:rPr>
                        <m:t>𝐾</m:t>
                      </m:r>
                      <m:r>
                        <a:rPr lang="es-BO" i="1">
                          <a:latin typeface="Cambria Math" panose="02040503050406030204" pitchFamily="18" charset="0"/>
                        </a:rPr>
                        <m:t>=</m:t>
                      </m:r>
                      <m:d>
                        <m:dPr>
                          <m:begChr m:val="["/>
                          <m:endChr m:val="]"/>
                          <m:ctrlPr>
                            <a:rPr lang="en-US" i="1">
                              <a:latin typeface="Cambria Math" panose="02040503050406030204" pitchFamily="18" charset="0"/>
                            </a:rPr>
                          </m:ctrlPr>
                        </m:dPr>
                        <m:e>
                          <m:r>
                            <a:rPr lang="es-BO" i="1">
                              <a:latin typeface="Cambria Math" panose="02040503050406030204" pitchFamily="18" charset="0"/>
                            </a:rPr>
                            <m:t>1</m:t>
                          </m:r>
                        </m:e>
                      </m:d>
                      <m:r>
                        <a:rPr lang="es-BO" i="1">
                          <a:latin typeface="Cambria Math" panose="02040503050406030204" pitchFamily="18" charset="0"/>
                        </a:rPr>
                        <m:t>∗</m:t>
                      </m:r>
                      <m:sSup>
                        <m:sSupPr>
                          <m:ctrlPr>
                            <a:rPr lang="en-US" i="1">
                              <a:latin typeface="Cambria Math" panose="02040503050406030204" pitchFamily="18" charset="0"/>
                            </a:rPr>
                          </m:ctrlPr>
                        </m:sSupPr>
                        <m:e>
                          <m:d>
                            <m:dPr>
                              <m:begChr m:val="["/>
                              <m:endChr m:val="]"/>
                              <m:ctrlPr>
                                <a:rPr lang="en-US" i="1">
                                  <a:latin typeface="Cambria Math" panose="02040503050406030204" pitchFamily="18" charset="0"/>
                                </a:rPr>
                              </m:ctrlPr>
                            </m:dPr>
                            <m:e>
                              <m:f>
                                <m:fPr>
                                  <m:ctrlPr>
                                    <a:rPr lang="en-US" i="1">
                                      <a:latin typeface="Cambria Math" panose="02040503050406030204" pitchFamily="18" charset="0"/>
                                    </a:rPr>
                                  </m:ctrlPr>
                                </m:fPr>
                                <m:num>
                                  <m:r>
                                    <a:rPr lang="es-BO" b="0" i="1" smtClean="0">
                                      <a:latin typeface="Cambria Math" panose="02040503050406030204" pitchFamily="18" charset="0"/>
                                    </a:rPr>
                                    <m:t>9,96</m:t>
                                  </m:r>
                                </m:num>
                                <m:den>
                                  <m:r>
                                    <a:rPr lang="es-BO" i="1">
                                      <a:latin typeface="Cambria Math" panose="02040503050406030204" pitchFamily="18" charset="0"/>
                                    </a:rPr>
                                    <m:t>3166.47</m:t>
                                  </m:r>
                                </m:den>
                              </m:f>
                            </m:e>
                          </m:d>
                        </m:e>
                        <m:sup>
                          <m:r>
                            <a:rPr lang="es-BO" i="1">
                              <a:latin typeface="Cambria Math" panose="02040503050406030204" pitchFamily="18" charset="0"/>
                            </a:rPr>
                            <m:t>−1</m:t>
                          </m:r>
                        </m:sup>
                      </m:sSup>
                      <m:r>
                        <a:rPr lang="es-BO" i="1">
                          <a:latin typeface="Cambria Math" panose="02040503050406030204" pitchFamily="18" charset="0"/>
                        </a:rPr>
                        <m:t>∗</m:t>
                      </m:r>
                      <m:d>
                        <m:dPr>
                          <m:begChr m:val="["/>
                          <m:endChr m:val="]"/>
                          <m:ctrlPr>
                            <a:rPr lang="en-US" i="1">
                              <a:latin typeface="Cambria Math" panose="02040503050406030204" pitchFamily="18" charset="0"/>
                            </a:rPr>
                          </m:ctrlPr>
                        </m:dPr>
                        <m:e>
                          <m:f>
                            <m:fPr>
                              <m:ctrlPr>
                                <a:rPr lang="en-US" i="1">
                                  <a:latin typeface="Cambria Math" panose="02040503050406030204" pitchFamily="18" charset="0"/>
                                </a:rPr>
                              </m:ctrlPr>
                            </m:fPr>
                            <m:num>
                              <m:r>
                                <a:rPr lang="es-BO" i="1">
                                  <a:latin typeface="Cambria Math" panose="02040503050406030204" pitchFamily="18" charset="0"/>
                                </a:rPr>
                                <m:t>−1</m:t>
                              </m:r>
                            </m:num>
                            <m:den>
                              <m:r>
                                <a:rPr lang="es-BO" i="1">
                                  <a:latin typeface="Cambria Math" panose="02040503050406030204" pitchFamily="18" charset="0"/>
                                </a:rPr>
                                <m:t>303</m:t>
                              </m:r>
                            </m:den>
                          </m:f>
                          <m:r>
                            <a:rPr lang="es-MX" i="1">
                              <a:latin typeface="Cambria Math" panose="02040503050406030204" pitchFamily="18" charset="0"/>
                              <a:ea typeface="Calibri" panose="020F0502020204030204" pitchFamily="34" charset="0"/>
                              <a:cs typeface="Arial" panose="020B0604020202020204" pitchFamily="34" charset="0"/>
                            </a:rPr>
                            <m:t>+6.</m:t>
                          </m:r>
                          <m:r>
                            <a:rPr lang="es-MX" i="1" smtClean="0">
                              <a:latin typeface="Cambria Math" panose="02040503050406030204" pitchFamily="18" charset="0"/>
                              <a:ea typeface="Calibri" panose="020F0502020204030204" pitchFamily="34" charset="0"/>
                              <a:cs typeface="Arial" panose="020B0604020202020204" pitchFamily="34" charset="0"/>
                            </a:rPr>
                            <m:t> </m:t>
                          </m:r>
                          <m:r>
                            <a:rPr lang="es-MX" i="1">
                              <a:latin typeface="Cambria Math" panose="02040503050406030204" pitchFamily="18" charset="0"/>
                              <a:ea typeface="Calibri" panose="020F0502020204030204" pitchFamily="34" charset="0"/>
                              <a:cs typeface="Arial" panose="020B0604020202020204" pitchFamily="34" charset="0"/>
                            </a:rPr>
                            <m:t>7∙</m:t>
                          </m:r>
                          <m:sSup>
                            <m:sSupPr>
                              <m:ctrlPr>
                                <a:rPr lang="en-US" i="1">
                                  <a:latin typeface="Cambria Math" panose="02040503050406030204" pitchFamily="18" charset="0"/>
                                  <a:ea typeface="Calibri" panose="020F0502020204030204" pitchFamily="34" charset="0"/>
                                  <a:cs typeface="Arial" panose="020B0604020202020204" pitchFamily="34" charset="0"/>
                                </a:rPr>
                              </m:ctrlPr>
                            </m:sSupPr>
                            <m:e>
                              <m:r>
                                <a:rPr lang="es-MX" i="1">
                                  <a:latin typeface="Cambria Math" panose="02040503050406030204" pitchFamily="18" charset="0"/>
                                  <a:ea typeface="Calibri" panose="020F0502020204030204" pitchFamily="34" charset="0"/>
                                  <a:cs typeface="Arial" panose="020B0604020202020204" pitchFamily="34" charset="0"/>
                                </a:rPr>
                                <m:t>10</m:t>
                              </m:r>
                            </m:e>
                            <m:sup>
                              <m:r>
                                <a:rPr lang="es-MX" i="1">
                                  <a:latin typeface="Cambria Math" panose="02040503050406030204" pitchFamily="18" charset="0"/>
                                  <a:ea typeface="Calibri" panose="020F0502020204030204" pitchFamily="34" charset="0"/>
                                  <a:cs typeface="Arial" panose="020B0604020202020204" pitchFamily="34" charset="0"/>
                                </a:rPr>
                                <m:t>−3</m:t>
                              </m:r>
                            </m:sup>
                          </m:sSup>
                        </m:e>
                      </m:d>
                    </m:oMath>
                  </m:oMathPara>
                </a14:m>
                <a:endParaRPr lang="en-US" dirty="0"/>
              </a:p>
              <a:p>
                <a:pPr marL="0" indent="0">
                  <a:buNone/>
                </a:pPr>
                <a14:m>
                  <m:oMathPara xmlns:m="http://schemas.openxmlformats.org/officeDocument/2006/math">
                    <m:oMathParaPr>
                      <m:jc m:val="centerGroup"/>
                    </m:oMathParaPr>
                    <m:oMath xmlns:m="http://schemas.openxmlformats.org/officeDocument/2006/math">
                      <m:r>
                        <a:rPr lang="es-BO" i="1">
                          <a:latin typeface="Cambria Math" panose="02040503050406030204" pitchFamily="18" charset="0"/>
                        </a:rPr>
                        <m:t>𝐾</m:t>
                      </m:r>
                      <m:r>
                        <a:rPr lang="es-BO" i="1">
                          <a:latin typeface="Cambria Math" panose="02040503050406030204" pitchFamily="18" charset="0"/>
                        </a:rPr>
                        <m:t>=1∗3166.5∗13.367∙</m:t>
                      </m:r>
                      <m:sSup>
                        <m:sSupPr>
                          <m:ctrlPr>
                            <a:rPr lang="en-US" i="1">
                              <a:latin typeface="Cambria Math" panose="02040503050406030204" pitchFamily="18" charset="0"/>
                              <a:ea typeface="Calibri" panose="020F0502020204030204" pitchFamily="34" charset="0"/>
                              <a:cs typeface="Arial" panose="020B0604020202020204" pitchFamily="34" charset="0"/>
                            </a:rPr>
                          </m:ctrlPr>
                        </m:sSupPr>
                        <m:e>
                          <m:r>
                            <a:rPr lang="es-MX" i="1">
                              <a:latin typeface="Cambria Math" panose="02040503050406030204" pitchFamily="18" charset="0"/>
                              <a:ea typeface="Calibri" panose="020F0502020204030204" pitchFamily="34" charset="0"/>
                              <a:cs typeface="Arial" panose="020B0604020202020204" pitchFamily="34" charset="0"/>
                            </a:rPr>
                            <m:t>10</m:t>
                          </m:r>
                        </m:e>
                        <m:sup>
                          <m:r>
                            <a:rPr lang="es-MX" i="1">
                              <a:latin typeface="Cambria Math" panose="02040503050406030204" pitchFamily="18" charset="0"/>
                              <a:ea typeface="Calibri" panose="020F0502020204030204" pitchFamily="34" charset="0"/>
                              <a:cs typeface="Arial" panose="020B0604020202020204" pitchFamily="34" charset="0"/>
                            </a:rPr>
                            <m:t>−3</m:t>
                          </m:r>
                        </m:sup>
                      </m:sSup>
                    </m:oMath>
                  </m:oMathPara>
                </a14:m>
                <a:endParaRPr lang="en-US" dirty="0"/>
              </a:p>
              <a:p>
                <a:pPr marL="0" indent="0">
                  <a:buNone/>
                </a:pPr>
                <a14:m>
                  <m:oMathPara xmlns:m="http://schemas.openxmlformats.org/officeDocument/2006/math">
                    <m:oMathParaPr>
                      <m:jc m:val="centerGroup"/>
                    </m:oMathParaPr>
                    <m:oMath xmlns:m="http://schemas.openxmlformats.org/officeDocument/2006/math">
                      <m:r>
                        <a:rPr lang="es-BO" b="1" i="1">
                          <a:latin typeface="Cambria Math" panose="02040503050406030204" pitchFamily="18" charset="0"/>
                        </a:rPr>
                        <m:t>𝑲</m:t>
                      </m:r>
                      <m:r>
                        <a:rPr lang="es-BO" b="1" i="1">
                          <a:latin typeface="Cambria Math" panose="02040503050406030204" pitchFamily="18" charset="0"/>
                        </a:rPr>
                        <m:t>=</m:t>
                      </m:r>
                      <m:r>
                        <a:rPr lang="es-BO" b="1" i="1" smtClean="0">
                          <a:latin typeface="Cambria Math" panose="02040503050406030204" pitchFamily="18" charset="0"/>
                        </a:rPr>
                        <m:t>𝟏</m:t>
                      </m:r>
                      <m:r>
                        <a:rPr lang="es-BO" b="1" i="1" smtClean="0">
                          <a:latin typeface="Cambria Math" panose="02040503050406030204" pitchFamily="18" charset="0"/>
                        </a:rPr>
                        <m:t>.</m:t>
                      </m:r>
                      <m:r>
                        <a:rPr lang="es-BO" b="1" i="1" smtClean="0">
                          <a:latin typeface="Cambria Math" panose="02040503050406030204" pitchFamily="18" charset="0"/>
                        </a:rPr>
                        <m:t>𝟎𝟗𝟔</m:t>
                      </m:r>
                    </m:oMath>
                  </m:oMathPara>
                </a14:m>
                <a:endParaRPr lang="es-BO" b="1" dirty="0"/>
              </a:p>
              <a:p>
                <a:pPr marL="0" indent="0">
                  <a:buNone/>
                </a:pPr>
                <a:r>
                  <a:rPr lang="es-BO" dirty="0"/>
                  <a:t>Calculamos la matriz de recompensación para el seguimiento a referencia:</a:t>
                </a:r>
                <a:endParaRPr lang="en-US" dirty="0"/>
              </a:p>
              <a:p>
                <a:pPr marL="0" indent="0">
                  <a:buNone/>
                </a:pPr>
                <a14:m>
                  <m:oMathPara xmlns:m="http://schemas.openxmlformats.org/officeDocument/2006/math">
                    <m:oMathParaPr>
                      <m:jc m:val="centerGroup"/>
                    </m:oMathParaPr>
                    <m:oMath xmlns:m="http://schemas.openxmlformats.org/officeDocument/2006/math">
                      <m:r>
                        <a:rPr lang="es-BO" i="1">
                          <a:latin typeface="Cambria Math" panose="02040503050406030204" pitchFamily="18" charset="0"/>
                        </a:rPr>
                        <m:t>𝐺</m:t>
                      </m:r>
                      <m:d>
                        <m:dPr>
                          <m:ctrlPr>
                            <a:rPr lang="en-US" i="1">
                              <a:latin typeface="Cambria Math" panose="02040503050406030204" pitchFamily="18" charset="0"/>
                            </a:rPr>
                          </m:ctrlPr>
                        </m:dPr>
                        <m:e>
                          <m:r>
                            <a:rPr lang="es-BO" i="1">
                              <a:latin typeface="Cambria Math" panose="02040503050406030204" pitchFamily="18" charset="0"/>
                            </a:rPr>
                            <m:t>𝑠</m:t>
                          </m:r>
                        </m:e>
                      </m:d>
                      <m:r>
                        <a:rPr lang="es-BO" i="1">
                          <a:latin typeface="Cambria Math" panose="02040503050406030204" pitchFamily="18" charset="0"/>
                        </a:rPr>
                        <m:t>=</m:t>
                      </m:r>
                      <m:sSup>
                        <m:sSupPr>
                          <m:ctrlPr>
                            <a:rPr lang="en-US" i="1">
                              <a:latin typeface="Cambria Math" panose="02040503050406030204" pitchFamily="18" charset="0"/>
                            </a:rPr>
                          </m:ctrlPr>
                        </m:sSupPr>
                        <m:e>
                          <m:r>
                            <a:rPr lang="es-BO" i="1">
                              <a:latin typeface="Cambria Math" panose="02040503050406030204" pitchFamily="18" charset="0"/>
                            </a:rPr>
                            <m:t>𝐶</m:t>
                          </m:r>
                          <m:r>
                            <a:rPr lang="es-BO" i="1">
                              <a:latin typeface="Cambria Math" panose="02040503050406030204" pitchFamily="18" charset="0"/>
                            </a:rPr>
                            <m:t>∗</m:t>
                          </m:r>
                          <m:d>
                            <m:dPr>
                              <m:ctrlPr>
                                <a:rPr lang="en-US" i="1">
                                  <a:latin typeface="Cambria Math" panose="02040503050406030204" pitchFamily="18" charset="0"/>
                                </a:rPr>
                              </m:ctrlPr>
                            </m:dPr>
                            <m:e>
                              <m:r>
                                <a:rPr lang="es-BO" i="1">
                                  <a:latin typeface="Cambria Math" panose="02040503050406030204" pitchFamily="18" charset="0"/>
                                </a:rPr>
                                <m:t>𝑠𝐼</m:t>
                              </m:r>
                              <m:r>
                                <a:rPr lang="es-BO" i="1">
                                  <a:latin typeface="Cambria Math" panose="02040503050406030204" pitchFamily="18" charset="0"/>
                                </a:rPr>
                                <m:t>−(</m:t>
                              </m:r>
                              <m:r>
                                <a:rPr lang="es-BO" i="1">
                                  <a:latin typeface="Cambria Math" panose="02040503050406030204" pitchFamily="18" charset="0"/>
                                </a:rPr>
                                <m:t>𝐴</m:t>
                              </m:r>
                              <m:r>
                                <a:rPr lang="es-BO" i="1">
                                  <a:latin typeface="Cambria Math" panose="02040503050406030204" pitchFamily="18" charset="0"/>
                                </a:rPr>
                                <m:t>−</m:t>
                              </m:r>
                              <m:r>
                                <a:rPr lang="es-BO" i="1">
                                  <a:latin typeface="Cambria Math" panose="02040503050406030204" pitchFamily="18" charset="0"/>
                                </a:rPr>
                                <m:t>𝐵𝐾</m:t>
                              </m:r>
                              <m:r>
                                <a:rPr lang="es-BO" i="1">
                                  <a:latin typeface="Cambria Math" panose="02040503050406030204" pitchFamily="18" charset="0"/>
                                </a:rPr>
                                <m:t>)</m:t>
                              </m:r>
                            </m:e>
                          </m:d>
                        </m:e>
                        <m:sup>
                          <m:r>
                            <a:rPr lang="es-BO" i="1">
                              <a:latin typeface="Cambria Math" panose="02040503050406030204" pitchFamily="18" charset="0"/>
                            </a:rPr>
                            <m:t>−1</m:t>
                          </m:r>
                        </m:sup>
                      </m:sSup>
                      <m:r>
                        <a:rPr lang="es-BO" i="1">
                          <a:latin typeface="Cambria Math" panose="02040503050406030204" pitchFamily="18" charset="0"/>
                        </a:rPr>
                        <m:t>∗</m:t>
                      </m:r>
                      <m:r>
                        <a:rPr lang="es-BO" i="1">
                          <a:latin typeface="Cambria Math" panose="02040503050406030204" pitchFamily="18" charset="0"/>
                        </a:rPr>
                        <m:t>𝐵</m:t>
                      </m:r>
                      <m:r>
                        <a:rPr lang="es-BO" i="1">
                          <a:latin typeface="Cambria Math" panose="02040503050406030204" pitchFamily="18" charset="0"/>
                        </a:rPr>
                        <m:t> →    </m:t>
                      </m:r>
                      <m:r>
                        <a:rPr lang="es-BO" i="1">
                          <a:latin typeface="Cambria Math" panose="02040503050406030204" pitchFamily="18" charset="0"/>
                        </a:rPr>
                        <m:t>𝐺</m:t>
                      </m:r>
                      <m:d>
                        <m:dPr>
                          <m:ctrlPr>
                            <a:rPr lang="en-US" i="1">
                              <a:latin typeface="Cambria Math" panose="02040503050406030204" pitchFamily="18" charset="0"/>
                            </a:rPr>
                          </m:ctrlPr>
                        </m:dPr>
                        <m:e>
                          <m:r>
                            <a:rPr lang="es-BO" i="1">
                              <a:latin typeface="Cambria Math" panose="02040503050406030204" pitchFamily="18" charset="0"/>
                            </a:rPr>
                            <m:t>𝑠</m:t>
                          </m:r>
                        </m:e>
                      </m:d>
                      <m:r>
                        <a:rPr lang="es-BO" i="1">
                          <a:latin typeface="Cambria Math" panose="02040503050406030204" pitchFamily="18" charset="0"/>
                        </a:rPr>
                        <m:t>=</m:t>
                      </m:r>
                      <m:f>
                        <m:fPr>
                          <m:ctrlPr>
                            <a:rPr lang="en-US" i="1">
                              <a:latin typeface="Cambria Math" panose="02040503050406030204" pitchFamily="18" charset="0"/>
                            </a:rPr>
                          </m:ctrlPr>
                        </m:fPr>
                        <m:num>
                          <m:r>
                            <a:rPr lang="es-BO" b="0" i="1" smtClean="0">
                              <a:latin typeface="Cambria Math" panose="02040503050406030204" pitchFamily="18" charset="0"/>
                            </a:rPr>
                            <m:t>3,10</m:t>
                          </m:r>
                          <m:r>
                            <a:rPr lang="es-MX" i="1">
                              <a:latin typeface="Cambria Math" panose="02040503050406030204" pitchFamily="18" charset="0"/>
                            </a:rPr>
                            <m:t>∙</m:t>
                          </m:r>
                          <m:sSup>
                            <m:sSupPr>
                              <m:ctrlPr>
                                <a:rPr lang="en-US" i="1">
                                  <a:latin typeface="Cambria Math" panose="02040503050406030204" pitchFamily="18" charset="0"/>
                                </a:rPr>
                              </m:ctrlPr>
                            </m:sSupPr>
                            <m:e>
                              <m:r>
                                <a:rPr lang="es-MX" i="1">
                                  <a:latin typeface="Cambria Math" panose="02040503050406030204" pitchFamily="18" charset="0"/>
                                </a:rPr>
                                <m:t>10</m:t>
                              </m:r>
                            </m:e>
                            <m:sup>
                              <m:r>
                                <a:rPr lang="es-MX" i="1">
                                  <a:latin typeface="Cambria Math" panose="02040503050406030204" pitchFamily="18" charset="0"/>
                                </a:rPr>
                                <m:t>−</m:t>
                              </m:r>
                              <m:r>
                                <a:rPr lang="es-BO" b="0" i="1" smtClean="0">
                                  <a:latin typeface="Cambria Math" panose="02040503050406030204" pitchFamily="18" charset="0"/>
                                </a:rPr>
                                <m:t>3</m:t>
                              </m:r>
                            </m:sup>
                          </m:sSup>
                        </m:num>
                        <m:den>
                          <m:r>
                            <a:rPr lang="es-BO" i="1">
                              <a:latin typeface="Cambria Math" panose="02040503050406030204" pitchFamily="18" charset="0"/>
                            </a:rPr>
                            <m:t>𝑠</m:t>
                          </m:r>
                          <m:r>
                            <a:rPr lang="es-BO" i="1">
                              <a:latin typeface="Cambria Math" panose="02040503050406030204" pitchFamily="18" charset="0"/>
                            </a:rPr>
                            <m:t>+6. 70∙</m:t>
                          </m:r>
                          <m:sSup>
                            <m:sSupPr>
                              <m:ctrlPr>
                                <a:rPr lang="en-US" i="1">
                                  <a:latin typeface="Cambria Math" panose="02040503050406030204" pitchFamily="18" charset="0"/>
                                </a:rPr>
                              </m:ctrlPr>
                            </m:sSupPr>
                            <m:e>
                              <m:r>
                                <a:rPr lang="es-MX" i="1">
                                  <a:latin typeface="Cambria Math" panose="02040503050406030204" pitchFamily="18" charset="0"/>
                                </a:rPr>
                                <m:t>10</m:t>
                              </m:r>
                            </m:e>
                            <m:sup>
                              <m:r>
                                <a:rPr lang="es-MX" i="1">
                                  <a:latin typeface="Cambria Math" panose="02040503050406030204" pitchFamily="18" charset="0"/>
                                </a:rPr>
                                <m:t>−3</m:t>
                              </m:r>
                            </m:sup>
                          </m:sSup>
                        </m:den>
                      </m:f>
                    </m:oMath>
                  </m:oMathPara>
                </a14:m>
                <a:endParaRPr lang="en-US" dirty="0"/>
              </a:p>
              <a:p>
                <a:pPr marL="0" indent="0">
                  <a:buNone/>
                </a:pPr>
                <a14:m>
                  <m:oMathPara xmlns:m="http://schemas.openxmlformats.org/officeDocument/2006/math">
                    <m:oMathParaPr>
                      <m:jc m:val="centerGroup"/>
                    </m:oMathParaPr>
                    <m:oMath xmlns:m="http://schemas.openxmlformats.org/officeDocument/2006/math">
                      <m:r>
                        <a:rPr lang="es-BO" i="1">
                          <a:latin typeface="Cambria Math" panose="02040503050406030204" pitchFamily="18" charset="0"/>
                        </a:rPr>
                        <m:t>𝑆𝑖</m:t>
                      </m:r>
                      <m:r>
                        <a:rPr lang="es-BO" i="1">
                          <a:latin typeface="Cambria Math" panose="02040503050406030204" pitchFamily="18" charset="0"/>
                        </a:rPr>
                        <m:t>: </m:t>
                      </m:r>
                      <m:r>
                        <a:rPr lang="es-BO" i="1">
                          <a:latin typeface="Cambria Math" panose="02040503050406030204" pitchFamily="18" charset="0"/>
                        </a:rPr>
                        <m:t>𝑠</m:t>
                      </m:r>
                      <m:r>
                        <a:rPr lang="es-BO" i="1">
                          <a:latin typeface="Cambria Math" panose="02040503050406030204" pitchFamily="18" charset="0"/>
                        </a:rPr>
                        <m:t>→0     </m:t>
                      </m:r>
                      <m:r>
                        <a:rPr lang="es-BO" i="1">
                          <a:latin typeface="Cambria Math" panose="02040503050406030204" pitchFamily="18" charset="0"/>
                        </a:rPr>
                        <m:t>𝑒𝑛𝑡𝑜𝑛𝑐𝑒𝑠</m:t>
                      </m:r>
                      <m:r>
                        <a:rPr lang="es-BO" i="1">
                          <a:latin typeface="Cambria Math" panose="02040503050406030204" pitchFamily="18" charset="0"/>
                        </a:rPr>
                        <m:t>:     </m:t>
                      </m:r>
                      <m:f>
                        <m:fPr>
                          <m:ctrlPr>
                            <a:rPr lang="en-US" i="1">
                              <a:latin typeface="Cambria Math" panose="02040503050406030204" pitchFamily="18" charset="0"/>
                            </a:rPr>
                          </m:ctrlPr>
                        </m:fPr>
                        <m:num>
                          <m:r>
                            <a:rPr lang="es-BO" i="1">
                              <a:latin typeface="Cambria Math" panose="02040503050406030204" pitchFamily="18" charset="0"/>
                            </a:rPr>
                            <m:t>1</m:t>
                          </m:r>
                        </m:num>
                        <m:den>
                          <m:r>
                            <a:rPr lang="es-BO" i="1">
                              <a:latin typeface="Cambria Math" panose="02040503050406030204" pitchFamily="18" charset="0"/>
                            </a:rPr>
                            <m:t>𝑁</m:t>
                          </m:r>
                        </m:den>
                      </m:f>
                      <m:r>
                        <a:rPr lang="es-BO" i="1">
                          <a:latin typeface="Cambria Math" panose="02040503050406030204" pitchFamily="18" charset="0"/>
                        </a:rPr>
                        <m:t>=</m:t>
                      </m:r>
                      <m:r>
                        <a:rPr lang="es-BO" b="0" i="1" smtClean="0">
                          <a:latin typeface="Cambria Math" panose="02040503050406030204" pitchFamily="18" charset="0"/>
                        </a:rPr>
                        <m:t>0.4721</m:t>
                      </m:r>
                      <m:r>
                        <a:rPr lang="es-MX" i="1">
                          <a:latin typeface="Cambria Math" panose="02040503050406030204" pitchFamily="18" charset="0"/>
                        </a:rPr>
                        <m:t>  →   </m:t>
                      </m:r>
                      <m:r>
                        <a:rPr lang="es-MX" b="1" i="1">
                          <a:latin typeface="Cambria Math" panose="02040503050406030204" pitchFamily="18" charset="0"/>
                        </a:rPr>
                        <m:t>𝑵</m:t>
                      </m:r>
                      <m:r>
                        <a:rPr lang="es-MX" b="1" i="1">
                          <a:latin typeface="Cambria Math" panose="02040503050406030204" pitchFamily="18" charset="0"/>
                        </a:rPr>
                        <m:t>=</m:t>
                      </m:r>
                      <m:r>
                        <a:rPr lang="es-BO" b="1" i="1" smtClean="0">
                          <a:latin typeface="Cambria Math" panose="02040503050406030204" pitchFamily="18" charset="0"/>
                        </a:rPr>
                        <m:t>𝟐</m:t>
                      </m:r>
                      <m:r>
                        <a:rPr lang="es-MX" b="1" i="1">
                          <a:latin typeface="Cambria Math" panose="02040503050406030204" pitchFamily="18" charset="0"/>
                        </a:rPr>
                        <m:t>.</m:t>
                      </m:r>
                      <m:r>
                        <a:rPr lang="es-BO" b="1" i="1" smtClean="0">
                          <a:latin typeface="Cambria Math" panose="02040503050406030204" pitchFamily="18" charset="0"/>
                        </a:rPr>
                        <m:t>𝟏𝟏𝟖</m:t>
                      </m:r>
                    </m:oMath>
                  </m:oMathPara>
                </a14:m>
                <a:endParaRPr lang="en-US" dirty="0"/>
              </a:p>
            </p:txBody>
          </p:sp>
        </mc:Choice>
        <mc:Fallback xmlns="">
          <p:sp>
            <p:nvSpPr>
              <p:cNvPr id="3" name="Marcador de contenido 2"/>
              <p:cNvSpPr>
                <a:spLocks noGrp="1" noRot="1" noChangeAspect="1" noMove="1" noResize="1" noEditPoints="1" noAdjustHandles="1" noChangeArrowheads="1" noChangeShapeType="1" noTextEdit="1"/>
              </p:cNvSpPr>
              <p:nvPr>
                <p:ph idx="1"/>
              </p:nvPr>
            </p:nvSpPr>
            <p:spPr>
              <a:xfrm>
                <a:off x="1278853" y="1272902"/>
                <a:ext cx="8709877" cy="5290457"/>
              </a:xfrm>
              <a:blipFill>
                <a:blip r:embed="rId2"/>
                <a:stretch>
                  <a:fillRect l="-140" t="-115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CuadroTexto 3"/>
              <p:cNvSpPr txBox="1"/>
              <p:nvPr/>
            </p:nvSpPr>
            <p:spPr>
              <a:xfrm>
                <a:off x="8565574" y="1162015"/>
                <a:ext cx="3328668" cy="523220"/>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pPr/>
                <a14:m>
                  <m:oMathPara xmlns:m="http://schemas.openxmlformats.org/officeDocument/2006/math">
                    <m:oMathParaPr>
                      <m:jc m:val="centerGroup"/>
                    </m:oMathParaPr>
                    <m:oMath xmlns:m="http://schemas.openxmlformats.org/officeDocument/2006/math">
                      <m:r>
                        <a:rPr lang="es-BO" sz="2800" b="1" i="1" smtClean="0">
                          <a:latin typeface="Cambria Math" panose="02040503050406030204" pitchFamily="18" charset="0"/>
                        </a:rPr>
                        <m:t>𝑬𝑿𝑷𝑬𝑹𝑰𝑴𝑬𝑵𝑻𝑨𝑳</m:t>
                      </m:r>
                    </m:oMath>
                  </m:oMathPara>
                </a14:m>
                <a:endParaRPr lang="es-BO" b="1" dirty="0"/>
              </a:p>
            </p:txBody>
          </p:sp>
        </mc:Choice>
        <mc:Fallback xmlns="">
          <p:sp>
            <p:nvSpPr>
              <p:cNvPr id="4" name="CuadroTexto 3"/>
              <p:cNvSpPr txBox="1">
                <a:spLocks noRot="1" noChangeAspect="1" noMove="1" noResize="1" noEditPoints="1" noAdjustHandles="1" noChangeArrowheads="1" noChangeShapeType="1" noTextEdit="1"/>
              </p:cNvSpPr>
              <p:nvPr/>
            </p:nvSpPr>
            <p:spPr>
              <a:xfrm>
                <a:off x="8565574" y="1162015"/>
                <a:ext cx="3328668" cy="523220"/>
              </a:xfrm>
              <a:prstGeom prst="rect">
                <a:avLst/>
              </a:prstGeom>
              <a:blipFill>
                <a:blip r:embed="rId3"/>
                <a:stretch>
                  <a:fillRect/>
                </a:stretch>
              </a:blipFill>
            </p:spPr>
            <p:txBody>
              <a:bodyPr/>
              <a:lstStyle/>
              <a:p>
                <a:r>
                  <a:rPr lang="en-US">
                    <a:noFill/>
                  </a:rPr>
                  <a:t> </a:t>
                </a:r>
              </a:p>
            </p:txBody>
          </p:sp>
        </mc:Fallback>
      </mc:AlternateContent>
      <p:sp>
        <p:nvSpPr>
          <p:cNvPr id="7" name="Rectángulo redondeado 6"/>
          <p:cNvSpPr/>
          <p:nvPr/>
        </p:nvSpPr>
        <p:spPr>
          <a:xfrm>
            <a:off x="9073574" y="2506148"/>
            <a:ext cx="2086673" cy="480220"/>
          </a:xfrm>
          <a:prstGeom prst="roundRect">
            <a:avLst/>
          </a:prstGeom>
          <a:noFill/>
          <a:ln w="57150"/>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8" name="Flecha derecha 7"/>
          <p:cNvSpPr/>
          <p:nvPr/>
        </p:nvSpPr>
        <p:spPr>
          <a:xfrm>
            <a:off x="8296919" y="2365779"/>
            <a:ext cx="661852" cy="720550"/>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6" name="Rectángulo 5"/>
              <p:cNvSpPr/>
              <p:nvPr/>
            </p:nvSpPr>
            <p:spPr>
              <a:xfrm>
                <a:off x="9291362" y="2512914"/>
                <a:ext cx="1360885"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s-BO" i="1">
                              <a:latin typeface="Cambria Math" panose="02040503050406030204" pitchFamily="18" charset="0"/>
                            </a:rPr>
                          </m:ctrlPr>
                        </m:sSubPr>
                        <m:e>
                          <m:r>
                            <a:rPr lang="es-BO" i="1">
                              <a:latin typeface="Cambria Math" panose="02040503050406030204" pitchFamily="18" charset="0"/>
                            </a:rPr>
                            <m:t>𝑘</m:t>
                          </m:r>
                        </m:e>
                        <m:sub>
                          <m:r>
                            <a:rPr lang="es-BO" i="1">
                              <a:latin typeface="Cambria Math" panose="02040503050406030204" pitchFamily="18" charset="0"/>
                            </a:rPr>
                            <m:t>𝑥</m:t>
                          </m:r>
                        </m:sub>
                      </m:sSub>
                      <m:r>
                        <a:rPr lang="es-BO" i="1">
                          <a:latin typeface="Cambria Math" panose="02040503050406030204" pitchFamily="18" charset="0"/>
                        </a:rPr>
                        <m:t>=9.967</m:t>
                      </m:r>
                    </m:oMath>
                  </m:oMathPara>
                </a14:m>
                <a:endParaRPr lang="en-US" dirty="0"/>
              </a:p>
            </p:txBody>
          </p:sp>
        </mc:Choice>
        <mc:Fallback xmlns="">
          <p:sp>
            <p:nvSpPr>
              <p:cNvPr id="6" name="Rectángulo 5"/>
              <p:cNvSpPr>
                <a:spLocks noRot="1" noChangeAspect="1" noMove="1" noResize="1" noEditPoints="1" noAdjustHandles="1" noChangeArrowheads="1" noChangeShapeType="1" noTextEdit="1"/>
              </p:cNvSpPr>
              <p:nvPr/>
            </p:nvSpPr>
            <p:spPr>
              <a:xfrm>
                <a:off x="9291362" y="2512914"/>
                <a:ext cx="1360885" cy="369332"/>
              </a:xfrm>
              <a:prstGeom prst="rect">
                <a:avLst/>
              </a:prstGeom>
              <a:blipFill>
                <a:blip r:embed="rId4"/>
                <a:stretch>
                  <a:fillRect/>
                </a:stretch>
              </a:blipFill>
            </p:spPr>
            <p:txBody>
              <a:bodyPr/>
              <a:lstStyle/>
              <a:p>
                <a:r>
                  <a:rPr lang="en-US">
                    <a:noFill/>
                  </a:rPr>
                  <a:t> </a:t>
                </a:r>
              </a:p>
            </p:txBody>
          </p:sp>
        </mc:Fallback>
      </mc:AlternateContent>
      <p:sp>
        <p:nvSpPr>
          <p:cNvPr id="9" name="Rectángulo redondeado 8"/>
          <p:cNvSpPr/>
          <p:nvPr/>
        </p:nvSpPr>
        <p:spPr>
          <a:xfrm>
            <a:off x="8911648" y="4119890"/>
            <a:ext cx="2636520" cy="1727346"/>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s-BO" dirty="0"/>
              <a:t>CONSIDERANDO DINAMICA DEL   ACTUADOR ,UNA CONSTANTE</a:t>
            </a:r>
            <a:endParaRPr lang="en-US" dirty="0"/>
          </a:p>
        </p:txBody>
      </p:sp>
    </p:spTree>
    <p:extLst>
      <p:ext uri="{BB962C8B-B14F-4D97-AF65-F5344CB8AC3E}">
        <p14:creationId xmlns:p14="http://schemas.microsoft.com/office/powerpoint/2010/main" val="202352058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BO" dirty="0"/>
              <a:t>Resultados con MATLAB</a:t>
            </a:r>
            <a:endParaRPr lang="en-US" dirty="0"/>
          </a:p>
        </p:txBody>
      </p:sp>
      <p:pic>
        <p:nvPicPr>
          <p:cNvPr id="4" name="Marcador de contenido 3"/>
          <p:cNvPicPr>
            <a:picLocks noGrp="1" noChangeAspect="1"/>
          </p:cNvPicPr>
          <p:nvPr>
            <p:ph idx="1"/>
          </p:nvPr>
        </p:nvPicPr>
        <p:blipFill>
          <a:blip r:embed="rId2"/>
          <a:stretch>
            <a:fillRect/>
          </a:stretch>
        </p:blipFill>
        <p:spPr>
          <a:xfrm>
            <a:off x="2033693" y="2202180"/>
            <a:ext cx="3376083" cy="4051300"/>
          </a:xfrm>
          <a:prstGeom prst="rect">
            <a:avLst/>
          </a:prstGeom>
        </p:spPr>
      </p:pic>
      <p:pic>
        <p:nvPicPr>
          <p:cNvPr id="5" name="Imagen 4"/>
          <p:cNvPicPr>
            <a:picLocks noChangeAspect="1"/>
          </p:cNvPicPr>
          <p:nvPr/>
        </p:nvPicPr>
        <p:blipFill>
          <a:blip r:embed="rId3"/>
          <a:stretch>
            <a:fillRect/>
          </a:stretch>
        </p:blipFill>
        <p:spPr>
          <a:xfrm>
            <a:off x="5691709" y="1653828"/>
            <a:ext cx="6173061" cy="4972744"/>
          </a:xfrm>
          <a:prstGeom prst="rect">
            <a:avLst/>
          </a:prstGeom>
        </p:spPr>
      </p:pic>
    </p:spTree>
    <p:extLst>
      <p:ext uri="{BB962C8B-B14F-4D97-AF65-F5344CB8AC3E}">
        <p14:creationId xmlns:p14="http://schemas.microsoft.com/office/powerpoint/2010/main" val="335400432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69848" y="1203960"/>
            <a:ext cx="10058400" cy="892629"/>
          </a:xfrm>
        </p:spPr>
        <p:txBody>
          <a:bodyPr>
            <a:normAutofit/>
          </a:bodyPr>
          <a:lstStyle/>
          <a:p>
            <a:r>
              <a:rPr lang="es-BO" sz="2800" dirty="0"/>
              <a:t>POLINOMIO CARACTERISTICO DESEADO:</a:t>
            </a:r>
            <a:endParaRPr lang="en-US" sz="2800" dirty="0"/>
          </a:p>
        </p:txBody>
      </p:sp>
      <mc:AlternateContent xmlns:mc="http://schemas.openxmlformats.org/markup-compatibility/2006" xmlns:a14="http://schemas.microsoft.com/office/drawing/2010/main">
        <mc:Choice Requires="a14">
          <p:sp>
            <p:nvSpPr>
              <p:cNvPr id="3" name="Marcador de contenido 2"/>
              <p:cNvSpPr>
                <a:spLocks noGrp="1"/>
              </p:cNvSpPr>
              <p:nvPr>
                <p:ph idx="1"/>
              </p:nvPr>
            </p:nvSpPr>
            <p:spPr>
              <a:xfrm>
                <a:off x="1069848" y="1976265"/>
                <a:ext cx="10058400" cy="4050792"/>
              </a:xfrm>
            </p:spPr>
            <p:txBody>
              <a:bodyPr>
                <a:normAutofit fontScale="92500" lnSpcReduction="10000"/>
              </a:bodyPr>
              <a:lstStyle/>
              <a:p>
                <a:pPr marL="0" indent="0">
                  <a:buNone/>
                </a:pPr>
                <a:r>
                  <a:rPr lang="es-BO" dirty="0"/>
                  <a:t>Analizamos los requerimientos:</a:t>
                </a:r>
                <a:endParaRPr lang="en-US" dirty="0"/>
              </a:p>
              <a:p>
                <a:pPr marL="0" indent="0">
                  <a:buNone/>
                </a:pPr>
                <a14:m>
                  <m:oMathPara xmlns:m="http://schemas.openxmlformats.org/officeDocument/2006/math">
                    <m:oMathParaPr>
                      <m:jc m:val="centerGroup"/>
                    </m:oMathParaPr>
                    <m:oMath xmlns:m="http://schemas.openxmlformats.org/officeDocument/2006/math">
                      <m:r>
                        <a:rPr lang="es-MX" i="1">
                          <a:latin typeface="Cambria Math" panose="02040503050406030204" pitchFamily="18" charset="0"/>
                        </a:rPr>
                        <m:t>600=</m:t>
                      </m:r>
                      <m:sSub>
                        <m:sSubPr>
                          <m:ctrlPr>
                            <a:rPr lang="en-US" i="1">
                              <a:latin typeface="Cambria Math" panose="02040503050406030204" pitchFamily="18" charset="0"/>
                            </a:rPr>
                          </m:ctrlPr>
                        </m:sSubPr>
                        <m:e>
                          <m:r>
                            <a:rPr lang="es-MX" i="1">
                              <a:latin typeface="Cambria Math" panose="02040503050406030204" pitchFamily="18" charset="0"/>
                            </a:rPr>
                            <m:t>𝑡</m:t>
                          </m:r>
                        </m:e>
                        <m:sub>
                          <m:r>
                            <a:rPr lang="es-MX" i="1">
                              <a:latin typeface="Cambria Math" panose="02040503050406030204" pitchFamily="18" charset="0"/>
                            </a:rPr>
                            <m:t>𝑠</m:t>
                          </m:r>
                        </m:sub>
                      </m:sSub>
                      <m:r>
                        <a:rPr lang="es-MX" i="1">
                          <a:latin typeface="Cambria Math" panose="02040503050406030204" pitchFamily="18" charset="0"/>
                        </a:rPr>
                        <m:t>≥</m:t>
                      </m:r>
                      <m:f>
                        <m:fPr>
                          <m:ctrlPr>
                            <a:rPr lang="en-US" i="1">
                              <a:latin typeface="Cambria Math" panose="02040503050406030204" pitchFamily="18" charset="0"/>
                            </a:rPr>
                          </m:ctrlPr>
                        </m:fPr>
                        <m:num>
                          <m:r>
                            <a:rPr lang="es-MX" i="1">
                              <a:latin typeface="Cambria Math" panose="02040503050406030204" pitchFamily="18" charset="0"/>
                            </a:rPr>
                            <m:t>4</m:t>
                          </m:r>
                        </m:num>
                        <m:den>
                          <m:r>
                            <a:rPr lang="es-MX" i="1">
                              <a:latin typeface="Cambria Math" panose="02040503050406030204" pitchFamily="18" charset="0"/>
                            </a:rPr>
                            <m:t>𝜁</m:t>
                          </m:r>
                          <m:sSub>
                            <m:sSubPr>
                              <m:ctrlPr>
                                <a:rPr lang="en-US" i="1">
                                  <a:latin typeface="Cambria Math" panose="02040503050406030204" pitchFamily="18" charset="0"/>
                                </a:rPr>
                              </m:ctrlPr>
                            </m:sSubPr>
                            <m:e>
                              <m:r>
                                <a:rPr lang="es-MX" i="1">
                                  <a:latin typeface="Cambria Math" panose="02040503050406030204" pitchFamily="18" charset="0"/>
                                </a:rPr>
                                <m:t>𝜔</m:t>
                              </m:r>
                            </m:e>
                            <m:sub>
                              <m:r>
                                <a:rPr lang="es-MX" i="1">
                                  <a:latin typeface="Cambria Math" panose="02040503050406030204" pitchFamily="18" charset="0"/>
                                </a:rPr>
                                <m:t>𝑛</m:t>
                              </m:r>
                            </m:sub>
                          </m:sSub>
                        </m:den>
                      </m:f>
                      <m:r>
                        <a:rPr lang="es-MX" i="1">
                          <a:latin typeface="Cambria Math" panose="02040503050406030204" pitchFamily="18" charset="0"/>
                        </a:rPr>
                        <m:t>;      0.01=</m:t>
                      </m:r>
                      <m:r>
                        <a:rPr lang="es-MX" i="1">
                          <a:latin typeface="Cambria Math" panose="02040503050406030204" pitchFamily="18" charset="0"/>
                        </a:rPr>
                        <m:t>𝑀𝑝</m:t>
                      </m:r>
                      <m:r>
                        <a:rPr lang="es-MX" i="1">
                          <a:latin typeface="Cambria Math" panose="02040503050406030204" pitchFamily="18" charset="0"/>
                        </a:rPr>
                        <m:t>≥</m:t>
                      </m:r>
                      <m:sSup>
                        <m:sSupPr>
                          <m:ctrlPr>
                            <a:rPr lang="en-US" i="1">
                              <a:latin typeface="Cambria Math" panose="02040503050406030204" pitchFamily="18" charset="0"/>
                            </a:rPr>
                          </m:ctrlPr>
                        </m:sSupPr>
                        <m:e>
                          <m:r>
                            <a:rPr lang="es-MX" i="1">
                              <a:latin typeface="Cambria Math" panose="02040503050406030204" pitchFamily="18" charset="0"/>
                            </a:rPr>
                            <m:t>𝑒</m:t>
                          </m:r>
                        </m:e>
                        <m:sup>
                          <m:f>
                            <m:fPr>
                              <m:ctrlPr>
                                <a:rPr lang="en-US" i="1">
                                  <a:latin typeface="Cambria Math" panose="02040503050406030204" pitchFamily="18" charset="0"/>
                                </a:rPr>
                              </m:ctrlPr>
                            </m:fPr>
                            <m:num>
                              <m:r>
                                <a:rPr lang="es-MX" i="1">
                                  <a:latin typeface="Cambria Math" panose="02040503050406030204" pitchFamily="18" charset="0"/>
                                </a:rPr>
                                <m:t>−</m:t>
                              </m:r>
                              <m:r>
                                <a:rPr lang="es-MX" i="1">
                                  <a:latin typeface="Cambria Math" panose="02040503050406030204" pitchFamily="18" charset="0"/>
                                </a:rPr>
                                <m:t>𝜁𝜋</m:t>
                              </m:r>
                            </m:num>
                            <m:den>
                              <m:rad>
                                <m:radPr>
                                  <m:degHide m:val="on"/>
                                  <m:ctrlPr>
                                    <a:rPr lang="en-US" i="1">
                                      <a:latin typeface="Cambria Math" panose="02040503050406030204" pitchFamily="18" charset="0"/>
                                    </a:rPr>
                                  </m:ctrlPr>
                                </m:radPr>
                                <m:deg/>
                                <m:e>
                                  <m:r>
                                    <a:rPr lang="es-MX" i="1">
                                      <a:latin typeface="Cambria Math" panose="02040503050406030204" pitchFamily="18" charset="0"/>
                                    </a:rPr>
                                    <m:t>1−</m:t>
                                  </m:r>
                                  <m:sSup>
                                    <m:sSupPr>
                                      <m:ctrlPr>
                                        <a:rPr lang="en-US" i="1">
                                          <a:latin typeface="Cambria Math" panose="02040503050406030204" pitchFamily="18" charset="0"/>
                                        </a:rPr>
                                      </m:ctrlPr>
                                    </m:sSupPr>
                                    <m:e>
                                      <m:r>
                                        <a:rPr lang="es-MX" i="1">
                                          <a:latin typeface="Cambria Math" panose="02040503050406030204" pitchFamily="18" charset="0"/>
                                        </a:rPr>
                                        <m:t>𝜁</m:t>
                                      </m:r>
                                    </m:e>
                                    <m:sup>
                                      <m:r>
                                        <a:rPr lang="es-MX" i="1">
                                          <a:latin typeface="Cambria Math" panose="02040503050406030204" pitchFamily="18" charset="0"/>
                                        </a:rPr>
                                        <m:t>2</m:t>
                                      </m:r>
                                    </m:sup>
                                  </m:sSup>
                                </m:e>
                              </m:rad>
                            </m:den>
                          </m:f>
                        </m:sup>
                      </m:sSup>
                      <m:r>
                        <a:rPr lang="es-MX" i="1">
                          <a:latin typeface="Cambria Math" panose="02040503050406030204" pitchFamily="18" charset="0"/>
                        </a:rPr>
                        <m:t>;</m:t>
                      </m:r>
                    </m:oMath>
                  </m:oMathPara>
                </a14:m>
                <a:endParaRPr lang="en-US" dirty="0"/>
              </a:p>
              <a:p>
                <a:pPr marL="0" indent="0">
                  <a:buNone/>
                </a:pPr>
                <a:r>
                  <a:rPr lang="es-BO" dirty="0"/>
                  <a:t>Procedimiento:</a:t>
                </a:r>
                <a:endParaRPr lang="en-US" dirty="0"/>
              </a:p>
              <a:p>
                <a:pPr marL="0" indent="0">
                  <a:buNone/>
                </a:pPr>
                <a14:m>
                  <m:oMathPara xmlns:m="http://schemas.openxmlformats.org/officeDocument/2006/math">
                    <m:oMathParaPr>
                      <m:jc m:val="centerGroup"/>
                    </m:oMathParaPr>
                    <m:oMath xmlns:m="http://schemas.openxmlformats.org/officeDocument/2006/math">
                      <m:r>
                        <a:rPr lang="es-MX" i="1">
                          <a:latin typeface="Cambria Math" panose="02040503050406030204" pitchFamily="18" charset="0"/>
                        </a:rPr>
                        <m:t>𝐼𝑛</m:t>
                      </m:r>
                      <m:d>
                        <m:dPr>
                          <m:ctrlPr>
                            <a:rPr lang="en-US" i="1">
                              <a:latin typeface="Cambria Math" panose="02040503050406030204" pitchFamily="18" charset="0"/>
                            </a:rPr>
                          </m:ctrlPr>
                        </m:dPr>
                        <m:e>
                          <m:r>
                            <a:rPr lang="es-MX" i="1">
                              <a:latin typeface="Cambria Math" panose="02040503050406030204" pitchFamily="18" charset="0"/>
                            </a:rPr>
                            <m:t>0.001</m:t>
                          </m:r>
                        </m:e>
                      </m:d>
                      <m:r>
                        <a:rPr lang="es-MX" i="1">
                          <a:latin typeface="Cambria Math" panose="02040503050406030204" pitchFamily="18" charset="0"/>
                        </a:rPr>
                        <m:t>=</m:t>
                      </m:r>
                      <m:f>
                        <m:fPr>
                          <m:ctrlPr>
                            <a:rPr lang="en-US" i="1">
                              <a:latin typeface="Cambria Math" panose="02040503050406030204" pitchFamily="18" charset="0"/>
                            </a:rPr>
                          </m:ctrlPr>
                        </m:fPr>
                        <m:num>
                          <m:r>
                            <a:rPr lang="es-MX" i="1">
                              <a:latin typeface="Cambria Math" panose="02040503050406030204" pitchFamily="18" charset="0"/>
                            </a:rPr>
                            <m:t>−</m:t>
                          </m:r>
                          <m:r>
                            <a:rPr lang="es-MX" i="1">
                              <a:latin typeface="Cambria Math" panose="02040503050406030204" pitchFamily="18" charset="0"/>
                            </a:rPr>
                            <m:t>𝜁𝜋</m:t>
                          </m:r>
                        </m:num>
                        <m:den>
                          <m:rad>
                            <m:radPr>
                              <m:degHide m:val="on"/>
                              <m:ctrlPr>
                                <a:rPr lang="en-US" i="1">
                                  <a:latin typeface="Cambria Math" panose="02040503050406030204" pitchFamily="18" charset="0"/>
                                </a:rPr>
                              </m:ctrlPr>
                            </m:radPr>
                            <m:deg/>
                            <m:e>
                              <m:r>
                                <a:rPr lang="es-MX" i="1">
                                  <a:latin typeface="Cambria Math" panose="02040503050406030204" pitchFamily="18" charset="0"/>
                                </a:rPr>
                                <m:t>1−</m:t>
                              </m:r>
                              <m:sSup>
                                <m:sSupPr>
                                  <m:ctrlPr>
                                    <a:rPr lang="en-US" i="1">
                                      <a:latin typeface="Cambria Math" panose="02040503050406030204" pitchFamily="18" charset="0"/>
                                    </a:rPr>
                                  </m:ctrlPr>
                                </m:sSupPr>
                                <m:e>
                                  <m:r>
                                    <a:rPr lang="es-MX" i="1">
                                      <a:latin typeface="Cambria Math" panose="02040503050406030204" pitchFamily="18" charset="0"/>
                                    </a:rPr>
                                    <m:t>𝜁</m:t>
                                  </m:r>
                                </m:e>
                                <m:sup>
                                  <m:r>
                                    <a:rPr lang="es-MX" i="1">
                                      <a:latin typeface="Cambria Math" panose="02040503050406030204" pitchFamily="18" charset="0"/>
                                    </a:rPr>
                                    <m:t>2</m:t>
                                  </m:r>
                                </m:sup>
                              </m:sSup>
                            </m:e>
                          </m:rad>
                        </m:den>
                      </m:f>
                      <m:r>
                        <a:rPr lang="es-MX" i="1">
                          <a:latin typeface="Cambria Math" panose="02040503050406030204" pitchFamily="18" charset="0"/>
                        </a:rPr>
                        <m:t> →  </m:t>
                      </m:r>
                      <m:d>
                        <m:dPr>
                          <m:ctrlPr>
                            <a:rPr lang="en-US" i="1">
                              <a:latin typeface="Cambria Math" panose="02040503050406030204" pitchFamily="18" charset="0"/>
                            </a:rPr>
                          </m:ctrlPr>
                        </m:dPr>
                        <m:e>
                          <m:r>
                            <a:rPr lang="es-MX" i="1">
                              <a:latin typeface="Cambria Math" panose="02040503050406030204" pitchFamily="18" charset="0"/>
                            </a:rPr>
                            <m:t>1−</m:t>
                          </m:r>
                          <m:sSup>
                            <m:sSupPr>
                              <m:ctrlPr>
                                <a:rPr lang="en-US" i="1">
                                  <a:latin typeface="Cambria Math" panose="02040503050406030204" pitchFamily="18" charset="0"/>
                                </a:rPr>
                              </m:ctrlPr>
                            </m:sSupPr>
                            <m:e>
                              <m:r>
                                <a:rPr lang="es-MX" i="1">
                                  <a:latin typeface="Cambria Math" panose="02040503050406030204" pitchFamily="18" charset="0"/>
                                </a:rPr>
                                <m:t>𝜁</m:t>
                              </m:r>
                            </m:e>
                            <m:sup>
                              <m:r>
                                <a:rPr lang="es-MX" i="1">
                                  <a:latin typeface="Cambria Math" panose="02040503050406030204" pitchFamily="18" charset="0"/>
                                </a:rPr>
                                <m:t>2</m:t>
                              </m:r>
                            </m:sup>
                          </m:sSup>
                        </m:e>
                      </m:d>
                      <m:sSup>
                        <m:sSupPr>
                          <m:ctrlPr>
                            <a:rPr lang="en-US" i="1">
                              <a:latin typeface="Cambria Math" panose="02040503050406030204" pitchFamily="18" charset="0"/>
                            </a:rPr>
                          </m:ctrlPr>
                        </m:sSupPr>
                        <m:e>
                          <m:r>
                            <a:rPr lang="es-MX" i="1">
                              <a:latin typeface="Cambria Math" panose="02040503050406030204" pitchFamily="18" charset="0"/>
                            </a:rPr>
                            <m:t>𝐼𝑛</m:t>
                          </m:r>
                          <m:d>
                            <m:dPr>
                              <m:ctrlPr>
                                <a:rPr lang="en-US" i="1">
                                  <a:latin typeface="Cambria Math" panose="02040503050406030204" pitchFamily="18" charset="0"/>
                                </a:rPr>
                              </m:ctrlPr>
                            </m:dPr>
                            <m:e>
                              <m:r>
                                <a:rPr lang="es-MX" i="1">
                                  <a:latin typeface="Cambria Math" panose="02040503050406030204" pitchFamily="18" charset="0"/>
                                </a:rPr>
                                <m:t>0.001</m:t>
                              </m:r>
                            </m:e>
                          </m:d>
                        </m:e>
                        <m:sup>
                          <m:r>
                            <a:rPr lang="es-MX" i="1">
                              <a:latin typeface="Cambria Math" panose="02040503050406030204" pitchFamily="18" charset="0"/>
                            </a:rPr>
                            <m:t>2</m:t>
                          </m:r>
                        </m:sup>
                      </m:sSup>
                      <m:r>
                        <a:rPr lang="es-MX" i="1">
                          <a:latin typeface="Cambria Math" panose="02040503050406030204" pitchFamily="18" charset="0"/>
                        </a:rPr>
                        <m:t>=</m:t>
                      </m:r>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s-MX" i="1">
                                  <a:latin typeface="Cambria Math" panose="02040503050406030204" pitchFamily="18" charset="0"/>
                                </a:rPr>
                                <m:t>𝜁𝜋</m:t>
                              </m:r>
                            </m:e>
                          </m:d>
                        </m:e>
                        <m:sup>
                          <m:r>
                            <a:rPr lang="es-MX" i="1">
                              <a:latin typeface="Cambria Math" panose="02040503050406030204" pitchFamily="18" charset="0"/>
                            </a:rPr>
                            <m:t>2</m:t>
                          </m:r>
                        </m:sup>
                      </m:sSup>
                      <m:r>
                        <a:rPr lang="es-MX" i="1">
                          <a:latin typeface="Cambria Math" panose="02040503050406030204" pitchFamily="18" charset="0"/>
                        </a:rPr>
                        <m:t>  →    </m:t>
                      </m:r>
                      <m:r>
                        <a:rPr lang="es-MX" i="1">
                          <a:latin typeface="Cambria Math" panose="02040503050406030204" pitchFamily="18" charset="0"/>
                        </a:rPr>
                        <m:t>𝜁</m:t>
                      </m:r>
                      <m:r>
                        <a:rPr lang="es-MX" i="1">
                          <a:latin typeface="Cambria Math" panose="02040503050406030204" pitchFamily="18" charset="0"/>
                        </a:rPr>
                        <m:t>=</m:t>
                      </m:r>
                      <m:rad>
                        <m:radPr>
                          <m:degHide m:val="on"/>
                          <m:ctrlPr>
                            <a:rPr lang="en-US" i="1">
                              <a:latin typeface="Cambria Math" panose="02040503050406030204" pitchFamily="18" charset="0"/>
                            </a:rPr>
                          </m:ctrlPr>
                        </m:radPr>
                        <m:deg/>
                        <m:e>
                          <m:f>
                            <m:fPr>
                              <m:ctrlPr>
                                <a:rPr lang="en-US" i="1">
                                  <a:latin typeface="Cambria Math" panose="02040503050406030204" pitchFamily="18" charset="0"/>
                                </a:rPr>
                              </m:ctrlPr>
                            </m:fPr>
                            <m:num>
                              <m:sSup>
                                <m:sSupPr>
                                  <m:ctrlPr>
                                    <a:rPr lang="en-US" i="1">
                                      <a:latin typeface="Cambria Math" panose="02040503050406030204" pitchFamily="18" charset="0"/>
                                    </a:rPr>
                                  </m:ctrlPr>
                                </m:sSupPr>
                                <m:e>
                                  <m:r>
                                    <a:rPr lang="es-MX" i="1">
                                      <a:latin typeface="Cambria Math" panose="02040503050406030204" pitchFamily="18" charset="0"/>
                                    </a:rPr>
                                    <m:t>𝐼𝑛</m:t>
                                  </m:r>
                                  <m:d>
                                    <m:dPr>
                                      <m:ctrlPr>
                                        <a:rPr lang="en-US" i="1">
                                          <a:latin typeface="Cambria Math" panose="02040503050406030204" pitchFamily="18" charset="0"/>
                                        </a:rPr>
                                      </m:ctrlPr>
                                    </m:dPr>
                                    <m:e>
                                      <m:r>
                                        <a:rPr lang="es-MX" i="1">
                                          <a:latin typeface="Cambria Math" panose="02040503050406030204" pitchFamily="18" charset="0"/>
                                        </a:rPr>
                                        <m:t>0.01</m:t>
                                      </m:r>
                                    </m:e>
                                  </m:d>
                                </m:e>
                                <m:sup>
                                  <m:r>
                                    <a:rPr lang="es-MX" i="1">
                                      <a:latin typeface="Cambria Math" panose="02040503050406030204" pitchFamily="18" charset="0"/>
                                    </a:rPr>
                                    <m:t>2</m:t>
                                  </m:r>
                                </m:sup>
                              </m:sSup>
                            </m:num>
                            <m:den>
                              <m:sSup>
                                <m:sSupPr>
                                  <m:ctrlPr>
                                    <a:rPr lang="en-US" i="1">
                                      <a:latin typeface="Cambria Math" panose="02040503050406030204" pitchFamily="18" charset="0"/>
                                    </a:rPr>
                                  </m:ctrlPr>
                                </m:sSupPr>
                                <m:e>
                                  <m:r>
                                    <a:rPr lang="es-MX" i="1">
                                      <a:latin typeface="Cambria Math" panose="02040503050406030204" pitchFamily="18" charset="0"/>
                                    </a:rPr>
                                    <m:t>𝐼𝑛</m:t>
                                  </m:r>
                                  <m:d>
                                    <m:dPr>
                                      <m:ctrlPr>
                                        <a:rPr lang="en-US" i="1">
                                          <a:latin typeface="Cambria Math" panose="02040503050406030204" pitchFamily="18" charset="0"/>
                                        </a:rPr>
                                      </m:ctrlPr>
                                    </m:dPr>
                                    <m:e>
                                      <m:r>
                                        <a:rPr lang="es-MX" i="1">
                                          <a:latin typeface="Cambria Math" panose="02040503050406030204" pitchFamily="18" charset="0"/>
                                        </a:rPr>
                                        <m:t>0.01</m:t>
                                      </m:r>
                                    </m:e>
                                  </m:d>
                                </m:e>
                                <m:sup>
                                  <m:r>
                                    <a:rPr lang="es-MX" i="1">
                                      <a:latin typeface="Cambria Math" panose="02040503050406030204" pitchFamily="18" charset="0"/>
                                    </a:rPr>
                                    <m:t>2</m:t>
                                  </m:r>
                                </m:sup>
                              </m:sSup>
                              <m:r>
                                <a:rPr lang="es-MX" i="1">
                                  <a:latin typeface="Cambria Math" panose="02040503050406030204" pitchFamily="18" charset="0"/>
                                </a:rPr>
                                <m:t>+</m:t>
                              </m:r>
                              <m:sSup>
                                <m:sSupPr>
                                  <m:ctrlPr>
                                    <a:rPr lang="en-US" i="1">
                                      <a:latin typeface="Cambria Math" panose="02040503050406030204" pitchFamily="18" charset="0"/>
                                    </a:rPr>
                                  </m:ctrlPr>
                                </m:sSupPr>
                                <m:e>
                                  <m:r>
                                    <a:rPr lang="es-MX" i="1">
                                      <a:latin typeface="Cambria Math" panose="02040503050406030204" pitchFamily="18" charset="0"/>
                                    </a:rPr>
                                    <m:t>𝜋</m:t>
                                  </m:r>
                                </m:e>
                                <m:sup>
                                  <m:r>
                                    <a:rPr lang="es-MX" i="1">
                                      <a:latin typeface="Cambria Math" panose="02040503050406030204" pitchFamily="18" charset="0"/>
                                    </a:rPr>
                                    <m:t>2</m:t>
                                  </m:r>
                                </m:sup>
                              </m:sSup>
                            </m:den>
                          </m:f>
                        </m:e>
                      </m:rad>
                      <m:r>
                        <a:rPr lang="es-MX" i="1">
                          <a:latin typeface="Cambria Math" panose="02040503050406030204" pitchFamily="18" charset="0"/>
                        </a:rPr>
                        <m:t>=0.91</m:t>
                      </m:r>
                    </m:oMath>
                  </m:oMathPara>
                </a14:m>
                <a:endParaRPr lang="en-US" dirty="0"/>
              </a:p>
              <a:p>
                <a:pPr marL="0" indent="0">
                  <a:buNone/>
                </a:pPr>
                <a14:m>
                  <m:oMathPara xmlns:m="http://schemas.openxmlformats.org/officeDocument/2006/math">
                    <m:oMathParaPr>
                      <m:jc m:val="centerGroup"/>
                    </m:oMathParaPr>
                    <m:oMath xmlns:m="http://schemas.openxmlformats.org/officeDocument/2006/math">
                      <m:r>
                        <a:rPr lang="es-MX" i="1">
                          <a:latin typeface="Cambria Math" panose="02040503050406030204" pitchFamily="18" charset="0"/>
                        </a:rPr>
                        <m:t> </m:t>
                      </m:r>
                      <m:sSub>
                        <m:sSubPr>
                          <m:ctrlPr>
                            <a:rPr lang="en-US" i="1">
                              <a:latin typeface="Cambria Math" panose="02040503050406030204" pitchFamily="18" charset="0"/>
                            </a:rPr>
                          </m:ctrlPr>
                        </m:sSubPr>
                        <m:e>
                          <m:r>
                            <a:rPr lang="es-MX" i="1">
                              <a:latin typeface="Cambria Math" panose="02040503050406030204" pitchFamily="18" charset="0"/>
                            </a:rPr>
                            <m:t>𝜔</m:t>
                          </m:r>
                        </m:e>
                        <m:sub>
                          <m:r>
                            <a:rPr lang="es-MX" i="1">
                              <a:latin typeface="Cambria Math" panose="02040503050406030204" pitchFamily="18" charset="0"/>
                            </a:rPr>
                            <m:t>𝑛</m:t>
                          </m:r>
                        </m:sub>
                      </m:sSub>
                      <m:r>
                        <a:rPr lang="es-MX" i="1">
                          <a:latin typeface="Cambria Math" panose="02040503050406030204" pitchFamily="18" charset="0"/>
                        </a:rPr>
                        <m:t>=</m:t>
                      </m:r>
                      <m:f>
                        <m:fPr>
                          <m:ctrlPr>
                            <a:rPr lang="en-US" i="1">
                              <a:latin typeface="Cambria Math" panose="02040503050406030204" pitchFamily="18" charset="0"/>
                            </a:rPr>
                          </m:ctrlPr>
                        </m:fPr>
                        <m:num>
                          <m:r>
                            <a:rPr lang="es-MX" i="1">
                              <a:latin typeface="Cambria Math" panose="02040503050406030204" pitchFamily="18" charset="0"/>
                            </a:rPr>
                            <m:t>4</m:t>
                          </m:r>
                        </m:num>
                        <m:den>
                          <m:r>
                            <a:rPr lang="es-MX" i="1">
                              <a:latin typeface="Cambria Math" panose="02040503050406030204" pitchFamily="18" charset="0"/>
                            </a:rPr>
                            <m:t>300∗</m:t>
                          </m:r>
                          <m:r>
                            <a:rPr lang="es-MX" i="1">
                              <a:latin typeface="Cambria Math" panose="02040503050406030204" pitchFamily="18" charset="0"/>
                            </a:rPr>
                            <m:t>𝜁</m:t>
                          </m:r>
                        </m:den>
                      </m:f>
                      <m:r>
                        <a:rPr lang="es-MX" i="1">
                          <a:latin typeface="Cambria Math" panose="02040503050406030204" pitchFamily="18" charset="0"/>
                        </a:rPr>
                        <m:t>  →     </m:t>
                      </m:r>
                      <m:sSub>
                        <m:sSubPr>
                          <m:ctrlPr>
                            <a:rPr lang="en-US" i="1">
                              <a:latin typeface="Cambria Math" panose="02040503050406030204" pitchFamily="18" charset="0"/>
                            </a:rPr>
                          </m:ctrlPr>
                        </m:sSubPr>
                        <m:e>
                          <m:r>
                            <a:rPr lang="es-MX" i="1">
                              <a:latin typeface="Cambria Math" panose="02040503050406030204" pitchFamily="18" charset="0"/>
                            </a:rPr>
                            <m:t>𝜔</m:t>
                          </m:r>
                        </m:e>
                        <m:sub>
                          <m:r>
                            <a:rPr lang="es-MX" i="1">
                              <a:latin typeface="Cambria Math" panose="02040503050406030204" pitchFamily="18" charset="0"/>
                            </a:rPr>
                            <m:t>𝑛</m:t>
                          </m:r>
                        </m:sub>
                      </m:sSub>
                      <m:r>
                        <a:rPr lang="es-MX" i="1">
                          <a:latin typeface="Cambria Math" panose="02040503050406030204" pitchFamily="18" charset="0"/>
                        </a:rPr>
                        <m:t>=</m:t>
                      </m:r>
                      <m:r>
                        <a:rPr lang="es-BO" b="0" i="1" smtClean="0">
                          <a:latin typeface="Cambria Math" panose="02040503050406030204" pitchFamily="18" charset="0"/>
                        </a:rPr>
                        <m:t>6</m:t>
                      </m:r>
                      <m:r>
                        <a:rPr lang="es-MX" i="1">
                          <a:latin typeface="Cambria Math" panose="02040503050406030204" pitchFamily="18" charset="0"/>
                        </a:rPr>
                        <m:t>.</m:t>
                      </m:r>
                      <m:r>
                        <a:rPr lang="es-BO" b="0" i="1" smtClean="0">
                          <a:latin typeface="Cambria Math" panose="02040503050406030204" pitchFamily="18" charset="0"/>
                        </a:rPr>
                        <m:t>10</m:t>
                      </m:r>
                      <m:r>
                        <a:rPr lang="es-MX" i="1">
                          <a:latin typeface="Cambria Math" panose="02040503050406030204" pitchFamily="18" charset="0"/>
                        </a:rPr>
                        <m:t>∙</m:t>
                      </m:r>
                      <m:sSup>
                        <m:sSupPr>
                          <m:ctrlPr>
                            <a:rPr lang="en-US" i="1">
                              <a:latin typeface="Cambria Math" panose="02040503050406030204" pitchFamily="18" charset="0"/>
                            </a:rPr>
                          </m:ctrlPr>
                        </m:sSupPr>
                        <m:e>
                          <m:r>
                            <a:rPr lang="es-MX" i="1">
                              <a:latin typeface="Cambria Math" panose="02040503050406030204" pitchFamily="18" charset="0"/>
                            </a:rPr>
                            <m:t>10</m:t>
                          </m:r>
                        </m:e>
                        <m:sup>
                          <m:r>
                            <a:rPr lang="es-MX" i="1">
                              <a:latin typeface="Cambria Math" panose="02040503050406030204" pitchFamily="18" charset="0"/>
                            </a:rPr>
                            <m:t>−3</m:t>
                          </m:r>
                        </m:sup>
                      </m:sSup>
                    </m:oMath>
                  </m:oMathPara>
                </a14:m>
                <a:endParaRPr lang="en-US" dirty="0"/>
              </a:p>
              <a:p>
                <a:pPr marL="0" indent="0">
                  <a:buNone/>
                </a:pPr>
                <a:r>
                  <a:rPr lang="es-BO" dirty="0"/>
                  <a:t>Sea el polinomio característico de un sistema de 2do orden:</a:t>
                </a:r>
                <a:endParaRPr lang="en-US" dirty="0"/>
              </a:p>
              <a:p>
                <a:pPr marL="0" indent="0">
                  <a:buNone/>
                </a:pPr>
                <a14:m>
                  <m:oMathPara xmlns:m="http://schemas.openxmlformats.org/officeDocument/2006/math">
                    <m:oMathParaPr>
                      <m:jc m:val="centerGroup"/>
                    </m:oMathParaPr>
                    <m:oMath xmlns:m="http://schemas.openxmlformats.org/officeDocument/2006/math">
                      <m:sSup>
                        <m:sSupPr>
                          <m:ctrlPr>
                            <a:rPr lang="en-US" i="1">
                              <a:latin typeface="Cambria Math" panose="02040503050406030204" pitchFamily="18" charset="0"/>
                            </a:rPr>
                          </m:ctrlPr>
                        </m:sSupPr>
                        <m:e>
                          <m:r>
                            <a:rPr lang="es-MX" i="1">
                              <a:latin typeface="Cambria Math" panose="02040503050406030204" pitchFamily="18" charset="0"/>
                            </a:rPr>
                            <m:t>𝑠</m:t>
                          </m:r>
                        </m:e>
                        <m:sup>
                          <m:r>
                            <a:rPr lang="es-MX" i="1">
                              <a:latin typeface="Cambria Math" panose="02040503050406030204" pitchFamily="18" charset="0"/>
                            </a:rPr>
                            <m:t>2</m:t>
                          </m:r>
                        </m:sup>
                      </m:sSup>
                      <m:r>
                        <a:rPr lang="es-MX" i="1">
                          <a:latin typeface="Cambria Math" panose="02040503050406030204" pitchFamily="18" charset="0"/>
                        </a:rPr>
                        <m:t>+2</m:t>
                      </m:r>
                      <m:r>
                        <a:rPr lang="es-MX" i="1">
                          <a:latin typeface="Cambria Math" panose="02040503050406030204" pitchFamily="18" charset="0"/>
                        </a:rPr>
                        <m:t>𝜁</m:t>
                      </m:r>
                      <m:sSub>
                        <m:sSubPr>
                          <m:ctrlPr>
                            <a:rPr lang="en-US" i="1">
                              <a:latin typeface="Cambria Math" panose="02040503050406030204" pitchFamily="18" charset="0"/>
                            </a:rPr>
                          </m:ctrlPr>
                        </m:sSubPr>
                        <m:e>
                          <m:r>
                            <a:rPr lang="es-MX" i="1">
                              <a:latin typeface="Cambria Math" panose="02040503050406030204" pitchFamily="18" charset="0"/>
                            </a:rPr>
                            <m:t>𝜔</m:t>
                          </m:r>
                        </m:e>
                        <m:sub>
                          <m:r>
                            <a:rPr lang="es-MX" i="1">
                              <a:latin typeface="Cambria Math" panose="02040503050406030204" pitchFamily="18" charset="0"/>
                            </a:rPr>
                            <m:t>𝑛</m:t>
                          </m:r>
                        </m:sub>
                      </m:sSub>
                      <m:r>
                        <a:rPr lang="es-MX" i="1">
                          <a:latin typeface="Cambria Math" panose="02040503050406030204" pitchFamily="18" charset="0"/>
                        </a:rPr>
                        <m:t>𝑠</m:t>
                      </m:r>
                      <m:r>
                        <a:rPr lang="es-MX" i="1">
                          <a:latin typeface="Cambria Math" panose="02040503050406030204" pitchFamily="18" charset="0"/>
                        </a:rPr>
                        <m:t>+</m:t>
                      </m:r>
                      <m:sSup>
                        <m:sSupPr>
                          <m:ctrlPr>
                            <a:rPr lang="en-US" i="1">
                              <a:latin typeface="Cambria Math" panose="02040503050406030204" pitchFamily="18" charset="0"/>
                            </a:rPr>
                          </m:ctrlPr>
                        </m:sSupPr>
                        <m:e>
                          <m:sSub>
                            <m:sSubPr>
                              <m:ctrlPr>
                                <a:rPr lang="en-US" i="1">
                                  <a:latin typeface="Cambria Math" panose="02040503050406030204" pitchFamily="18" charset="0"/>
                                </a:rPr>
                              </m:ctrlPr>
                            </m:sSubPr>
                            <m:e>
                              <m:r>
                                <a:rPr lang="es-MX" i="1">
                                  <a:latin typeface="Cambria Math" panose="02040503050406030204" pitchFamily="18" charset="0"/>
                                </a:rPr>
                                <m:t>𝜔</m:t>
                              </m:r>
                            </m:e>
                            <m:sub>
                              <m:r>
                                <a:rPr lang="es-MX" i="1">
                                  <a:latin typeface="Cambria Math" panose="02040503050406030204" pitchFamily="18" charset="0"/>
                                </a:rPr>
                                <m:t>𝑛</m:t>
                              </m:r>
                            </m:sub>
                          </m:sSub>
                        </m:e>
                        <m:sup>
                          <m:r>
                            <a:rPr lang="es-MX" i="1">
                              <a:latin typeface="Cambria Math" panose="02040503050406030204" pitchFamily="18" charset="0"/>
                            </a:rPr>
                            <m:t>2</m:t>
                          </m:r>
                        </m:sup>
                      </m:sSup>
                      <m:r>
                        <a:rPr lang="es-MX" i="1">
                          <a:latin typeface="Cambria Math" panose="02040503050406030204" pitchFamily="18" charset="0"/>
                        </a:rPr>
                        <m:t>      →    </m:t>
                      </m:r>
                      <m:sSup>
                        <m:sSupPr>
                          <m:ctrlPr>
                            <a:rPr lang="en-US" i="1">
                              <a:latin typeface="Cambria Math" panose="02040503050406030204" pitchFamily="18" charset="0"/>
                            </a:rPr>
                          </m:ctrlPr>
                        </m:sSupPr>
                        <m:e>
                          <m:r>
                            <a:rPr lang="es-MX" i="1">
                              <a:latin typeface="Cambria Math" panose="02040503050406030204" pitchFamily="18" charset="0"/>
                            </a:rPr>
                            <m:t>𝑠</m:t>
                          </m:r>
                        </m:e>
                        <m:sup>
                          <m:r>
                            <a:rPr lang="es-MX" i="1">
                              <a:latin typeface="Cambria Math" panose="02040503050406030204" pitchFamily="18" charset="0"/>
                            </a:rPr>
                            <m:t>2</m:t>
                          </m:r>
                        </m:sup>
                      </m:sSup>
                      <m:r>
                        <a:rPr lang="es-MX" i="1">
                          <a:latin typeface="Cambria Math" panose="02040503050406030204" pitchFamily="18" charset="0"/>
                        </a:rPr>
                        <m:t>+0.0</m:t>
                      </m:r>
                      <m:r>
                        <a:rPr lang="es-BO" b="0" i="1" smtClean="0">
                          <a:latin typeface="Cambria Math" panose="02040503050406030204" pitchFamily="18" charset="0"/>
                        </a:rPr>
                        <m:t>1</m:t>
                      </m:r>
                      <m:r>
                        <a:rPr lang="es-MX" i="1">
                          <a:latin typeface="Cambria Math" panose="02040503050406030204" pitchFamily="18" charset="0"/>
                        </a:rPr>
                        <m:t>𝑠</m:t>
                      </m:r>
                      <m:r>
                        <a:rPr lang="es-MX" i="1">
                          <a:latin typeface="Cambria Math" panose="02040503050406030204" pitchFamily="18" charset="0"/>
                        </a:rPr>
                        <m:t>+3.663∙</m:t>
                      </m:r>
                      <m:sSup>
                        <m:sSupPr>
                          <m:ctrlPr>
                            <a:rPr lang="en-US" i="1">
                              <a:latin typeface="Cambria Math" panose="02040503050406030204" pitchFamily="18" charset="0"/>
                            </a:rPr>
                          </m:ctrlPr>
                        </m:sSupPr>
                        <m:e>
                          <m:r>
                            <a:rPr lang="es-MX" i="1">
                              <a:latin typeface="Cambria Math" panose="02040503050406030204" pitchFamily="18" charset="0"/>
                            </a:rPr>
                            <m:t>10</m:t>
                          </m:r>
                        </m:e>
                        <m:sup>
                          <m:r>
                            <a:rPr lang="es-MX" i="1">
                              <a:latin typeface="Cambria Math" panose="02040503050406030204" pitchFamily="18" charset="0"/>
                            </a:rPr>
                            <m:t>−3</m:t>
                          </m:r>
                        </m:sup>
                      </m:sSup>
                    </m:oMath>
                  </m:oMathPara>
                </a14:m>
                <a:endParaRPr lang="en-US" dirty="0"/>
              </a:p>
              <a:p>
                <a:pPr marL="0" indent="0">
                  <a:buNone/>
                </a:pPr>
                <a:r>
                  <a:rPr lang="es-MX" dirty="0"/>
                  <a:t>Las raíces que deseamos serán:</a:t>
                </a:r>
                <a:endParaRPr lang="en-US" dirty="0"/>
              </a:p>
              <a:p>
                <a:pPr marL="0" indent="0">
                  <a:buNone/>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s-BO" i="1">
                              <a:latin typeface="Cambria Math" panose="02040503050406030204" pitchFamily="18" charset="0"/>
                            </a:rPr>
                            <m:t>𝑠</m:t>
                          </m:r>
                        </m:e>
                        <m:sub>
                          <m:r>
                            <a:rPr lang="es-BO" i="1">
                              <a:latin typeface="Cambria Math" panose="02040503050406030204" pitchFamily="18" charset="0"/>
                            </a:rPr>
                            <m:t>1,2</m:t>
                          </m:r>
                        </m:sub>
                      </m:sSub>
                      <m:r>
                        <a:rPr lang="es-BO" i="1">
                          <a:latin typeface="Cambria Math" panose="02040503050406030204" pitchFamily="18" charset="0"/>
                        </a:rPr>
                        <m:t>=−</m:t>
                      </m:r>
                      <m:r>
                        <a:rPr lang="es-BO" b="0" i="1" smtClean="0">
                          <a:latin typeface="Cambria Math" panose="02040503050406030204" pitchFamily="18" charset="0"/>
                        </a:rPr>
                        <m:t>5∗</m:t>
                      </m:r>
                      <m:sSup>
                        <m:sSupPr>
                          <m:ctrlPr>
                            <a:rPr lang="es-BO" b="0" i="1" smtClean="0">
                              <a:latin typeface="Cambria Math" panose="02040503050406030204" pitchFamily="18" charset="0"/>
                            </a:rPr>
                          </m:ctrlPr>
                        </m:sSupPr>
                        <m:e>
                          <m:r>
                            <a:rPr lang="es-BO" b="0" i="1" smtClean="0">
                              <a:latin typeface="Cambria Math" panose="02040503050406030204" pitchFamily="18" charset="0"/>
                            </a:rPr>
                            <m:t>10</m:t>
                          </m:r>
                        </m:e>
                        <m:sup>
                          <m:r>
                            <a:rPr lang="es-BO" b="0" i="1" smtClean="0">
                              <a:latin typeface="Cambria Math" panose="02040503050406030204" pitchFamily="18" charset="0"/>
                            </a:rPr>
                            <m:t>−3</m:t>
                          </m:r>
                        </m:sup>
                      </m:sSup>
                      <m:r>
                        <a:rPr lang="es-BO" i="1">
                          <a:latin typeface="Cambria Math" panose="02040503050406030204" pitchFamily="18" charset="0"/>
                        </a:rPr>
                        <m:t>±</m:t>
                      </m:r>
                      <m:r>
                        <a:rPr lang="es-MX" i="1">
                          <a:latin typeface="Cambria Math" panose="02040503050406030204" pitchFamily="18" charset="0"/>
                        </a:rPr>
                        <m:t>6</m:t>
                      </m:r>
                      <m:r>
                        <a:rPr lang="es-BO" b="0" i="1" smtClean="0">
                          <a:latin typeface="Cambria Math" panose="02040503050406030204" pitchFamily="18" charset="0"/>
                        </a:rPr>
                        <m:t>0</m:t>
                      </m:r>
                      <m:r>
                        <a:rPr lang="es-MX" i="1">
                          <a:latin typeface="Cambria Math" panose="02040503050406030204" pitchFamily="18" charset="0"/>
                        </a:rPr>
                        <m:t>.</m:t>
                      </m:r>
                      <m:r>
                        <a:rPr lang="es-BO" b="0" i="1" smtClean="0">
                          <a:latin typeface="Cambria Math" panose="02040503050406030204" pitchFamily="18" charset="0"/>
                        </a:rPr>
                        <m:t>29</m:t>
                      </m:r>
                      <m:r>
                        <a:rPr lang="es-MX" i="1">
                          <a:latin typeface="Cambria Math" panose="02040503050406030204" pitchFamily="18" charset="0"/>
                        </a:rPr>
                        <m:t>∙</m:t>
                      </m:r>
                      <m:sSup>
                        <m:sSupPr>
                          <m:ctrlPr>
                            <a:rPr lang="en-US" i="1">
                              <a:latin typeface="Cambria Math" panose="02040503050406030204" pitchFamily="18" charset="0"/>
                            </a:rPr>
                          </m:ctrlPr>
                        </m:sSupPr>
                        <m:e>
                          <m:r>
                            <a:rPr lang="es-MX" i="1">
                              <a:latin typeface="Cambria Math" panose="02040503050406030204" pitchFamily="18" charset="0"/>
                            </a:rPr>
                            <m:t>10</m:t>
                          </m:r>
                        </m:e>
                        <m:sup>
                          <m:r>
                            <a:rPr lang="es-MX" i="1">
                              <a:latin typeface="Cambria Math" panose="02040503050406030204" pitchFamily="18" charset="0"/>
                            </a:rPr>
                            <m:t>−3</m:t>
                          </m:r>
                        </m:sup>
                      </m:sSup>
                    </m:oMath>
                  </m:oMathPara>
                </a14:m>
                <a:endParaRPr lang="en-US" dirty="0"/>
              </a:p>
              <a:p>
                <a:pPr marL="0" indent="0">
                  <a:buNone/>
                </a:pPr>
                <a:endParaRPr lang="en-US" dirty="0"/>
              </a:p>
            </p:txBody>
          </p:sp>
        </mc:Choice>
        <mc:Fallback xmlns="">
          <p:sp>
            <p:nvSpPr>
              <p:cNvPr id="3" name="Marcador de contenido 2"/>
              <p:cNvSpPr>
                <a:spLocks noGrp="1" noRot="1" noChangeAspect="1" noMove="1" noResize="1" noEditPoints="1" noAdjustHandles="1" noChangeArrowheads="1" noChangeShapeType="1" noTextEdit="1"/>
              </p:cNvSpPr>
              <p:nvPr>
                <p:ph idx="1"/>
              </p:nvPr>
            </p:nvSpPr>
            <p:spPr>
              <a:xfrm>
                <a:off x="1069848" y="1976265"/>
                <a:ext cx="10058400" cy="4050792"/>
              </a:xfrm>
              <a:blipFill>
                <a:blip r:embed="rId2"/>
                <a:stretch>
                  <a:fillRect l="-606" t="-2105"/>
                </a:stretch>
              </a:blipFill>
            </p:spPr>
            <p:txBody>
              <a:bodyPr/>
              <a:lstStyle/>
              <a:p>
                <a:r>
                  <a:rPr lang="en-US">
                    <a:noFill/>
                  </a:rPr>
                  <a:t> </a:t>
                </a:r>
              </a:p>
            </p:txBody>
          </p:sp>
        </mc:Fallback>
      </mc:AlternateContent>
      <p:sp>
        <p:nvSpPr>
          <p:cNvPr id="4" name="Título 1"/>
          <p:cNvSpPr txBox="1">
            <a:spLocks/>
          </p:cNvSpPr>
          <p:nvPr/>
        </p:nvSpPr>
        <p:spPr>
          <a:xfrm>
            <a:off x="459595" y="247323"/>
            <a:ext cx="11278906" cy="160934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800" b="1" kern="1200" cap="none" baseline="0">
                <a:blipFill>
                  <a:blip r:embed="rId3">
                    <a:extLst>
                      <a:ext uri="{28A0092B-C50C-407E-A947-70E740481C1C}">
                        <a14:useLocalDpi xmlns:a14="http://schemas.microsoft.com/office/drawing/2010/main" val="0"/>
                      </a:ext>
                    </a:extLst>
                  </a:blip>
                  <a:tile tx="6350" ty="-127000" sx="65000" sy="64000" flip="none" algn="tl"/>
                </a:blipFill>
                <a:latin typeface="+mj-lt"/>
                <a:ea typeface="+mj-ea"/>
                <a:cs typeface="+mj-cs"/>
              </a:defRPr>
            </a:lvl1pPr>
          </a:lstStyle>
          <a:p>
            <a:r>
              <a:rPr lang="es-BO" sz="3600" u="sng"/>
              <a:t>DISEÑO DEL CONTROLADOR EN TIEMPO CONTINUO</a:t>
            </a:r>
            <a:br>
              <a:rPr lang="en-US" sz="3600"/>
            </a:br>
            <a:endParaRPr lang="en-US" sz="3600" dirty="0"/>
          </a:p>
        </p:txBody>
      </p:sp>
      <p:sp>
        <p:nvSpPr>
          <p:cNvPr id="5" name="Rectángulo redondeado 4"/>
          <p:cNvSpPr/>
          <p:nvPr/>
        </p:nvSpPr>
        <p:spPr>
          <a:xfrm>
            <a:off x="8854440" y="1325880"/>
            <a:ext cx="2636520" cy="172734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BO" dirty="0"/>
              <a:t>ESPACIO DE ESTADOS EN CONTINUO CONSIDERANDO ACTUADOR DE PRIMER ORDEN</a:t>
            </a:r>
            <a:endParaRPr lang="en-US" dirty="0"/>
          </a:p>
        </p:txBody>
      </p:sp>
    </p:spTree>
    <p:extLst>
      <p:ext uri="{BB962C8B-B14F-4D97-AF65-F5344CB8AC3E}">
        <p14:creationId xmlns:p14="http://schemas.microsoft.com/office/powerpoint/2010/main" val="298407458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Marcador de contenido 2"/>
              <p:cNvSpPr>
                <a:spLocks noGrp="1"/>
              </p:cNvSpPr>
              <p:nvPr>
                <p:ph idx="1"/>
              </p:nvPr>
            </p:nvSpPr>
            <p:spPr>
              <a:xfrm>
                <a:off x="762871" y="316556"/>
                <a:ext cx="10058400" cy="6145204"/>
              </a:xfrm>
            </p:spPr>
            <p:txBody>
              <a:bodyPr>
                <a:normAutofit lnSpcReduction="10000"/>
              </a:bodyPr>
              <a:lstStyle/>
              <a:p>
                <a:pPr marL="0" indent="0">
                  <a:buNone/>
                </a:pPr>
                <a:r>
                  <a:rPr lang="es-BO" dirty="0"/>
                  <a:t>Donde podemos definir las siguientes ecuaciones:</a:t>
                </a:r>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f>
                        <m:fPr>
                          <m:ctrlPr>
                            <a:rPr lang="en-US" b="1" i="1">
                              <a:latin typeface="Cambria Math" panose="02040503050406030204" pitchFamily="18" charset="0"/>
                            </a:rPr>
                          </m:ctrlPr>
                        </m:fPr>
                        <m:num>
                          <m:r>
                            <a:rPr lang="es-BO" b="1" i="1">
                              <a:latin typeface="Cambria Math" panose="02040503050406030204" pitchFamily="18" charset="0"/>
                            </a:rPr>
                            <m:t>𝑯</m:t>
                          </m:r>
                          <m:d>
                            <m:dPr>
                              <m:ctrlPr>
                                <a:rPr lang="en-US" b="1" i="1">
                                  <a:latin typeface="Cambria Math" panose="02040503050406030204" pitchFamily="18" charset="0"/>
                                </a:rPr>
                              </m:ctrlPr>
                            </m:dPr>
                            <m:e>
                              <m:r>
                                <a:rPr lang="es-BO" b="1" i="1">
                                  <a:latin typeface="Cambria Math" panose="02040503050406030204" pitchFamily="18" charset="0"/>
                                </a:rPr>
                                <m:t>𝒔</m:t>
                              </m:r>
                            </m:e>
                          </m:d>
                        </m:num>
                        <m:den>
                          <m:sSub>
                            <m:sSubPr>
                              <m:ctrlPr>
                                <a:rPr lang="en-US" b="1" i="1">
                                  <a:latin typeface="Cambria Math" panose="02040503050406030204" pitchFamily="18" charset="0"/>
                                </a:rPr>
                              </m:ctrlPr>
                            </m:sSubPr>
                            <m:e>
                              <m:r>
                                <a:rPr lang="es-BO" b="1" i="1">
                                  <a:latin typeface="Cambria Math" panose="02040503050406030204" pitchFamily="18" charset="0"/>
                                </a:rPr>
                                <m:t>𝑸</m:t>
                              </m:r>
                            </m:e>
                            <m:sub>
                              <m:r>
                                <a:rPr lang="es-BO" b="1" i="1">
                                  <a:latin typeface="Cambria Math" panose="02040503050406030204" pitchFamily="18" charset="0"/>
                                </a:rPr>
                                <m:t>𝒊</m:t>
                              </m:r>
                            </m:sub>
                          </m:sSub>
                          <m:d>
                            <m:dPr>
                              <m:ctrlPr>
                                <a:rPr lang="en-US" b="1" i="1">
                                  <a:latin typeface="Cambria Math" panose="02040503050406030204" pitchFamily="18" charset="0"/>
                                </a:rPr>
                              </m:ctrlPr>
                            </m:dPr>
                            <m:e>
                              <m:r>
                                <a:rPr lang="es-BO" b="1" i="1">
                                  <a:latin typeface="Cambria Math" panose="02040503050406030204" pitchFamily="18" charset="0"/>
                                </a:rPr>
                                <m:t>𝒔</m:t>
                              </m:r>
                            </m:e>
                          </m:d>
                        </m:den>
                      </m:f>
                      <m:r>
                        <a:rPr lang="es-BO" b="1" i="1">
                          <a:latin typeface="Cambria Math" panose="02040503050406030204" pitchFamily="18" charset="0"/>
                        </a:rPr>
                        <m:t>=</m:t>
                      </m:r>
                      <m:f>
                        <m:fPr>
                          <m:ctrlPr>
                            <a:rPr lang="en-US" b="1" i="1">
                              <a:latin typeface="Cambria Math" panose="02040503050406030204" pitchFamily="18" charset="0"/>
                            </a:rPr>
                          </m:ctrlPr>
                        </m:fPr>
                        <m:num>
                          <m:r>
                            <a:rPr lang="es-BO" b="1" i="1">
                              <a:latin typeface="Cambria Math" panose="02040503050406030204" pitchFamily="18" charset="0"/>
                            </a:rPr>
                            <m:t>𝑹</m:t>
                          </m:r>
                        </m:num>
                        <m:den>
                          <m:r>
                            <a:rPr lang="es-BO" b="1" i="1">
                              <a:latin typeface="Cambria Math" panose="02040503050406030204" pitchFamily="18" charset="0"/>
                            </a:rPr>
                            <m:t>𝒔𝑪𝑹</m:t>
                          </m:r>
                          <m:r>
                            <a:rPr lang="es-BO" b="1" i="1">
                              <a:latin typeface="Cambria Math" panose="02040503050406030204" pitchFamily="18" charset="0"/>
                            </a:rPr>
                            <m:t>+</m:t>
                          </m:r>
                          <m:r>
                            <a:rPr lang="es-BO" b="1" i="1">
                              <a:latin typeface="Cambria Math" panose="02040503050406030204" pitchFamily="18" charset="0"/>
                            </a:rPr>
                            <m:t>𝟏</m:t>
                          </m:r>
                        </m:den>
                      </m:f>
                      <m:r>
                        <a:rPr lang="es-BO" b="1" i="1">
                          <a:latin typeface="Cambria Math" panose="02040503050406030204" pitchFamily="18" charset="0"/>
                        </a:rPr>
                        <m:t> ∗</m:t>
                      </m:r>
                      <m:r>
                        <a:rPr lang="es-BO" b="1" i="1">
                          <a:latin typeface="Cambria Math" panose="02040503050406030204" pitchFamily="18" charset="0"/>
                        </a:rPr>
                        <m:t>𝑴</m:t>
                      </m:r>
                      <m:d>
                        <m:dPr>
                          <m:ctrlPr>
                            <a:rPr lang="es-BO" b="1" i="1">
                              <a:latin typeface="Cambria Math" panose="02040503050406030204" pitchFamily="18" charset="0"/>
                            </a:rPr>
                          </m:ctrlPr>
                        </m:dPr>
                        <m:e>
                          <m:r>
                            <a:rPr lang="es-BO" b="1" i="1">
                              <a:latin typeface="Cambria Math" panose="02040503050406030204" pitchFamily="18" charset="0"/>
                            </a:rPr>
                            <m:t>𝒔</m:t>
                          </m:r>
                        </m:e>
                      </m:d>
                      <m:r>
                        <a:rPr lang="es-BO" b="1" i="1">
                          <a:latin typeface="Cambria Math" panose="02040503050406030204" pitchFamily="18" charset="0"/>
                        </a:rPr>
                        <m:t> →  </m:t>
                      </m:r>
                      <m:f>
                        <m:fPr>
                          <m:ctrlPr>
                            <a:rPr lang="en-US" b="1" i="1">
                              <a:latin typeface="Cambria Math" panose="02040503050406030204" pitchFamily="18" charset="0"/>
                            </a:rPr>
                          </m:ctrlPr>
                        </m:fPr>
                        <m:num>
                          <m:r>
                            <a:rPr lang="es-BO" b="1" i="1">
                              <a:latin typeface="Cambria Math" panose="02040503050406030204" pitchFamily="18" charset="0"/>
                            </a:rPr>
                            <m:t>𝑯</m:t>
                          </m:r>
                          <m:d>
                            <m:dPr>
                              <m:ctrlPr>
                                <a:rPr lang="en-US" b="1" i="1">
                                  <a:latin typeface="Cambria Math" panose="02040503050406030204" pitchFamily="18" charset="0"/>
                                </a:rPr>
                              </m:ctrlPr>
                            </m:dPr>
                            <m:e>
                              <m:r>
                                <a:rPr lang="es-BO" b="1" i="1">
                                  <a:latin typeface="Cambria Math" panose="02040503050406030204" pitchFamily="18" charset="0"/>
                                </a:rPr>
                                <m:t>𝒔</m:t>
                              </m:r>
                            </m:e>
                          </m:d>
                        </m:num>
                        <m:den>
                          <m:sSub>
                            <m:sSubPr>
                              <m:ctrlPr>
                                <a:rPr lang="en-US" b="1" i="1">
                                  <a:latin typeface="Cambria Math" panose="02040503050406030204" pitchFamily="18" charset="0"/>
                                </a:rPr>
                              </m:ctrlPr>
                            </m:sSubPr>
                            <m:e>
                              <m:r>
                                <a:rPr lang="es-BO" b="1" i="1">
                                  <a:latin typeface="Cambria Math" panose="02040503050406030204" pitchFamily="18" charset="0"/>
                                </a:rPr>
                                <m:t>𝑸</m:t>
                              </m:r>
                            </m:e>
                            <m:sub>
                              <m:r>
                                <a:rPr lang="es-BO" b="1" i="1">
                                  <a:latin typeface="Cambria Math" panose="02040503050406030204" pitchFamily="18" charset="0"/>
                                </a:rPr>
                                <m:t>𝒊</m:t>
                              </m:r>
                            </m:sub>
                          </m:sSub>
                          <m:d>
                            <m:dPr>
                              <m:ctrlPr>
                                <a:rPr lang="en-US" b="1" i="1">
                                  <a:latin typeface="Cambria Math" panose="02040503050406030204" pitchFamily="18" charset="0"/>
                                </a:rPr>
                              </m:ctrlPr>
                            </m:dPr>
                            <m:e>
                              <m:r>
                                <a:rPr lang="es-BO" b="1" i="1">
                                  <a:latin typeface="Cambria Math" panose="02040503050406030204" pitchFamily="18" charset="0"/>
                                </a:rPr>
                                <m:t>𝒔</m:t>
                              </m:r>
                            </m:e>
                          </m:d>
                        </m:den>
                      </m:f>
                      <m:r>
                        <a:rPr lang="es-BO" b="1" i="1">
                          <a:latin typeface="Cambria Math" panose="02040503050406030204" pitchFamily="18" charset="0"/>
                        </a:rPr>
                        <m:t>=</m:t>
                      </m:r>
                      <m:f>
                        <m:fPr>
                          <m:ctrlPr>
                            <a:rPr lang="en-US" b="1" i="1">
                              <a:latin typeface="Cambria Math" panose="02040503050406030204" pitchFamily="18" charset="0"/>
                            </a:rPr>
                          </m:ctrlPr>
                        </m:fPr>
                        <m:num>
                          <m:r>
                            <a:rPr lang="es-BO" b="1" i="1">
                              <a:latin typeface="Cambria Math" panose="02040503050406030204" pitchFamily="18" charset="0"/>
                            </a:rPr>
                            <m:t>𝟎</m:t>
                          </m:r>
                          <m:r>
                            <a:rPr lang="es-BO" b="1" i="1">
                              <a:latin typeface="Cambria Math" panose="02040503050406030204" pitchFamily="18" charset="0"/>
                            </a:rPr>
                            <m:t>.</m:t>
                          </m:r>
                          <m:r>
                            <a:rPr lang="es-BO" b="1" i="1">
                              <a:latin typeface="Cambria Math" panose="02040503050406030204" pitchFamily="18" charset="0"/>
                            </a:rPr>
                            <m:t>𝟎𝟗𝟓𝟔𝟗</m:t>
                          </m:r>
                        </m:num>
                        <m:den>
                          <m:r>
                            <a:rPr lang="es-BO" b="1" i="1">
                              <a:latin typeface="Cambria Math" panose="02040503050406030204" pitchFamily="18" charset="0"/>
                            </a:rPr>
                            <m:t>𝟑𝟎𝟑</m:t>
                          </m:r>
                          <m:r>
                            <a:rPr lang="es-BO" b="1" i="1">
                              <a:latin typeface="Cambria Math" panose="02040503050406030204" pitchFamily="18" charset="0"/>
                            </a:rPr>
                            <m:t>∗</m:t>
                          </m:r>
                          <m:r>
                            <a:rPr lang="es-BO" b="1" i="1">
                              <a:latin typeface="Cambria Math" panose="02040503050406030204" pitchFamily="18" charset="0"/>
                            </a:rPr>
                            <m:t>𝒔</m:t>
                          </m:r>
                          <m:r>
                            <a:rPr lang="es-BO" b="1" i="1">
                              <a:latin typeface="Cambria Math" panose="02040503050406030204" pitchFamily="18" charset="0"/>
                            </a:rPr>
                            <m:t>+</m:t>
                          </m:r>
                          <m:r>
                            <a:rPr lang="es-BO" b="1" i="1">
                              <a:latin typeface="Cambria Math" panose="02040503050406030204" pitchFamily="18" charset="0"/>
                            </a:rPr>
                            <m:t>𝟏</m:t>
                          </m:r>
                        </m:den>
                      </m:f>
                      <m:r>
                        <a:rPr lang="es-BO" b="1" i="1">
                          <a:latin typeface="Cambria Math" panose="02040503050406030204" pitchFamily="18" charset="0"/>
                        </a:rPr>
                        <m:t>∗</m:t>
                      </m:r>
                      <m:f>
                        <m:fPr>
                          <m:ctrlPr>
                            <a:rPr lang="en-US" b="1" i="1">
                              <a:latin typeface="Cambria Math" panose="02040503050406030204" pitchFamily="18" charset="0"/>
                            </a:rPr>
                          </m:ctrlPr>
                        </m:fPr>
                        <m:num>
                          <m:r>
                            <a:rPr lang="es-BO" b="1" i="1">
                              <a:latin typeface="Cambria Math" panose="02040503050406030204" pitchFamily="18" charset="0"/>
                            </a:rPr>
                            <m:t>𝟒</m:t>
                          </m:r>
                          <m:r>
                            <a:rPr lang="es-BO" b="1" i="1">
                              <a:latin typeface="Cambria Math" panose="02040503050406030204" pitchFamily="18" charset="0"/>
                            </a:rPr>
                            <m:t>.</m:t>
                          </m:r>
                          <m:r>
                            <a:rPr lang="es-BO" b="1" i="1">
                              <a:latin typeface="Cambria Math" panose="02040503050406030204" pitchFamily="18" charset="0"/>
                            </a:rPr>
                            <m:t>𝟔𝟐𝟑</m:t>
                          </m:r>
                        </m:num>
                        <m:den>
                          <m:r>
                            <a:rPr lang="es-BO" b="1" i="1">
                              <a:latin typeface="Cambria Math" panose="02040503050406030204" pitchFamily="18" charset="0"/>
                            </a:rPr>
                            <m:t>𝒔</m:t>
                          </m:r>
                          <m:r>
                            <a:rPr lang="es-BO" b="1" i="1">
                              <a:latin typeface="Cambria Math" panose="02040503050406030204" pitchFamily="18" charset="0"/>
                            </a:rPr>
                            <m:t>+</m:t>
                          </m:r>
                          <m:r>
                            <a:rPr lang="es-BO" b="1" i="1">
                              <a:latin typeface="Cambria Math" panose="02040503050406030204" pitchFamily="18" charset="0"/>
                            </a:rPr>
                            <m:t>𝟎</m:t>
                          </m:r>
                          <m:r>
                            <a:rPr lang="es-BO" b="1" i="1">
                              <a:latin typeface="Cambria Math" panose="02040503050406030204" pitchFamily="18" charset="0"/>
                            </a:rPr>
                            <m:t>.</m:t>
                          </m:r>
                          <m:r>
                            <a:rPr lang="es-BO" b="1" i="1">
                              <a:latin typeface="Cambria Math" panose="02040503050406030204" pitchFamily="18" charset="0"/>
                            </a:rPr>
                            <m:t>𝟑𝟐𝟕𝟓</m:t>
                          </m:r>
                        </m:den>
                      </m:f>
                    </m:oMath>
                  </m:oMathPara>
                </a14:m>
                <a:endParaRPr lang="en-US" dirty="0"/>
              </a:p>
              <a:p>
                <a:pPr marL="0" indent="0">
                  <a:buNone/>
                </a:pPr>
                <a14:m>
                  <m:oMathPara xmlns:m="http://schemas.openxmlformats.org/officeDocument/2006/math">
                    <m:oMathParaPr>
                      <m:jc m:val="centerGroup"/>
                    </m:oMathParaPr>
                    <m:oMath xmlns:m="http://schemas.openxmlformats.org/officeDocument/2006/math">
                      <m:r>
                        <a:rPr lang="es-BO" b="1" i="1" smtClean="0">
                          <a:latin typeface="Cambria Math" panose="02040503050406030204" pitchFamily="18" charset="0"/>
                        </a:rPr>
                        <m:t>𝑮𝑷</m:t>
                      </m:r>
                      <m:r>
                        <a:rPr lang="es-BO" b="1" i="1" smtClean="0">
                          <a:latin typeface="Cambria Math" panose="02040503050406030204" pitchFamily="18" charset="0"/>
                        </a:rPr>
                        <m:t>(</m:t>
                      </m:r>
                      <m:r>
                        <a:rPr lang="es-BO" b="1" i="1" smtClean="0">
                          <a:latin typeface="Cambria Math" panose="02040503050406030204" pitchFamily="18" charset="0"/>
                        </a:rPr>
                        <m:t>𝒔</m:t>
                      </m:r>
                      <m:r>
                        <a:rPr lang="es-BO" b="1" i="1" smtClean="0">
                          <a:latin typeface="Cambria Math" panose="02040503050406030204" pitchFamily="18" charset="0"/>
                        </a:rPr>
                        <m:t>)=</m:t>
                      </m:r>
                      <m:f>
                        <m:fPr>
                          <m:ctrlPr>
                            <a:rPr lang="en-US" b="1" i="1">
                              <a:latin typeface="Cambria Math" panose="02040503050406030204" pitchFamily="18" charset="0"/>
                            </a:rPr>
                          </m:ctrlPr>
                        </m:fPr>
                        <m:num>
                          <m:r>
                            <a:rPr lang="es-BO" b="1" i="1" smtClean="0">
                              <a:latin typeface="Cambria Math" panose="02040503050406030204" pitchFamily="18" charset="0"/>
                            </a:rPr>
                            <m:t>𝟎</m:t>
                          </m:r>
                          <m:r>
                            <a:rPr lang="es-BO" b="1" i="1" smtClean="0">
                              <a:latin typeface="Cambria Math" panose="02040503050406030204" pitchFamily="18" charset="0"/>
                            </a:rPr>
                            <m:t>.</m:t>
                          </m:r>
                          <m:r>
                            <a:rPr lang="es-BO" b="1" i="1" smtClean="0">
                              <a:latin typeface="Cambria Math" panose="02040503050406030204" pitchFamily="18" charset="0"/>
                            </a:rPr>
                            <m:t>𝟒𝟒𝟐𝟒</m:t>
                          </m:r>
                        </m:num>
                        <m:den>
                          <m:r>
                            <a:rPr lang="es-BO" b="1" i="1" smtClean="0">
                              <a:latin typeface="Cambria Math" panose="02040503050406030204" pitchFamily="18" charset="0"/>
                            </a:rPr>
                            <m:t>𝟑𝟎𝟑</m:t>
                          </m:r>
                          <m:r>
                            <a:rPr lang="es-BO" b="1" i="1" smtClean="0">
                              <a:latin typeface="Cambria Math" panose="02040503050406030204" pitchFamily="18" charset="0"/>
                            </a:rPr>
                            <m:t>∗</m:t>
                          </m:r>
                          <m:sSup>
                            <m:sSupPr>
                              <m:ctrlPr>
                                <a:rPr lang="es-BO" b="1" i="1" smtClean="0">
                                  <a:latin typeface="Cambria Math" panose="02040503050406030204" pitchFamily="18" charset="0"/>
                                </a:rPr>
                              </m:ctrlPr>
                            </m:sSupPr>
                            <m:e>
                              <m:r>
                                <a:rPr lang="es-BO" b="1" i="1" smtClean="0">
                                  <a:latin typeface="Cambria Math" panose="02040503050406030204" pitchFamily="18" charset="0"/>
                                </a:rPr>
                                <m:t>𝒔</m:t>
                              </m:r>
                            </m:e>
                            <m:sup>
                              <m:r>
                                <a:rPr lang="es-BO" b="1" i="1" smtClean="0">
                                  <a:latin typeface="Cambria Math" panose="02040503050406030204" pitchFamily="18" charset="0"/>
                                </a:rPr>
                                <m:t>𝟐</m:t>
                              </m:r>
                            </m:sup>
                          </m:sSup>
                          <m:r>
                            <a:rPr lang="es-BO" b="1" i="1" smtClean="0">
                              <a:latin typeface="Cambria Math" panose="02040503050406030204" pitchFamily="18" charset="0"/>
                            </a:rPr>
                            <m:t>+</m:t>
                          </m:r>
                          <m:r>
                            <a:rPr lang="es-BO" b="1" i="1" smtClean="0">
                              <a:latin typeface="Cambria Math" panose="02040503050406030204" pitchFamily="18" charset="0"/>
                            </a:rPr>
                            <m:t>𝟏𝟎𝟎</m:t>
                          </m:r>
                          <m:r>
                            <a:rPr lang="es-BO" b="1" i="1" smtClean="0">
                              <a:latin typeface="Cambria Math" panose="02040503050406030204" pitchFamily="18" charset="0"/>
                            </a:rPr>
                            <m:t>.</m:t>
                          </m:r>
                          <m:r>
                            <a:rPr lang="es-BO" b="1" i="1" smtClean="0">
                              <a:latin typeface="Cambria Math" panose="02040503050406030204" pitchFamily="18" charset="0"/>
                            </a:rPr>
                            <m:t>𝟐</m:t>
                          </m:r>
                          <m:r>
                            <a:rPr lang="es-BO" b="1" i="1" smtClean="0">
                              <a:latin typeface="Cambria Math" panose="02040503050406030204" pitchFamily="18" charset="0"/>
                            </a:rPr>
                            <m:t>∗</m:t>
                          </m:r>
                          <m:r>
                            <a:rPr lang="es-BO" b="1" i="1">
                              <a:latin typeface="Cambria Math" panose="02040503050406030204" pitchFamily="18" charset="0"/>
                            </a:rPr>
                            <m:t>𝒔</m:t>
                          </m:r>
                          <m:r>
                            <a:rPr lang="es-BO" b="1" i="1">
                              <a:latin typeface="Cambria Math" panose="02040503050406030204" pitchFamily="18" charset="0"/>
                            </a:rPr>
                            <m:t>+</m:t>
                          </m:r>
                          <m:r>
                            <a:rPr lang="es-BO" b="1" i="1">
                              <a:latin typeface="Cambria Math" panose="02040503050406030204" pitchFamily="18" charset="0"/>
                            </a:rPr>
                            <m:t>𝟎</m:t>
                          </m:r>
                          <m:r>
                            <a:rPr lang="es-BO" b="1" i="1">
                              <a:latin typeface="Cambria Math" panose="02040503050406030204" pitchFamily="18" charset="0"/>
                            </a:rPr>
                            <m:t>.</m:t>
                          </m:r>
                          <m:r>
                            <a:rPr lang="es-BO" b="1" i="1">
                              <a:latin typeface="Cambria Math" panose="02040503050406030204" pitchFamily="18" charset="0"/>
                            </a:rPr>
                            <m:t>𝟑𝟐𝟕𝟓</m:t>
                          </m:r>
                        </m:den>
                      </m:f>
                    </m:oMath>
                  </m:oMathPara>
                </a14:m>
                <a:endParaRPr lang="en-US" dirty="0"/>
              </a:p>
              <a:p>
                <a:pPr marL="0" indent="0">
                  <a:buNone/>
                </a:pPr>
                <a:r>
                  <a:rPr lang="es-BO" dirty="0"/>
                  <a:t>Con las ecuaciones : </a:t>
                </a:r>
              </a:p>
              <a:p>
                <a:pPr marL="0" indent="0">
                  <a:buNone/>
                </a:pPr>
                <a14:m>
                  <m:oMathPara xmlns:m="http://schemas.openxmlformats.org/officeDocument/2006/math">
                    <m:oMathParaPr>
                      <m:jc m:val="centerGroup"/>
                    </m:oMathParaPr>
                    <m:oMath xmlns:m="http://schemas.openxmlformats.org/officeDocument/2006/math">
                      <m:m>
                        <m:mPr>
                          <m:mcs>
                            <m:mc>
                              <m:mcPr>
                                <m:count m:val="1"/>
                                <m:mcJc m:val="center"/>
                              </m:mcPr>
                            </m:mc>
                          </m:mcs>
                          <m:ctrlPr>
                            <a:rPr lang="en-US" i="1">
                              <a:latin typeface="Cambria Math" panose="02040503050406030204" pitchFamily="18" charset="0"/>
                            </a:rPr>
                          </m:ctrlPr>
                        </m:mPr>
                        <m:mr>
                          <m:e>
                            <m:acc>
                              <m:accPr>
                                <m:chr m:val="̇"/>
                                <m:ctrlPr>
                                  <a:rPr lang="en-US" i="1">
                                    <a:latin typeface="Cambria Math" panose="02040503050406030204" pitchFamily="18" charset="0"/>
                                  </a:rPr>
                                </m:ctrlPr>
                              </m:accPr>
                              <m:e>
                                <m:r>
                                  <a:rPr lang="es-BO" i="1">
                                    <a:latin typeface="Cambria Math" panose="02040503050406030204" pitchFamily="18" charset="0"/>
                                  </a:rPr>
                                  <m:t>𝑥</m:t>
                                </m:r>
                              </m:e>
                            </m:acc>
                            <m:d>
                              <m:dPr>
                                <m:ctrlPr>
                                  <a:rPr lang="en-US" i="1">
                                    <a:latin typeface="Cambria Math" panose="02040503050406030204" pitchFamily="18" charset="0"/>
                                  </a:rPr>
                                </m:ctrlPr>
                              </m:dPr>
                              <m:e>
                                <m:r>
                                  <a:rPr lang="es-BO" i="1">
                                    <a:latin typeface="Cambria Math" panose="02040503050406030204" pitchFamily="18" charset="0"/>
                                  </a:rPr>
                                  <m:t>𝑡</m:t>
                                </m:r>
                              </m:e>
                            </m:d>
                            <m:r>
                              <a:rPr lang="es-BO" i="1">
                                <a:latin typeface="Cambria Math" panose="02040503050406030204" pitchFamily="18" charset="0"/>
                              </a:rPr>
                              <m:t>=</m:t>
                            </m:r>
                            <m:r>
                              <a:rPr lang="es-BO" i="1">
                                <a:latin typeface="Cambria Math" panose="02040503050406030204" pitchFamily="18" charset="0"/>
                              </a:rPr>
                              <m:t>𝐴𝑥</m:t>
                            </m:r>
                            <m:d>
                              <m:dPr>
                                <m:ctrlPr>
                                  <a:rPr lang="en-US" i="1">
                                    <a:latin typeface="Cambria Math" panose="02040503050406030204" pitchFamily="18" charset="0"/>
                                  </a:rPr>
                                </m:ctrlPr>
                              </m:dPr>
                              <m:e>
                                <m:r>
                                  <a:rPr lang="es-BO" i="1">
                                    <a:latin typeface="Cambria Math" panose="02040503050406030204" pitchFamily="18" charset="0"/>
                                  </a:rPr>
                                  <m:t>𝑡</m:t>
                                </m:r>
                              </m:e>
                            </m:d>
                            <m:r>
                              <a:rPr lang="es-BO" i="1">
                                <a:latin typeface="Cambria Math" panose="02040503050406030204" pitchFamily="18" charset="0"/>
                              </a:rPr>
                              <m:t>+</m:t>
                            </m:r>
                            <m:r>
                              <a:rPr lang="es-BO" i="1">
                                <a:latin typeface="Cambria Math" panose="02040503050406030204" pitchFamily="18" charset="0"/>
                              </a:rPr>
                              <m:t>𝐵</m:t>
                            </m:r>
                            <m:sSub>
                              <m:sSubPr>
                                <m:ctrlPr>
                                  <a:rPr lang="en-US" i="1">
                                    <a:latin typeface="Cambria Math" panose="02040503050406030204" pitchFamily="18" charset="0"/>
                                  </a:rPr>
                                </m:ctrlPr>
                              </m:sSubPr>
                              <m:e>
                                <m:r>
                                  <a:rPr lang="es-BO" i="1">
                                    <a:latin typeface="Cambria Math" panose="02040503050406030204" pitchFamily="18" charset="0"/>
                                  </a:rPr>
                                  <m:t>𝑞</m:t>
                                </m:r>
                              </m:e>
                              <m:sub>
                                <m:r>
                                  <a:rPr lang="es-BO" i="1">
                                    <a:latin typeface="Cambria Math" panose="02040503050406030204" pitchFamily="18" charset="0"/>
                                  </a:rPr>
                                  <m:t>𝑖</m:t>
                                </m:r>
                              </m:sub>
                            </m:sSub>
                            <m:r>
                              <a:rPr lang="es-BO" i="1">
                                <a:latin typeface="Cambria Math" panose="02040503050406030204" pitchFamily="18" charset="0"/>
                              </a:rPr>
                              <m:t>(</m:t>
                            </m:r>
                            <m:r>
                              <a:rPr lang="es-BO" i="1">
                                <a:latin typeface="Cambria Math" panose="02040503050406030204" pitchFamily="18" charset="0"/>
                              </a:rPr>
                              <m:t>𝑡</m:t>
                            </m:r>
                            <m:r>
                              <a:rPr lang="es-BO" i="1">
                                <a:latin typeface="Cambria Math" panose="02040503050406030204" pitchFamily="18" charset="0"/>
                              </a:rPr>
                              <m:t>)</m:t>
                            </m:r>
                          </m:e>
                        </m:mr>
                        <m:mr>
                          <m:e>
                            <m:r>
                              <a:rPr lang="es-BO" i="1">
                                <a:latin typeface="Cambria Math" panose="02040503050406030204" pitchFamily="18" charset="0"/>
                              </a:rPr>
                              <m:t>𝑦</m:t>
                            </m:r>
                            <m:d>
                              <m:dPr>
                                <m:ctrlPr>
                                  <a:rPr lang="en-US" i="1">
                                    <a:latin typeface="Cambria Math" panose="02040503050406030204" pitchFamily="18" charset="0"/>
                                  </a:rPr>
                                </m:ctrlPr>
                              </m:dPr>
                              <m:e>
                                <m:r>
                                  <a:rPr lang="es-BO" i="1">
                                    <a:latin typeface="Cambria Math" panose="02040503050406030204" pitchFamily="18" charset="0"/>
                                  </a:rPr>
                                  <m:t>𝑡</m:t>
                                </m:r>
                              </m:e>
                            </m:d>
                            <m:r>
                              <a:rPr lang="es-BO" i="1">
                                <a:latin typeface="Cambria Math" panose="02040503050406030204" pitchFamily="18" charset="0"/>
                              </a:rPr>
                              <m:t>=</m:t>
                            </m:r>
                            <m:r>
                              <a:rPr lang="es-BO" i="1">
                                <a:latin typeface="Cambria Math" panose="02040503050406030204" pitchFamily="18" charset="0"/>
                              </a:rPr>
                              <m:t>𝐶𝑥</m:t>
                            </m:r>
                            <m:r>
                              <a:rPr lang="es-BO" i="1">
                                <a:latin typeface="Cambria Math" panose="02040503050406030204" pitchFamily="18" charset="0"/>
                              </a:rPr>
                              <m:t>(</m:t>
                            </m:r>
                            <m:r>
                              <a:rPr lang="es-BO" i="1">
                                <a:latin typeface="Cambria Math" panose="02040503050406030204" pitchFamily="18" charset="0"/>
                              </a:rPr>
                              <m:t>𝑡</m:t>
                            </m:r>
                            <m:r>
                              <a:rPr lang="es-BO" i="1">
                                <a:latin typeface="Cambria Math" panose="02040503050406030204" pitchFamily="18" charset="0"/>
                              </a:rPr>
                              <m:t>)</m:t>
                            </m:r>
                          </m:e>
                        </m:mr>
                      </m:m>
                    </m:oMath>
                  </m:oMathPara>
                </a14:m>
                <a:endParaRPr lang="es-BO" dirty="0"/>
              </a:p>
              <a:p>
                <a:pPr marL="0" indent="0">
                  <a:buNone/>
                </a:pPr>
                <a:r>
                  <a:rPr lang="es-BO" dirty="0"/>
                  <a:t>Entonces tendríamos una representación en espacio de estados de la siguiente manera:</a:t>
                </a:r>
                <a:endParaRPr lang="en-US" dirty="0"/>
              </a:p>
              <a:p>
                <a:pPr marL="0" indent="0">
                  <a:buNone/>
                </a:pPr>
                <a14:m>
                  <m:oMathPara xmlns:m="http://schemas.openxmlformats.org/officeDocument/2006/math">
                    <m:oMathParaPr>
                      <m:jc m:val="centerGroup"/>
                    </m:oMathParaPr>
                    <m:oMath xmlns:m="http://schemas.openxmlformats.org/officeDocument/2006/math">
                      <m:acc>
                        <m:accPr>
                          <m:chr m:val="̇"/>
                          <m:ctrlPr>
                            <a:rPr lang="en-US" i="1">
                              <a:latin typeface="Cambria Math" panose="02040503050406030204" pitchFamily="18" charset="0"/>
                            </a:rPr>
                          </m:ctrlPr>
                        </m:accPr>
                        <m:e>
                          <m:r>
                            <a:rPr lang="es-BO" i="1">
                              <a:latin typeface="Cambria Math" panose="02040503050406030204" pitchFamily="18" charset="0"/>
                            </a:rPr>
                            <m:t>𝑥</m:t>
                          </m:r>
                        </m:e>
                      </m:acc>
                      <m:d>
                        <m:dPr>
                          <m:ctrlPr>
                            <a:rPr lang="en-US" i="1">
                              <a:latin typeface="Cambria Math" panose="02040503050406030204" pitchFamily="18" charset="0"/>
                            </a:rPr>
                          </m:ctrlPr>
                        </m:dPr>
                        <m:e>
                          <m:r>
                            <a:rPr lang="es-BO" i="1">
                              <a:latin typeface="Cambria Math" panose="02040503050406030204" pitchFamily="18" charset="0"/>
                            </a:rPr>
                            <m:t>𝑡</m:t>
                          </m:r>
                        </m:e>
                      </m:d>
                      <m:r>
                        <a:rPr lang="es-BO" i="1">
                          <a:latin typeface="Cambria Math" panose="02040503050406030204" pitchFamily="18" charset="0"/>
                        </a:rPr>
                        <m:t>=</m:t>
                      </m:r>
                      <m:d>
                        <m:dPr>
                          <m:begChr m:val="["/>
                          <m:endChr m:val="]"/>
                          <m:ctrlPr>
                            <a:rPr lang="en-US" i="1">
                              <a:latin typeface="Cambria Math" panose="02040503050406030204" pitchFamily="18" charset="0"/>
                            </a:rPr>
                          </m:ctrlPr>
                        </m:dPr>
                        <m:e>
                          <m:m>
                            <m:mPr>
                              <m:mcs>
                                <m:mc>
                                  <m:mcPr>
                                    <m:count m:val="2"/>
                                    <m:mcJc m:val="center"/>
                                  </m:mcPr>
                                </m:mc>
                              </m:mcs>
                              <m:ctrlPr>
                                <a:rPr lang="en-US" i="1">
                                  <a:latin typeface="Cambria Math" panose="02040503050406030204" pitchFamily="18" charset="0"/>
                                </a:rPr>
                              </m:ctrlPr>
                            </m:mPr>
                            <m:mr>
                              <m:e>
                                <m:r>
                                  <m:rPr>
                                    <m:brk m:alnAt="7"/>
                                  </m:rPr>
                                  <a:rPr lang="es-BO" i="1">
                                    <a:latin typeface="Cambria Math" panose="02040503050406030204" pitchFamily="18" charset="0"/>
                                  </a:rPr>
                                  <m:t>−</m:t>
                                </m:r>
                                <m:r>
                                  <a:rPr lang="es-BO" i="1">
                                    <a:latin typeface="Cambria Math" panose="02040503050406030204" pitchFamily="18" charset="0"/>
                                  </a:rPr>
                                  <m:t>0.3307</m:t>
                                </m:r>
                              </m:e>
                              <m:e>
                                <m:r>
                                  <a:rPr lang="es-BO" i="1">
                                    <a:latin typeface="Cambria Math" panose="02040503050406030204" pitchFamily="18" charset="0"/>
                                  </a:rPr>
                                  <m:t>−0.0011</m:t>
                                </m:r>
                              </m:e>
                            </m:mr>
                            <m:mr>
                              <m:e>
                                <m:r>
                                  <a:rPr lang="es-BO" i="1">
                                    <a:latin typeface="Cambria Math" panose="02040503050406030204" pitchFamily="18" charset="0"/>
                                  </a:rPr>
                                  <m:t>1</m:t>
                                </m:r>
                              </m:e>
                              <m:e>
                                <m:r>
                                  <a:rPr lang="es-BO" i="1">
                                    <a:latin typeface="Cambria Math" panose="02040503050406030204" pitchFamily="18" charset="0"/>
                                  </a:rPr>
                                  <m:t>0</m:t>
                                </m:r>
                              </m:e>
                            </m:mr>
                          </m:m>
                        </m:e>
                      </m:d>
                      <m:r>
                        <a:rPr lang="es-BO" b="0" i="1" smtClean="0">
                          <a:latin typeface="Cambria Math" panose="02040503050406030204" pitchFamily="18" charset="0"/>
                        </a:rPr>
                        <m:t>∗</m:t>
                      </m:r>
                      <m:r>
                        <a:rPr lang="es-BO" i="1">
                          <a:latin typeface="Cambria Math" panose="02040503050406030204" pitchFamily="18" charset="0"/>
                        </a:rPr>
                        <m:t>𝑥</m:t>
                      </m:r>
                      <m:d>
                        <m:dPr>
                          <m:ctrlPr>
                            <a:rPr lang="en-US" i="1">
                              <a:latin typeface="Cambria Math" panose="02040503050406030204" pitchFamily="18" charset="0"/>
                            </a:rPr>
                          </m:ctrlPr>
                        </m:dPr>
                        <m:e>
                          <m:r>
                            <a:rPr lang="es-BO" i="1">
                              <a:latin typeface="Cambria Math" panose="02040503050406030204" pitchFamily="18" charset="0"/>
                            </a:rPr>
                            <m:t>𝑡</m:t>
                          </m:r>
                        </m:e>
                      </m:d>
                      <m:r>
                        <a:rPr lang="es-BO" i="1">
                          <a:latin typeface="Cambria Math" panose="02040503050406030204" pitchFamily="18" charset="0"/>
                        </a:rPr>
                        <m:t>+</m:t>
                      </m:r>
                      <m:d>
                        <m:dPr>
                          <m:begChr m:val="["/>
                          <m:endChr m:val="]"/>
                          <m:ctrlPr>
                            <a:rPr lang="en-US" i="1">
                              <a:latin typeface="Cambria Math" panose="02040503050406030204" pitchFamily="18" charset="0"/>
                            </a:rPr>
                          </m:ctrlPr>
                        </m:dPr>
                        <m:e>
                          <m:m>
                            <m:mPr>
                              <m:mcs>
                                <m:mc>
                                  <m:mcPr>
                                    <m:count m:val="1"/>
                                    <m:mcJc m:val="center"/>
                                  </m:mcPr>
                                </m:mc>
                              </m:mcs>
                              <m:ctrlPr>
                                <a:rPr lang="en-US" i="1">
                                  <a:latin typeface="Cambria Math" panose="02040503050406030204" pitchFamily="18" charset="0"/>
                                </a:rPr>
                              </m:ctrlPr>
                            </m:mPr>
                            <m:mr>
                              <m:e>
                                <m:r>
                                  <m:rPr>
                                    <m:brk m:alnAt="7"/>
                                  </m:rPr>
                                  <a:rPr lang="es-BO" b="0" i="1" smtClean="0">
                                    <a:latin typeface="Cambria Math" panose="02040503050406030204" pitchFamily="18" charset="0"/>
                                  </a:rPr>
                                  <m:t>1</m:t>
                                </m:r>
                              </m:e>
                            </m:mr>
                            <m:mr>
                              <m:e>
                                <m:r>
                                  <a:rPr lang="es-BO" i="1">
                                    <a:latin typeface="Cambria Math" panose="02040503050406030204" pitchFamily="18" charset="0"/>
                                  </a:rPr>
                                  <m:t>0</m:t>
                                </m:r>
                              </m:e>
                            </m:mr>
                          </m:m>
                        </m:e>
                      </m:d>
                      <m:r>
                        <a:rPr lang="es-BO" i="1">
                          <a:latin typeface="Cambria Math" panose="02040503050406030204" pitchFamily="18" charset="0"/>
                        </a:rPr>
                        <m:t>𝑢</m:t>
                      </m:r>
                      <m:d>
                        <m:dPr>
                          <m:ctrlPr>
                            <a:rPr lang="en-US" i="1">
                              <a:latin typeface="Cambria Math" panose="02040503050406030204" pitchFamily="18" charset="0"/>
                            </a:rPr>
                          </m:ctrlPr>
                        </m:dPr>
                        <m:e>
                          <m:r>
                            <a:rPr lang="es-BO" i="1">
                              <a:latin typeface="Cambria Math" panose="02040503050406030204" pitchFamily="18" charset="0"/>
                            </a:rPr>
                            <m:t>𝑡</m:t>
                          </m:r>
                        </m:e>
                      </m:d>
                    </m:oMath>
                  </m:oMathPara>
                </a14:m>
                <a:endParaRPr lang="es-BO"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s-BO" i="1">
                          <a:latin typeface="Cambria Math" panose="02040503050406030204" pitchFamily="18" charset="0"/>
                        </a:rPr>
                        <m:t>   →</m:t>
                      </m:r>
                      <m:r>
                        <a:rPr lang="es-BO" i="1">
                          <a:latin typeface="Cambria Math" panose="02040503050406030204" pitchFamily="18" charset="0"/>
                        </a:rPr>
                        <m:t>𝑢</m:t>
                      </m:r>
                      <m:d>
                        <m:dPr>
                          <m:ctrlPr>
                            <a:rPr lang="en-US" i="1">
                              <a:latin typeface="Cambria Math" panose="02040503050406030204" pitchFamily="18" charset="0"/>
                            </a:rPr>
                          </m:ctrlPr>
                        </m:dPr>
                        <m:e>
                          <m:r>
                            <a:rPr lang="es-BO" i="1">
                              <a:latin typeface="Cambria Math" panose="02040503050406030204" pitchFamily="18" charset="0"/>
                            </a:rPr>
                            <m:t>𝑡</m:t>
                          </m:r>
                        </m:e>
                      </m:d>
                      <m:r>
                        <a:rPr lang="es-BO" b="0" i="1" smtClean="0">
                          <a:latin typeface="Cambria Math" panose="02040503050406030204" pitchFamily="18" charset="0"/>
                        </a:rPr>
                        <m:t>=−</m:t>
                      </m:r>
                      <m:r>
                        <a:rPr lang="es-BO" b="0" i="1" smtClean="0">
                          <a:latin typeface="Cambria Math" panose="02040503050406030204" pitchFamily="18" charset="0"/>
                        </a:rPr>
                        <m:t>𝐾</m:t>
                      </m:r>
                      <m:r>
                        <a:rPr lang="es-BO" b="0" i="1" smtClean="0">
                          <a:latin typeface="Cambria Math" panose="02040503050406030204" pitchFamily="18" charset="0"/>
                        </a:rPr>
                        <m:t>∗</m:t>
                      </m:r>
                      <m:r>
                        <a:rPr lang="es-BO" b="0" i="1" smtClean="0">
                          <a:latin typeface="Cambria Math" panose="02040503050406030204" pitchFamily="18" charset="0"/>
                        </a:rPr>
                        <m:t>𝑢</m:t>
                      </m:r>
                      <m:d>
                        <m:dPr>
                          <m:ctrlPr>
                            <a:rPr lang="es-BO" b="0" i="1" smtClean="0">
                              <a:latin typeface="Cambria Math" panose="02040503050406030204" pitchFamily="18" charset="0"/>
                            </a:rPr>
                          </m:ctrlPr>
                        </m:dPr>
                        <m:e>
                          <m:r>
                            <a:rPr lang="es-BO" b="0" i="1" smtClean="0">
                              <a:latin typeface="Cambria Math" panose="02040503050406030204" pitchFamily="18" charset="0"/>
                            </a:rPr>
                            <m:t>𝑡</m:t>
                          </m:r>
                        </m:e>
                      </m:d>
                      <m:r>
                        <a:rPr lang="es-BO" b="0" i="1" smtClean="0">
                          <a:latin typeface="Cambria Math" panose="02040503050406030204" pitchFamily="18" charset="0"/>
                        </a:rPr>
                        <m:t>+</m:t>
                      </m:r>
                      <m:r>
                        <a:rPr lang="es-BO" b="0" i="1" smtClean="0">
                          <a:latin typeface="Cambria Math" panose="02040503050406030204" pitchFamily="18" charset="0"/>
                        </a:rPr>
                        <m:t>𝑁</m:t>
                      </m:r>
                      <m:r>
                        <a:rPr lang="es-BO" b="0" i="1" smtClean="0">
                          <a:latin typeface="Cambria Math" panose="02040503050406030204" pitchFamily="18" charset="0"/>
                        </a:rPr>
                        <m:t>∗</m:t>
                      </m:r>
                      <m:r>
                        <a:rPr lang="es-BO" b="0" i="1" smtClean="0">
                          <a:latin typeface="Cambria Math" panose="02040503050406030204" pitchFamily="18" charset="0"/>
                        </a:rPr>
                        <m:t>𝑟</m:t>
                      </m:r>
                      <m:r>
                        <a:rPr lang="es-BO" b="0" i="1" smtClean="0">
                          <a:latin typeface="Cambria Math" panose="02040503050406030204" pitchFamily="18" charset="0"/>
                        </a:rPr>
                        <m:t>(</m:t>
                      </m:r>
                      <m:r>
                        <a:rPr lang="es-BO" b="0" i="1" smtClean="0">
                          <a:latin typeface="Cambria Math" panose="02040503050406030204" pitchFamily="18" charset="0"/>
                        </a:rPr>
                        <m:t>𝑡</m:t>
                      </m:r>
                      <m:r>
                        <a:rPr lang="es-BO" b="0" i="1" smtClean="0">
                          <a:latin typeface="Cambria Math" panose="02040503050406030204" pitchFamily="18" charset="0"/>
                        </a:rPr>
                        <m:t>)</m:t>
                      </m:r>
                    </m:oMath>
                  </m:oMathPara>
                </a14:m>
                <a:endParaRPr lang="en-US" dirty="0"/>
              </a:p>
              <a:p>
                <a:pPr marL="0" indent="0">
                  <a:buNone/>
                </a:pPr>
                <a:r>
                  <a:rPr lang="es-BO" dirty="0"/>
                  <a:t>Donde:</a:t>
                </a:r>
                <a:endParaRPr lang="en-US" dirty="0"/>
              </a:p>
              <a:p>
                <a:pPr marL="0" indent="0">
                  <a:buNone/>
                </a:pPr>
                <a14:m>
                  <m:oMathPara xmlns:m="http://schemas.openxmlformats.org/officeDocument/2006/math">
                    <m:oMathParaPr>
                      <m:jc m:val="centerGroup"/>
                    </m:oMathParaPr>
                    <m:oMath xmlns:m="http://schemas.openxmlformats.org/officeDocument/2006/math">
                      <m:r>
                        <a:rPr lang="es-BO" i="1">
                          <a:latin typeface="Cambria Math" panose="02040503050406030204" pitchFamily="18" charset="0"/>
                        </a:rPr>
                        <m:t>𝐴</m:t>
                      </m:r>
                      <m:r>
                        <a:rPr lang="es-BO" i="1">
                          <a:latin typeface="Cambria Math" panose="02040503050406030204" pitchFamily="18" charset="0"/>
                        </a:rPr>
                        <m:t>=</m:t>
                      </m:r>
                      <m:d>
                        <m:dPr>
                          <m:begChr m:val="["/>
                          <m:endChr m:val="]"/>
                          <m:ctrlPr>
                            <a:rPr lang="en-US" i="1">
                              <a:latin typeface="Cambria Math" panose="02040503050406030204" pitchFamily="18" charset="0"/>
                            </a:rPr>
                          </m:ctrlPr>
                        </m:dPr>
                        <m:e>
                          <m:m>
                            <m:mPr>
                              <m:mcs>
                                <m:mc>
                                  <m:mcPr>
                                    <m:count m:val="2"/>
                                    <m:mcJc m:val="center"/>
                                  </m:mcPr>
                                </m:mc>
                              </m:mcs>
                              <m:ctrlPr>
                                <a:rPr lang="en-US" i="1">
                                  <a:latin typeface="Cambria Math" panose="02040503050406030204" pitchFamily="18" charset="0"/>
                                </a:rPr>
                              </m:ctrlPr>
                            </m:mPr>
                            <m:mr>
                              <m:e>
                                <m:r>
                                  <m:rPr>
                                    <m:brk m:alnAt="7"/>
                                  </m:rPr>
                                  <a:rPr lang="es-BO" i="1">
                                    <a:latin typeface="Cambria Math" panose="02040503050406030204" pitchFamily="18" charset="0"/>
                                  </a:rPr>
                                  <m:t>−</m:t>
                                </m:r>
                                <m:r>
                                  <a:rPr lang="es-BO" i="1">
                                    <a:latin typeface="Cambria Math" panose="02040503050406030204" pitchFamily="18" charset="0"/>
                                  </a:rPr>
                                  <m:t>0.3307</m:t>
                                </m:r>
                              </m:e>
                              <m:e>
                                <m:r>
                                  <a:rPr lang="es-BO" i="1">
                                    <a:latin typeface="Cambria Math" panose="02040503050406030204" pitchFamily="18" charset="0"/>
                                  </a:rPr>
                                  <m:t>−0.0011</m:t>
                                </m:r>
                              </m:e>
                            </m:mr>
                            <m:mr>
                              <m:e>
                                <m:r>
                                  <a:rPr lang="es-BO" i="1">
                                    <a:latin typeface="Cambria Math" panose="02040503050406030204" pitchFamily="18" charset="0"/>
                                  </a:rPr>
                                  <m:t>1</m:t>
                                </m:r>
                              </m:e>
                              <m:e>
                                <m:r>
                                  <a:rPr lang="es-BO" i="1">
                                    <a:latin typeface="Cambria Math" panose="02040503050406030204" pitchFamily="18" charset="0"/>
                                  </a:rPr>
                                  <m:t>0</m:t>
                                </m:r>
                              </m:e>
                            </m:mr>
                          </m:m>
                        </m:e>
                      </m:d>
                      <m:r>
                        <a:rPr lang="es-BO" i="1">
                          <a:latin typeface="Cambria Math" panose="02040503050406030204" pitchFamily="18" charset="0"/>
                        </a:rPr>
                        <m:t>,      </m:t>
                      </m:r>
                      <m:r>
                        <a:rPr lang="es-BO" i="1">
                          <a:latin typeface="Cambria Math" panose="02040503050406030204" pitchFamily="18" charset="0"/>
                        </a:rPr>
                        <m:t>𝐵</m:t>
                      </m:r>
                      <m:r>
                        <a:rPr lang="es-BO" i="1">
                          <a:latin typeface="Cambria Math" panose="02040503050406030204" pitchFamily="18" charset="0"/>
                        </a:rPr>
                        <m:t>=</m:t>
                      </m:r>
                      <m:d>
                        <m:dPr>
                          <m:begChr m:val="["/>
                          <m:endChr m:val="]"/>
                          <m:ctrlPr>
                            <a:rPr lang="en-US" i="1">
                              <a:latin typeface="Cambria Math" panose="02040503050406030204" pitchFamily="18" charset="0"/>
                            </a:rPr>
                          </m:ctrlPr>
                        </m:dPr>
                        <m:e>
                          <m:m>
                            <m:mPr>
                              <m:mcs>
                                <m:mc>
                                  <m:mcPr>
                                    <m:count m:val="1"/>
                                    <m:mcJc m:val="center"/>
                                  </m:mcPr>
                                </m:mc>
                              </m:mcs>
                              <m:ctrlPr>
                                <a:rPr lang="en-US" i="1">
                                  <a:latin typeface="Cambria Math" panose="02040503050406030204" pitchFamily="18" charset="0"/>
                                </a:rPr>
                              </m:ctrlPr>
                            </m:mPr>
                            <m:mr>
                              <m:e>
                                <m:r>
                                  <m:rPr>
                                    <m:brk m:alnAt="7"/>
                                  </m:rPr>
                                  <a:rPr lang="es-BO" i="1">
                                    <a:latin typeface="Cambria Math" panose="02040503050406030204" pitchFamily="18" charset="0"/>
                                  </a:rPr>
                                  <m:t>1</m:t>
                                </m:r>
                              </m:e>
                            </m:mr>
                            <m:mr>
                              <m:e>
                                <m:r>
                                  <a:rPr lang="es-BO" i="1">
                                    <a:latin typeface="Cambria Math" panose="02040503050406030204" pitchFamily="18" charset="0"/>
                                  </a:rPr>
                                  <m:t>0</m:t>
                                </m:r>
                              </m:e>
                            </m:mr>
                          </m:m>
                        </m:e>
                      </m:d>
                      <m:r>
                        <a:rPr lang="es-BO" i="1">
                          <a:latin typeface="Cambria Math" panose="02040503050406030204" pitchFamily="18" charset="0"/>
                        </a:rPr>
                        <m:t>,     </m:t>
                      </m:r>
                      <m:r>
                        <a:rPr lang="es-BO" i="1">
                          <a:latin typeface="Cambria Math" panose="02040503050406030204" pitchFamily="18" charset="0"/>
                        </a:rPr>
                        <m:t>𝐶</m:t>
                      </m:r>
                      <m:r>
                        <a:rPr lang="es-BO" i="1">
                          <a:latin typeface="Cambria Math" panose="02040503050406030204" pitchFamily="18" charset="0"/>
                        </a:rPr>
                        <m:t>=</m:t>
                      </m:r>
                      <m:d>
                        <m:dPr>
                          <m:begChr m:val="["/>
                          <m:endChr m:val="]"/>
                          <m:ctrlPr>
                            <a:rPr lang="en-US" i="1">
                              <a:latin typeface="Cambria Math" panose="02040503050406030204" pitchFamily="18" charset="0"/>
                            </a:rPr>
                          </m:ctrlPr>
                        </m:dPr>
                        <m:e>
                          <m:m>
                            <m:mPr>
                              <m:mcs>
                                <m:mc>
                                  <m:mcPr>
                                    <m:count m:val="2"/>
                                    <m:mcJc m:val="center"/>
                                  </m:mcPr>
                                </m:mc>
                              </m:mcs>
                              <m:ctrlPr>
                                <a:rPr lang="es-BO" i="1">
                                  <a:latin typeface="Cambria Math" panose="02040503050406030204" pitchFamily="18" charset="0"/>
                                </a:rPr>
                              </m:ctrlPr>
                            </m:mPr>
                            <m:mr>
                              <m:e>
                                <m:r>
                                  <m:rPr>
                                    <m:brk m:alnAt="7"/>
                                  </m:rPr>
                                  <a:rPr lang="es-BO" i="1">
                                    <a:latin typeface="Cambria Math" panose="02040503050406030204" pitchFamily="18" charset="0"/>
                                  </a:rPr>
                                  <m:t>1</m:t>
                                </m:r>
                              </m:e>
                              <m:e>
                                <m:r>
                                  <a:rPr lang="es-BO" i="1">
                                    <a:latin typeface="Cambria Math" panose="02040503050406030204" pitchFamily="18" charset="0"/>
                                  </a:rPr>
                                  <m:t>0</m:t>
                                </m:r>
                              </m:e>
                            </m:mr>
                          </m:m>
                        </m:e>
                      </m:d>
                    </m:oMath>
                  </m:oMathPara>
                </a14:m>
                <a:endParaRPr lang="en-US" dirty="0"/>
              </a:p>
              <a:p>
                <a:pPr marL="0" indent="0">
                  <a:buNone/>
                </a:pPr>
                <a:r>
                  <a:rPr lang="es-BO" dirty="0"/>
                  <a:t> </a:t>
                </a:r>
                <a:endParaRPr lang="en-US" dirty="0"/>
              </a:p>
              <a:p>
                <a:pPr marL="0" indent="0">
                  <a:buNone/>
                </a:pPr>
                <a14:m>
                  <m:oMathPara xmlns:m="http://schemas.openxmlformats.org/officeDocument/2006/math">
                    <m:oMathParaPr>
                      <m:jc m:val="centerGroup"/>
                    </m:oMathParaPr>
                    <m:oMath xmlns:m="http://schemas.openxmlformats.org/officeDocument/2006/math">
                      <m:acc>
                        <m:accPr>
                          <m:chr m:val="̂"/>
                          <m:ctrlPr>
                            <a:rPr lang="en-US" i="1">
                              <a:latin typeface="Cambria Math" panose="02040503050406030204" pitchFamily="18" charset="0"/>
                            </a:rPr>
                          </m:ctrlPr>
                        </m:accPr>
                        <m:e>
                          <m:r>
                            <a:rPr lang="es-BO" i="1">
                              <a:latin typeface="Cambria Math" panose="02040503050406030204" pitchFamily="18" charset="0"/>
                            </a:rPr>
                            <m:t>𝐾</m:t>
                          </m:r>
                        </m:e>
                      </m:acc>
                      <m:r>
                        <a:rPr lang="es-BO" i="1">
                          <a:latin typeface="Cambria Math" panose="02040503050406030204" pitchFamily="18" charset="0"/>
                        </a:rPr>
                        <m:t>=</m:t>
                      </m:r>
                      <m:d>
                        <m:dPr>
                          <m:begChr m:val="["/>
                          <m:endChr m:val="]"/>
                          <m:ctrlPr>
                            <a:rPr lang="en-US" i="1">
                              <a:latin typeface="Cambria Math" panose="02040503050406030204" pitchFamily="18" charset="0"/>
                            </a:rPr>
                          </m:ctrlPr>
                        </m:dPr>
                        <m:e>
                          <m:r>
                            <a:rPr lang="es-BO" b="0" i="1" smtClean="0">
                              <a:latin typeface="Cambria Math" panose="02040503050406030204" pitchFamily="18" charset="0"/>
                            </a:rPr>
                            <m:t>−</m:t>
                          </m:r>
                          <m:r>
                            <a:rPr lang="es-BO" b="0" i="1" smtClean="0">
                              <a:latin typeface="Cambria Math" panose="02040503050406030204" pitchFamily="18" charset="0"/>
                            </a:rPr>
                            <m:t>𝑘</m:t>
                          </m:r>
                          <m:r>
                            <a:rPr lang="es-BO" b="0" i="1" smtClean="0">
                              <a:latin typeface="Cambria Math" panose="02040503050406030204" pitchFamily="18" charset="0"/>
                            </a:rPr>
                            <m:t>1   −</m:t>
                          </m:r>
                          <m:r>
                            <a:rPr lang="es-BO" b="0" i="1" smtClean="0">
                              <a:latin typeface="Cambria Math" panose="02040503050406030204" pitchFamily="18" charset="0"/>
                            </a:rPr>
                            <m:t>𝑘</m:t>
                          </m:r>
                          <m:r>
                            <a:rPr lang="es-BO" b="0" i="1" smtClean="0">
                              <a:latin typeface="Cambria Math" panose="02040503050406030204" pitchFamily="18" charset="0"/>
                            </a:rPr>
                            <m:t>2</m:t>
                          </m:r>
                        </m:e>
                      </m:d>
                    </m:oMath>
                  </m:oMathPara>
                </a14:m>
                <a:endParaRPr lang="en-US" dirty="0"/>
              </a:p>
              <a:p>
                <a:pPr marL="0" indent="0">
                  <a:buNone/>
                </a:pPr>
                <a:r>
                  <a:rPr lang="es-BO" sz="1600" dirty="0"/>
                  <a:t> </a:t>
                </a:r>
                <a:endParaRPr lang="en-US" sz="1600" dirty="0"/>
              </a:p>
            </p:txBody>
          </p:sp>
        </mc:Choice>
        <mc:Fallback xmlns="">
          <p:sp>
            <p:nvSpPr>
              <p:cNvPr id="3" name="Marcador de contenido 2"/>
              <p:cNvSpPr>
                <a:spLocks noGrp="1" noRot="1" noChangeAspect="1" noMove="1" noResize="1" noEditPoints="1" noAdjustHandles="1" noChangeArrowheads="1" noChangeShapeType="1" noTextEdit="1"/>
              </p:cNvSpPr>
              <p:nvPr>
                <p:ph idx="1"/>
              </p:nvPr>
            </p:nvSpPr>
            <p:spPr>
              <a:xfrm>
                <a:off x="762871" y="316556"/>
                <a:ext cx="10058400" cy="6145204"/>
              </a:xfrm>
              <a:blipFill>
                <a:blip r:embed="rId2"/>
                <a:stretch>
                  <a:fillRect l="-606" t="-1587" r="-485"/>
                </a:stretch>
              </a:blipFill>
            </p:spPr>
            <p:txBody>
              <a:bodyPr/>
              <a:lstStyle/>
              <a:p>
                <a:r>
                  <a:rPr lang="en-US">
                    <a:noFill/>
                  </a:rPr>
                  <a:t> </a:t>
                </a:r>
              </a:p>
            </p:txBody>
          </p:sp>
        </mc:Fallback>
      </mc:AlternateContent>
    </p:spTree>
    <p:extLst>
      <p:ext uri="{BB962C8B-B14F-4D97-AF65-F5344CB8AC3E}">
        <p14:creationId xmlns:p14="http://schemas.microsoft.com/office/powerpoint/2010/main" val="7394015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CuadroTexto 4">
                <a:extLst>
                  <a:ext uri="{FF2B5EF4-FFF2-40B4-BE49-F238E27FC236}">
                    <a16:creationId xmlns:a16="http://schemas.microsoft.com/office/drawing/2014/main" id="{B5CA34B5-D3B9-6016-84D1-A8C569702DE3}"/>
                  </a:ext>
                </a:extLst>
              </p:cNvPr>
              <p:cNvSpPr txBox="1"/>
              <p:nvPr/>
            </p:nvSpPr>
            <p:spPr>
              <a:xfrm>
                <a:off x="1485900" y="888560"/>
                <a:ext cx="9258300" cy="2144433"/>
              </a:xfrm>
              <a:prstGeom prst="rect">
                <a:avLst/>
              </a:prstGeom>
              <a:noFill/>
            </p:spPr>
            <p:txBody>
              <a:bodyPr wrap="square">
                <a:spAutoFit/>
              </a:bodyPr>
              <a:lstStyle/>
              <a:p>
                <a:pPr marL="0" indent="0">
                  <a:buNone/>
                </a:pPr>
                <a:r>
                  <a:rPr lang="es-BO" sz="2000" dirty="0"/>
                  <a:t>Verificamos la controlabilidad del sistema</a:t>
                </a:r>
              </a:p>
              <a:p>
                <a:pPr marL="0" indent="0">
                  <a:buNone/>
                </a:pPr>
                <a:endParaRPr lang="en-US" sz="2000" dirty="0"/>
              </a:p>
              <a:p>
                <a:pPr marL="0" indent="0">
                  <a:buNone/>
                </a:pPr>
                <a14:m>
                  <m:oMathPara xmlns:m="http://schemas.openxmlformats.org/officeDocument/2006/math">
                    <m:oMathParaPr>
                      <m:jc m:val="centerGroup"/>
                    </m:oMathParaPr>
                    <m:oMath xmlns:m="http://schemas.openxmlformats.org/officeDocument/2006/math">
                      <m:r>
                        <a:rPr lang="es-BO" sz="2000" i="1">
                          <a:latin typeface="Cambria Math" panose="02040503050406030204" pitchFamily="18" charset="0"/>
                        </a:rPr>
                        <m:t>𝐶𝑜</m:t>
                      </m:r>
                      <m:r>
                        <a:rPr lang="es-BO" sz="2000" i="1">
                          <a:latin typeface="Cambria Math" panose="02040503050406030204" pitchFamily="18" charset="0"/>
                        </a:rPr>
                        <m:t>=</m:t>
                      </m:r>
                      <m:d>
                        <m:dPr>
                          <m:begChr m:val="["/>
                          <m:endChr m:val="]"/>
                          <m:ctrlPr>
                            <a:rPr lang="en-US" sz="2000" i="1">
                              <a:latin typeface="Cambria Math" panose="02040503050406030204" pitchFamily="18" charset="0"/>
                            </a:rPr>
                          </m:ctrlPr>
                        </m:dPr>
                        <m:e>
                          <m:m>
                            <m:mPr>
                              <m:mcs>
                                <m:mc>
                                  <m:mcPr>
                                    <m:count m:val="2"/>
                                    <m:mcJc m:val="center"/>
                                  </m:mcPr>
                                </m:mc>
                              </m:mcs>
                              <m:ctrlPr>
                                <a:rPr lang="en-US" sz="2000" i="1">
                                  <a:latin typeface="Cambria Math" panose="02040503050406030204" pitchFamily="18" charset="0"/>
                                </a:rPr>
                              </m:ctrlPr>
                            </m:mPr>
                            <m:mr>
                              <m:e>
                                <m:r>
                                  <a:rPr lang="es-BO" sz="2000" i="1">
                                    <a:latin typeface="Cambria Math" panose="02040503050406030204" pitchFamily="18" charset="0"/>
                                  </a:rPr>
                                  <m:t>𝐵</m:t>
                                </m:r>
                              </m:e>
                              <m:e>
                                <m:r>
                                  <a:rPr lang="es-BO" sz="2000" i="1">
                                    <a:latin typeface="Cambria Math" panose="02040503050406030204" pitchFamily="18" charset="0"/>
                                  </a:rPr>
                                  <m:t>𝐴𝐵</m:t>
                                </m:r>
                              </m:e>
                            </m:mr>
                          </m:m>
                        </m:e>
                      </m:d>
                      <m:r>
                        <a:rPr lang="es-BO" sz="2000" i="1">
                          <a:latin typeface="Cambria Math" panose="02040503050406030204" pitchFamily="18" charset="0"/>
                        </a:rPr>
                        <m:t>     →   </m:t>
                      </m:r>
                      <m:r>
                        <a:rPr lang="es-BO" sz="2000" i="1">
                          <a:latin typeface="Cambria Math" panose="02040503050406030204" pitchFamily="18" charset="0"/>
                        </a:rPr>
                        <m:t>𝐶𝑜</m:t>
                      </m:r>
                      <m:r>
                        <a:rPr lang="es-BO" sz="2000" i="1">
                          <a:latin typeface="Cambria Math" panose="02040503050406030204" pitchFamily="18" charset="0"/>
                        </a:rPr>
                        <m:t>=</m:t>
                      </m:r>
                      <m:d>
                        <m:dPr>
                          <m:begChr m:val="["/>
                          <m:endChr m:val="]"/>
                          <m:ctrlPr>
                            <a:rPr lang="en-US" sz="2000" i="1">
                              <a:latin typeface="Cambria Math" panose="02040503050406030204" pitchFamily="18" charset="0"/>
                            </a:rPr>
                          </m:ctrlPr>
                        </m:dPr>
                        <m:e>
                          <m:m>
                            <m:mPr>
                              <m:mcs>
                                <m:mc>
                                  <m:mcPr>
                                    <m:count m:val="2"/>
                                    <m:mcJc m:val="center"/>
                                  </m:mcPr>
                                </m:mc>
                              </m:mcs>
                              <m:ctrlPr>
                                <a:rPr lang="en-US" sz="2000" i="1">
                                  <a:latin typeface="Cambria Math" panose="02040503050406030204" pitchFamily="18" charset="0"/>
                                </a:rPr>
                              </m:ctrlPr>
                            </m:mPr>
                            <m:mr>
                              <m:e>
                                <m:m>
                                  <m:mPr>
                                    <m:mcs>
                                      <m:mc>
                                        <m:mcPr>
                                          <m:count m:val="1"/>
                                          <m:mcJc m:val="center"/>
                                        </m:mcPr>
                                      </m:mc>
                                    </m:mcs>
                                    <m:ctrlPr>
                                      <a:rPr lang="en-US" sz="2000" i="1">
                                        <a:latin typeface="Cambria Math" panose="02040503050406030204" pitchFamily="18" charset="0"/>
                                      </a:rPr>
                                    </m:ctrlPr>
                                  </m:mPr>
                                  <m:mr>
                                    <m:e>
                                      <m:r>
                                        <a:rPr lang="es-BO" sz="2000" b="0" i="1" smtClean="0">
                                          <a:latin typeface="Cambria Math" panose="02040503050406030204" pitchFamily="18" charset="0"/>
                                        </a:rPr>
                                        <m:t>1</m:t>
                                      </m:r>
                                    </m:e>
                                  </m:mr>
                                  <m:mr>
                                    <m:e>
                                      <m:r>
                                        <a:rPr lang="es-BO" sz="2000" i="1">
                                          <a:latin typeface="Cambria Math" panose="02040503050406030204" pitchFamily="18" charset="0"/>
                                        </a:rPr>
                                        <m:t>0</m:t>
                                      </m:r>
                                    </m:e>
                                  </m:mr>
                                </m:m>
                              </m:e>
                              <m:e>
                                <m:m>
                                  <m:mPr>
                                    <m:mcs>
                                      <m:mc>
                                        <m:mcPr>
                                          <m:count m:val="1"/>
                                          <m:mcJc m:val="center"/>
                                        </m:mcPr>
                                      </m:mc>
                                    </m:mcs>
                                    <m:ctrlPr>
                                      <a:rPr lang="en-US" sz="2000" i="1">
                                        <a:latin typeface="Cambria Math" panose="02040503050406030204" pitchFamily="18" charset="0"/>
                                      </a:rPr>
                                    </m:ctrlPr>
                                  </m:mPr>
                                  <m:mr>
                                    <m:e>
                                      <m:r>
                                        <a:rPr lang="es-MX" sz="2000" i="1">
                                          <a:latin typeface="Cambria Math" panose="02040503050406030204" pitchFamily="18" charset="0"/>
                                        </a:rPr>
                                        <m:t>−</m:t>
                                      </m:r>
                                      <m:r>
                                        <a:rPr lang="es-BO" sz="2000" b="0" i="1" smtClean="0">
                                          <a:latin typeface="Cambria Math" panose="02040503050406030204" pitchFamily="18" charset="0"/>
                                        </a:rPr>
                                        <m:t>0.3307</m:t>
                                      </m:r>
                                    </m:e>
                                  </m:mr>
                                  <m:mr>
                                    <m:e>
                                      <m:r>
                                        <a:rPr lang="es-BO" sz="2000" b="0" i="1" smtClean="0">
                                          <a:latin typeface="Cambria Math" panose="02040503050406030204" pitchFamily="18" charset="0"/>
                                        </a:rPr>
                                        <m:t>1</m:t>
                                      </m:r>
                                    </m:e>
                                  </m:mr>
                                </m:m>
                              </m:e>
                            </m:mr>
                          </m:m>
                        </m:e>
                      </m:d>
                    </m:oMath>
                  </m:oMathPara>
                </a14:m>
                <a:endParaRPr lang="en-US" sz="2000" dirty="0"/>
              </a:p>
              <a:p>
                <a:pPr marL="0" indent="0">
                  <a:buNone/>
                </a:pPr>
                <a:r>
                  <a:rPr lang="es-BO" sz="2000" dirty="0"/>
                  <a:t> </a:t>
                </a:r>
              </a:p>
              <a:p>
                <a:pPr marL="0" indent="0">
                  <a:buNone/>
                </a:pPr>
                <a:endParaRPr lang="en-US" sz="2000" dirty="0"/>
              </a:p>
              <a:p>
                <a:pPr marL="0" indent="0">
                  <a:buNone/>
                </a:pPr>
                <a14:m>
                  <m:oMathPara xmlns:m="http://schemas.openxmlformats.org/officeDocument/2006/math">
                    <m:oMathParaPr>
                      <m:jc m:val="centerGroup"/>
                    </m:oMathParaPr>
                    <m:oMath xmlns:m="http://schemas.openxmlformats.org/officeDocument/2006/math">
                      <m:r>
                        <a:rPr lang="es-BO" sz="2000" b="0" i="1" smtClean="0">
                          <a:latin typeface="Cambria Math" panose="02040503050406030204" pitchFamily="18" charset="0"/>
                        </a:rPr>
                        <m:t>𝑟𝑎𝑛𝑔𝑜</m:t>
                      </m:r>
                      <m:r>
                        <a:rPr lang="es-BO" sz="2000" b="0" i="1" smtClean="0">
                          <a:latin typeface="Cambria Math" panose="02040503050406030204" pitchFamily="18" charset="0"/>
                        </a:rPr>
                        <m:t>(</m:t>
                      </m:r>
                      <m:r>
                        <a:rPr lang="es-BO" sz="2000" i="1">
                          <a:latin typeface="Cambria Math" panose="02040503050406030204" pitchFamily="18" charset="0"/>
                        </a:rPr>
                        <m:t>𝐶𝑜</m:t>
                      </m:r>
                      <m:r>
                        <a:rPr lang="es-BO" sz="2000" b="0" i="1" smtClean="0">
                          <a:latin typeface="Cambria Math" panose="02040503050406030204" pitchFamily="18" charset="0"/>
                        </a:rPr>
                        <m:t>)</m:t>
                      </m:r>
                      <m:r>
                        <a:rPr lang="es-BO" sz="2000" i="1">
                          <a:latin typeface="Cambria Math" panose="02040503050406030204" pitchFamily="18" charset="0"/>
                        </a:rPr>
                        <m:t>=</m:t>
                      </m:r>
                      <m:r>
                        <a:rPr lang="es-BO" sz="2000" b="1" i="1" smtClean="0">
                          <a:latin typeface="Cambria Math" panose="02040503050406030204" pitchFamily="18" charset="0"/>
                        </a:rPr>
                        <m:t>𝟐</m:t>
                      </m:r>
                      <m:r>
                        <a:rPr lang="es-BO" sz="2000" b="1" i="1">
                          <a:latin typeface="Cambria Math" panose="02040503050406030204" pitchFamily="18" charset="0"/>
                        </a:rPr>
                        <m:t>  ∴</m:t>
                      </m:r>
                      <m:r>
                        <a:rPr lang="es-BO" sz="2000" b="1" i="1" smtClean="0">
                          <a:latin typeface="Cambria Math" panose="02040503050406030204" pitchFamily="18" charset="0"/>
                        </a:rPr>
                        <m:t>𝒆𝒔</m:t>
                      </m:r>
                      <m:r>
                        <a:rPr lang="es-BO" sz="2000" b="1" i="1" smtClean="0">
                          <a:latin typeface="Cambria Math" panose="02040503050406030204" pitchFamily="18" charset="0"/>
                        </a:rPr>
                        <m:t> </m:t>
                      </m:r>
                      <m:r>
                        <a:rPr lang="es-BO" sz="2000" b="1" i="1" smtClean="0">
                          <a:latin typeface="Cambria Math" panose="02040503050406030204" pitchFamily="18" charset="0"/>
                        </a:rPr>
                        <m:t>𝒄𝒐𝒏𝒕𝒓𝒐𝒍𝒂𝒃𝒍𝒆</m:t>
                      </m:r>
                    </m:oMath>
                  </m:oMathPara>
                </a14:m>
                <a:endParaRPr lang="en-US" sz="2000" dirty="0"/>
              </a:p>
            </p:txBody>
          </p:sp>
        </mc:Choice>
        <mc:Fallback xmlns="">
          <p:sp>
            <p:nvSpPr>
              <p:cNvPr id="5" name="CuadroTexto 4">
                <a:extLst>
                  <a:ext uri="{FF2B5EF4-FFF2-40B4-BE49-F238E27FC236}">
                    <a16:creationId xmlns:a16="http://schemas.microsoft.com/office/drawing/2014/main" id="{B5CA34B5-D3B9-6016-84D1-A8C569702DE3}"/>
                  </a:ext>
                </a:extLst>
              </p:cNvPr>
              <p:cNvSpPr txBox="1">
                <a:spLocks noRot="1" noChangeAspect="1" noMove="1" noResize="1" noEditPoints="1" noAdjustHandles="1" noChangeArrowheads="1" noChangeShapeType="1" noTextEdit="1"/>
              </p:cNvSpPr>
              <p:nvPr/>
            </p:nvSpPr>
            <p:spPr>
              <a:xfrm>
                <a:off x="1485900" y="888560"/>
                <a:ext cx="9258300" cy="2144433"/>
              </a:xfrm>
              <a:prstGeom prst="rect">
                <a:avLst/>
              </a:prstGeom>
              <a:blipFill>
                <a:blip r:embed="rId2"/>
                <a:stretch>
                  <a:fillRect l="-724" t="-1705" b="-198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 name="Rectángulo 1"/>
              <p:cNvSpPr/>
              <p:nvPr/>
            </p:nvSpPr>
            <p:spPr>
              <a:xfrm>
                <a:off x="1485900" y="3268977"/>
                <a:ext cx="9072880" cy="2880019"/>
              </a:xfrm>
              <a:prstGeom prst="rect">
                <a:avLst/>
              </a:prstGeom>
            </p:spPr>
            <p:txBody>
              <a:bodyPr wrap="square">
                <a:spAutoFit/>
              </a:bodyPr>
              <a:lstStyle/>
              <a:p>
                <a:r>
                  <a:rPr lang="es-BO" b="1" dirty="0"/>
                  <a:t>Para el controlador: </a:t>
                </a:r>
                <a:r>
                  <a:rPr lang="es-BO" dirty="0"/>
                  <a:t>Calculo de la ganancia de pre compensación y de la ganancia de pre alimentación.</a:t>
                </a:r>
              </a:p>
              <a:p>
                <a:endParaRPr lang="es-BO" dirty="0"/>
              </a:p>
              <a:p>
                <a:r>
                  <a:rPr lang="es-BO" dirty="0"/>
                  <a:t>Sea el polinomio característico de un sistema de 2do orden:</a:t>
                </a:r>
              </a:p>
              <a:p>
                <a:endParaRPr lang="en-US" dirty="0"/>
              </a:p>
              <a:p>
                <a:pPr/>
                <a14:m>
                  <m:oMathPara xmlns:m="http://schemas.openxmlformats.org/officeDocument/2006/math">
                    <m:oMathParaPr>
                      <m:jc m:val="centerGroup"/>
                    </m:oMathParaPr>
                    <m:oMath xmlns:m="http://schemas.openxmlformats.org/officeDocument/2006/math">
                      <m:sSup>
                        <m:sSupPr>
                          <m:ctrlPr>
                            <a:rPr lang="en-US" i="1">
                              <a:latin typeface="Cambria Math" panose="02040503050406030204" pitchFamily="18" charset="0"/>
                            </a:rPr>
                          </m:ctrlPr>
                        </m:sSupPr>
                        <m:e>
                          <m:r>
                            <a:rPr lang="es-MX" i="1">
                              <a:latin typeface="Cambria Math" panose="02040503050406030204" pitchFamily="18" charset="0"/>
                            </a:rPr>
                            <m:t>𝑠</m:t>
                          </m:r>
                        </m:e>
                        <m:sup>
                          <m:r>
                            <a:rPr lang="es-MX" i="1">
                              <a:latin typeface="Cambria Math" panose="02040503050406030204" pitchFamily="18" charset="0"/>
                            </a:rPr>
                            <m:t>2</m:t>
                          </m:r>
                        </m:sup>
                      </m:sSup>
                      <m:r>
                        <a:rPr lang="es-MX" i="1">
                          <a:latin typeface="Cambria Math" panose="02040503050406030204" pitchFamily="18" charset="0"/>
                        </a:rPr>
                        <m:t>+2</m:t>
                      </m:r>
                      <m:r>
                        <a:rPr lang="es-MX" i="1">
                          <a:latin typeface="Cambria Math" panose="02040503050406030204" pitchFamily="18" charset="0"/>
                        </a:rPr>
                        <m:t>𝜁</m:t>
                      </m:r>
                      <m:sSub>
                        <m:sSubPr>
                          <m:ctrlPr>
                            <a:rPr lang="en-US" i="1">
                              <a:latin typeface="Cambria Math" panose="02040503050406030204" pitchFamily="18" charset="0"/>
                            </a:rPr>
                          </m:ctrlPr>
                        </m:sSubPr>
                        <m:e>
                          <m:r>
                            <a:rPr lang="es-MX" i="1">
                              <a:latin typeface="Cambria Math" panose="02040503050406030204" pitchFamily="18" charset="0"/>
                            </a:rPr>
                            <m:t>𝜔</m:t>
                          </m:r>
                        </m:e>
                        <m:sub>
                          <m:r>
                            <a:rPr lang="es-MX" i="1">
                              <a:latin typeface="Cambria Math" panose="02040503050406030204" pitchFamily="18" charset="0"/>
                            </a:rPr>
                            <m:t>𝑛</m:t>
                          </m:r>
                        </m:sub>
                      </m:sSub>
                      <m:r>
                        <a:rPr lang="es-MX" i="1">
                          <a:latin typeface="Cambria Math" panose="02040503050406030204" pitchFamily="18" charset="0"/>
                        </a:rPr>
                        <m:t>𝑠</m:t>
                      </m:r>
                      <m:r>
                        <a:rPr lang="es-MX" i="1">
                          <a:latin typeface="Cambria Math" panose="02040503050406030204" pitchFamily="18" charset="0"/>
                        </a:rPr>
                        <m:t>+</m:t>
                      </m:r>
                      <m:sSup>
                        <m:sSupPr>
                          <m:ctrlPr>
                            <a:rPr lang="en-US" i="1">
                              <a:latin typeface="Cambria Math" panose="02040503050406030204" pitchFamily="18" charset="0"/>
                            </a:rPr>
                          </m:ctrlPr>
                        </m:sSupPr>
                        <m:e>
                          <m:sSub>
                            <m:sSubPr>
                              <m:ctrlPr>
                                <a:rPr lang="en-US" i="1">
                                  <a:latin typeface="Cambria Math" panose="02040503050406030204" pitchFamily="18" charset="0"/>
                                </a:rPr>
                              </m:ctrlPr>
                            </m:sSubPr>
                            <m:e>
                              <m:r>
                                <a:rPr lang="es-MX" i="1">
                                  <a:latin typeface="Cambria Math" panose="02040503050406030204" pitchFamily="18" charset="0"/>
                                </a:rPr>
                                <m:t>𝜔</m:t>
                              </m:r>
                            </m:e>
                            <m:sub>
                              <m:r>
                                <a:rPr lang="es-MX" i="1">
                                  <a:latin typeface="Cambria Math" panose="02040503050406030204" pitchFamily="18" charset="0"/>
                                </a:rPr>
                                <m:t>𝑛</m:t>
                              </m:r>
                            </m:sub>
                          </m:sSub>
                        </m:e>
                        <m:sup>
                          <m:r>
                            <a:rPr lang="es-MX" i="1">
                              <a:latin typeface="Cambria Math" panose="02040503050406030204" pitchFamily="18" charset="0"/>
                            </a:rPr>
                            <m:t>2</m:t>
                          </m:r>
                        </m:sup>
                      </m:sSup>
                      <m:r>
                        <a:rPr lang="es-MX" i="1">
                          <a:latin typeface="Cambria Math" panose="02040503050406030204" pitchFamily="18" charset="0"/>
                        </a:rPr>
                        <m:t>      →    </m:t>
                      </m:r>
                      <m:sSup>
                        <m:sSupPr>
                          <m:ctrlPr>
                            <a:rPr lang="en-US" i="1">
                              <a:latin typeface="Cambria Math" panose="02040503050406030204" pitchFamily="18" charset="0"/>
                            </a:rPr>
                          </m:ctrlPr>
                        </m:sSupPr>
                        <m:e>
                          <m:r>
                            <a:rPr lang="es-MX" i="1">
                              <a:latin typeface="Cambria Math" panose="02040503050406030204" pitchFamily="18" charset="0"/>
                            </a:rPr>
                            <m:t>𝑠</m:t>
                          </m:r>
                        </m:e>
                        <m:sup>
                          <m:r>
                            <a:rPr lang="es-MX" i="1">
                              <a:latin typeface="Cambria Math" panose="02040503050406030204" pitchFamily="18" charset="0"/>
                            </a:rPr>
                            <m:t>2</m:t>
                          </m:r>
                        </m:sup>
                      </m:sSup>
                      <m:r>
                        <a:rPr lang="es-MX" i="1">
                          <a:latin typeface="Cambria Math" panose="02040503050406030204" pitchFamily="18" charset="0"/>
                        </a:rPr>
                        <m:t>+0.0</m:t>
                      </m:r>
                      <m:r>
                        <a:rPr lang="es-BO" i="1">
                          <a:latin typeface="Cambria Math" panose="02040503050406030204" pitchFamily="18" charset="0"/>
                        </a:rPr>
                        <m:t>1</m:t>
                      </m:r>
                      <m:r>
                        <a:rPr lang="es-MX" i="1">
                          <a:latin typeface="Cambria Math" panose="02040503050406030204" pitchFamily="18" charset="0"/>
                        </a:rPr>
                        <m:t>𝑠</m:t>
                      </m:r>
                      <m:r>
                        <a:rPr lang="es-MX" i="1">
                          <a:latin typeface="Cambria Math" panose="02040503050406030204" pitchFamily="18" charset="0"/>
                        </a:rPr>
                        <m:t>+3.663∙</m:t>
                      </m:r>
                      <m:sSup>
                        <m:sSupPr>
                          <m:ctrlPr>
                            <a:rPr lang="en-US" i="1">
                              <a:latin typeface="Cambria Math" panose="02040503050406030204" pitchFamily="18" charset="0"/>
                            </a:rPr>
                          </m:ctrlPr>
                        </m:sSupPr>
                        <m:e>
                          <m:r>
                            <a:rPr lang="es-MX" i="1">
                              <a:latin typeface="Cambria Math" panose="02040503050406030204" pitchFamily="18" charset="0"/>
                            </a:rPr>
                            <m:t>10</m:t>
                          </m:r>
                        </m:e>
                        <m:sup>
                          <m:r>
                            <a:rPr lang="es-MX" i="1">
                              <a:latin typeface="Cambria Math" panose="02040503050406030204" pitchFamily="18" charset="0"/>
                            </a:rPr>
                            <m:t>−3</m:t>
                          </m:r>
                        </m:sup>
                      </m:sSup>
                    </m:oMath>
                  </m:oMathPara>
                </a14:m>
                <a:endParaRPr lang="es-BO" dirty="0"/>
              </a:p>
              <a:p>
                <a:endParaRPr lang="en-US" dirty="0"/>
              </a:p>
              <a:p>
                <a:r>
                  <a:rPr lang="es-MX" dirty="0"/>
                  <a:t>Las raíces que deseamos serán:</a:t>
                </a:r>
              </a:p>
              <a:p>
                <a:endParaRPr lang="en-US" dirty="0"/>
              </a:p>
              <a:p>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s-BO" i="1">
                              <a:latin typeface="Cambria Math" panose="02040503050406030204" pitchFamily="18" charset="0"/>
                            </a:rPr>
                            <m:t>𝑠</m:t>
                          </m:r>
                        </m:e>
                        <m:sub>
                          <m:r>
                            <a:rPr lang="es-BO" i="1">
                              <a:latin typeface="Cambria Math" panose="02040503050406030204" pitchFamily="18" charset="0"/>
                            </a:rPr>
                            <m:t>1,2</m:t>
                          </m:r>
                        </m:sub>
                      </m:sSub>
                      <m:r>
                        <a:rPr lang="es-BO" i="1">
                          <a:latin typeface="Cambria Math" panose="02040503050406030204" pitchFamily="18" charset="0"/>
                        </a:rPr>
                        <m:t>=−5∗</m:t>
                      </m:r>
                      <m:sSup>
                        <m:sSupPr>
                          <m:ctrlPr>
                            <a:rPr lang="es-BO" i="1">
                              <a:latin typeface="Cambria Math" panose="02040503050406030204" pitchFamily="18" charset="0"/>
                            </a:rPr>
                          </m:ctrlPr>
                        </m:sSupPr>
                        <m:e>
                          <m:r>
                            <a:rPr lang="es-BO" i="1">
                              <a:latin typeface="Cambria Math" panose="02040503050406030204" pitchFamily="18" charset="0"/>
                            </a:rPr>
                            <m:t>10</m:t>
                          </m:r>
                        </m:e>
                        <m:sup>
                          <m:r>
                            <a:rPr lang="es-BO" i="1">
                              <a:latin typeface="Cambria Math" panose="02040503050406030204" pitchFamily="18" charset="0"/>
                            </a:rPr>
                            <m:t>−3</m:t>
                          </m:r>
                        </m:sup>
                      </m:sSup>
                      <m:r>
                        <a:rPr lang="es-BO" i="1">
                          <a:latin typeface="Cambria Math" panose="02040503050406030204" pitchFamily="18" charset="0"/>
                        </a:rPr>
                        <m:t>±</m:t>
                      </m:r>
                      <m:r>
                        <a:rPr lang="es-MX" i="1">
                          <a:latin typeface="Cambria Math" panose="02040503050406030204" pitchFamily="18" charset="0"/>
                        </a:rPr>
                        <m:t>6</m:t>
                      </m:r>
                      <m:r>
                        <a:rPr lang="es-BO" i="1">
                          <a:latin typeface="Cambria Math" panose="02040503050406030204" pitchFamily="18" charset="0"/>
                        </a:rPr>
                        <m:t>0</m:t>
                      </m:r>
                      <m:r>
                        <a:rPr lang="es-MX" i="1">
                          <a:latin typeface="Cambria Math" panose="02040503050406030204" pitchFamily="18" charset="0"/>
                        </a:rPr>
                        <m:t>.</m:t>
                      </m:r>
                      <m:r>
                        <a:rPr lang="es-BO" i="1">
                          <a:latin typeface="Cambria Math" panose="02040503050406030204" pitchFamily="18" charset="0"/>
                        </a:rPr>
                        <m:t>29</m:t>
                      </m:r>
                      <m:r>
                        <a:rPr lang="es-MX" i="1">
                          <a:latin typeface="Cambria Math" panose="02040503050406030204" pitchFamily="18" charset="0"/>
                        </a:rPr>
                        <m:t>∙</m:t>
                      </m:r>
                      <m:sSup>
                        <m:sSupPr>
                          <m:ctrlPr>
                            <a:rPr lang="en-US" i="1">
                              <a:latin typeface="Cambria Math" panose="02040503050406030204" pitchFamily="18" charset="0"/>
                            </a:rPr>
                          </m:ctrlPr>
                        </m:sSupPr>
                        <m:e>
                          <m:r>
                            <a:rPr lang="es-MX" i="1">
                              <a:latin typeface="Cambria Math" panose="02040503050406030204" pitchFamily="18" charset="0"/>
                            </a:rPr>
                            <m:t>10</m:t>
                          </m:r>
                        </m:e>
                        <m:sup>
                          <m:r>
                            <a:rPr lang="es-MX" i="1">
                              <a:latin typeface="Cambria Math" panose="02040503050406030204" pitchFamily="18" charset="0"/>
                            </a:rPr>
                            <m:t>−3</m:t>
                          </m:r>
                        </m:sup>
                      </m:sSup>
                    </m:oMath>
                  </m:oMathPara>
                </a14:m>
                <a:endParaRPr lang="en-US" dirty="0"/>
              </a:p>
            </p:txBody>
          </p:sp>
        </mc:Choice>
        <mc:Fallback xmlns="">
          <p:sp>
            <p:nvSpPr>
              <p:cNvPr id="2" name="Rectángulo 1"/>
              <p:cNvSpPr>
                <a:spLocks noRot="1" noChangeAspect="1" noMove="1" noResize="1" noEditPoints="1" noAdjustHandles="1" noChangeArrowheads="1" noChangeShapeType="1" noTextEdit="1"/>
              </p:cNvSpPr>
              <p:nvPr/>
            </p:nvSpPr>
            <p:spPr>
              <a:xfrm>
                <a:off x="1485900" y="3268977"/>
                <a:ext cx="9072880" cy="2880019"/>
              </a:xfrm>
              <a:prstGeom prst="rect">
                <a:avLst/>
              </a:prstGeom>
              <a:blipFill>
                <a:blip r:embed="rId3"/>
                <a:stretch>
                  <a:fillRect l="-605" t="-1057"/>
                </a:stretch>
              </a:blipFill>
            </p:spPr>
            <p:txBody>
              <a:bodyPr/>
              <a:lstStyle/>
              <a:p>
                <a:r>
                  <a:rPr lang="en-US">
                    <a:noFill/>
                  </a:rPr>
                  <a:t> </a:t>
                </a:r>
              </a:p>
            </p:txBody>
          </p:sp>
        </mc:Fallback>
      </mc:AlternateContent>
    </p:spTree>
    <p:extLst>
      <p:ext uri="{BB962C8B-B14F-4D97-AF65-F5344CB8AC3E}">
        <p14:creationId xmlns:p14="http://schemas.microsoft.com/office/powerpoint/2010/main" val="335554916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Rectángulo 3"/>
              <p:cNvSpPr/>
              <p:nvPr/>
            </p:nvSpPr>
            <p:spPr>
              <a:xfrm>
                <a:off x="1706880" y="374420"/>
                <a:ext cx="9113520" cy="5000600"/>
              </a:xfrm>
              <a:prstGeom prst="rect">
                <a:avLst/>
              </a:prstGeom>
            </p:spPr>
            <p:txBody>
              <a:bodyPr wrap="square">
                <a:spAutoFit/>
              </a:bodyPr>
              <a:lstStyle/>
              <a:p>
                <a:pPr>
                  <a:lnSpc>
                    <a:spcPct val="107000"/>
                  </a:lnSpc>
                  <a:spcBef>
                    <a:spcPts val="600"/>
                  </a:spcBef>
                  <a:spcAft>
                    <a:spcPts val="600"/>
                  </a:spcAft>
                </a:pPr>
                <a:r>
                  <a:rPr lang="es-BO" dirty="0">
                    <a:latin typeface="Calibri" panose="020F0502020204030204" pitchFamily="34" charset="0"/>
                    <a:ea typeface="Times New Roman" panose="02020603050405020304" pitchFamily="18" charset="0"/>
                    <a:cs typeface="Times New Roman" panose="02020603050405020304" pitchFamily="18" charset="0"/>
                  </a:rPr>
                  <a:t>Por  el método de </a:t>
                </a:r>
                <a:r>
                  <a:rPr lang="es-BO" dirty="0" err="1">
                    <a:latin typeface="Calibri" panose="020F0502020204030204" pitchFamily="34" charset="0"/>
                    <a:ea typeface="Times New Roman" panose="02020603050405020304" pitchFamily="18" charset="0"/>
                    <a:cs typeface="Times New Roman" panose="02020603050405020304" pitchFamily="18" charset="0"/>
                  </a:rPr>
                  <a:t>Ackerman</a:t>
                </a:r>
                <a:r>
                  <a:rPr lang="es-BO" dirty="0">
                    <a:latin typeface="Calibri" panose="020F0502020204030204" pitchFamily="34" charset="0"/>
                    <a:ea typeface="Times New Roman" panose="02020603050405020304" pitchFamily="18" charset="0"/>
                    <a:cs typeface="Times New Roman" panose="02020603050405020304" pitchFamily="18" charset="0"/>
                  </a:rPr>
                  <a:t>:</a:t>
                </a:r>
                <a:endParaRPr lang="en-US"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Bef>
                    <a:spcPts val="600"/>
                  </a:spcBef>
                  <a:spcAft>
                    <a:spcPts val="600"/>
                  </a:spcAft>
                </a:pPr>
                <a14:m>
                  <m:oMathPara xmlns:m="http://schemas.openxmlformats.org/officeDocument/2006/math">
                    <m:oMathParaPr>
                      <m:jc m:val="centerGroup"/>
                    </m:oMathParaPr>
                    <m:oMath xmlns:m="http://schemas.openxmlformats.org/officeDocument/2006/math">
                      <m:r>
                        <a:rPr lang="es-BO" i="1">
                          <a:latin typeface="Cambria Math" panose="02040503050406030204" pitchFamily="18" charset="0"/>
                          <a:ea typeface="Times New Roman" panose="02020603050405020304" pitchFamily="18" charset="0"/>
                          <a:cs typeface="Times New Roman" panose="02020603050405020304" pitchFamily="18" charset="0"/>
                        </a:rPr>
                        <m:t>𝐷𝑜𝑛𝑑𝑒</m:t>
                      </m:r>
                      <m:r>
                        <a:rPr lang="es-BO" i="1">
                          <a:latin typeface="Cambria Math" panose="02040503050406030204" pitchFamily="18" charset="0"/>
                          <a:ea typeface="Times New Roman" panose="02020603050405020304" pitchFamily="18" charset="0"/>
                          <a:cs typeface="Times New Roman" panose="02020603050405020304" pitchFamily="18" charset="0"/>
                        </a:rPr>
                        <m:t>: </m:t>
                      </m:r>
                      <m:r>
                        <a:rPr lang="es-BO" i="1">
                          <a:latin typeface="Cambria Math" panose="02040503050406030204" pitchFamily="18" charset="0"/>
                        </a:rPr>
                        <m:t>𝐴</m:t>
                      </m:r>
                      <m:r>
                        <a:rPr lang="es-BO" i="1">
                          <a:latin typeface="Cambria Math" panose="02040503050406030204" pitchFamily="18" charset="0"/>
                        </a:rPr>
                        <m:t>=</m:t>
                      </m:r>
                      <m:d>
                        <m:dPr>
                          <m:begChr m:val="["/>
                          <m:endChr m:val="]"/>
                          <m:ctrlPr>
                            <a:rPr lang="en-US" i="1">
                              <a:latin typeface="Cambria Math" panose="02040503050406030204" pitchFamily="18" charset="0"/>
                            </a:rPr>
                          </m:ctrlPr>
                        </m:dPr>
                        <m:e>
                          <m:m>
                            <m:mPr>
                              <m:mcs>
                                <m:mc>
                                  <m:mcPr>
                                    <m:count m:val="2"/>
                                    <m:mcJc m:val="center"/>
                                  </m:mcPr>
                                </m:mc>
                              </m:mcs>
                              <m:ctrlPr>
                                <a:rPr lang="en-US" i="1">
                                  <a:latin typeface="Cambria Math" panose="02040503050406030204" pitchFamily="18" charset="0"/>
                                </a:rPr>
                              </m:ctrlPr>
                            </m:mPr>
                            <m:mr>
                              <m:e>
                                <m:r>
                                  <m:rPr>
                                    <m:brk m:alnAt="7"/>
                                  </m:rPr>
                                  <a:rPr lang="es-BO" i="1">
                                    <a:latin typeface="Cambria Math" panose="02040503050406030204" pitchFamily="18" charset="0"/>
                                  </a:rPr>
                                  <m:t>−</m:t>
                                </m:r>
                                <m:r>
                                  <a:rPr lang="es-BO" i="1">
                                    <a:latin typeface="Cambria Math" panose="02040503050406030204" pitchFamily="18" charset="0"/>
                                  </a:rPr>
                                  <m:t>0.3307</m:t>
                                </m:r>
                              </m:e>
                              <m:e>
                                <m:r>
                                  <a:rPr lang="es-BO" i="1">
                                    <a:latin typeface="Cambria Math" panose="02040503050406030204" pitchFamily="18" charset="0"/>
                                  </a:rPr>
                                  <m:t>−0.0011</m:t>
                                </m:r>
                              </m:e>
                            </m:mr>
                            <m:mr>
                              <m:e>
                                <m:r>
                                  <a:rPr lang="es-BO" i="1">
                                    <a:latin typeface="Cambria Math" panose="02040503050406030204" pitchFamily="18" charset="0"/>
                                  </a:rPr>
                                  <m:t>1</m:t>
                                </m:r>
                              </m:e>
                              <m:e>
                                <m:r>
                                  <a:rPr lang="es-BO" i="1">
                                    <a:latin typeface="Cambria Math" panose="02040503050406030204" pitchFamily="18" charset="0"/>
                                  </a:rPr>
                                  <m:t>0</m:t>
                                </m:r>
                              </m:e>
                            </m:mr>
                          </m:m>
                        </m:e>
                      </m:d>
                      <m:r>
                        <a:rPr lang="es-BO" i="1">
                          <a:latin typeface="Cambria Math" panose="02040503050406030204" pitchFamily="18" charset="0"/>
                        </a:rPr>
                        <m:t>,      </m:t>
                      </m:r>
                      <m:r>
                        <a:rPr lang="es-BO" i="1">
                          <a:latin typeface="Cambria Math" panose="02040503050406030204" pitchFamily="18" charset="0"/>
                        </a:rPr>
                        <m:t>𝐵</m:t>
                      </m:r>
                      <m:r>
                        <a:rPr lang="es-BO" i="1">
                          <a:latin typeface="Cambria Math" panose="02040503050406030204" pitchFamily="18" charset="0"/>
                        </a:rPr>
                        <m:t>=</m:t>
                      </m:r>
                      <m:d>
                        <m:dPr>
                          <m:begChr m:val="["/>
                          <m:endChr m:val="]"/>
                          <m:ctrlPr>
                            <a:rPr lang="en-US" i="1">
                              <a:latin typeface="Cambria Math" panose="02040503050406030204" pitchFamily="18" charset="0"/>
                            </a:rPr>
                          </m:ctrlPr>
                        </m:dPr>
                        <m:e>
                          <m:m>
                            <m:mPr>
                              <m:mcs>
                                <m:mc>
                                  <m:mcPr>
                                    <m:count m:val="1"/>
                                    <m:mcJc m:val="center"/>
                                  </m:mcPr>
                                </m:mc>
                              </m:mcs>
                              <m:ctrlPr>
                                <a:rPr lang="en-US" i="1">
                                  <a:latin typeface="Cambria Math" panose="02040503050406030204" pitchFamily="18" charset="0"/>
                                </a:rPr>
                              </m:ctrlPr>
                            </m:mPr>
                            <m:mr>
                              <m:e>
                                <m:r>
                                  <m:rPr>
                                    <m:brk m:alnAt="7"/>
                                  </m:rPr>
                                  <a:rPr lang="es-BO" i="1">
                                    <a:latin typeface="Cambria Math" panose="02040503050406030204" pitchFamily="18" charset="0"/>
                                  </a:rPr>
                                  <m:t>1</m:t>
                                </m:r>
                              </m:e>
                            </m:mr>
                            <m:mr>
                              <m:e>
                                <m:r>
                                  <a:rPr lang="es-BO" i="1">
                                    <a:latin typeface="Cambria Math" panose="02040503050406030204" pitchFamily="18" charset="0"/>
                                  </a:rPr>
                                  <m:t>0</m:t>
                                </m:r>
                              </m:e>
                            </m:mr>
                          </m:m>
                        </m:e>
                      </m:d>
                    </m:oMath>
                  </m:oMathPara>
                </a14:m>
                <a:endParaRPr lang="en-US"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Bef>
                    <a:spcPts val="600"/>
                  </a:spcBef>
                  <a:spcAft>
                    <a:spcPts val="600"/>
                  </a:spcAft>
                </a:pPr>
                <a14:m>
                  <m:oMathPara xmlns:m="http://schemas.openxmlformats.org/officeDocument/2006/math">
                    <m:oMathParaPr>
                      <m:jc m:val="centerGroup"/>
                    </m:oMathParaPr>
                    <m:oMath xmlns:m="http://schemas.openxmlformats.org/officeDocument/2006/math">
                      <m:acc>
                        <m:accPr>
                          <m:chr m:val="̂"/>
                          <m:ctrlPr>
                            <a:rPr lang="en-US" i="1">
                              <a:latin typeface="Cambria Math" panose="02040503050406030204" pitchFamily="18" charset="0"/>
                              <a:ea typeface="Times New Roman" panose="02020603050405020304" pitchFamily="18" charset="0"/>
                              <a:cs typeface="Times New Roman" panose="02020603050405020304" pitchFamily="18" charset="0"/>
                            </a:rPr>
                          </m:ctrlPr>
                        </m:accPr>
                        <m:e>
                          <m:r>
                            <a:rPr lang="es-BO" i="1">
                              <a:latin typeface="Cambria Math" panose="02040503050406030204" pitchFamily="18" charset="0"/>
                              <a:ea typeface="Times New Roman" panose="02020603050405020304" pitchFamily="18" charset="0"/>
                              <a:cs typeface="Times New Roman" panose="02020603050405020304" pitchFamily="18" charset="0"/>
                            </a:rPr>
                            <m:t>𝐾</m:t>
                          </m:r>
                        </m:e>
                      </m:acc>
                      <m:r>
                        <a:rPr lang="es-BO" i="1">
                          <a:latin typeface="Cambria Math" panose="02040503050406030204" pitchFamily="18" charset="0"/>
                          <a:ea typeface="Times New Roman" panose="02020603050405020304" pitchFamily="18" charset="0"/>
                          <a:cs typeface="Times New Roman" panose="02020603050405020304" pitchFamily="18" charset="0"/>
                        </a:rPr>
                        <m:t>=</m:t>
                      </m:r>
                      <m:d>
                        <m:dPr>
                          <m:begChr m:val="["/>
                          <m:endChr m:val="]"/>
                          <m:ctrlPr>
                            <a:rPr lang="en-US" i="1">
                              <a:latin typeface="Cambria Math" panose="02040503050406030204" pitchFamily="18" charset="0"/>
                              <a:ea typeface="Times New Roman" panose="02020603050405020304" pitchFamily="18" charset="0"/>
                              <a:cs typeface="Times New Roman" panose="02020603050405020304" pitchFamily="18" charset="0"/>
                            </a:rPr>
                          </m:ctrlPr>
                        </m:dPr>
                        <m:e>
                          <m:r>
                            <a:rPr lang="es-BO" i="1">
                              <a:latin typeface="Cambria Math" panose="02040503050406030204" pitchFamily="18" charset="0"/>
                              <a:ea typeface="Times New Roman" panose="02020603050405020304" pitchFamily="18" charset="0"/>
                              <a:cs typeface="Times New Roman" panose="02020603050405020304" pitchFamily="18" charset="0"/>
                            </a:rPr>
                            <m:t>0   1</m:t>
                          </m:r>
                        </m:e>
                      </m:d>
                      <m:r>
                        <a:rPr lang="es-BO" i="1">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n-US" i="1">
                              <a:latin typeface="Cambria Math" panose="02040503050406030204" pitchFamily="18" charset="0"/>
                              <a:ea typeface="Times New Roman" panose="02020603050405020304" pitchFamily="18" charset="0"/>
                              <a:cs typeface="Times New Roman" panose="02020603050405020304" pitchFamily="18" charset="0"/>
                            </a:rPr>
                          </m:ctrlPr>
                        </m:sSupPr>
                        <m:e>
                          <m:r>
                            <a:rPr lang="es-BO" i="1">
                              <a:latin typeface="Cambria Math" panose="02040503050406030204" pitchFamily="18" charset="0"/>
                              <a:ea typeface="Times New Roman" panose="02020603050405020304" pitchFamily="18" charset="0"/>
                              <a:cs typeface="Times New Roman" panose="02020603050405020304" pitchFamily="18" charset="0"/>
                            </a:rPr>
                            <m:t>𝐶𝑜</m:t>
                          </m:r>
                        </m:e>
                        <m:sup>
                          <m:r>
                            <a:rPr lang="es-BO" i="1">
                              <a:latin typeface="Cambria Math" panose="02040503050406030204" pitchFamily="18" charset="0"/>
                              <a:ea typeface="Times New Roman" panose="02020603050405020304" pitchFamily="18" charset="0"/>
                              <a:cs typeface="Times New Roman" panose="02020603050405020304" pitchFamily="18" charset="0"/>
                            </a:rPr>
                            <m:t>−1</m:t>
                          </m:r>
                        </m:sup>
                      </m:sSup>
                      <m:r>
                        <a:rPr lang="es-BO" i="1">
                          <a:latin typeface="Cambria Math" panose="02040503050406030204" pitchFamily="18" charset="0"/>
                          <a:ea typeface="Times New Roman" panose="02020603050405020304" pitchFamily="18" charset="0"/>
                          <a:cs typeface="Times New Roman" panose="02020603050405020304" pitchFamily="18" charset="0"/>
                        </a:rPr>
                        <m:t>∗</m:t>
                      </m:r>
                      <m:r>
                        <a:rPr lang="es-BO" i="1">
                          <a:latin typeface="Cambria Math" panose="02040503050406030204" pitchFamily="18" charset="0"/>
                          <a:ea typeface="Times New Roman" panose="02020603050405020304" pitchFamily="18" charset="0"/>
                          <a:cs typeface="Times New Roman" panose="02020603050405020304" pitchFamily="18" charset="0"/>
                        </a:rPr>
                        <m:t>𝜙</m:t>
                      </m:r>
                      <m:d>
                        <m:dPr>
                          <m:ctrlPr>
                            <a:rPr lang="en-US" i="1">
                              <a:latin typeface="Cambria Math" panose="02040503050406030204" pitchFamily="18" charset="0"/>
                              <a:ea typeface="Times New Roman" panose="02020603050405020304" pitchFamily="18" charset="0"/>
                              <a:cs typeface="Times New Roman" panose="02020603050405020304" pitchFamily="18" charset="0"/>
                            </a:rPr>
                          </m:ctrlPr>
                        </m:dPr>
                        <m:e>
                          <m:acc>
                            <m:accPr>
                              <m:chr m:val="̂"/>
                              <m:ctrlPr>
                                <a:rPr lang="en-US" i="1">
                                  <a:latin typeface="Cambria Math" panose="02040503050406030204" pitchFamily="18" charset="0"/>
                                  <a:ea typeface="Times New Roman" panose="02020603050405020304" pitchFamily="18" charset="0"/>
                                  <a:cs typeface="Times New Roman" panose="02020603050405020304" pitchFamily="18" charset="0"/>
                                </a:rPr>
                              </m:ctrlPr>
                            </m:accPr>
                            <m:e>
                              <m:r>
                                <a:rPr lang="es-BO" i="1">
                                  <a:latin typeface="Cambria Math" panose="02040503050406030204" pitchFamily="18" charset="0"/>
                                  <a:ea typeface="Times New Roman" panose="02020603050405020304" pitchFamily="18" charset="0"/>
                                  <a:cs typeface="Times New Roman" panose="02020603050405020304" pitchFamily="18" charset="0"/>
                                </a:rPr>
                                <m:t>𝐴</m:t>
                              </m:r>
                            </m:e>
                          </m:acc>
                        </m:e>
                      </m:d>
                    </m:oMath>
                  </m:oMathPara>
                </a14:m>
                <a:endParaRPr lang="en-US"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Bef>
                    <a:spcPts val="600"/>
                  </a:spcBef>
                  <a:spcAft>
                    <a:spcPts val="600"/>
                  </a:spcAft>
                </a:pPr>
                <a14:m>
                  <m:oMathPara xmlns:m="http://schemas.openxmlformats.org/officeDocument/2006/math">
                    <m:oMathParaPr>
                      <m:jc m:val="centerGroup"/>
                    </m:oMathParaPr>
                    <m:oMath xmlns:m="http://schemas.openxmlformats.org/officeDocument/2006/math">
                      <m:r>
                        <a:rPr lang="es-BO" i="1">
                          <a:latin typeface="Cambria Math" panose="02040503050406030204" pitchFamily="18" charset="0"/>
                          <a:ea typeface="Times New Roman" panose="02020603050405020304" pitchFamily="18" charset="0"/>
                          <a:cs typeface="Times New Roman" panose="02020603050405020304" pitchFamily="18" charset="0"/>
                        </a:rPr>
                        <m:t>𝑃𝑎𝑟𝑎</m:t>
                      </m:r>
                      <m:r>
                        <a:rPr lang="es-BO" i="1">
                          <a:latin typeface="Cambria Math" panose="02040503050406030204" pitchFamily="18" charset="0"/>
                          <a:ea typeface="Times New Roman" panose="02020603050405020304" pitchFamily="18" charset="0"/>
                          <a:cs typeface="Times New Roman" panose="02020603050405020304" pitchFamily="18" charset="0"/>
                        </a:rPr>
                        <m:t>:        </m:t>
                      </m:r>
                      <m:r>
                        <a:rPr lang="es-BO" i="1">
                          <a:latin typeface="Cambria Math" panose="02040503050406030204" pitchFamily="18" charset="0"/>
                          <a:ea typeface="Times New Roman" panose="02020603050405020304" pitchFamily="18" charset="0"/>
                          <a:cs typeface="Times New Roman" panose="02020603050405020304" pitchFamily="18" charset="0"/>
                        </a:rPr>
                        <m:t>𝜙</m:t>
                      </m:r>
                      <m:d>
                        <m:dPr>
                          <m:ctrlPr>
                            <a:rPr lang="en-US" i="1">
                              <a:latin typeface="Cambria Math" panose="02040503050406030204" pitchFamily="18" charset="0"/>
                              <a:ea typeface="Times New Roman" panose="02020603050405020304" pitchFamily="18" charset="0"/>
                              <a:cs typeface="Times New Roman" panose="02020603050405020304" pitchFamily="18" charset="0"/>
                            </a:rPr>
                          </m:ctrlPr>
                        </m:dPr>
                        <m:e>
                          <m:acc>
                            <m:accPr>
                              <m:chr m:val="̂"/>
                              <m:ctrlPr>
                                <a:rPr lang="en-US" i="1">
                                  <a:latin typeface="Cambria Math" panose="02040503050406030204" pitchFamily="18" charset="0"/>
                                  <a:ea typeface="Times New Roman" panose="02020603050405020304" pitchFamily="18" charset="0"/>
                                  <a:cs typeface="Times New Roman" panose="02020603050405020304" pitchFamily="18" charset="0"/>
                                </a:rPr>
                              </m:ctrlPr>
                            </m:accPr>
                            <m:e>
                              <m:r>
                                <a:rPr lang="es-BO" i="1">
                                  <a:latin typeface="Cambria Math" panose="02040503050406030204" pitchFamily="18" charset="0"/>
                                  <a:ea typeface="Times New Roman" panose="02020603050405020304" pitchFamily="18" charset="0"/>
                                  <a:cs typeface="Times New Roman" panose="02020603050405020304" pitchFamily="18" charset="0"/>
                                </a:rPr>
                                <m:t>𝐴</m:t>
                              </m:r>
                            </m:e>
                          </m:acc>
                        </m:e>
                      </m:d>
                      <m:r>
                        <a:rPr lang="es-BO" i="1">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n-US" i="1">
                              <a:latin typeface="Cambria Math" panose="02040503050406030204" pitchFamily="18" charset="0"/>
                              <a:ea typeface="Calibri" panose="020F0502020204030204" pitchFamily="34" charset="0"/>
                              <a:cs typeface="Arial" panose="020B0604020202020204" pitchFamily="34" charset="0"/>
                            </a:rPr>
                          </m:ctrlPr>
                        </m:sSupPr>
                        <m:e>
                          <m:acc>
                            <m:accPr>
                              <m:chr m:val="̂"/>
                              <m:ctrlPr>
                                <a:rPr lang="en-US" i="1">
                                  <a:latin typeface="Cambria Math" panose="02040503050406030204" pitchFamily="18" charset="0"/>
                                  <a:ea typeface="Times New Roman" panose="02020603050405020304" pitchFamily="18" charset="0"/>
                                  <a:cs typeface="Times New Roman" panose="02020603050405020304" pitchFamily="18" charset="0"/>
                                </a:rPr>
                              </m:ctrlPr>
                            </m:accPr>
                            <m:e>
                              <m:r>
                                <a:rPr lang="es-BO" i="1">
                                  <a:latin typeface="Cambria Math" panose="02040503050406030204" pitchFamily="18" charset="0"/>
                                  <a:ea typeface="Times New Roman" panose="02020603050405020304" pitchFamily="18" charset="0"/>
                                  <a:cs typeface="Times New Roman" panose="02020603050405020304" pitchFamily="18" charset="0"/>
                                </a:rPr>
                                <m:t>𝐴</m:t>
                              </m:r>
                            </m:e>
                          </m:acc>
                        </m:e>
                        <m:sup>
                          <m:r>
                            <a:rPr lang="es-MX" i="1">
                              <a:latin typeface="Cambria Math" panose="02040503050406030204" pitchFamily="18" charset="0"/>
                              <a:ea typeface="Calibri" panose="020F0502020204030204" pitchFamily="34" charset="0"/>
                              <a:cs typeface="Arial" panose="020B0604020202020204" pitchFamily="34" charset="0"/>
                            </a:rPr>
                            <m:t>2</m:t>
                          </m:r>
                        </m:sup>
                      </m:sSup>
                      <m:r>
                        <a:rPr lang="es-MX" i="1">
                          <a:latin typeface="Cambria Math" panose="02040503050406030204" pitchFamily="18" charset="0"/>
                        </a:rPr>
                        <m:t>+0.0</m:t>
                      </m:r>
                      <m:r>
                        <a:rPr lang="es-BO" i="1">
                          <a:latin typeface="Cambria Math" panose="02040503050406030204" pitchFamily="18" charset="0"/>
                        </a:rPr>
                        <m:t>1</m:t>
                      </m:r>
                      <m:acc>
                        <m:accPr>
                          <m:chr m:val="̂"/>
                          <m:ctrlPr>
                            <a:rPr lang="en-US" i="1">
                              <a:latin typeface="Cambria Math" panose="02040503050406030204" pitchFamily="18" charset="0"/>
                              <a:ea typeface="Times New Roman" panose="02020603050405020304" pitchFamily="18" charset="0"/>
                              <a:cs typeface="Times New Roman" panose="02020603050405020304" pitchFamily="18" charset="0"/>
                            </a:rPr>
                          </m:ctrlPr>
                        </m:accPr>
                        <m:e>
                          <m:r>
                            <a:rPr lang="es-BO" i="1">
                              <a:latin typeface="Cambria Math" panose="02040503050406030204" pitchFamily="18" charset="0"/>
                              <a:ea typeface="Times New Roman" panose="02020603050405020304" pitchFamily="18" charset="0"/>
                              <a:cs typeface="Times New Roman" panose="02020603050405020304" pitchFamily="18" charset="0"/>
                            </a:rPr>
                            <m:t>𝐴</m:t>
                          </m:r>
                        </m:e>
                      </m:acc>
                      <m:r>
                        <a:rPr lang="es-MX" i="1">
                          <a:latin typeface="Cambria Math" panose="02040503050406030204" pitchFamily="18" charset="0"/>
                        </a:rPr>
                        <m:t>+3.663∙</m:t>
                      </m:r>
                      <m:sSup>
                        <m:sSupPr>
                          <m:ctrlPr>
                            <a:rPr lang="en-US" i="1">
                              <a:latin typeface="Cambria Math" panose="02040503050406030204" pitchFamily="18" charset="0"/>
                            </a:rPr>
                          </m:ctrlPr>
                        </m:sSupPr>
                        <m:e>
                          <m:r>
                            <a:rPr lang="es-MX" i="1">
                              <a:latin typeface="Cambria Math" panose="02040503050406030204" pitchFamily="18" charset="0"/>
                            </a:rPr>
                            <m:t>10</m:t>
                          </m:r>
                        </m:e>
                        <m:sup>
                          <m:r>
                            <a:rPr lang="es-MX" i="1">
                              <a:latin typeface="Cambria Math" panose="02040503050406030204" pitchFamily="18" charset="0"/>
                            </a:rPr>
                            <m:t>−3</m:t>
                          </m:r>
                        </m:sup>
                      </m:sSup>
                      <m:r>
                        <a:rPr lang="es-MX" i="1">
                          <a:latin typeface="Cambria Math" panose="02040503050406030204" pitchFamily="18" charset="0"/>
                          <a:ea typeface="Calibri" panose="020F0502020204030204" pitchFamily="34" charset="0"/>
                          <a:cs typeface="Arial" panose="020B0604020202020204" pitchFamily="34" charset="0"/>
                        </a:rPr>
                        <m:t>∗</m:t>
                      </m:r>
                      <m:r>
                        <a:rPr lang="es-MX" i="1">
                          <a:latin typeface="Cambria Math" panose="02040503050406030204" pitchFamily="18" charset="0"/>
                          <a:ea typeface="Calibri" panose="020F0502020204030204" pitchFamily="34" charset="0"/>
                          <a:cs typeface="Arial" panose="020B0604020202020204" pitchFamily="34" charset="0"/>
                        </a:rPr>
                        <m:t>𝐼</m:t>
                      </m:r>
                    </m:oMath>
                  </m:oMathPara>
                </a14:m>
                <a:endParaRPr lang="en-US"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Bef>
                    <a:spcPts val="600"/>
                  </a:spcBef>
                  <a:spcAft>
                    <a:spcPts val="600"/>
                  </a:spcAft>
                </a:pPr>
                <a14:m>
                  <m:oMathPara xmlns:m="http://schemas.openxmlformats.org/officeDocument/2006/math">
                    <m:oMathParaPr>
                      <m:jc m:val="centerGroup"/>
                    </m:oMathParaPr>
                    <m:oMath xmlns:m="http://schemas.openxmlformats.org/officeDocument/2006/math">
                      <m:r>
                        <a:rPr lang="es-BO" i="1">
                          <a:latin typeface="Cambria Math" panose="02040503050406030204" pitchFamily="18" charset="0"/>
                          <a:ea typeface="Times New Roman" panose="02020603050405020304" pitchFamily="18" charset="0"/>
                          <a:cs typeface="Times New Roman" panose="02020603050405020304" pitchFamily="18" charset="0"/>
                        </a:rPr>
                        <m:t>𝜙</m:t>
                      </m:r>
                      <m:d>
                        <m:dPr>
                          <m:ctrlPr>
                            <a:rPr lang="en-US" i="1">
                              <a:latin typeface="Cambria Math" panose="02040503050406030204" pitchFamily="18" charset="0"/>
                              <a:ea typeface="Times New Roman" panose="02020603050405020304" pitchFamily="18" charset="0"/>
                              <a:cs typeface="Times New Roman" panose="02020603050405020304" pitchFamily="18" charset="0"/>
                            </a:rPr>
                          </m:ctrlPr>
                        </m:dPr>
                        <m:e>
                          <m:acc>
                            <m:accPr>
                              <m:chr m:val="̂"/>
                              <m:ctrlPr>
                                <a:rPr lang="en-US" i="1">
                                  <a:latin typeface="Cambria Math" panose="02040503050406030204" pitchFamily="18" charset="0"/>
                                  <a:ea typeface="Times New Roman" panose="02020603050405020304" pitchFamily="18" charset="0"/>
                                  <a:cs typeface="Times New Roman" panose="02020603050405020304" pitchFamily="18" charset="0"/>
                                </a:rPr>
                              </m:ctrlPr>
                            </m:accPr>
                            <m:e>
                              <m:r>
                                <a:rPr lang="es-BO" i="1">
                                  <a:latin typeface="Cambria Math" panose="02040503050406030204" pitchFamily="18" charset="0"/>
                                  <a:ea typeface="Times New Roman" panose="02020603050405020304" pitchFamily="18" charset="0"/>
                                  <a:cs typeface="Times New Roman" panose="02020603050405020304" pitchFamily="18" charset="0"/>
                                </a:rPr>
                                <m:t>𝐴</m:t>
                              </m:r>
                            </m:e>
                          </m:acc>
                        </m:e>
                      </m:d>
                      <m:r>
                        <a:rPr lang="es-BO" i="1">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n-US" i="1">
                              <a:latin typeface="Cambria Math" panose="02040503050406030204" pitchFamily="18" charset="0"/>
                              <a:ea typeface="Calibri" panose="020F0502020204030204" pitchFamily="34" charset="0"/>
                              <a:cs typeface="Arial" panose="020B0604020202020204" pitchFamily="34" charset="0"/>
                            </a:rPr>
                          </m:ctrlPr>
                        </m:sSupPr>
                        <m:e>
                          <m:d>
                            <m:dPr>
                              <m:begChr m:val="["/>
                              <m:endChr m:val="]"/>
                              <m:ctrlPr>
                                <a:rPr lang="en-US" i="1">
                                  <a:latin typeface="Cambria Math" panose="02040503050406030204" pitchFamily="18" charset="0"/>
                                </a:rPr>
                              </m:ctrlPr>
                            </m:dPr>
                            <m:e>
                              <m:m>
                                <m:mPr>
                                  <m:mcs>
                                    <m:mc>
                                      <m:mcPr>
                                        <m:count m:val="2"/>
                                        <m:mcJc m:val="center"/>
                                      </m:mcPr>
                                    </m:mc>
                                  </m:mcs>
                                  <m:ctrlPr>
                                    <a:rPr lang="en-US" i="1">
                                      <a:latin typeface="Cambria Math" panose="02040503050406030204" pitchFamily="18" charset="0"/>
                                    </a:rPr>
                                  </m:ctrlPr>
                                </m:mPr>
                                <m:mr>
                                  <m:e>
                                    <m:r>
                                      <m:rPr>
                                        <m:brk m:alnAt="7"/>
                                      </m:rPr>
                                      <a:rPr lang="es-BO" i="1">
                                        <a:latin typeface="Cambria Math" panose="02040503050406030204" pitchFamily="18" charset="0"/>
                                      </a:rPr>
                                      <m:t>−</m:t>
                                    </m:r>
                                    <m:r>
                                      <a:rPr lang="es-BO" i="1">
                                        <a:latin typeface="Cambria Math" panose="02040503050406030204" pitchFamily="18" charset="0"/>
                                      </a:rPr>
                                      <m:t>0.3307</m:t>
                                    </m:r>
                                  </m:e>
                                  <m:e>
                                    <m:r>
                                      <a:rPr lang="es-BO" i="1">
                                        <a:latin typeface="Cambria Math" panose="02040503050406030204" pitchFamily="18" charset="0"/>
                                      </a:rPr>
                                      <m:t>−0.0011</m:t>
                                    </m:r>
                                  </m:e>
                                </m:mr>
                                <m:mr>
                                  <m:e>
                                    <m:r>
                                      <a:rPr lang="es-BO" i="1">
                                        <a:latin typeface="Cambria Math" panose="02040503050406030204" pitchFamily="18" charset="0"/>
                                      </a:rPr>
                                      <m:t>1</m:t>
                                    </m:r>
                                  </m:e>
                                  <m:e>
                                    <m:r>
                                      <a:rPr lang="es-BO" i="1">
                                        <a:latin typeface="Cambria Math" panose="02040503050406030204" pitchFamily="18" charset="0"/>
                                      </a:rPr>
                                      <m:t>0</m:t>
                                    </m:r>
                                  </m:e>
                                </m:mr>
                              </m:m>
                            </m:e>
                          </m:d>
                        </m:e>
                        <m:sup>
                          <m:r>
                            <a:rPr lang="es-MX" i="1">
                              <a:latin typeface="Cambria Math" panose="02040503050406030204" pitchFamily="18" charset="0"/>
                              <a:ea typeface="Calibri" panose="020F0502020204030204" pitchFamily="34" charset="0"/>
                              <a:cs typeface="Arial" panose="020B0604020202020204" pitchFamily="34" charset="0"/>
                            </a:rPr>
                            <m:t>2</m:t>
                          </m:r>
                        </m:sup>
                      </m:sSup>
                      <m:r>
                        <a:rPr lang="es-MX" i="1">
                          <a:latin typeface="Cambria Math" panose="02040503050406030204" pitchFamily="18" charset="0"/>
                        </a:rPr>
                        <m:t>+0.0</m:t>
                      </m:r>
                      <m:r>
                        <a:rPr lang="es-BO" i="1">
                          <a:latin typeface="Cambria Math" panose="02040503050406030204" pitchFamily="18" charset="0"/>
                        </a:rPr>
                        <m:t>1</m:t>
                      </m:r>
                      <m:r>
                        <a:rPr lang="es-BO" b="0" i="1" smtClean="0">
                          <a:latin typeface="Cambria Math" panose="02040503050406030204" pitchFamily="18" charset="0"/>
                          <a:ea typeface="Times New Roman" panose="02020603050405020304" pitchFamily="18" charset="0"/>
                          <a:cs typeface="Times New Roman" panose="02020603050405020304" pitchFamily="18" charset="0"/>
                        </a:rPr>
                        <m:t>∗</m:t>
                      </m:r>
                      <m:d>
                        <m:dPr>
                          <m:begChr m:val="["/>
                          <m:endChr m:val="]"/>
                          <m:ctrlPr>
                            <a:rPr lang="en-US" i="1">
                              <a:latin typeface="Cambria Math" panose="02040503050406030204" pitchFamily="18" charset="0"/>
                            </a:rPr>
                          </m:ctrlPr>
                        </m:dPr>
                        <m:e>
                          <m:m>
                            <m:mPr>
                              <m:mcs>
                                <m:mc>
                                  <m:mcPr>
                                    <m:count m:val="2"/>
                                    <m:mcJc m:val="center"/>
                                  </m:mcPr>
                                </m:mc>
                              </m:mcs>
                              <m:ctrlPr>
                                <a:rPr lang="en-US" i="1">
                                  <a:latin typeface="Cambria Math" panose="02040503050406030204" pitchFamily="18" charset="0"/>
                                </a:rPr>
                              </m:ctrlPr>
                            </m:mPr>
                            <m:mr>
                              <m:e>
                                <m:r>
                                  <m:rPr>
                                    <m:brk m:alnAt="7"/>
                                  </m:rPr>
                                  <a:rPr lang="es-BO" i="1">
                                    <a:latin typeface="Cambria Math" panose="02040503050406030204" pitchFamily="18" charset="0"/>
                                  </a:rPr>
                                  <m:t>−</m:t>
                                </m:r>
                                <m:r>
                                  <a:rPr lang="es-BO" i="1">
                                    <a:latin typeface="Cambria Math" panose="02040503050406030204" pitchFamily="18" charset="0"/>
                                  </a:rPr>
                                  <m:t>0.3307</m:t>
                                </m:r>
                              </m:e>
                              <m:e>
                                <m:r>
                                  <a:rPr lang="es-BO" i="1">
                                    <a:latin typeface="Cambria Math" panose="02040503050406030204" pitchFamily="18" charset="0"/>
                                  </a:rPr>
                                  <m:t>−0.0011</m:t>
                                </m:r>
                              </m:e>
                            </m:mr>
                            <m:mr>
                              <m:e>
                                <m:r>
                                  <a:rPr lang="es-BO" i="1">
                                    <a:latin typeface="Cambria Math" panose="02040503050406030204" pitchFamily="18" charset="0"/>
                                  </a:rPr>
                                  <m:t>1</m:t>
                                </m:r>
                              </m:e>
                              <m:e>
                                <m:r>
                                  <a:rPr lang="es-BO" i="1">
                                    <a:latin typeface="Cambria Math" panose="02040503050406030204" pitchFamily="18" charset="0"/>
                                  </a:rPr>
                                  <m:t>0</m:t>
                                </m:r>
                              </m:e>
                            </m:mr>
                          </m:m>
                        </m:e>
                      </m:d>
                      <m:r>
                        <a:rPr lang="es-MX" i="1">
                          <a:latin typeface="Cambria Math" panose="02040503050406030204" pitchFamily="18" charset="0"/>
                        </a:rPr>
                        <m:t>+3.663∙</m:t>
                      </m:r>
                      <m:sSup>
                        <m:sSupPr>
                          <m:ctrlPr>
                            <a:rPr lang="en-US" i="1">
                              <a:latin typeface="Cambria Math" panose="02040503050406030204" pitchFamily="18" charset="0"/>
                            </a:rPr>
                          </m:ctrlPr>
                        </m:sSupPr>
                        <m:e>
                          <m:r>
                            <a:rPr lang="es-MX" i="1">
                              <a:latin typeface="Cambria Math" panose="02040503050406030204" pitchFamily="18" charset="0"/>
                            </a:rPr>
                            <m:t>10</m:t>
                          </m:r>
                        </m:e>
                        <m:sup>
                          <m:r>
                            <a:rPr lang="es-MX" i="1">
                              <a:latin typeface="Cambria Math" panose="02040503050406030204" pitchFamily="18" charset="0"/>
                            </a:rPr>
                            <m:t>−3</m:t>
                          </m:r>
                        </m:sup>
                      </m:sSup>
                      <m:r>
                        <a:rPr lang="es-MX" i="1">
                          <a:latin typeface="Cambria Math" panose="02040503050406030204" pitchFamily="18" charset="0"/>
                          <a:ea typeface="Calibri" panose="020F0502020204030204" pitchFamily="34" charset="0"/>
                          <a:cs typeface="Arial" panose="020B0604020202020204" pitchFamily="34" charset="0"/>
                        </a:rPr>
                        <m:t>∗</m:t>
                      </m:r>
                      <m:d>
                        <m:dPr>
                          <m:begChr m:val="["/>
                          <m:endChr m:val="]"/>
                          <m:ctrlPr>
                            <a:rPr lang="en-US" i="1">
                              <a:latin typeface="Cambria Math" panose="02040503050406030204" pitchFamily="18" charset="0"/>
                            </a:rPr>
                          </m:ctrlPr>
                        </m:dPr>
                        <m:e>
                          <m:m>
                            <m:mPr>
                              <m:mcs>
                                <m:mc>
                                  <m:mcPr>
                                    <m:count m:val="2"/>
                                    <m:mcJc m:val="center"/>
                                  </m:mcPr>
                                </m:mc>
                              </m:mcs>
                              <m:ctrlPr>
                                <a:rPr lang="en-US" i="1">
                                  <a:latin typeface="Cambria Math" panose="02040503050406030204" pitchFamily="18" charset="0"/>
                                </a:rPr>
                              </m:ctrlPr>
                            </m:mPr>
                            <m:mr>
                              <m:e>
                                <m:r>
                                  <a:rPr lang="es-BO" b="0" i="1" smtClean="0">
                                    <a:latin typeface="Cambria Math" panose="02040503050406030204" pitchFamily="18" charset="0"/>
                                  </a:rPr>
                                  <m:t>1</m:t>
                                </m:r>
                              </m:e>
                              <m:e>
                                <m:r>
                                  <a:rPr lang="es-BO" b="0" i="1" smtClean="0">
                                    <a:latin typeface="Cambria Math" panose="02040503050406030204" pitchFamily="18" charset="0"/>
                                  </a:rPr>
                                  <m:t>0</m:t>
                                </m:r>
                              </m:e>
                            </m:mr>
                            <m:mr>
                              <m:e>
                                <m:r>
                                  <a:rPr lang="es-BO" b="0" i="1" smtClean="0">
                                    <a:latin typeface="Cambria Math" panose="02040503050406030204" pitchFamily="18" charset="0"/>
                                  </a:rPr>
                                  <m:t>0</m:t>
                                </m:r>
                              </m:e>
                              <m:e>
                                <m:r>
                                  <a:rPr lang="es-BO" b="0" i="1" smtClean="0">
                                    <a:latin typeface="Cambria Math" panose="02040503050406030204" pitchFamily="18" charset="0"/>
                                  </a:rPr>
                                  <m:t>1</m:t>
                                </m:r>
                              </m:e>
                            </m:mr>
                          </m:m>
                        </m:e>
                      </m:d>
                    </m:oMath>
                  </m:oMathPara>
                </a14:m>
                <a:endParaRPr lang="en-US"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Bef>
                    <a:spcPts val="600"/>
                  </a:spcBef>
                  <a:spcAft>
                    <a:spcPts val="600"/>
                  </a:spcAft>
                </a:pPr>
                <a14:m>
                  <m:oMathPara xmlns:m="http://schemas.openxmlformats.org/officeDocument/2006/math">
                    <m:oMathParaPr>
                      <m:jc m:val="centerGroup"/>
                    </m:oMathParaPr>
                    <m:oMath xmlns:m="http://schemas.openxmlformats.org/officeDocument/2006/math">
                      <m:r>
                        <a:rPr lang="es-BO" i="1">
                          <a:latin typeface="Cambria Math" panose="02040503050406030204" pitchFamily="18" charset="0"/>
                          <a:ea typeface="Times New Roman" panose="02020603050405020304" pitchFamily="18" charset="0"/>
                          <a:cs typeface="Times New Roman" panose="02020603050405020304" pitchFamily="18" charset="0"/>
                        </a:rPr>
                        <m:t>𝜙</m:t>
                      </m:r>
                      <m:d>
                        <m:dPr>
                          <m:ctrlPr>
                            <a:rPr lang="en-US" i="1">
                              <a:latin typeface="Cambria Math" panose="02040503050406030204" pitchFamily="18" charset="0"/>
                              <a:ea typeface="Times New Roman" panose="02020603050405020304" pitchFamily="18" charset="0"/>
                              <a:cs typeface="Times New Roman" panose="02020603050405020304" pitchFamily="18" charset="0"/>
                            </a:rPr>
                          </m:ctrlPr>
                        </m:dPr>
                        <m:e>
                          <m:acc>
                            <m:accPr>
                              <m:chr m:val="̂"/>
                              <m:ctrlPr>
                                <a:rPr lang="en-US" i="1">
                                  <a:latin typeface="Cambria Math" panose="02040503050406030204" pitchFamily="18" charset="0"/>
                                  <a:ea typeface="Times New Roman" panose="02020603050405020304" pitchFamily="18" charset="0"/>
                                  <a:cs typeface="Times New Roman" panose="02020603050405020304" pitchFamily="18" charset="0"/>
                                </a:rPr>
                              </m:ctrlPr>
                            </m:accPr>
                            <m:e>
                              <m:r>
                                <a:rPr lang="es-BO" i="1">
                                  <a:latin typeface="Cambria Math" panose="02040503050406030204" pitchFamily="18" charset="0"/>
                                  <a:ea typeface="Times New Roman" panose="02020603050405020304" pitchFamily="18" charset="0"/>
                                  <a:cs typeface="Times New Roman" panose="02020603050405020304" pitchFamily="18" charset="0"/>
                                </a:rPr>
                                <m:t>𝐴</m:t>
                              </m:r>
                            </m:e>
                          </m:acc>
                        </m:e>
                      </m:d>
                      <m:r>
                        <a:rPr lang="es-BO" i="1">
                          <a:latin typeface="Cambria Math" panose="02040503050406030204" pitchFamily="18" charset="0"/>
                          <a:ea typeface="Times New Roman" panose="02020603050405020304" pitchFamily="18" charset="0"/>
                          <a:cs typeface="Times New Roman" panose="02020603050405020304" pitchFamily="18" charset="0"/>
                        </a:rPr>
                        <m:t>=</m:t>
                      </m:r>
                      <m:d>
                        <m:dPr>
                          <m:begChr m:val="["/>
                          <m:endChr m:val="]"/>
                          <m:ctrlPr>
                            <a:rPr lang="en-US" i="1">
                              <a:latin typeface="Cambria Math" panose="02040503050406030204" pitchFamily="18" charset="0"/>
                              <a:ea typeface="Times New Roman" panose="02020603050405020304" pitchFamily="18" charset="0"/>
                              <a:cs typeface="Times New Roman" panose="02020603050405020304" pitchFamily="18" charset="0"/>
                            </a:rPr>
                          </m:ctrlPr>
                        </m:dPr>
                        <m:e>
                          <m:m>
                            <m:mPr>
                              <m:mcs>
                                <m:mc>
                                  <m:mcPr>
                                    <m:count m:val="2"/>
                                    <m:mcJc m:val="center"/>
                                  </m:mcPr>
                                </m:mc>
                              </m:mcs>
                              <m:ctrlPr>
                                <a:rPr lang="en-US" i="1">
                                  <a:latin typeface="Cambria Math" panose="02040503050406030204" pitchFamily="18" charset="0"/>
                                  <a:ea typeface="Times New Roman" panose="02020603050405020304" pitchFamily="18" charset="0"/>
                                  <a:cs typeface="Times New Roman" panose="02020603050405020304" pitchFamily="18" charset="0"/>
                                </a:rPr>
                              </m:ctrlPr>
                            </m:mPr>
                            <m:mr>
                              <m:e>
                                <m:r>
                                  <a:rPr lang="es-BO" b="0" i="1" smtClean="0">
                                    <a:latin typeface="Cambria Math" panose="02040503050406030204" pitchFamily="18" charset="0"/>
                                    <a:ea typeface="Times New Roman" panose="02020603050405020304" pitchFamily="18" charset="0"/>
                                    <a:cs typeface="Times New Roman" panose="02020603050405020304" pitchFamily="18" charset="0"/>
                                  </a:rPr>
                                  <m:t>0,1061</m:t>
                                </m:r>
                              </m:e>
                              <m:e>
                                <m:r>
                                  <a:rPr lang="es-BO" i="1">
                                    <a:latin typeface="Cambria Math" panose="02040503050406030204" pitchFamily="18" charset="0"/>
                                    <a:ea typeface="Times New Roman" panose="02020603050405020304" pitchFamily="18" charset="0"/>
                                    <a:cs typeface="Times New Roman" panose="02020603050405020304" pitchFamily="18" charset="0"/>
                                  </a:rPr>
                                  <m:t>0</m:t>
                                </m:r>
                              </m:e>
                            </m:mr>
                            <m:mr>
                              <m:e>
                                <m:r>
                                  <a:rPr lang="es-BO" b="0" i="1" smtClean="0">
                                    <a:latin typeface="Cambria Math" panose="02040503050406030204" pitchFamily="18" charset="0"/>
                                    <a:ea typeface="Calibri" panose="020F0502020204030204" pitchFamily="34" charset="0"/>
                                    <a:cs typeface="Arial" panose="020B0604020202020204" pitchFamily="34" charset="0"/>
                                  </a:rPr>
                                  <m:t>1,01</m:t>
                                </m:r>
                              </m:e>
                              <m:e>
                                <m:r>
                                  <a:rPr lang="es-BO" b="0" i="1" smtClean="0">
                                    <a:latin typeface="Cambria Math" panose="02040503050406030204" pitchFamily="18" charset="0"/>
                                    <a:ea typeface="Calibri" panose="020F0502020204030204" pitchFamily="34" charset="0"/>
                                    <a:cs typeface="Arial" panose="020B0604020202020204" pitchFamily="34" charset="0"/>
                                  </a:rPr>
                                  <m:t>0</m:t>
                                </m:r>
                              </m:e>
                            </m:mr>
                          </m:m>
                        </m:e>
                      </m:d>
                    </m:oMath>
                  </m:oMathPara>
                </a14:m>
                <a:endParaRPr lang="en-US"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Bef>
                    <a:spcPts val="600"/>
                  </a:spcBef>
                  <a:spcAft>
                    <a:spcPts val="600"/>
                  </a:spcAft>
                </a:pPr>
                <a14:m>
                  <m:oMathPara xmlns:m="http://schemas.openxmlformats.org/officeDocument/2006/math">
                    <m:oMathParaPr>
                      <m:jc m:val="centerGroup"/>
                    </m:oMathParaPr>
                    <m:oMath xmlns:m="http://schemas.openxmlformats.org/officeDocument/2006/math">
                      <m:r>
                        <a:rPr lang="es-MX" i="1">
                          <a:latin typeface="Cambria Math" panose="02040503050406030204" pitchFamily="18" charset="0"/>
                          <a:ea typeface="Calibri" panose="020F0502020204030204" pitchFamily="34" charset="0"/>
                          <a:cs typeface="Arial" panose="020B0604020202020204" pitchFamily="34" charset="0"/>
                        </a:rPr>
                        <m:t>𝐸𝑛𝑡𝑜𝑛𝑐𝑒𝑠</m:t>
                      </m:r>
                      <m:r>
                        <a:rPr lang="es-MX" i="1">
                          <a:latin typeface="Cambria Math" panose="02040503050406030204" pitchFamily="18" charset="0"/>
                          <a:ea typeface="Calibri" panose="020F0502020204030204" pitchFamily="34" charset="0"/>
                          <a:cs typeface="Arial" panose="020B0604020202020204" pitchFamily="34" charset="0"/>
                        </a:rPr>
                        <m:t>:    </m:t>
                      </m:r>
                      <m:acc>
                        <m:accPr>
                          <m:chr m:val="̂"/>
                          <m:ctrlPr>
                            <a:rPr lang="en-US" i="1">
                              <a:latin typeface="Cambria Math" panose="02040503050406030204" pitchFamily="18" charset="0"/>
                              <a:ea typeface="Times New Roman" panose="02020603050405020304" pitchFamily="18" charset="0"/>
                              <a:cs typeface="Times New Roman" panose="02020603050405020304" pitchFamily="18" charset="0"/>
                            </a:rPr>
                          </m:ctrlPr>
                        </m:accPr>
                        <m:e>
                          <m:r>
                            <a:rPr lang="es-BO" i="1">
                              <a:latin typeface="Cambria Math" panose="02040503050406030204" pitchFamily="18" charset="0"/>
                              <a:ea typeface="Times New Roman" panose="02020603050405020304" pitchFamily="18" charset="0"/>
                              <a:cs typeface="Times New Roman" panose="02020603050405020304" pitchFamily="18" charset="0"/>
                            </a:rPr>
                            <m:t>𝐾</m:t>
                          </m:r>
                        </m:e>
                      </m:acc>
                      <m:r>
                        <a:rPr lang="es-BO" i="1">
                          <a:latin typeface="Cambria Math" panose="02040503050406030204" pitchFamily="18" charset="0"/>
                          <a:ea typeface="Times New Roman" panose="02020603050405020304" pitchFamily="18" charset="0"/>
                          <a:cs typeface="Times New Roman" panose="02020603050405020304" pitchFamily="18" charset="0"/>
                        </a:rPr>
                        <m:t>=</m:t>
                      </m:r>
                      <m:d>
                        <m:dPr>
                          <m:begChr m:val="["/>
                          <m:endChr m:val="]"/>
                          <m:ctrlPr>
                            <a:rPr lang="en-US" i="1">
                              <a:latin typeface="Cambria Math" panose="02040503050406030204" pitchFamily="18" charset="0"/>
                              <a:ea typeface="Times New Roman" panose="02020603050405020304" pitchFamily="18" charset="0"/>
                              <a:cs typeface="Times New Roman" panose="02020603050405020304" pitchFamily="18" charset="0"/>
                            </a:rPr>
                          </m:ctrlPr>
                        </m:dPr>
                        <m:e>
                          <m:r>
                            <a:rPr lang="es-BO" i="1">
                              <a:latin typeface="Cambria Math" panose="02040503050406030204" pitchFamily="18" charset="0"/>
                              <a:ea typeface="Times New Roman" panose="02020603050405020304" pitchFamily="18" charset="0"/>
                              <a:cs typeface="Times New Roman" panose="02020603050405020304" pitchFamily="18" charset="0"/>
                            </a:rPr>
                            <m:t>0   1</m:t>
                          </m:r>
                        </m:e>
                      </m:d>
                      <m:r>
                        <a:rPr lang="es-BO" i="1">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n-US" i="1">
                              <a:latin typeface="Cambria Math" panose="02040503050406030204" pitchFamily="18" charset="0"/>
                              <a:ea typeface="Times New Roman" panose="02020603050405020304" pitchFamily="18" charset="0"/>
                              <a:cs typeface="Times New Roman" panose="02020603050405020304" pitchFamily="18" charset="0"/>
                            </a:rPr>
                          </m:ctrlPr>
                        </m:sSupPr>
                        <m:e>
                          <m:d>
                            <m:dPr>
                              <m:begChr m:val="["/>
                              <m:endChr m:val="]"/>
                              <m:ctrlPr>
                                <a:rPr lang="en-US" i="1">
                                  <a:latin typeface="Cambria Math" panose="02040503050406030204" pitchFamily="18" charset="0"/>
                                  <a:ea typeface="Times New Roman" panose="02020603050405020304" pitchFamily="18" charset="0"/>
                                  <a:cs typeface="Times New Roman" panose="02020603050405020304" pitchFamily="18" charset="0"/>
                                </a:rPr>
                              </m:ctrlPr>
                            </m:dPr>
                            <m:e>
                              <m:m>
                                <m:mPr>
                                  <m:mcs>
                                    <m:mc>
                                      <m:mcPr>
                                        <m:count m:val="2"/>
                                        <m:mcJc m:val="center"/>
                                      </m:mcPr>
                                    </m:mc>
                                  </m:mcs>
                                  <m:ctrlPr>
                                    <a:rPr lang="en-US" i="1">
                                      <a:latin typeface="Cambria Math" panose="02040503050406030204" pitchFamily="18" charset="0"/>
                                      <a:ea typeface="Times New Roman" panose="02020603050405020304" pitchFamily="18" charset="0"/>
                                      <a:cs typeface="Times New Roman" panose="02020603050405020304" pitchFamily="18" charset="0"/>
                                    </a:rPr>
                                  </m:ctrlPr>
                                </m:mPr>
                                <m:mr>
                                  <m:e>
                                    <m:m>
                                      <m:mPr>
                                        <m:mcs>
                                          <m:mc>
                                            <m:mcPr>
                                              <m:count m:val="1"/>
                                              <m:mcJc m:val="center"/>
                                            </m:mcPr>
                                          </m:mc>
                                        </m:mcs>
                                        <m:ctrlPr>
                                          <a:rPr lang="en-US" i="1">
                                            <a:latin typeface="Cambria Math" panose="02040503050406030204" pitchFamily="18" charset="0"/>
                                            <a:ea typeface="Times New Roman" panose="02020603050405020304" pitchFamily="18" charset="0"/>
                                            <a:cs typeface="Times New Roman" panose="02020603050405020304" pitchFamily="18" charset="0"/>
                                          </a:rPr>
                                        </m:ctrlPr>
                                      </m:mPr>
                                      <m:mr>
                                        <m:e>
                                          <m:r>
                                            <a:rPr lang="es-BO" b="0" i="1" smtClean="0">
                                              <a:latin typeface="Cambria Math" panose="02040503050406030204" pitchFamily="18" charset="0"/>
                                              <a:ea typeface="Calibri" panose="020F0502020204030204" pitchFamily="34" charset="0"/>
                                              <a:cs typeface="Arial" panose="020B0604020202020204" pitchFamily="34" charset="0"/>
                                            </a:rPr>
                                            <m:t>1,01</m:t>
                                          </m:r>
                                        </m:e>
                                      </m:mr>
                                      <m:mr>
                                        <m:e>
                                          <m:r>
                                            <a:rPr lang="es-BO" i="1">
                                              <a:latin typeface="Cambria Math" panose="02040503050406030204" pitchFamily="18" charset="0"/>
                                              <a:ea typeface="Times New Roman" panose="02020603050405020304" pitchFamily="18" charset="0"/>
                                              <a:cs typeface="Times New Roman" panose="02020603050405020304" pitchFamily="18" charset="0"/>
                                            </a:rPr>
                                            <m:t>0</m:t>
                                          </m:r>
                                        </m:e>
                                      </m:mr>
                                    </m:m>
                                  </m:e>
                                  <m:e>
                                    <m:m>
                                      <m:mPr>
                                        <m:mcs>
                                          <m:mc>
                                            <m:mcPr>
                                              <m:count m:val="1"/>
                                              <m:mcJc m:val="center"/>
                                            </m:mcPr>
                                          </m:mc>
                                        </m:mcs>
                                        <m:ctrlPr>
                                          <a:rPr lang="en-US" i="1">
                                            <a:latin typeface="Cambria Math" panose="02040503050406030204" pitchFamily="18" charset="0"/>
                                            <a:ea typeface="Times New Roman" panose="02020603050405020304" pitchFamily="18" charset="0"/>
                                            <a:cs typeface="Times New Roman" panose="02020603050405020304" pitchFamily="18" charset="0"/>
                                          </a:rPr>
                                        </m:ctrlPr>
                                      </m:mPr>
                                      <m:mr>
                                        <m:e>
                                          <m:r>
                                            <a:rPr lang="es-BO" b="0" i="1" smtClean="0">
                                              <a:latin typeface="Cambria Math" panose="02040503050406030204" pitchFamily="18" charset="0"/>
                                              <a:ea typeface="Calibri" panose="020F0502020204030204" pitchFamily="34" charset="0"/>
                                              <a:cs typeface="Arial" panose="020B0604020202020204" pitchFamily="34" charset="0"/>
                                            </a:rPr>
                                            <m:t>0,3307</m:t>
                                          </m:r>
                                        </m:e>
                                      </m:mr>
                                      <m:mr>
                                        <m:e>
                                          <m:r>
                                            <a:rPr lang="es-BO" b="0" i="1" smtClean="0">
                                              <a:latin typeface="Cambria Math" panose="02040503050406030204" pitchFamily="18" charset="0"/>
                                              <a:ea typeface="Times New Roman" panose="02020603050405020304" pitchFamily="18" charset="0"/>
                                              <a:cs typeface="Times New Roman" panose="02020603050405020304" pitchFamily="18" charset="0"/>
                                            </a:rPr>
                                            <m:t>1</m:t>
                                          </m:r>
                                        </m:e>
                                      </m:mr>
                                    </m:m>
                                  </m:e>
                                </m:mr>
                              </m:m>
                            </m:e>
                          </m:d>
                        </m:e>
                        <m:sup/>
                      </m:sSup>
                      <m:r>
                        <a:rPr lang="es-BO" i="1">
                          <a:latin typeface="Cambria Math" panose="02040503050406030204" pitchFamily="18" charset="0"/>
                          <a:ea typeface="Times New Roman" panose="02020603050405020304" pitchFamily="18" charset="0"/>
                          <a:cs typeface="Times New Roman" panose="02020603050405020304" pitchFamily="18" charset="0"/>
                        </a:rPr>
                        <m:t>∗</m:t>
                      </m:r>
                      <m:d>
                        <m:dPr>
                          <m:begChr m:val="["/>
                          <m:endChr m:val="]"/>
                          <m:ctrlPr>
                            <a:rPr lang="en-US" i="1">
                              <a:latin typeface="Cambria Math" panose="02040503050406030204" pitchFamily="18" charset="0"/>
                              <a:ea typeface="Times New Roman" panose="02020603050405020304" pitchFamily="18" charset="0"/>
                              <a:cs typeface="Times New Roman" panose="02020603050405020304" pitchFamily="18" charset="0"/>
                            </a:rPr>
                          </m:ctrlPr>
                        </m:dPr>
                        <m:e>
                          <m:m>
                            <m:mPr>
                              <m:mcs>
                                <m:mc>
                                  <m:mcPr>
                                    <m:count m:val="2"/>
                                    <m:mcJc m:val="center"/>
                                  </m:mcPr>
                                </m:mc>
                              </m:mcs>
                              <m:ctrlPr>
                                <a:rPr lang="en-US" i="1">
                                  <a:latin typeface="Cambria Math" panose="02040503050406030204" pitchFamily="18" charset="0"/>
                                  <a:ea typeface="Times New Roman" panose="02020603050405020304" pitchFamily="18" charset="0"/>
                                  <a:cs typeface="Times New Roman" panose="02020603050405020304" pitchFamily="18" charset="0"/>
                                </a:rPr>
                              </m:ctrlPr>
                            </m:mPr>
                            <m:mr>
                              <m:e>
                                <m:r>
                                  <a:rPr lang="es-BO" i="1">
                                    <a:latin typeface="Cambria Math" panose="02040503050406030204" pitchFamily="18" charset="0"/>
                                    <a:ea typeface="Times New Roman" panose="02020603050405020304" pitchFamily="18" charset="0"/>
                                    <a:cs typeface="Times New Roman" panose="02020603050405020304" pitchFamily="18" charset="0"/>
                                  </a:rPr>
                                  <m:t>0,1061</m:t>
                                </m:r>
                              </m:e>
                              <m:e>
                                <m:r>
                                  <a:rPr lang="es-BO" i="1">
                                    <a:latin typeface="Cambria Math" panose="02040503050406030204" pitchFamily="18" charset="0"/>
                                    <a:ea typeface="Times New Roman" panose="02020603050405020304" pitchFamily="18" charset="0"/>
                                    <a:cs typeface="Times New Roman" panose="02020603050405020304" pitchFamily="18" charset="0"/>
                                  </a:rPr>
                                  <m:t>0</m:t>
                                </m:r>
                              </m:e>
                            </m:mr>
                            <m:mr>
                              <m:e>
                                <m:r>
                                  <a:rPr lang="es-BO" i="1">
                                    <a:latin typeface="Cambria Math" panose="02040503050406030204" pitchFamily="18" charset="0"/>
                                    <a:ea typeface="Calibri" panose="020F0502020204030204" pitchFamily="34" charset="0"/>
                                    <a:cs typeface="Arial" panose="020B0604020202020204" pitchFamily="34" charset="0"/>
                                  </a:rPr>
                                  <m:t>1,01</m:t>
                                </m:r>
                              </m:e>
                              <m:e>
                                <m:r>
                                  <a:rPr lang="es-BO" i="1">
                                    <a:latin typeface="Cambria Math" panose="02040503050406030204" pitchFamily="18" charset="0"/>
                                    <a:ea typeface="Calibri" panose="020F0502020204030204" pitchFamily="34" charset="0"/>
                                    <a:cs typeface="Arial" panose="020B0604020202020204" pitchFamily="34" charset="0"/>
                                  </a:rPr>
                                  <m:t>0</m:t>
                                </m:r>
                              </m:e>
                            </m:mr>
                          </m:m>
                        </m:e>
                      </m:d>
                    </m:oMath>
                  </m:oMathPara>
                </a14:m>
                <a:endParaRPr lang="en-US"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Bef>
                    <a:spcPts val="600"/>
                  </a:spcBef>
                  <a:spcAft>
                    <a:spcPts val="600"/>
                  </a:spcAft>
                </a:pPr>
                <a14:m>
                  <m:oMathPara xmlns:m="http://schemas.openxmlformats.org/officeDocument/2006/math">
                    <m:oMathParaPr>
                      <m:jc m:val="centerGroup"/>
                    </m:oMathParaPr>
                    <m:oMath xmlns:m="http://schemas.openxmlformats.org/officeDocument/2006/math">
                      <m:acc>
                        <m:accPr>
                          <m:chr m:val="̂"/>
                          <m:ctrlPr>
                            <a:rPr lang="en-US" i="1">
                              <a:latin typeface="Cambria Math" panose="02040503050406030204" pitchFamily="18" charset="0"/>
                              <a:ea typeface="Times New Roman" panose="02020603050405020304" pitchFamily="18" charset="0"/>
                              <a:cs typeface="Times New Roman" panose="02020603050405020304" pitchFamily="18" charset="0"/>
                            </a:rPr>
                          </m:ctrlPr>
                        </m:accPr>
                        <m:e>
                          <m:r>
                            <a:rPr lang="es-BO" i="1">
                              <a:latin typeface="Cambria Math" panose="02040503050406030204" pitchFamily="18" charset="0"/>
                              <a:ea typeface="Times New Roman" panose="02020603050405020304" pitchFamily="18" charset="0"/>
                              <a:cs typeface="Times New Roman" panose="02020603050405020304" pitchFamily="18" charset="0"/>
                            </a:rPr>
                            <m:t>𝐾</m:t>
                          </m:r>
                        </m:e>
                      </m:acc>
                      <m:r>
                        <a:rPr lang="es-BO" i="1">
                          <a:latin typeface="Cambria Math" panose="02040503050406030204" pitchFamily="18" charset="0"/>
                          <a:ea typeface="Times New Roman" panose="02020603050405020304" pitchFamily="18" charset="0"/>
                          <a:cs typeface="Times New Roman" panose="02020603050405020304" pitchFamily="18" charset="0"/>
                        </a:rPr>
                        <m:t>=</m:t>
                      </m:r>
                      <m:d>
                        <m:dPr>
                          <m:begChr m:val="["/>
                          <m:endChr m:val="]"/>
                          <m:ctrlPr>
                            <a:rPr lang="en-US" i="1">
                              <a:latin typeface="Cambria Math" panose="02040503050406030204" pitchFamily="18" charset="0"/>
                              <a:ea typeface="Times New Roman" panose="02020603050405020304" pitchFamily="18" charset="0"/>
                              <a:cs typeface="Times New Roman" panose="02020603050405020304" pitchFamily="18" charset="0"/>
                            </a:rPr>
                          </m:ctrlPr>
                        </m:dPr>
                        <m:e>
                          <m:m>
                            <m:mPr>
                              <m:mcs>
                                <m:mc>
                                  <m:mcPr>
                                    <m:count m:val="2"/>
                                    <m:mcJc m:val="center"/>
                                  </m:mcPr>
                                </m:mc>
                              </m:mcs>
                              <m:ctrlPr>
                                <a:rPr lang="en-US" i="1">
                                  <a:latin typeface="Cambria Math" panose="02040503050406030204" pitchFamily="18" charset="0"/>
                                  <a:ea typeface="Times New Roman" panose="02020603050405020304" pitchFamily="18" charset="0"/>
                                  <a:cs typeface="Times New Roman" panose="02020603050405020304" pitchFamily="18" charset="0"/>
                                </a:rPr>
                              </m:ctrlPr>
                            </m:mPr>
                            <m:mr>
                              <m:e>
                                <m:r>
                                  <a:rPr lang="es-BO" b="0" i="1" smtClean="0">
                                    <a:latin typeface="Cambria Math" panose="02040503050406030204" pitchFamily="18" charset="0"/>
                                    <a:ea typeface="Times New Roman" panose="02020603050405020304" pitchFamily="18" charset="0"/>
                                    <a:cs typeface="Times New Roman" panose="02020603050405020304" pitchFamily="18" charset="0"/>
                                  </a:rPr>
                                  <m:t>2,2005</m:t>
                                </m:r>
                              </m:e>
                              <m:e>
                                <m:r>
                                  <a:rPr lang="es-BO" b="0" i="1" smtClean="0">
                                    <a:latin typeface="Cambria Math" panose="02040503050406030204" pitchFamily="18" charset="0"/>
                                    <a:ea typeface="Times New Roman" panose="02020603050405020304" pitchFamily="18" charset="0"/>
                                    <a:cs typeface="Times New Roman" panose="02020603050405020304" pitchFamily="18" charset="0"/>
                                  </a:rPr>
                                  <m:t>0,0002</m:t>
                                </m:r>
                              </m:e>
                            </m:mr>
                          </m:m>
                        </m:e>
                      </m:d>
                    </m:oMath>
                  </m:oMathPara>
                </a14:m>
                <a:endParaRPr lang="en-US"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Bef>
                    <a:spcPts val="600"/>
                  </a:spcBef>
                  <a:spcAft>
                    <a:spcPts val="600"/>
                  </a:spcAft>
                </a:pPr>
                <a:r>
                  <a:rPr lang="es-BO" dirty="0">
                    <a:latin typeface="Calibri" panose="020F0502020204030204" pitchFamily="34" charset="0"/>
                    <a:ea typeface="Times New Roman" panose="02020603050405020304" pitchFamily="18" charset="0"/>
                    <a:cs typeface="Times New Roman" panose="02020603050405020304" pitchFamily="18" charset="0"/>
                  </a:rPr>
                  <a:t>Utilizando </a:t>
                </a:r>
                <a:r>
                  <a:rPr lang="es-BO" dirty="0" err="1">
                    <a:latin typeface="Calibri" panose="020F0502020204030204" pitchFamily="34" charset="0"/>
                    <a:ea typeface="Times New Roman" panose="02020603050405020304" pitchFamily="18" charset="0"/>
                    <a:cs typeface="Times New Roman" panose="02020603050405020304" pitchFamily="18" charset="0"/>
                  </a:rPr>
                  <a:t>Ackerman</a:t>
                </a:r>
                <a:r>
                  <a:rPr lang="es-BO" dirty="0">
                    <a:latin typeface="Calibri" panose="020F0502020204030204" pitchFamily="34" charset="0"/>
                    <a:ea typeface="Times New Roman" panose="02020603050405020304" pitchFamily="18" charset="0"/>
                    <a:cs typeface="Times New Roman" panose="02020603050405020304" pitchFamily="18" charset="0"/>
                  </a:rPr>
                  <a:t> en </a:t>
                </a:r>
                <a:r>
                  <a:rPr lang="es-BO" dirty="0" err="1">
                    <a:latin typeface="Calibri" panose="020F0502020204030204" pitchFamily="34" charset="0"/>
                    <a:ea typeface="Times New Roman" panose="02020603050405020304" pitchFamily="18" charset="0"/>
                    <a:cs typeface="Times New Roman" panose="02020603050405020304" pitchFamily="18" charset="0"/>
                  </a:rPr>
                  <a:t>MatLab</a:t>
                </a:r>
                <a:r>
                  <a:rPr lang="es-BO" dirty="0">
                    <a:latin typeface="Calibri" panose="020F0502020204030204" pitchFamily="34" charset="0"/>
                    <a:ea typeface="Times New Roman" panose="02020603050405020304" pitchFamily="18" charset="0"/>
                    <a:cs typeface="Times New Roman" panose="02020603050405020304" pitchFamily="18" charset="0"/>
                  </a:rPr>
                  <a:t> tenemos:</a:t>
                </a:r>
                <a:endParaRPr lang="en-US"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Bef>
                    <a:spcPts val="600"/>
                  </a:spcBef>
                  <a:spcAft>
                    <a:spcPts val="600"/>
                  </a:spcAft>
                </a:pPr>
                <a14:m>
                  <m:oMathPara xmlns:m="http://schemas.openxmlformats.org/officeDocument/2006/math">
                    <m:oMathParaPr>
                      <m:jc m:val="centerGroup"/>
                    </m:oMathParaPr>
                    <m:oMath xmlns:m="http://schemas.openxmlformats.org/officeDocument/2006/math">
                      <m:acc>
                        <m:accPr>
                          <m:chr m:val="̂"/>
                          <m:ctrlPr>
                            <a:rPr lang="en-US" i="1">
                              <a:latin typeface="Cambria Math" panose="02040503050406030204" pitchFamily="18" charset="0"/>
                              <a:ea typeface="Times New Roman" panose="02020603050405020304" pitchFamily="18" charset="0"/>
                              <a:cs typeface="Times New Roman" panose="02020603050405020304" pitchFamily="18" charset="0"/>
                            </a:rPr>
                          </m:ctrlPr>
                        </m:accPr>
                        <m:e>
                          <m:r>
                            <a:rPr lang="es-BO" i="1">
                              <a:latin typeface="Cambria Math" panose="02040503050406030204" pitchFamily="18" charset="0"/>
                              <a:ea typeface="Times New Roman" panose="02020603050405020304" pitchFamily="18" charset="0"/>
                              <a:cs typeface="Times New Roman" panose="02020603050405020304" pitchFamily="18" charset="0"/>
                            </a:rPr>
                            <m:t>𝐾</m:t>
                          </m:r>
                        </m:e>
                      </m:acc>
                      <m:r>
                        <a:rPr lang="es-BO" i="1">
                          <a:latin typeface="Cambria Math" panose="02040503050406030204" pitchFamily="18" charset="0"/>
                          <a:ea typeface="Times New Roman" panose="02020603050405020304" pitchFamily="18" charset="0"/>
                          <a:cs typeface="Times New Roman" panose="02020603050405020304" pitchFamily="18" charset="0"/>
                        </a:rPr>
                        <m:t>=</m:t>
                      </m:r>
                      <m:d>
                        <m:dPr>
                          <m:begChr m:val="["/>
                          <m:endChr m:val="]"/>
                          <m:ctrlPr>
                            <a:rPr lang="en-US" i="1">
                              <a:latin typeface="Cambria Math" panose="02040503050406030204" pitchFamily="18" charset="0"/>
                              <a:ea typeface="Times New Roman" panose="02020603050405020304" pitchFamily="18" charset="0"/>
                              <a:cs typeface="Times New Roman" panose="02020603050405020304" pitchFamily="18" charset="0"/>
                            </a:rPr>
                          </m:ctrlPr>
                        </m:dPr>
                        <m:e>
                          <m:m>
                            <m:mPr>
                              <m:mcs>
                                <m:mc>
                                  <m:mcPr>
                                    <m:count m:val="2"/>
                                    <m:mcJc m:val="center"/>
                                  </m:mcPr>
                                </m:mc>
                              </m:mcs>
                              <m:ctrlPr>
                                <a:rPr lang="en-US" i="1">
                                  <a:latin typeface="Cambria Math" panose="02040503050406030204" pitchFamily="18" charset="0"/>
                                  <a:ea typeface="Times New Roman" panose="02020603050405020304" pitchFamily="18" charset="0"/>
                                  <a:cs typeface="Times New Roman" panose="02020603050405020304" pitchFamily="18" charset="0"/>
                                </a:rPr>
                              </m:ctrlPr>
                            </m:mPr>
                            <m:mr>
                              <m:e>
                                <m:r>
                                  <a:rPr lang="es-BO" i="1">
                                    <a:latin typeface="Cambria Math" panose="02040503050406030204" pitchFamily="18" charset="0"/>
                                    <a:ea typeface="Times New Roman" panose="02020603050405020304" pitchFamily="18" charset="0"/>
                                    <a:cs typeface="Times New Roman" panose="02020603050405020304" pitchFamily="18" charset="0"/>
                                  </a:rPr>
                                  <m:t>2,2005</m:t>
                                </m:r>
                              </m:e>
                              <m:e>
                                <m:r>
                                  <a:rPr lang="es-BO" i="1">
                                    <a:latin typeface="Cambria Math" panose="02040503050406030204" pitchFamily="18" charset="0"/>
                                    <a:ea typeface="Times New Roman" panose="02020603050405020304" pitchFamily="18" charset="0"/>
                                    <a:cs typeface="Times New Roman" panose="02020603050405020304" pitchFamily="18" charset="0"/>
                                  </a:rPr>
                                  <m:t>0,0002</m:t>
                                </m:r>
                              </m:e>
                            </m:mr>
                          </m:m>
                        </m:e>
                      </m:d>
                    </m:oMath>
                  </m:oMathPara>
                </a14:m>
                <a:endParaRPr lang="en-US" dirty="0">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4" name="Rectángulo 3"/>
              <p:cNvSpPr>
                <a:spLocks noRot="1" noChangeAspect="1" noMove="1" noResize="1" noEditPoints="1" noAdjustHandles="1" noChangeArrowheads="1" noChangeShapeType="1" noTextEdit="1"/>
              </p:cNvSpPr>
              <p:nvPr/>
            </p:nvSpPr>
            <p:spPr>
              <a:xfrm>
                <a:off x="1706880" y="374420"/>
                <a:ext cx="9113520" cy="5000600"/>
              </a:xfrm>
              <a:prstGeom prst="rect">
                <a:avLst/>
              </a:prstGeom>
              <a:blipFill>
                <a:blip r:embed="rId2"/>
                <a:stretch>
                  <a:fillRect l="-535" t="-4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Rectángulo 5"/>
              <p:cNvSpPr/>
              <p:nvPr/>
            </p:nvSpPr>
            <p:spPr>
              <a:xfrm>
                <a:off x="1127760" y="5215053"/>
                <a:ext cx="8971280" cy="887935"/>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s-BO" i="1" smtClean="0">
                          <a:latin typeface="Cambria Math" panose="02040503050406030204" pitchFamily="18" charset="0"/>
                        </a:rPr>
                        <m:t>𝐺</m:t>
                      </m:r>
                      <m:d>
                        <m:dPr>
                          <m:ctrlPr>
                            <a:rPr lang="en-US" i="1">
                              <a:latin typeface="Cambria Math" panose="02040503050406030204" pitchFamily="18" charset="0"/>
                            </a:rPr>
                          </m:ctrlPr>
                        </m:dPr>
                        <m:e>
                          <m:r>
                            <a:rPr lang="es-BO" i="1">
                              <a:latin typeface="Cambria Math" panose="02040503050406030204" pitchFamily="18" charset="0"/>
                            </a:rPr>
                            <m:t>𝑠</m:t>
                          </m:r>
                        </m:e>
                      </m:d>
                      <m:r>
                        <a:rPr lang="es-BO" i="1">
                          <a:latin typeface="Cambria Math" panose="02040503050406030204" pitchFamily="18" charset="0"/>
                        </a:rPr>
                        <m:t>=</m:t>
                      </m:r>
                      <m:sSup>
                        <m:sSupPr>
                          <m:ctrlPr>
                            <a:rPr lang="en-US" i="1">
                              <a:latin typeface="Cambria Math" panose="02040503050406030204" pitchFamily="18" charset="0"/>
                            </a:rPr>
                          </m:ctrlPr>
                        </m:sSupPr>
                        <m:e>
                          <m:r>
                            <a:rPr lang="es-BO" i="1">
                              <a:latin typeface="Cambria Math" panose="02040503050406030204" pitchFamily="18" charset="0"/>
                            </a:rPr>
                            <m:t>𝐶</m:t>
                          </m:r>
                          <m:r>
                            <a:rPr lang="es-BO" i="1">
                              <a:latin typeface="Cambria Math" panose="02040503050406030204" pitchFamily="18" charset="0"/>
                            </a:rPr>
                            <m:t>∗</m:t>
                          </m:r>
                          <m:d>
                            <m:dPr>
                              <m:ctrlPr>
                                <a:rPr lang="en-US" i="1">
                                  <a:latin typeface="Cambria Math" panose="02040503050406030204" pitchFamily="18" charset="0"/>
                                </a:rPr>
                              </m:ctrlPr>
                            </m:dPr>
                            <m:e>
                              <m:r>
                                <a:rPr lang="es-BO" i="1">
                                  <a:latin typeface="Cambria Math" panose="02040503050406030204" pitchFamily="18" charset="0"/>
                                </a:rPr>
                                <m:t>𝑠𝐼</m:t>
                              </m:r>
                              <m:r>
                                <a:rPr lang="es-BO" i="1">
                                  <a:latin typeface="Cambria Math" panose="02040503050406030204" pitchFamily="18" charset="0"/>
                                </a:rPr>
                                <m:t>−(</m:t>
                              </m:r>
                              <m:r>
                                <a:rPr lang="es-BO" i="1">
                                  <a:latin typeface="Cambria Math" panose="02040503050406030204" pitchFamily="18" charset="0"/>
                                </a:rPr>
                                <m:t>𝐴</m:t>
                              </m:r>
                              <m:r>
                                <a:rPr lang="es-BO" i="1">
                                  <a:latin typeface="Cambria Math" panose="02040503050406030204" pitchFamily="18" charset="0"/>
                                </a:rPr>
                                <m:t>−</m:t>
                              </m:r>
                              <m:r>
                                <a:rPr lang="es-BO" i="1">
                                  <a:latin typeface="Cambria Math" panose="02040503050406030204" pitchFamily="18" charset="0"/>
                                </a:rPr>
                                <m:t>𝐵𝐾</m:t>
                              </m:r>
                              <m:r>
                                <a:rPr lang="es-BO" i="1">
                                  <a:latin typeface="Cambria Math" panose="02040503050406030204" pitchFamily="18" charset="0"/>
                                </a:rPr>
                                <m:t>)</m:t>
                              </m:r>
                            </m:e>
                          </m:d>
                        </m:e>
                        <m:sup>
                          <m:r>
                            <a:rPr lang="es-BO" i="1">
                              <a:latin typeface="Cambria Math" panose="02040503050406030204" pitchFamily="18" charset="0"/>
                            </a:rPr>
                            <m:t>−1</m:t>
                          </m:r>
                        </m:sup>
                      </m:sSup>
                      <m:r>
                        <a:rPr lang="es-BO" i="1">
                          <a:latin typeface="Cambria Math" panose="02040503050406030204" pitchFamily="18" charset="0"/>
                        </a:rPr>
                        <m:t>∗</m:t>
                      </m:r>
                      <m:r>
                        <a:rPr lang="es-BO" i="1">
                          <a:latin typeface="Cambria Math" panose="02040503050406030204" pitchFamily="18" charset="0"/>
                        </a:rPr>
                        <m:t>𝐵</m:t>
                      </m:r>
                      <m:r>
                        <a:rPr lang="es-BO" i="1">
                          <a:latin typeface="Cambria Math" panose="02040503050406030204" pitchFamily="18" charset="0"/>
                        </a:rPr>
                        <m:t> →    </m:t>
                      </m:r>
                      <m:r>
                        <a:rPr lang="es-BO" i="1">
                          <a:latin typeface="Cambria Math" panose="02040503050406030204" pitchFamily="18" charset="0"/>
                        </a:rPr>
                        <m:t>𝐺</m:t>
                      </m:r>
                      <m:d>
                        <m:dPr>
                          <m:ctrlPr>
                            <a:rPr lang="en-US" i="1">
                              <a:latin typeface="Cambria Math" panose="02040503050406030204" pitchFamily="18" charset="0"/>
                            </a:rPr>
                          </m:ctrlPr>
                        </m:dPr>
                        <m:e>
                          <m:r>
                            <a:rPr lang="es-BO" i="1">
                              <a:latin typeface="Cambria Math" panose="02040503050406030204" pitchFamily="18" charset="0"/>
                            </a:rPr>
                            <m:t>𝑠</m:t>
                          </m:r>
                        </m:e>
                      </m:d>
                      <m:r>
                        <a:rPr lang="es-BO" b="0" i="1" smtClean="0">
                          <a:latin typeface="Cambria Math" panose="02040503050406030204" pitchFamily="18" charset="0"/>
                        </a:rPr>
                        <m:t> ;</m:t>
                      </m:r>
                      <m:r>
                        <a:rPr lang="es-BO" b="0" i="1" smtClean="0">
                          <a:latin typeface="Cambria Math" panose="02040503050406030204" pitchFamily="18" charset="0"/>
                        </a:rPr>
                        <m:t>𝑐𝑜𝑛</m:t>
                      </m:r>
                      <m:r>
                        <a:rPr lang="es-BO" b="0" i="1" smtClean="0">
                          <a:latin typeface="Cambria Math" panose="02040503050406030204" pitchFamily="18" charset="0"/>
                        </a:rPr>
                        <m:t> </m:t>
                      </m:r>
                      <m:r>
                        <a:rPr lang="es-BO" b="0" i="1" smtClean="0">
                          <a:latin typeface="Cambria Math" panose="02040503050406030204" pitchFamily="18" charset="0"/>
                        </a:rPr>
                        <m:t>𝑠</m:t>
                      </m:r>
                      <m:r>
                        <a:rPr lang="es-BO" b="0" i="1" smtClean="0">
                          <a:latin typeface="Cambria Math" panose="02040503050406030204" pitchFamily="18" charset="0"/>
                        </a:rPr>
                        <m:t>=0</m:t>
                      </m:r>
                    </m:oMath>
                  </m:oMathPara>
                </a14:m>
                <a:endParaRPr lang="en-US" dirty="0"/>
              </a:p>
              <a:p>
                <a:pPr/>
                <a14:m>
                  <m:oMathPara xmlns:m="http://schemas.openxmlformats.org/officeDocument/2006/math">
                    <m:oMathParaPr>
                      <m:jc m:val="centerGroup"/>
                    </m:oMathParaPr>
                    <m:oMath xmlns:m="http://schemas.openxmlformats.org/officeDocument/2006/math">
                      <m:r>
                        <a:rPr lang="es-BO" i="1">
                          <a:latin typeface="Cambria Math" panose="02040503050406030204" pitchFamily="18" charset="0"/>
                        </a:rPr>
                        <m:t>𝑆𝑖</m:t>
                      </m:r>
                      <m:r>
                        <a:rPr lang="es-BO" i="1">
                          <a:latin typeface="Cambria Math" panose="02040503050406030204" pitchFamily="18" charset="0"/>
                        </a:rPr>
                        <m:t>: </m:t>
                      </m:r>
                      <m:r>
                        <a:rPr lang="es-BO" i="1">
                          <a:latin typeface="Cambria Math" panose="02040503050406030204" pitchFamily="18" charset="0"/>
                        </a:rPr>
                        <m:t>𝑠</m:t>
                      </m:r>
                      <m:r>
                        <a:rPr lang="es-BO" i="1">
                          <a:latin typeface="Cambria Math" panose="02040503050406030204" pitchFamily="18" charset="0"/>
                        </a:rPr>
                        <m:t>→0     </m:t>
                      </m:r>
                      <m:r>
                        <a:rPr lang="es-BO" i="1">
                          <a:latin typeface="Cambria Math" panose="02040503050406030204" pitchFamily="18" charset="0"/>
                        </a:rPr>
                        <m:t>𝑒𝑛𝑡𝑜𝑛𝑐𝑒𝑠</m:t>
                      </m:r>
                      <m:r>
                        <a:rPr lang="es-BO" i="1">
                          <a:latin typeface="Cambria Math" panose="02040503050406030204" pitchFamily="18" charset="0"/>
                        </a:rPr>
                        <m:t>:     </m:t>
                      </m:r>
                      <m:f>
                        <m:fPr>
                          <m:ctrlPr>
                            <a:rPr lang="en-US" i="1">
                              <a:latin typeface="Cambria Math" panose="02040503050406030204" pitchFamily="18" charset="0"/>
                            </a:rPr>
                          </m:ctrlPr>
                        </m:fPr>
                        <m:num>
                          <m:r>
                            <a:rPr lang="es-BO" i="1">
                              <a:latin typeface="Cambria Math" panose="02040503050406030204" pitchFamily="18" charset="0"/>
                            </a:rPr>
                            <m:t>1</m:t>
                          </m:r>
                        </m:num>
                        <m:den>
                          <m:r>
                            <a:rPr lang="es-BO" i="1">
                              <a:latin typeface="Cambria Math" panose="02040503050406030204" pitchFamily="18" charset="0"/>
                            </a:rPr>
                            <m:t>𝑁</m:t>
                          </m:r>
                        </m:den>
                      </m:f>
                      <m:r>
                        <a:rPr lang="es-BO" i="1">
                          <a:latin typeface="Cambria Math" panose="02040503050406030204" pitchFamily="18" charset="0"/>
                        </a:rPr>
                        <m:t>=0.</m:t>
                      </m:r>
                      <m:r>
                        <a:rPr lang="es-BO" b="0" i="1" smtClean="0">
                          <a:latin typeface="Cambria Math" panose="02040503050406030204" pitchFamily="18" charset="0"/>
                        </a:rPr>
                        <m:t>1129</m:t>
                      </m:r>
                      <m:r>
                        <a:rPr lang="es-MX" i="1">
                          <a:latin typeface="Cambria Math" panose="02040503050406030204" pitchFamily="18" charset="0"/>
                        </a:rPr>
                        <m:t>  →   </m:t>
                      </m:r>
                      <m:r>
                        <a:rPr lang="es-MX" b="1" i="1">
                          <a:latin typeface="Cambria Math" panose="02040503050406030204" pitchFamily="18" charset="0"/>
                        </a:rPr>
                        <m:t>𝑵</m:t>
                      </m:r>
                      <m:r>
                        <a:rPr lang="es-MX" b="1" i="1">
                          <a:latin typeface="Cambria Math" panose="02040503050406030204" pitchFamily="18" charset="0"/>
                        </a:rPr>
                        <m:t>=</m:t>
                      </m:r>
                      <m:r>
                        <a:rPr lang="es-BO" b="1" i="1" smtClean="0">
                          <a:latin typeface="Cambria Math" panose="02040503050406030204" pitchFamily="18" charset="0"/>
                        </a:rPr>
                        <m:t>𝟖</m:t>
                      </m:r>
                      <m:r>
                        <a:rPr lang="es-BO" b="1" i="1" smtClean="0">
                          <a:latin typeface="Cambria Math" panose="02040503050406030204" pitchFamily="18" charset="0"/>
                        </a:rPr>
                        <m:t>,</m:t>
                      </m:r>
                      <m:r>
                        <a:rPr lang="es-BO" b="1" i="1" smtClean="0">
                          <a:latin typeface="Cambria Math" panose="02040503050406030204" pitchFamily="18" charset="0"/>
                        </a:rPr>
                        <m:t>𝟖𝟓𝟗𝟔</m:t>
                      </m:r>
                    </m:oMath>
                  </m:oMathPara>
                </a14:m>
                <a:endParaRPr lang="en-US" dirty="0"/>
              </a:p>
            </p:txBody>
          </p:sp>
        </mc:Choice>
        <mc:Fallback xmlns="">
          <p:sp>
            <p:nvSpPr>
              <p:cNvPr id="6" name="Rectángulo 5"/>
              <p:cNvSpPr>
                <a:spLocks noRot="1" noChangeAspect="1" noMove="1" noResize="1" noEditPoints="1" noAdjustHandles="1" noChangeArrowheads="1" noChangeShapeType="1" noTextEdit="1"/>
              </p:cNvSpPr>
              <p:nvPr/>
            </p:nvSpPr>
            <p:spPr>
              <a:xfrm>
                <a:off x="1127760" y="5215053"/>
                <a:ext cx="8971280" cy="887935"/>
              </a:xfrm>
              <a:prstGeom prst="rect">
                <a:avLst/>
              </a:prstGeo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52727336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BO" dirty="0"/>
              <a:t>Con MATLAB</a:t>
            </a:r>
            <a:endParaRPr lang="en-US" dirty="0"/>
          </a:p>
        </p:txBody>
      </p:sp>
      <p:pic>
        <p:nvPicPr>
          <p:cNvPr id="7" name="Marcador de contenido 6"/>
          <p:cNvPicPr>
            <a:picLocks noGrp="1" noChangeAspect="1"/>
          </p:cNvPicPr>
          <p:nvPr>
            <p:ph idx="1"/>
          </p:nvPr>
        </p:nvPicPr>
        <p:blipFill>
          <a:blip r:embed="rId2"/>
          <a:stretch>
            <a:fillRect/>
          </a:stretch>
        </p:blipFill>
        <p:spPr>
          <a:xfrm>
            <a:off x="4468495" y="2093976"/>
            <a:ext cx="5029199" cy="4051300"/>
          </a:xfrm>
          <a:prstGeom prst="rect">
            <a:avLst/>
          </a:prstGeom>
        </p:spPr>
      </p:pic>
    </p:spTree>
    <p:extLst>
      <p:ext uri="{BB962C8B-B14F-4D97-AF65-F5344CB8AC3E}">
        <p14:creationId xmlns:p14="http://schemas.microsoft.com/office/powerpoint/2010/main" val="220441784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119922" y="1478219"/>
            <a:ext cx="10058400" cy="943574"/>
          </a:xfrm>
        </p:spPr>
        <p:txBody>
          <a:bodyPr>
            <a:noAutofit/>
          </a:bodyPr>
          <a:lstStyle/>
          <a:p>
            <a:r>
              <a:rPr lang="es-BO" sz="3600" dirty="0"/>
              <a:t>ELECCION DE PERIODO DE MUESTREO</a:t>
            </a:r>
            <a:br>
              <a:rPr lang="en-US" sz="3600" dirty="0"/>
            </a:br>
            <a:endParaRPr lang="en-US" sz="3600" dirty="0"/>
          </a:p>
        </p:txBody>
      </p:sp>
      <mc:AlternateContent xmlns:mc="http://schemas.openxmlformats.org/markup-compatibility/2006" xmlns:a14="http://schemas.microsoft.com/office/drawing/2010/main">
        <mc:Choice Requires="a14">
          <p:sp>
            <p:nvSpPr>
              <p:cNvPr id="3" name="Marcador de contenido 2"/>
              <p:cNvSpPr>
                <a:spLocks noGrp="1"/>
              </p:cNvSpPr>
              <p:nvPr>
                <p:ph idx="1"/>
              </p:nvPr>
            </p:nvSpPr>
            <p:spPr>
              <a:xfrm>
                <a:off x="982762" y="2465396"/>
                <a:ext cx="10058400" cy="3434661"/>
              </a:xfrm>
            </p:spPr>
            <p:txBody>
              <a:bodyPr>
                <a:normAutofit fontScale="62500" lnSpcReduction="20000"/>
              </a:bodyPr>
              <a:lstStyle/>
              <a:p>
                <a:pPr marL="0" indent="0">
                  <a:buNone/>
                </a:pPr>
                <a:r>
                  <a:rPr lang="es-BO" sz="2600" dirty="0"/>
                  <a:t>Entonces:</a:t>
                </a:r>
                <a:endParaRPr lang="en-US" sz="2600" dirty="0"/>
              </a:p>
              <a:p>
                <a:pPr marL="0" indent="0">
                  <a:buNone/>
                </a:pPr>
                <a:r>
                  <a:rPr lang="es-BO" sz="2600" dirty="0"/>
                  <a:t>Para este caso la constante tau viene siendo el valor que acompaña a la variable “s” del denominador de la función de transferencia.</a:t>
                </a:r>
              </a:p>
              <a:p>
                <a:pPr marL="0" indent="0">
                  <a:buNone/>
                </a:pPr>
                <a:endParaRPr lang="es-BO" dirty="0"/>
              </a:p>
              <a:p>
                <a:pPr marL="0" indent="0">
                  <a:buNone/>
                </a:pPr>
                <a:endParaRPr lang="es-BO" dirty="0"/>
              </a:p>
              <a:p>
                <a:pPr marL="0" indent="0">
                  <a:buNone/>
                </a:pPr>
                <a:endParaRPr lang="es-BO" dirty="0"/>
              </a:p>
              <a:p>
                <a:pPr marL="0" indent="0">
                  <a:buNone/>
                </a:pPr>
                <a:endParaRPr lang="es-BO" dirty="0"/>
              </a:p>
              <a:p>
                <a:pPr marL="0" indent="0">
                  <a:buNone/>
                </a:pPr>
                <a:endParaRPr lang="es-BO" dirty="0"/>
              </a:p>
              <a:p>
                <a:pPr marL="0" indent="0">
                  <a:buNone/>
                </a:pPr>
                <a:endParaRPr lang="es-BO" dirty="0"/>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r>
                        <a:rPr lang="es-BO" sz="3600" i="1">
                          <a:latin typeface="Cambria Math" panose="02040503050406030204" pitchFamily="18" charset="0"/>
                        </a:rPr>
                        <m:t>𝑇</m:t>
                      </m:r>
                      <m:r>
                        <a:rPr lang="es-BO" sz="3600" i="1">
                          <a:latin typeface="Cambria Math" panose="02040503050406030204" pitchFamily="18" charset="0"/>
                        </a:rPr>
                        <m:t>=</m:t>
                      </m:r>
                      <m:f>
                        <m:fPr>
                          <m:ctrlPr>
                            <a:rPr lang="en-US" sz="3600" i="1" smtClean="0">
                              <a:latin typeface="Cambria Math" panose="02040503050406030204" pitchFamily="18" charset="0"/>
                            </a:rPr>
                          </m:ctrlPr>
                        </m:fPr>
                        <m:num>
                          <m:r>
                            <a:rPr lang="es-BO" sz="3600" b="0" i="1" smtClean="0">
                              <a:latin typeface="Cambria Math" panose="02040503050406030204" pitchFamily="18" charset="0"/>
                            </a:rPr>
                            <m:t>303</m:t>
                          </m:r>
                          <m:r>
                            <a:rPr lang="es-BO" sz="3600" i="1">
                              <a:latin typeface="Cambria Math" panose="02040503050406030204" pitchFamily="18" charset="0"/>
                            </a:rPr>
                            <m:t>.</m:t>
                          </m:r>
                          <m:r>
                            <a:rPr lang="es-BO" sz="3600" b="0" i="1" smtClean="0">
                              <a:latin typeface="Cambria Math" panose="02040503050406030204" pitchFamily="18" charset="0"/>
                            </a:rPr>
                            <m:t>03</m:t>
                          </m:r>
                        </m:num>
                        <m:den>
                          <m:r>
                            <a:rPr lang="es-BO" sz="3600" i="1">
                              <a:latin typeface="Cambria Math" panose="02040503050406030204" pitchFamily="18" charset="0"/>
                            </a:rPr>
                            <m:t>10</m:t>
                          </m:r>
                        </m:den>
                      </m:f>
                      <m:r>
                        <a:rPr lang="es-BO" sz="3600" i="1">
                          <a:latin typeface="Cambria Math" panose="02040503050406030204" pitchFamily="18" charset="0"/>
                        </a:rPr>
                        <m:t>    →   </m:t>
                      </m:r>
                      <m:r>
                        <a:rPr lang="es-BO" sz="3600" b="1" i="1">
                          <a:latin typeface="Cambria Math" panose="02040503050406030204" pitchFamily="18" charset="0"/>
                        </a:rPr>
                        <m:t>𝑻</m:t>
                      </m:r>
                      <m:r>
                        <a:rPr lang="es-BO" sz="3600" b="1" i="1">
                          <a:latin typeface="Cambria Math" panose="02040503050406030204" pitchFamily="18" charset="0"/>
                        </a:rPr>
                        <m:t>=</m:t>
                      </m:r>
                      <m:r>
                        <a:rPr lang="es-BO" sz="3600" b="1" i="1" smtClean="0">
                          <a:latin typeface="Cambria Math" panose="02040503050406030204" pitchFamily="18" charset="0"/>
                        </a:rPr>
                        <m:t>𝟑𝟎</m:t>
                      </m:r>
                      <m:r>
                        <a:rPr lang="es-BO" sz="3600" b="1" i="1" smtClean="0">
                          <a:latin typeface="Cambria Math" panose="02040503050406030204" pitchFamily="18" charset="0"/>
                        </a:rPr>
                        <m:t>.</m:t>
                      </m:r>
                      <m:r>
                        <a:rPr lang="es-BO" sz="3600" b="1" i="1" smtClean="0">
                          <a:latin typeface="Cambria Math" panose="02040503050406030204" pitchFamily="18" charset="0"/>
                        </a:rPr>
                        <m:t>𝟑𝟎</m:t>
                      </m:r>
                      <m:r>
                        <a:rPr lang="es-BO" sz="3600" b="1" i="1">
                          <a:latin typeface="Cambria Math" panose="02040503050406030204" pitchFamily="18" charset="0"/>
                        </a:rPr>
                        <m:t>[</m:t>
                      </m:r>
                      <m:r>
                        <a:rPr lang="es-BO" sz="3600" b="1" i="1">
                          <a:latin typeface="Cambria Math" panose="02040503050406030204" pitchFamily="18" charset="0"/>
                        </a:rPr>
                        <m:t>𝒔</m:t>
                      </m:r>
                      <m:r>
                        <a:rPr lang="es-BO" sz="3600" b="1" i="1">
                          <a:latin typeface="Cambria Math" panose="02040503050406030204" pitchFamily="18" charset="0"/>
                        </a:rPr>
                        <m:t>]</m:t>
                      </m:r>
                    </m:oMath>
                  </m:oMathPara>
                </a14:m>
                <a:endParaRPr lang="en-US" dirty="0"/>
              </a:p>
              <a:p>
                <a:pPr marL="0" indent="0">
                  <a:buNone/>
                </a:pPr>
                <a:endParaRPr lang="en-US" dirty="0"/>
              </a:p>
            </p:txBody>
          </p:sp>
        </mc:Choice>
        <mc:Fallback xmlns="">
          <p:sp>
            <p:nvSpPr>
              <p:cNvPr id="3" name="Marcador de contenido 2"/>
              <p:cNvSpPr>
                <a:spLocks noGrp="1" noRot="1" noChangeAspect="1" noMove="1" noResize="1" noEditPoints="1" noAdjustHandles="1" noChangeArrowheads="1" noChangeShapeType="1" noTextEdit="1"/>
              </p:cNvSpPr>
              <p:nvPr>
                <p:ph idx="1"/>
              </p:nvPr>
            </p:nvSpPr>
            <p:spPr>
              <a:xfrm>
                <a:off x="982762" y="2465396"/>
                <a:ext cx="10058400" cy="3434661"/>
              </a:xfrm>
              <a:blipFill>
                <a:blip r:embed="rId2"/>
                <a:stretch>
                  <a:fillRect l="-303" t="-248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CuadroTexto 4"/>
              <p:cNvSpPr txBox="1"/>
              <p:nvPr/>
            </p:nvSpPr>
            <p:spPr>
              <a:xfrm>
                <a:off x="4123983" y="3816151"/>
                <a:ext cx="3775957" cy="733149"/>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s-BO" sz="2000" b="1" i="1" smtClean="0">
                              <a:latin typeface="Cambria Math" panose="02040503050406030204" pitchFamily="18" charset="0"/>
                            </a:rPr>
                          </m:ctrlPr>
                        </m:fPr>
                        <m:num>
                          <m:r>
                            <a:rPr lang="en-US" sz="2000" b="1" i="1" smtClean="0">
                              <a:latin typeface="Cambria Math" panose="02040503050406030204" pitchFamily="18" charset="0"/>
                            </a:rPr>
                            <m:t>𝑯</m:t>
                          </m:r>
                          <m:r>
                            <a:rPr lang="en-US" sz="2000" b="1" i="1" smtClean="0">
                              <a:latin typeface="Cambria Math" panose="02040503050406030204" pitchFamily="18" charset="0"/>
                            </a:rPr>
                            <m:t>(</m:t>
                          </m:r>
                          <m:r>
                            <a:rPr lang="en-US" sz="2000" b="1" i="1" smtClean="0">
                              <a:latin typeface="Cambria Math" panose="02040503050406030204" pitchFamily="18" charset="0"/>
                            </a:rPr>
                            <m:t>𝒔</m:t>
                          </m:r>
                          <m:r>
                            <a:rPr lang="en-US" sz="2000" b="1" i="1" smtClean="0">
                              <a:latin typeface="Cambria Math" panose="02040503050406030204" pitchFamily="18" charset="0"/>
                            </a:rPr>
                            <m:t>)</m:t>
                          </m:r>
                        </m:num>
                        <m:den>
                          <m:r>
                            <a:rPr lang="en-US" sz="2000" b="1" i="1" smtClean="0">
                              <a:latin typeface="Cambria Math" panose="02040503050406030204" pitchFamily="18" charset="0"/>
                            </a:rPr>
                            <m:t>𝑸</m:t>
                          </m:r>
                          <m:r>
                            <a:rPr lang="en-US" sz="2000" b="1" i="1" smtClean="0">
                              <a:latin typeface="Cambria Math" panose="02040503050406030204" pitchFamily="18" charset="0"/>
                            </a:rPr>
                            <m:t>(</m:t>
                          </m:r>
                          <m:r>
                            <a:rPr lang="en-US" sz="2000" b="1" i="1" smtClean="0">
                              <a:latin typeface="Cambria Math" panose="02040503050406030204" pitchFamily="18" charset="0"/>
                            </a:rPr>
                            <m:t>𝒔</m:t>
                          </m:r>
                          <m:r>
                            <a:rPr lang="en-US" sz="2000" b="1" i="1" smtClean="0">
                              <a:latin typeface="Cambria Math" panose="02040503050406030204" pitchFamily="18" charset="0"/>
                            </a:rPr>
                            <m:t>)</m:t>
                          </m:r>
                        </m:den>
                      </m:f>
                      <m:r>
                        <a:rPr lang="en-US" sz="2000" b="1" i="1" smtClean="0">
                          <a:latin typeface="Cambria Math" panose="02040503050406030204" pitchFamily="18" charset="0"/>
                        </a:rPr>
                        <m:t>=</m:t>
                      </m:r>
                      <m:f>
                        <m:fPr>
                          <m:ctrlPr>
                            <a:rPr lang="en-US" sz="2000" b="1" i="1" smtClean="0">
                              <a:latin typeface="Cambria Math" panose="02040503050406030204" pitchFamily="18" charset="0"/>
                            </a:rPr>
                          </m:ctrlPr>
                        </m:fPr>
                        <m:num>
                          <m:r>
                            <a:rPr lang="en-US" sz="2000" b="1" i="1" smtClean="0">
                              <a:latin typeface="Cambria Math" panose="02040503050406030204" pitchFamily="18" charset="0"/>
                            </a:rPr>
                            <m:t>𝟎</m:t>
                          </m:r>
                          <m:r>
                            <a:rPr lang="en-US" sz="2000" b="1" i="1" smtClean="0">
                              <a:latin typeface="Cambria Math" panose="02040503050406030204" pitchFamily="18" charset="0"/>
                            </a:rPr>
                            <m:t>,</m:t>
                          </m:r>
                          <m:r>
                            <a:rPr lang="en-US" sz="2000" b="1" i="1" smtClean="0">
                              <a:latin typeface="Cambria Math" panose="02040503050406030204" pitchFamily="18" charset="0"/>
                            </a:rPr>
                            <m:t>𝟎𝟗𝟓𝟔𝟗</m:t>
                          </m:r>
                        </m:num>
                        <m:den>
                          <m:r>
                            <a:rPr lang="es-BO" sz="2000" b="1" i="1" smtClean="0">
                              <a:latin typeface="Cambria Math" panose="02040503050406030204" pitchFamily="18" charset="0"/>
                            </a:rPr>
                            <m:t>𝟑𝟎𝟑</m:t>
                          </m:r>
                          <m:r>
                            <a:rPr lang="es-BO" sz="2000" b="1" i="1" smtClean="0">
                              <a:latin typeface="Cambria Math" panose="02040503050406030204" pitchFamily="18" charset="0"/>
                            </a:rPr>
                            <m:t>,</m:t>
                          </m:r>
                          <m:r>
                            <a:rPr lang="es-BO" sz="2000" b="1" i="1" smtClean="0">
                              <a:latin typeface="Cambria Math" panose="02040503050406030204" pitchFamily="18" charset="0"/>
                            </a:rPr>
                            <m:t>𝟎𝟑𝟎</m:t>
                          </m:r>
                          <m:r>
                            <a:rPr lang="es-BO" sz="2000" b="1" i="1" smtClean="0">
                              <a:latin typeface="Cambria Math" panose="02040503050406030204" pitchFamily="18" charset="0"/>
                            </a:rPr>
                            <m:t>∗</m:t>
                          </m:r>
                          <m:r>
                            <a:rPr lang="en-US" sz="2000" b="1" i="1" smtClean="0">
                              <a:latin typeface="Cambria Math" panose="02040503050406030204" pitchFamily="18" charset="0"/>
                            </a:rPr>
                            <m:t>𝒔</m:t>
                          </m:r>
                          <m:r>
                            <a:rPr lang="en-US" sz="2000" b="1" i="1" smtClean="0">
                              <a:latin typeface="Cambria Math" panose="02040503050406030204" pitchFamily="18" charset="0"/>
                            </a:rPr>
                            <m:t>+</m:t>
                          </m:r>
                          <m:r>
                            <a:rPr lang="en-US" sz="2000" b="1" i="1" smtClean="0">
                              <a:latin typeface="Cambria Math" panose="02040503050406030204" pitchFamily="18" charset="0"/>
                            </a:rPr>
                            <m:t>𝟏</m:t>
                          </m:r>
                        </m:den>
                      </m:f>
                    </m:oMath>
                  </m:oMathPara>
                </a14:m>
                <a:endParaRPr lang="es-BO" sz="1400" b="1" dirty="0"/>
              </a:p>
            </p:txBody>
          </p:sp>
        </mc:Choice>
        <mc:Fallback xmlns="">
          <p:sp>
            <p:nvSpPr>
              <p:cNvPr id="5" name="CuadroTexto 4"/>
              <p:cNvSpPr txBox="1">
                <a:spLocks noRot="1" noChangeAspect="1" noMove="1" noResize="1" noEditPoints="1" noAdjustHandles="1" noChangeArrowheads="1" noChangeShapeType="1" noTextEdit="1"/>
              </p:cNvSpPr>
              <p:nvPr/>
            </p:nvSpPr>
            <p:spPr>
              <a:xfrm>
                <a:off x="4123983" y="3816151"/>
                <a:ext cx="3775957" cy="733149"/>
              </a:xfrm>
              <a:prstGeom prst="rect">
                <a:avLst/>
              </a:prstGeom>
              <a:blipFill>
                <a:blip r:embed="rId3"/>
                <a:stretch>
                  <a:fillRect/>
                </a:stretch>
              </a:blipFill>
            </p:spPr>
            <p:txBody>
              <a:bodyPr/>
              <a:lstStyle/>
              <a:p>
                <a:r>
                  <a:rPr lang="en-US">
                    <a:noFill/>
                  </a:rPr>
                  <a:t> </a:t>
                </a:r>
              </a:p>
            </p:txBody>
          </p:sp>
        </mc:Fallback>
      </mc:AlternateContent>
      <p:sp>
        <p:nvSpPr>
          <p:cNvPr id="6" name="Título 1"/>
          <p:cNvSpPr txBox="1">
            <a:spLocks/>
          </p:cNvSpPr>
          <p:nvPr/>
        </p:nvSpPr>
        <p:spPr>
          <a:xfrm>
            <a:off x="537972" y="118872"/>
            <a:ext cx="11122152" cy="103065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800" b="1" kern="1200" cap="none" baseline="0">
                <a:blipFill>
                  <a:blip r:embed="rId4">
                    <a:extLst>
                      <a:ext uri="{28A0092B-C50C-407E-A947-70E740481C1C}">
                        <a14:useLocalDpi xmlns:a14="http://schemas.microsoft.com/office/drawing/2010/main" val="0"/>
                      </a:ext>
                    </a:extLst>
                  </a:blip>
                  <a:tile tx="6350" ty="-127000" sx="65000" sy="64000" flip="none" algn="tl"/>
                </a:blipFill>
                <a:latin typeface="+mj-lt"/>
                <a:ea typeface="+mj-ea"/>
                <a:cs typeface="+mj-cs"/>
              </a:defRPr>
            </a:lvl1pPr>
          </a:lstStyle>
          <a:p>
            <a:r>
              <a:rPr lang="es-BO" sz="3600" u="sng" dirty="0"/>
              <a:t>DISEÑO DEL CONTROLADOR EN TIEMPO DISCRETO</a:t>
            </a:r>
            <a:endParaRPr lang="en-US" sz="3600" dirty="0"/>
          </a:p>
        </p:txBody>
      </p:sp>
    </p:spTree>
    <p:extLst>
      <p:ext uri="{BB962C8B-B14F-4D97-AF65-F5344CB8AC3E}">
        <p14:creationId xmlns:p14="http://schemas.microsoft.com/office/powerpoint/2010/main" val="35809516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BO" dirty="0"/>
              <a:t>PLANTA EN DISCRETA</a:t>
            </a:r>
            <a:endParaRPr lang="en-US" dirty="0"/>
          </a:p>
        </p:txBody>
      </p:sp>
      <mc:AlternateContent xmlns:mc="http://schemas.openxmlformats.org/markup-compatibility/2006" xmlns:a14="http://schemas.microsoft.com/office/drawing/2010/main">
        <mc:Choice Requires="a14">
          <p:sp>
            <p:nvSpPr>
              <p:cNvPr id="3" name="Marcador de contenido 2"/>
              <p:cNvSpPr>
                <a:spLocks noGrp="1"/>
              </p:cNvSpPr>
              <p:nvPr>
                <p:ph idx="1"/>
              </p:nvPr>
            </p:nvSpPr>
            <p:spPr/>
            <p:txBody>
              <a:bodyPr/>
              <a:lstStyle/>
              <a:p>
                <a:r>
                  <a:rPr lang="es-BO" dirty="0"/>
                  <a:t>Criterio del tiempo de respuesta : </a:t>
                </a:r>
                <a14:m>
                  <m:oMath xmlns:m="http://schemas.openxmlformats.org/officeDocument/2006/math">
                    <m:sSub>
                      <m:sSubPr>
                        <m:ctrlPr>
                          <a:rPr lang="es-ES_tradnl" b="1" i="1">
                            <a:latin typeface="Cambria Math" panose="02040503050406030204" pitchFamily="18" charset="0"/>
                          </a:rPr>
                        </m:ctrlPr>
                      </m:sSubPr>
                      <m:e>
                        <m:r>
                          <a:rPr lang="es-BO" b="1" i="1" smtClean="0">
                            <a:latin typeface="Cambria Math" panose="02040503050406030204" pitchFamily="18" charset="0"/>
                          </a:rPr>
                          <m:t>𝑻</m:t>
                        </m:r>
                      </m:e>
                      <m:sub>
                        <m:r>
                          <a:rPr lang="es-BO" b="1" i="1" smtClean="0">
                            <a:latin typeface="Cambria Math" panose="02040503050406030204" pitchFamily="18" charset="0"/>
                          </a:rPr>
                          <m:t>𝒔</m:t>
                        </m:r>
                      </m:sub>
                    </m:sSub>
                    <m:r>
                      <a:rPr lang="es-BO" b="1" i="1">
                        <a:latin typeface="Cambria Math" panose="02040503050406030204" pitchFamily="18" charset="0"/>
                      </a:rPr>
                      <m:t>=</m:t>
                    </m:r>
                    <m:f>
                      <m:fPr>
                        <m:ctrlPr>
                          <a:rPr lang="en-US" b="1" i="1">
                            <a:latin typeface="Cambria Math" panose="02040503050406030204" pitchFamily="18" charset="0"/>
                          </a:rPr>
                        </m:ctrlPr>
                      </m:fPr>
                      <m:num>
                        <m:r>
                          <a:rPr lang="en-US" b="1" i="1" smtClean="0">
                            <a:latin typeface="Cambria Math" panose="02040503050406030204" pitchFamily="18" charset="0"/>
                            <a:ea typeface="Cambria Math" panose="02040503050406030204" pitchFamily="18" charset="0"/>
                          </a:rPr>
                          <m:t>𝝉</m:t>
                        </m:r>
                      </m:num>
                      <m:den>
                        <m:r>
                          <a:rPr lang="es-BO" b="1" i="1" smtClean="0">
                            <a:latin typeface="Cambria Math" panose="02040503050406030204" pitchFamily="18" charset="0"/>
                          </a:rPr>
                          <m:t>𝟏𝟎</m:t>
                        </m:r>
                      </m:den>
                    </m:f>
                    <m:r>
                      <a:rPr lang="es-BO" b="1" i="1" smtClean="0">
                        <a:latin typeface="Cambria Math" panose="02040503050406030204" pitchFamily="18" charset="0"/>
                      </a:rPr>
                      <m:t>=</m:t>
                    </m:r>
                    <m:f>
                      <m:fPr>
                        <m:ctrlPr>
                          <a:rPr lang="en-US" b="1" i="1">
                            <a:latin typeface="Cambria Math" panose="02040503050406030204" pitchFamily="18" charset="0"/>
                          </a:rPr>
                        </m:ctrlPr>
                      </m:fPr>
                      <m:num>
                        <m:r>
                          <a:rPr lang="es-BO" b="1" i="1" smtClean="0">
                            <a:latin typeface="Cambria Math" panose="02040503050406030204" pitchFamily="18" charset="0"/>
                          </a:rPr>
                          <m:t>𝟑𝟎𝟑</m:t>
                        </m:r>
                        <m:r>
                          <a:rPr lang="es-BO" b="1" i="1" smtClean="0">
                            <a:latin typeface="Cambria Math" panose="02040503050406030204" pitchFamily="18" charset="0"/>
                          </a:rPr>
                          <m:t>,</m:t>
                        </m:r>
                        <m:r>
                          <a:rPr lang="es-BO" b="1" i="1" smtClean="0">
                            <a:latin typeface="Cambria Math" panose="02040503050406030204" pitchFamily="18" charset="0"/>
                          </a:rPr>
                          <m:t>𝟎𝟑</m:t>
                        </m:r>
                        <m:r>
                          <m:rPr>
                            <m:nor/>
                          </m:rPr>
                          <a:rPr lang="en-US" dirty="0"/>
                          <m:t> </m:t>
                        </m:r>
                      </m:num>
                      <m:den>
                        <m:r>
                          <a:rPr lang="es-BO" b="1" i="1">
                            <a:latin typeface="Cambria Math" panose="02040503050406030204" pitchFamily="18" charset="0"/>
                          </a:rPr>
                          <m:t>𝟏𝟎</m:t>
                        </m:r>
                      </m:den>
                    </m:f>
                    <m:r>
                      <a:rPr lang="es-BO" b="1" i="1" smtClean="0">
                        <a:latin typeface="Cambria Math" panose="02040503050406030204" pitchFamily="18" charset="0"/>
                      </a:rPr>
                      <m:t>=</m:t>
                    </m:r>
                    <m:r>
                      <a:rPr lang="es-BO" b="1" i="1" smtClean="0">
                        <a:latin typeface="Cambria Math" panose="02040503050406030204" pitchFamily="18" charset="0"/>
                      </a:rPr>
                      <m:t>𝟑𝟎</m:t>
                    </m:r>
                    <m:r>
                      <a:rPr lang="es-BO" b="1" i="1" smtClean="0">
                        <a:latin typeface="Cambria Math" panose="02040503050406030204" pitchFamily="18" charset="0"/>
                      </a:rPr>
                      <m:t>.</m:t>
                    </m:r>
                    <m:r>
                      <a:rPr lang="es-BO" b="1" i="1" smtClean="0">
                        <a:latin typeface="Cambria Math" panose="02040503050406030204" pitchFamily="18" charset="0"/>
                      </a:rPr>
                      <m:t>𝟑𝟎</m:t>
                    </m:r>
                  </m:oMath>
                </a14:m>
                <a:endParaRPr lang="en-US" dirty="0"/>
              </a:p>
            </p:txBody>
          </p:sp>
        </mc:Choice>
        <mc:Fallback xmlns="">
          <p:sp>
            <p:nvSpPr>
              <p:cNvPr id="3" name="Marcador de contenido 2"/>
              <p:cNvSpPr>
                <a:spLocks noGrp="1" noRot="1" noChangeAspect="1" noMove="1" noResize="1" noEditPoints="1" noAdjustHandles="1" noChangeArrowheads="1" noChangeShapeType="1" noTextEdit="1"/>
              </p:cNvSpPr>
              <p:nvPr>
                <p:ph idx="1"/>
              </p:nvPr>
            </p:nvSpPr>
            <p:spPr>
              <a:blipFill>
                <a:blip r:embed="rId2"/>
                <a:stretch>
                  <a:fillRect l="-303"/>
                </a:stretch>
              </a:blipFill>
            </p:spPr>
            <p:txBody>
              <a:bodyPr/>
              <a:lstStyle/>
              <a:p>
                <a:r>
                  <a:rPr lang="en-US">
                    <a:noFill/>
                  </a:rPr>
                  <a:t> </a:t>
                </a:r>
              </a:p>
            </p:txBody>
          </p:sp>
        </mc:Fallback>
      </mc:AlternateContent>
      <p:pic>
        <p:nvPicPr>
          <p:cNvPr id="4" name="Imagen 3"/>
          <p:cNvPicPr>
            <a:picLocks noChangeAspect="1"/>
          </p:cNvPicPr>
          <p:nvPr/>
        </p:nvPicPr>
        <p:blipFill>
          <a:blip r:embed="rId3"/>
          <a:stretch>
            <a:fillRect/>
          </a:stretch>
        </p:blipFill>
        <p:spPr>
          <a:xfrm>
            <a:off x="1950140" y="2673530"/>
            <a:ext cx="4520897" cy="3569495"/>
          </a:xfrm>
          <a:prstGeom prst="rect">
            <a:avLst/>
          </a:prstGeom>
        </p:spPr>
      </p:pic>
      <mc:AlternateContent xmlns:mc="http://schemas.openxmlformats.org/markup-compatibility/2006" xmlns:a14="http://schemas.microsoft.com/office/drawing/2010/main">
        <mc:Choice Requires="a14">
          <p:sp>
            <p:nvSpPr>
              <p:cNvPr id="5" name="Rectángulo 4"/>
              <p:cNvSpPr/>
              <p:nvPr/>
            </p:nvSpPr>
            <p:spPr>
              <a:xfrm>
                <a:off x="8168640" y="5064404"/>
                <a:ext cx="2117696" cy="492443"/>
              </a:xfrm>
              <a:prstGeom prst="rect">
                <a:avLst/>
              </a:prstGeom>
            </p:spPr>
            <p:txBody>
              <a:bodyPr wrap="none">
                <a:spAutoFit/>
              </a:bodyPr>
              <a:lstStyle/>
              <a:p>
                <a14:m>
                  <m:oMath xmlns:m="http://schemas.openxmlformats.org/officeDocument/2006/math">
                    <m:r>
                      <a:rPr lang="es-ES_tradnl" b="1" i="1" smtClean="0">
                        <a:latin typeface="Cambria Math" panose="02040503050406030204" pitchFamily="18" charset="0"/>
                      </a:rPr>
                      <m:t>𝐆</m:t>
                    </m:r>
                    <m:d>
                      <m:dPr>
                        <m:ctrlPr>
                          <a:rPr lang="en-US" b="1" i="1">
                            <a:latin typeface="Cambria Math" panose="02040503050406030204" pitchFamily="18" charset="0"/>
                          </a:rPr>
                        </m:ctrlPr>
                      </m:dPr>
                      <m:e>
                        <m:r>
                          <a:rPr lang="es-ES_tradnl" b="1" i="1">
                            <a:latin typeface="Cambria Math" panose="02040503050406030204" pitchFamily="18" charset="0"/>
                          </a:rPr>
                          <m:t>𝒛</m:t>
                        </m:r>
                      </m:e>
                    </m:d>
                    <m:r>
                      <a:rPr lang="es-ES_tradnl" b="1">
                        <a:latin typeface="Cambria Math" panose="02040503050406030204" pitchFamily="18" charset="0"/>
                      </a:rPr>
                      <m:t>=</m:t>
                    </m:r>
                    <m:f>
                      <m:fPr>
                        <m:ctrlPr>
                          <a:rPr lang="en-US" b="1" i="1">
                            <a:latin typeface="Cambria Math" panose="02040503050406030204" pitchFamily="18" charset="0"/>
                          </a:rPr>
                        </m:ctrlPr>
                      </m:fPr>
                      <m:num>
                        <m:r>
                          <a:rPr lang="es-ES_tradnl" b="1" i="1">
                            <a:latin typeface="Cambria Math" panose="02040503050406030204" pitchFamily="18" charset="0"/>
                          </a:rPr>
                          <m:t>𝟎</m:t>
                        </m:r>
                        <m:r>
                          <a:rPr lang="es-ES_tradnl" b="1" i="1">
                            <a:latin typeface="Cambria Math" panose="02040503050406030204" pitchFamily="18" charset="0"/>
                          </a:rPr>
                          <m:t>.</m:t>
                        </m:r>
                        <m:r>
                          <a:rPr lang="es-BO" b="1" i="1">
                            <a:latin typeface="Cambria Math" panose="02040503050406030204" pitchFamily="18" charset="0"/>
                          </a:rPr>
                          <m:t>𝟎𝟎𝟎𝟔𝟑𝟏𝟒</m:t>
                        </m:r>
                        <m:r>
                          <a:rPr lang="es-BO" b="1" i="1">
                            <a:latin typeface="Cambria Math" panose="02040503050406030204" pitchFamily="18" charset="0"/>
                          </a:rPr>
                          <m:t>∗</m:t>
                        </m:r>
                        <m:r>
                          <a:rPr lang="es-ES_tradnl" b="1" i="1">
                            <a:latin typeface="Cambria Math" panose="02040503050406030204" pitchFamily="18" charset="0"/>
                          </a:rPr>
                          <m:t>𝒁</m:t>
                        </m:r>
                      </m:num>
                      <m:den>
                        <m:r>
                          <a:rPr lang="es-ES_tradnl" b="1" i="1" smtClean="0">
                            <a:latin typeface="Cambria Math" panose="02040503050406030204" pitchFamily="18" charset="0"/>
                          </a:rPr>
                          <m:t>𝒁</m:t>
                        </m:r>
                        <m:r>
                          <a:rPr lang="es-ES_tradnl" b="1" i="1" smtClean="0">
                            <a:latin typeface="Cambria Math" panose="02040503050406030204" pitchFamily="18" charset="0"/>
                          </a:rPr>
                          <m:t>−</m:t>
                        </m:r>
                        <m:sSup>
                          <m:sSupPr>
                            <m:ctrlPr>
                              <a:rPr lang="en-US" b="1" i="1" smtClean="0">
                                <a:latin typeface="Cambria Math" panose="02040503050406030204" pitchFamily="18" charset="0"/>
                              </a:rPr>
                            </m:ctrlPr>
                          </m:sSupPr>
                          <m:e>
                            <m:r>
                              <a:rPr lang="es-ES_tradnl" b="1" i="1">
                                <a:latin typeface="Cambria Math" panose="02040503050406030204" pitchFamily="18" charset="0"/>
                              </a:rPr>
                              <m:t>𝒆</m:t>
                            </m:r>
                          </m:e>
                          <m:sup>
                            <m:r>
                              <a:rPr lang="es-ES_tradnl" b="1" i="1">
                                <a:latin typeface="Cambria Math" panose="02040503050406030204" pitchFamily="18" charset="0"/>
                              </a:rPr>
                              <m:t>−</m:t>
                            </m:r>
                            <m:r>
                              <a:rPr lang="es-BO" b="1" i="1">
                                <a:latin typeface="Cambria Math" panose="02040503050406030204" pitchFamily="18" charset="0"/>
                              </a:rPr>
                              <m:t>𝟎</m:t>
                            </m:r>
                            <m:r>
                              <a:rPr lang="es-BO" b="1" i="1" smtClean="0">
                                <a:latin typeface="Cambria Math" panose="02040503050406030204" pitchFamily="18" charset="0"/>
                              </a:rPr>
                              <m:t>.</m:t>
                            </m:r>
                            <m:r>
                              <a:rPr lang="es-BO" b="1" i="1" smtClean="0">
                                <a:latin typeface="Cambria Math" panose="02040503050406030204" pitchFamily="18" charset="0"/>
                              </a:rPr>
                              <m:t>𝟏𝟗𝟖𝟕</m:t>
                            </m:r>
                          </m:sup>
                        </m:sSup>
                      </m:den>
                    </m:f>
                  </m:oMath>
                </a14:m>
                <a:r>
                  <a:rPr lang="es-BO" b="1" dirty="0"/>
                  <a:t> </a:t>
                </a:r>
                <a:endParaRPr lang="en-US" dirty="0"/>
              </a:p>
            </p:txBody>
          </p:sp>
        </mc:Choice>
        <mc:Fallback xmlns="">
          <p:sp>
            <p:nvSpPr>
              <p:cNvPr id="5" name="Rectángulo 4"/>
              <p:cNvSpPr>
                <a:spLocks noRot="1" noChangeAspect="1" noMove="1" noResize="1" noEditPoints="1" noAdjustHandles="1" noChangeArrowheads="1" noChangeShapeType="1" noTextEdit="1"/>
              </p:cNvSpPr>
              <p:nvPr/>
            </p:nvSpPr>
            <p:spPr>
              <a:xfrm>
                <a:off x="8168640" y="5064404"/>
                <a:ext cx="2117696" cy="492443"/>
              </a:xfrm>
              <a:prstGeom prst="rect">
                <a:avLst/>
              </a:prstGeom>
              <a:blipFill>
                <a:blip r:embed="rId4"/>
                <a:stretch>
                  <a:fillRect b="-1235"/>
                </a:stretch>
              </a:blipFill>
            </p:spPr>
            <p:txBody>
              <a:bodyPr/>
              <a:lstStyle/>
              <a:p>
                <a:r>
                  <a:rPr lang="en-US">
                    <a:noFill/>
                  </a:rPr>
                  <a:t> </a:t>
                </a:r>
              </a:p>
            </p:txBody>
          </p:sp>
        </mc:Fallback>
      </mc:AlternateContent>
      <p:sp>
        <p:nvSpPr>
          <p:cNvPr id="6" name="Rectángulo redondeado 5"/>
          <p:cNvSpPr/>
          <p:nvPr/>
        </p:nvSpPr>
        <p:spPr>
          <a:xfrm>
            <a:off x="8168640" y="5740394"/>
            <a:ext cx="2316480" cy="708660"/>
          </a:xfrm>
          <a:prstGeom prst="round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7" name="Rectángulo 6"/>
              <p:cNvSpPr/>
              <p:nvPr/>
            </p:nvSpPr>
            <p:spPr>
              <a:xfrm>
                <a:off x="7768888" y="2673530"/>
                <a:ext cx="2615588" cy="61625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s-ES_tradnl" b="1" i="1">
                          <a:latin typeface="Cambria Math" panose="02040503050406030204" pitchFamily="18" charset="0"/>
                        </a:rPr>
                        <m:t>𝐆</m:t>
                      </m:r>
                      <m:d>
                        <m:dPr>
                          <m:ctrlPr>
                            <a:rPr lang="en-US" b="1" i="1">
                              <a:latin typeface="Cambria Math" panose="02040503050406030204" pitchFamily="18" charset="0"/>
                            </a:rPr>
                          </m:ctrlPr>
                        </m:dPr>
                        <m:e>
                          <m:r>
                            <a:rPr lang="es-ES_tradnl" b="1" i="1">
                              <a:latin typeface="Cambria Math" panose="02040503050406030204" pitchFamily="18" charset="0"/>
                            </a:rPr>
                            <m:t>𝒛</m:t>
                          </m:r>
                        </m:e>
                      </m:d>
                      <m:r>
                        <a:rPr lang="es-ES_tradnl" b="1">
                          <a:latin typeface="Cambria Math" panose="02040503050406030204" pitchFamily="18" charset="0"/>
                        </a:rPr>
                        <m:t>=</m:t>
                      </m:r>
                      <m:f>
                        <m:fPr>
                          <m:ctrlPr>
                            <a:rPr lang="en-US" b="1" i="1">
                              <a:latin typeface="Cambria Math" panose="02040503050406030204" pitchFamily="18" charset="0"/>
                            </a:rPr>
                          </m:ctrlPr>
                        </m:fPr>
                        <m:num>
                          <m:r>
                            <a:rPr lang="es-ES_tradnl" b="1" i="1">
                              <a:latin typeface="Cambria Math" panose="02040503050406030204" pitchFamily="18" charset="0"/>
                            </a:rPr>
                            <m:t>𝟎</m:t>
                          </m:r>
                          <m:r>
                            <a:rPr lang="es-ES_tradnl" b="1" i="1">
                              <a:latin typeface="Cambria Math" panose="02040503050406030204" pitchFamily="18" charset="0"/>
                            </a:rPr>
                            <m:t>.</m:t>
                          </m:r>
                          <m:r>
                            <a:rPr lang="es-BO" b="1" i="1">
                              <a:latin typeface="Cambria Math" panose="02040503050406030204" pitchFamily="18" charset="0"/>
                            </a:rPr>
                            <m:t>𝟎𝟎𝟎𝟔𝟑𝟏𝟒</m:t>
                          </m:r>
                          <m:r>
                            <a:rPr lang="es-BO" b="1" i="1">
                              <a:latin typeface="Cambria Math" panose="02040503050406030204" pitchFamily="18" charset="0"/>
                            </a:rPr>
                            <m:t>∗</m:t>
                          </m:r>
                          <m:r>
                            <a:rPr lang="es-ES_tradnl" b="1" i="1">
                              <a:latin typeface="Cambria Math" panose="02040503050406030204" pitchFamily="18" charset="0"/>
                            </a:rPr>
                            <m:t>𝒁</m:t>
                          </m:r>
                        </m:num>
                        <m:den>
                          <m:r>
                            <a:rPr lang="es-ES_tradnl" b="1" i="1">
                              <a:latin typeface="Cambria Math" panose="02040503050406030204" pitchFamily="18" charset="0"/>
                            </a:rPr>
                            <m:t>𝒁</m:t>
                          </m:r>
                          <m:r>
                            <a:rPr lang="es-ES_tradnl" b="1" i="1">
                              <a:latin typeface="Cambria Math" panose="02040503050406030204" pitchFamily="18" charset="0"/>
                            </a:rPr>
                            <m:t>−</m:t>
                          </m:r>
                          <m:sSup>
                            <m:sSupPr>
                              <m:ctrlPr>
                                <a:rPr lang="en-US" b="1" i="1">
                                  <a:latin typeface="Cambria Math" panose="02040503050406030204" pitchFamily="18" charset="0"/>
                                </a:rPr>
                              </m:ctrlPr>
                            </m:sSupPr>
                            <m:e>
                              <m:r>
                                <a:rPr lang="es-ES_tradnl" b="1" i="1">
                                  <a:latin typeface="Cambria Math" panose="02040503050406030204" pitchFamily="18" charset="0"/>
                                </a:rPr>
                                <m:t>𝒆</m:t>
                              </m:r>
                            </m:e>
                            <m:sup>
                              <m:r>
                                <a:rPr lang="es-ES_tradnl" b="1" i="1">
                                  <a:latin typeface="Cambria Math" panose="02040503050406030204" pitchFamily="18" charset="0"/>
                                </a:rPr>
                                <m:t>−</m:t>
                              </m:r>
                              <m:r>
                                <a:rPr lang="es-BO" b="1" i="1">
                                  <a:latin typeface="Cambria Math" panose="02040503050406030204" pitchFamily="18" charset="0"/>
                                </a:rPr>
                                <m:t>𝟎</m:t>
                              </m:r>
                              <m:r>
                                <a:rPr lang="es-BO" b="1" i="1">
                                  <a:latin typeface="Cambria Math" panose="02040503050406030204" pitchFamily="18" charset="0"/>
                                </a:rPr>
                                <m:t>,</m:t>
                              </m:r>
                              <m:r>
                                <a:rPr lang="es-BO" b="1" i="1">
                                  <a:latin typeface="Cambria Math" panose="02040503050406030204" pitchFamily="18" charset="0"/>
                                </a:rPr>
                                <m:t>𝟎𝟎𝟔𝟓𝟓𝟕</m:t>
                              </m:r>
                              <m:r>
                                <a:rPr lang="es-BO" b="1" i="1">
                                  <a:latin typeface="Cambria Math" panose="02040503050406030204" pitchFamily="18" charset="0"/>
                                </a:rPr>
                                <m:t>∗</m:t>
                              </m:r>
                              <m:r>
                                <a:rPr lang="es-ES_tradnl" b="1" i="1">
                                  <a:latin typeface="Cambria Math" panose="02040503050406030204" pitchFamily="18" charset="0"/>
                                </a:rPr>
                                <m:t>𝑻</m:t>
                              </m:r>
                            </m:sup>
                          </m:sSup>
                        </m:den>
                      </m:f>
                    </m:oMath>
                  </m:oMathPara>
                </a14:m>
                <a:endParaRPr lang="en-US" dirty="0"/>
              </a:p>
            </p:txBody>
          </p:sp>
        </mc:Choice>
        <mc:Fallback xmlns="">
          <p:sp>
            <p:nvSpPr>
              <p:cNvPr id="7" name="Rectángulo 6"/>
              <p:cNvSpPr>
                <a:spLocks noRot="1" noChangeAspect="1" noMove="1" noResize="1" noEditPoints="1" noAdjustHandles="1" noChangeArrowheads="1" noChangeShapeType="1" noTextEdit="1"/>
              </p:cNvSpPr>
              <p:nvPr/>
            </p:nvSpPr>
            <p:spPr>
              <a:xfrm>
                <a:off x="7768888" y="2673530"/>
                <a:ext cx="2615588" cy="616259"/>
              </a:xfrm>
              <a:prstGeom prst="rect">
                <a:avLst/>
              </a:prstGeom>
              <a:blipFill>
                <a:blip r:embed="rId5"/>
                <a:stretch>
                  <a:fillRect/>
                </a:stretch>
              </a:blipFill>
            </p:spPr>
            <p:txBody>
              <a:bodyPr/>
              <a:lstStyle/>
              <a:p>
                <a:r>
                  <a:rPr lang="en-US">
                    <a:noFill/>
                  </a:rPr>
                  <a:t> </a:t>
                </a:r>
              </a:p>
            </p:txBody>
          </p:sp>
        </mc:Fallback>
      </mc:AlternateContent>
      <p:pic>
        <p:nvPicPr>
          <p:cNvPr id="8" name="Imagen 7"/>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798597" y="54864"/>
            <a:ext cx="3171757" cy="2468880"/>
          </a:xfrm>
          <a:prstGeom prst="rect">
            <a:avLst/>
          </a:prstGeom>
        </p:spPr>
      </p:pic>
      <p:sp>
        <p:nvSpPr>
          <p:cNvPr id="9" name="Flecha abajo 8"/>
          <p:cNvSpPr/>
          <p:nvPr/>
        </p:nvSpPr>
        <p:spPr>
          <a:xfrm>
            <a:off x="8865326" y="3675017"/>
            <a:ext cx="923108" cy="1018903"/>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0" name="Rectángulo 9"/>
              <p:cNvSpPr/>
              <p:nvPr/>
            </p:nvSpPr>
            <p:spPr>
              <a:xfrm>
                <a:off x="8273268" y="5829543"/>
                <a:ext cx="2057807" cy="513795"/>
              </a:xfrm>
              <a:prstGeom prst="rect">
                <a:avLst/>
              </a:prstGeom>
            </p:spPr>
            <p:txBody>
              <a:bodyPr wrap="none">
                <a:spAutoFit/>
              </a:bodyPr>
              <a:lstStyle/>
              <a:p>
                <a14:m>
                  <m:oMath xmlns:m="http://schemas.openxmlformats.org/officeDocument/2006/math">
                    <m:r>
                      <a:rPr lang="es-ES_tradnl" b="1" i="1" smtClean="0">
                        <a:latin typeface="Cambria Math" panose="02040503050406030204" pitchFamily="18" charset="0"/>
                      </a:rPr>
                      <m:t>𝐆</m:t>
                    </m:r>
                    <m:d>
                      <m:dPr>
                        <m:ctrlPr>
                          <a:rPr lang="en-US" b="1" i="1">
                            <a:latin typeface="Cambria Math" panose="02040503050406030204" pitchFamily="18" charset="0"/>
                          </a:rPr>
                        </m:ctrlPr>
                      </m:dPr>
                      <m:e>
                        <m:r>
                          <a:rPr lang="es-ES_tradnl" b="1" i="1">
                            <a:latin typeface="Cambria Math" panose="02040503050406030204" pitchFamily="18" charset="0"/>
                          </a:rPr>
                          <m:t>𝒛</m:t>
                        </m:r>
                      </m:e>
                    </m:d>
                    <m:r>
                      <a:rPr lang="es-ES_tradnl" b="1">
                        <a:latin typeface="Cambria Math" panose="02040503050406030204" pitchFamily="18" charset="0"/>
                      </a:rPr>
                      <m:t>=</m:t>
                    </m:r>
                    <m:f>
                      <m:fPr>
                        <m:ctrlPr>
                          <a:rPr lang="en-US" b="1" i="1">
                            <a:latin typeface="Cambria Math" panose="02040503050406030204" pitchFamily="18" charset="0"/>
                          </a:rPr>
                        </m:ctrlPr>
                      </m:fPr>
                      <m:num>
                        <m:r>
                          <a:rPr lang="es-ES_tradnl" b="1" i="1">
                            <a:latin typeface="Cambria Math" panose="02040503050406030204" pitchFamily="18" charset="0"/>
                          </a:rPr>
                          <m:t>𝟎</m:t>
                        </m:r>
                        <m:r>
                          <a:rPr lang="es-ES_tradnl" b="1" i="1">
                            <a:latin typeface="Cambria Math" panose="02040503050406030204" pitchFamily="18" charset="0"/>
                          </a:rPr>
                          <m:t>.</m:t>
                        </m:r>
                        <m:r>
                          <a:rPr lang="es-BO" b="1" i="1">
                            <a:latin typeface="Cambria Math" panose="02040503050406030204" pitchFamily="18" charset="0"/>
                          </a:rPr>
                          <m:t>𝟎𝟎𝟎𝟔𝟑𝟏𝟒</m:t>
                        </m:r>
                        <m:r>
                          <a:rPr lang="es-BO" b="1" i="1">
                            <a:latin typeface="Cambria Math" panose="02040503050406030204" pitchFamily="18" charset="0"/>
                          </a:rPr>
                          <m:t>∗</m:t>
                        </m:r>
                        <m:r>
                          <a:rPr lang="es-ES_tradnl" b="1" i="1">
                            <a:latin typeface="Cambria Math" panose="02040503050406030204" pitchFamily="18" charset="0"/>
                          </a:rPr>
                          <m:t>𝒁</m:t>
                        </m:r>
                      </m:num>
                      <m:den>
                        <m:r>
                          <a:rPr lang="es-ES_tradnl" b="1" i="1">
                            <a:latin typeface="Cambria Math" panose="02040503050406030204" pitchFamily="18" charset="0"/>
                          </a:rPr>
                          <m:t>𝒁</m:t>
                        </m:r>
                        <m:r>
                          <a:rPr lang="es-ES_tradnl" b="1" i="1">
                            <a:latin typeface="Cambria Math" panose="02040503050406030204" pitchFamily="18" charset="0"/>
                          </a:rPr>
                          <m:t>−</m:t>
                        </m:r>
                        <m:r>
                          <a:rPr lang="es-BO" b="1" i="1" smtClean="0">
                            <a:latin typeface="Cambria Math" panose="02040503050406030204" pitchFamily="18" charset="0"/>
                          </a:rPr>
                          <m:t>𝟎</m:t>
                        </m:r>
                        <m:r>
                          <a:rPr lang="es-BO" b="1" i="1" smtClean="0">
                            <a:latin typeface="Cambria Math" panose="02040503050406030204" pitchFamily="18" charset="0"/>
                          </a:rPr>
                          <m:t>,</m:t>
                        </m:r>
                        <m:r>
                          <a:rPr lang="es-BO" b="1" i="1" smtClean="0">
                            <a:latin typeface="Cambria Math" panose="02040503050406030204" pitchFamily="18" charset="0"/>
                          </a:rPr>
                          <m:t>𝟖𝟏𝟗𝟖</m:t>
                        </m:r>
                      </m:den>
                    </m:f>
                  </m:oMath>
                </a14:m>
                <a:r>
                  <a:rPr lang="es-BO" b="1" dirty="0"/>
                  <a:t> </a:t>
                </a:r>
                <a:endParaRPr lang="en-US" dirty="0"/>
              </a:p>
            </p:txBody>
          </p:sp>
        </mc:Choice>
        <mc:Fallback xmlns="">
          <p:sp>
            <p:nvSpPr>
              <p:cNvPr id="10" name="Rectángulo 9"/>
              <p:cNvSpPr>
                <a:spLocks noRot="1" noChangeAspect="1" noMove="1" noResize="1" noEditPoints="1" noAdjustHandles="1" noChangeArrowheads="1" noChangeShapeType="1" noTextEdit="1"/>
              </p:cNvSpPr>
              <p:nvPr/>
            </p:nvSpPr>
            <p:spPr>
              <a:xfrm>
                <a:off x="8273268" y="5829543"/>
                <a:ext cx="2057807" cy="513795"/>
              </a:xfrm>
              <a:prstGeom prst="rect">
                <a:avLst/>
              </a:prstGeom>
              <a:blipFill>
                <a:blip r:embed="rId7"/>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99355830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2367781" y="682005"/>
            <a:ext cx="7140503" cy="804096"/>
          </a:xfrm>
        </p:spPr>
        <p:txBody>
          <a:bodyPr>
            <a:normAutofit fontScale="90000"/>
          </a:bodyPr>
          <a:lstStyle/>
          <a:p>
            <a:pPr algn="ctr"/>
            <a:r>
              <a:rPr lang="es-BO" dirty="0"/>
              <a:t>DIAGRAMA EN DISCRETA</a:t>
            </a:r>
            <a:endParaRPr lang="en-US" b="1" dirty="0"/>
          </a:p>
        </p:txBody>
      </p:sp>
      <p:grpSp>
        <p:nvGrpSpPr>
          <p:cNvPr id="53" name="Grupo 52"/>
          <p:cNvGrpSpPr/>
          <p:nvPr/>
        </p:nvGrpSpPr>
        <p:grpSpPr>
          <a:xfrm>
            <a:off x="498468" y="2153273"/>
            <a:ext cx="10270124" cy="3544427"/>
            <a:chOff x="1105989" y="2414598"/>
            <a:chExt cx="11768421" cy="3544427"/>
          </a:xfrm>
        </p:grpSpPr>
        <p:grpSp>
          <p:nvGrpSpPr>
            <p:cNvPr id="41" name="Grupo 40"/>
            <p:cNvGrpSpPr/>
            <p:nvPr/>
          </p:nvGrpSpPr>
          <p:grpSpPr>
            <a:xfrm>
              <a:off x="2218454" y="2414598"/>
              <a:ext cx="10655956" cy="3544427"/>
              <a:chOff x="787679" y="2432015"/>
              <a:chExt cx="10655956" cy="3544427"/>
            </a:xfrm>
          </p:grpSpPr>
          <p:sp>
            <p:nvSpPr>
              <p:cNvPr id="4" name="Rectángulo redondeado 3"/>
              <p:cNvSpPr/>
              <p:nvPr/>
            </p:nvSpPr>
            <p:spPr>
              <a:xfrm>
                <a:off x="7037784" y="4871543"/>
                <a:ext cx="1430482" cy="110489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BO" dirty="0"/>
                  <a:t>K</a:t>
                </a:r>
                <a:endParaRPr lang="en-US" dirty="0"/>
              </a:p>
            </p:txBody>
          </p:sp>
          <p:sp>
            <p:nvSpPr>
              <p:cNvPr id="7" name="Rectángulo redondeado 6"/>
              <p:cNvSpPr/>
              <p:nvPr/>
            </p:nvSpPr>
            <p:spPr>
              <a:xfrm>
                <a:off x="9999463" y="2432015"/>
                <a:ext cx="1444172" cy="121516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BO" dirty="0"/>
                  <a:t>Planta</a:t>
                </a:r>
              </a:p>
              <a:p>
                <a:pPr algn="ctr"/>
                <a:endParaRPr lang="en-US" dirty="0"/>
              </a:p>
            </p:txBody>
          </p:sp>
          <p:sp>
            <p:nvSpPr>
              <p:cNvPr id="8" name="Rectángulo redondeado 7"/>
              <p:cNvSpPr/>
              <p:nvPr/>
            </p:nvSpPr>
            <p:spPr>
              <a:xfrm>
                <a:off x="4830073" y="2586594"/>
                <a:ext cx="1472535" cy="110489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BO" dirty="0"/>
                  <a:t>Controlador-filtro(PLC)</a:t>
                </a:r>
                <a:endParaRPr lang="en-US" dirty="0"/>
              </a:p>
            </p:txBody>
          </p:sp>
          <p:sp>
            <p:nvSpPr>
              <p:cNvPr id="3" name="Elipse 2"/>
              <p:cNvSpPr/>
              <p:nvPr/>
            </p:nvSpPr>
            <p:spPr>
              <a:xfrm>
                <a:off x="2447109" y="2827751"/>
                <a:ext cx="766354" cy="56859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Conector recto de flecha 5"/>
              <p:cNvCxnSpPr>
                <a:stCxn id="3" idx="6"/>
                <a:endCxn id="8" idx="1"/>
              </p:cNvCxnSpPr>
              <p:nvPr/>
            </p:nvCxnSpPr>
            <p:spPr>
              <a:xfrm>
                <a:off x="3213464" y="3112047"/>
                <a:ext cx="1616609" cy="2699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Conector recto de flecha 9"/>
              <p:cNvCxnSpPr>
                <a:stCxn id="8" idx="3"/>
                <a:endCxn id="7" idx="1"/>
              </p:cNvCxnSpPr>
              <p:nvPr/>
            </p:nvCxnSpPr>
            <p:spPr>
              <a:xfrm flipV="1">
                <a:off x="6302608" y="3039596"/>
                <a:ext cx="3696854" cy="994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Conector recto 15"/>
              <p:cNvCxnSpPr>
                <a:stCxn id="4" idx="1"/>
              </p:cNvCxnSpPr>
              <p:nvPr/>
            </p:nvCxnSpPr>
            <p:spPr>
              <a:xfrm flipH="1" flipV="1">
                <a:off x="2769326" y="5423991"/>
                <a:ext cx="4268458" cy="2"/>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Conector recto de flecha 23"/>
              <p:cNvCxnSpPr/>
              <p:nvPr/>
            </p:nvCxnSpPr>
            <p:spPr>
              <a:xfrm flipV="1">
                <a:off x="2769326" y="3395166"/>
                <a:ext cx="0" cy="20115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0" name="Rectángulo 29"/>
              <p:cNvSpPr/>
              <p:nvPr/>
            </p:nvSpPr>
            <p:spPr>
              <a:xfrm>
                <a:off x="3491387" y="2563924"/>
                <a:ext cx="992778" cy="1224365"/>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BO" dirty="0"/>
                  <a:t>A/D</a:t>
                </a:r>
                <a:endParaRPr lang="en-US" dirty="0"/>
              </a:p>
            </p:txBody>
          </p:sp>
          <p:sp>
            <p:nvSpPr>
              <p:cNvPr id="31" name="Rectángulo 30"/>
              <p:cNvSpPr/>
              <p:nvPr/>
            </p:nvSpPr>
            <p:spPr>
              <a:xfrm>
                <a:off x="6571300" y="2526860"/>
                <a:ext cx="992778" cy="1224365"/>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BO" dirty="0"/>
                  <a:t>D/A</a:t>
                </a:r>
                <a:endParaRPr lang="en-US" dirty="0"/>
              </a:p>
            </p:txBody>
          </p:sp>
          <p:sp>
            <p:nvSpPr>
              <p:cNvPr id="37" name="Rectángulo redondeado 36"/>
              <p:cNvSpPr/>
              <p:nvPr/>
            </p:nvSpPr>
            <p:spPr>
              <a:xfrm>
                <a:off x="787679" y="2645678"/>
                <a:ext cx="1097280" cy="93273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BO" dirty="0"/>
                  <a:t>N</a:t>
                </a:r>
                <a:endParaRPr lang="en-US" dirty="0"/>
              </a:p>
            </p:txBody>
          </p:sp>
          <p:cxnSp>
            <p:nvCxnSpPr>
              <p:cNvPr id="39" name="Conector recto de flecha 38"/>
              <p:cNvCxnSpPr>
                <a:stCxn id="37" idx="3"/>
                <a:endCxn id="3" idx="2"/>
              </p:cNvCxnSpPr>
              <p:nvPr/>
            </p:nvCxnSpPr>
            <p:spPr>
              <a:xfrm>
                <a:off x="1884959" y="3112047"/>
                <a:ext cx="56215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cxnSp>
          <p:nvCxnSpPr>
            <p:cNvPr id="43" name="Conector recto de flecha 42"/>
            <p:cNvCxnSpPr>
              <a:endCxn id="37" idx="1"/>
            </p:cNvCxnSpPr>
            <p:nvPr/>
          </p:nvCxnSpPr>
          <p:spPr>
            <a:xfrm>
              <a:off x="1105989" y="3094629"/>
              <a:ext cx="1112465"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Conector recto 45"/>
            <p:cNvCxnSpPr>
              <a:stCxn id="4" idx="3"/>
            </p:cNvCxnSpPr>
            <p:nvPr/>
          </p:nvCxnSpPr>
          <p:spPr>
            <a:xfrm>
              <a:off x="9899041" y="5406576"/>
              <a:ext cx="2389492" cy="37575"/>
            </a:xfrm>
            <a:prstGeom prst="line">
              <a:avLst/>
            </a:prstGeom>
          </p:spPr>
          <p:style>
            <a:lnRef idx="1">
              <a:schemeClr val="accent1"/>
            </a:lnRef>
            <a:fillRef idx="0">
              <a:schemeClr val="accent1"/>
            </a:fillRef>
            <a:effectRef idx="0">
              <a:schemeClr val="accent1"/>
            </a:effectRef>
            <a:fontRef idx="minor">
              <a:schemeClr val="tx1"/>
            </a:fontRef>
          </p:style>
        </p:cxnSp>
        <p:cxnSp>
          <p:nvCxnSpPr>
            <p:cNvPr id="48" name="Conector recto 47"/>
            <p:cNvCxnSpPr/>
            <p:nvPr/>
          </p:nvCxnSpPr>
          <p:spPr>
            <a:xfrm flipV="1">
              <a:off x="12288533" y="2873896"/>
              <a:ext cx="0" cy="2560118"/>
            </a:xfrm>
            <a:prstGeom prst="line">
              <a:avLst/>
            </a:prstGeom>
          </p:spPr>
          <p:style>
            <a:lnRef idx="1">
              <a:schemeClr val="accent1"/>
            </a:lnRef>
            <a:fillRef idx="0">
              <a:schemeClr val="accent1"/>
            </a:fillRef>
            <a:effectRef idx="0">
              <a:schemeClr val="accent1"/>
            </a:effectRef>
            <a:fontRef idx="minor">
              <a:schemeClr val="tx1"/>
            </a:fontRef>
          </p:style>
        </p:cxnSp>
      </p:grpSp>
      <p:sp>
        <p:nvSpPr>
          <p:cNvPr id="54" name="CuadroTexto 53"/>
          <p:cNvSpPr txBox="1"/>
          <p:nvPr/>
        </p:nvSpPr>
        <p:spPr>
          <a:xfrm>
            <a:off x="2573052" y="2340901"/>
            <a:ext cx="248543" cy="369332"/>
          </a:xfrm>
          <a:prstGeom prst="rect">
            <a:avLst/>
          </a:prstGeom>
          <a:noFill/>
        </p:spPr>
        <p:txBody>
          <a:bodyPr wrap="square" rtlCol="0">
            <a:spAutoFit/>
          </a:bodyPr>
          <a:lstStyle/>
          <a:p>
            <a:r>
              <a:rPr lang="es-BO" dirty="0"/>
              <a:t>r</a:t>
            </a:r>
            <a:endParaRPr lang="en-US" dirty="0"/>
          </a:p>
        </p:txBody>
      </p:sp>
      <p:sp>
        <p:nvSpPr>
          <p:cNvPr id="5" name="Rectángulo 4"/>
          <p:cNvSpPr/>
          <p:nvPr/>
        </p:nvSpPr>
        <p:spPr>
          <a:xfrm>
            <a:off x="7857372" y="2153273"/>
            <a:ext cx="1282093" cy="129705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Actuador</a:t>
            </a:r>
            <a:r>
              <a:rPr lang="en-US" dirty="0"/>
              <a:t> </a:t>
            </a:r>
          </a:p>
        </p:txBody>
      </p:sp>
      <p:sp>
        <p:nvSpPr>
          <p:cNvPr id="34" name="Rectángulo redondeado 33"/>
          <p:cNvSpPr/>
          <p:nvPr/>
        </p:nvSpPr>
        <p:spPr>
          <a:xfrm>
            <a:off x="7751780" y="1646656"/>
            <a:ext cx="3254548" cy="2106738"/>
          </a:xfrm>
          <a:prstGeom prst="round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CuadroTexto 44"/>
          <p:cNvSpPr txBox="1"/>
          <p:nvPr/>
        </p:nvSpPr>
        <p:spPr>
          <a:xfrm>
            <a:off x="7467158" y="2490968"/>
            <a:ext cx="248543" cy="369332"/>
          </a:xfrm>
          <a:prstGeom prst="rect">
            <a:avLst/>
          </a:prstGeom>
          <a:noFill/>
        </p:spPr>
        <p:txBody>
          <a:bodyPr wrap="square" rtlCol="0">
            <a:spAutoFit/>
          </a:bodyPr>
          <a:lstStyle/>
          <a:p>
            <a:r>
              <a:rPr lang="es-BO" dirty="0"/>
              <a:t>f</a:t>
            </a:r>
            <a:endParaRPr lang="en-US" dirty="0"/>
          </a:p>
        </p:txBody>
      </p:sp>
      <p:sp>
        <p:nvSpPr>
          <p:cNvPr id="47" name="CuadroTexto 46"/>
          <p:cNvSpPr txBox="1"/>
          <p:nvPr/>
        </p:nvSpPr>
        <p:spPr>
          <a:xfrm>
            <a:off x="9199603" y="2419504"/>
            <a:ext cx="248543" cy="369332"/>
          </a:xfrm>
          <a:prstGeom prst="rect">
            <a:avLst/>
          </a:prstGeom>
          <a:noFill/>
        </p:spPr>
        <p:txBody>
          <a:bodyPr wrap="square" rtlCol="0">
            <a:spAutoFit/>
          </a:bodyPr>
          <a:lstStyle/>
          <a:p>
            <a:r>
              <a:rPr lang="es-BO" dirty="0"/>
              <a:t>q</a:t>
            </a:r>
            <a:endParaRPr lang="en-US" dirty="0"/>
          </a:p>
        </p:txBody>
      </p:sp>
      <p:sp>
        <p:nvSpPr>
          <p:cNvPr id="49" name="CuadroTexto 48"/>
          <p:cNvSpPr txBox="1"/>
          <p:nvPr/>
        </p:nvSpPr>
        <p:spPr>
          <a:xfrm>
            <a:off x="10704459" y="2432468"/>
            <a:ext cx="248543" cy="369332"/>
          </a:xfrm>
          <a:prstGeom prst="rect">
            <a:avLst/>
          </a:prstGeom>
          <a:noFill/>
        </p:spPr>
        <p:txBody>
          <a:bodyPr wrap="square" rtlCol="0">
            <a:spAutoFit/>
          </a:bodyPr>
          <a:lstStyle/>
          <a:p>
            <a:r>
              <a:rPr lang="es-BO" dirty="0"/>
              <a:t>h</a:t>
            </a:r>
            <a:endParaRPr lang="en-US" dirty="0"/>
          </a:p>
        </p:txBody>
      </p:sp>
    </p:spTree>
    <p:extLst>
      <p:ext uri="{BB962C8B-B14F-4D97-AF65-F5344CB8AC3E}">
        <p14:creationId xmlns:p14="http://schemas.microsoft.com/office/powerpoint/2010/main" val="368378835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537972" y="118872"/>
            <a:ext cx="11122152" cy="1030659"/>
          </a:xfrm>
        </p:spPr>
        <p:txBody>
          <a:bodyPr>
            <a:normAutofit/>
          </a:bodyPr>
          <a:lstStyle/>
          <a:p>
            <a:r>
              <a:rPr lang="es-BO" sz="3600" u="sng" dirty="0"/>
              <a:t>DISEÑO DEL CONTROLADOR EN TIEMPO DISCRETO</a:t>
            </a:r>
            <a:endParaRPr lang="en-US" sz="3600" dirty="0"/>
          </a:p>
        </p:txBody>
      </p:sp>
      <mc:AlternateContent xmlns:mc="http://schemas.openxmlformats.org/markup-compatibility/2006" xmlns:a14="http://schemas.microsoft.com/office/drawing/2010/main">
        <mc:Choice Requires="a14">
          <p:sp>
            <p:nvSpPr>
              <p:cNvPr id="3" name="Marcador de contenido 2"/>
              <p:cNvSpPr>
                <a:spLocks noGrp="1"/>
              </p:cNvSpPr>
              <p:nvPr>
                <p:ph idx="1"/>
              </p:nvPr>
            </p:nvSpPr>
            <p:spPr>
              <a:xfrm>
                <a:off x="765048" y="1259259"/>
                <a:ext cx="10058400" cy="5498592"/>
              </a:xfrm>
            </p:spPr>
            <p:txBody>
              <a:bodyPr>
                <a:normAutofit fontScale="55000" lnSpcReduction="20000"/>
              </a:bodyPr>
              <a:lstStyle/>
              <a:p>
                <a:pPr marL="0" indent="0">
                  <a:buNone/>
                </a:pPr>
                <a:r>
                  <a:rPr lang="es-BO" dirty="0"/>
                  <a:t>Discretizando la representación interna del sistema:</a:t>
                </a:r>
                <a:endParaRPr lang="en-US" dirty="0"/>
              </a:p>
              <a:p>
                <a:pPr marL="0" indent="0">
                  <a:buNone/>
                </a:pPr>
                <a14:m>
                  <m:oMathPara xmlns:m="http://schemas.openxmlformats.org/officeDocument/2006/math">
                    <m:oMathParaPr>
                      <m:jc m:val="centerGroup"/>
                    </m:oMathParaPr>
                    <m:oMath xmlns:m="http://schemas.openxmlformats.org/officeDocument/2006/math">
                      <m:m>
                        <m:mPr>
                          <m:mcs>
                            <m:mc>
                              <m:mcPr>
                                <m:count m:val="1"/>
                                <m:mcJc m:val="center"/>
                              </m:mcPr>
                            </m:mc>
                          </m:mcs>
                          <m:ctrlPr>
                            <a:rPr lang="en-US" i="1">
                              <a:latin typeface="Cambria Math" panose="02040503050406030204" pitchFamily="18" charset="0"/>
                            </a:rPr>
                          </m:ctrlPr>
                        </m:mPr>
                        <m:mr>
                          <m:e>
                            <m:acc>
                              <m:accPr>
                                <m:chr m:val="̇"/>
                                <m:ctrlPr>
                                  <a:rPr lang="en-US" i="1">
                                    <a:latin typeface="Cambria Math" panose="02040503050406030204" pitchFamily="18" charset="0"/>
                                  </a:rPr>
                                </m:ctrlPr>
                              </m:accPr>
                              <m:e>
                                <m:r>
                                  <a:rPr lang="es-BO" i="1">
                                    <a:latin typeface="Cambria Math" panose="02040503050406030204" pitchFamily="18" charset="0"/>
                                  </a:rPr>
                                  <m:t>𝑥</m:t>
                                </m:r>
                              </m:e>
                            </m:acc>
                            <m:d>
                              <m:dPr>
                                <m:ctrlPr>
                                  <a:rPr lang="en-US" i="1">
                                    <a:latin typeface="Cambria Math" panose="02040503050406030204" pitchFamily="18" charset="0"/>
                                  </a:rPr>
                                </m:ctrlPr>
                              </m:dPr>
                              <m:e>
                                <m:r>
                                  <a:rPr lang="es-BO" i="1">
                                    <a:latin typeface="Cambria Math" panose="02040503050406030204" pitchFamily="18" charset="0"/>
                                  </a:rPr>
                                  <m:t>𝑡</m:t>
                                </m:r>
                              </m:e>
                            </m:d>
                            <m:r>
                              <a:rPr lang="es-BO" i="1">
                                <a:latin typeface="Cambria Math" panose="02040503050406030204" pitchFamily="18" charset="0"/>
                              </a:rPr>
                              <m:t>=</m:t>
                            </m:r>
                            <m:r>
                              <a:rPr lang="es-BO" i="1">
                                <a:latin typeface="Cambria Math" panose="02040503050406030204" pitchFamily="18" charset="0"/>
                              </a:rPr>
                              <m:t>𝐴𝑥</m:t>
                            </m:r>
                            <m:d>
                              <m:dPr>
                                <m:ctrlPr>
                                  <a:rPr lang="en-US" i="1">
                                    <a:latin typeface="Cambria Math" panose="02040503050406030204" pitchFamily="18" charset="0"/>
                                  </a:rPr>
                                </m:ctrlPr>
                              </m:dPr>
                              <m:e>
                                <m:r>
                                  <a:rPr lang="es-BO" i="1">
                                    <a:latin typeface="Cambria Math" panose="02040503050406030204" pitchFamily="18" charset="0"/>
                                  </a:rPr>
                                  <m:t>𝑡</m:t>
                                </m:r>
                              </m:e>
                            </m:d>
                            <m:r>
                              <a:rPr lang="es-BO" i="1">
                                <a:latin typeface="Cambria Math" panose="02040503050406030204" pitchFamily="18" charset="0"/>
                              </a:rPr>
                              <m:t>+</m:t>
                            </m:r>
                            <m:r>
                              <a:rPr lang="es-BO" i="1">
                                <a:latin typeface="Cambria Math" panose="02040503050406030204" pitchFamily="18" charset="0"/>
                              </a:rPr>
                              <m:t>𝐵</m:t>
                            </m:r>
                            <m:sSub>
                              <m:sSubPr>
                                <m:ctrlPr>
                                  <a:rPr lang="en-US" i="1">
                                    <a:latin typeface="Cambria Math" panose="02040503050406030204" pitchFamily="18" charset="0"/>
                                  </a:rPr>
                                </m:ctrlPr>
                              </m:sSubPr>
                              <m:e>
                                <m:r>
                                  <a:rPr lang="es-BO" i="1">
                                    <a:latin typeface="Cambria Math" panose="02040503050406030204" pitchFamily="18" charset="0"/>
                                  </a:rPr>
                                  <m:t>𝑞</m:t>
                                </m:r>
                              </m:e>
                              <m:sub>
                                <m:r>
                                  <a:rPr lang="es-BO" i="1">
                                    <a:latin typeface="Cambria Math" panose="02040503050406030204" pitchFamily="18" charset="0"/>
                                  </a:rPr>
                                  <m:t>𝑖</m:t>
                                </m:r>
                              </m:sub>
                            </m:sSub>
                            <m:r>
                              <a:rPr lang="es-BO" i="1">
                                <a:latin typeface="Cambria Math" panose="02040503050406030204" pitchFamily="18" charset="0"/>
                              </a:rPr>
                              <m:t>(</m:t>
                            </m:r>
                            <m:r>
                              <a:rPr lang="es-BO" i="1">
                                <a:latin typeface="Cambria Math" panose="02040503050406030204" pitchFamily="18" charset="0"/>
                              </a:rPr>
                              <m:t>𝑡</m:t>
                            </m:r>
                            <m:r>
                              <a:rPr lang="es-BO" i="1">
                                <a:latin typeface="Cambria Math" panose="02040503050406030204" pitchFamily="18" charset="0"/>
                              </a:rPr>
                              <m:t>)</m:t>
                            </m:r>
                          </m:e>
                        </m:mr>
                        <m:mr>
                          <m:e>
                            <m:r>
                              <a:rPr lang="es-BO" i="1">
                                <a:latin typeface="Cambria Math" panose="02040503050406030204" pitchFamily="18" charset="0"/>
                              </a:rPr>
                              <m:t>𝑦</m:t>
                            </m:r>
                            <m:d>
                              <m:dPr>
                                <m:ctrlPr>
                                  <a:rPr lang="en-US" i="1">
                                    <a:latin typeface="Cambria Math" panose="02040503050406030204" pitchFamily="18" charset="0"/>
                                  </a:rPr>
                                </m:ctrlPr>
                              </m:dPr>
                              <m:e>
                                <m:r>
                                  <a:rPr lang="es-BO" i="1">
                                    <a:latin typeface="Cambria Math" panose="02040503050406030204" pitchFamily="18" charset="0"/>
                                  </a:rPr>
                                  <m:t>𝑡</m:t>
                                </m:r>
                              </m:e>
                            </m:d>
                            <m:r>
                              <a:rPr lang="es-BO" i="1">
                                <a:latin typeface="Cambria Math" panose="02040503050406030204" pitchFamily="18" charset="0"/>
                              </a:rPr>
                              <m:t>=</m:t>
                            </m:r>
                            <m:r>
                              <a:rPr lang="es-BO" i="1">
                                <a:latin typeface="Cambria Math" panose="02040503050406030204" pitchFamily="18" charset="0"/>
                              </a:rPr>
                              <m:t>𝐶𝑥</m:t>
                            </m:r>
                            <m:r>
                              <a:rPr lang="es-BO" i="1">
                                <a:latin typeface="Cambria Math" panose="02040503050406030204" pitchFamily="18" charset="0"/>
                              </a:rPr>
                              <m:t>(</m:t>
                            </m:r>
                            <m:r>
                              <a:rPr lang="es-BO" i="1">
                                <a:latin typeface="Cambria Math" panose="02040503050406030204" pitchFamily="18" charset="0"/>
                              </a:rPr>
                              <m:t>𝑡</m:t>
                            </m:r>
                            <m:r>
                              <a:rPr lang="es-BO" i="1">
                                <a:latin typeface="Cambria Math" panose="02040503050406030204" pitchFamily="18" charset="0"/>
                              </a:rPr>
                              <m:t>)</m:t>
                            </m:r>
                          </m:e>
                        </m:mr>
                      </m:m>
                      <m:r>
                        <a:rPr lang="es-BO" i="1">
                          <a:latin typeface="Cambria Math" panose="02040503050406030204" pitchFamily="18" charset="0"/>
                        </a:rPr>
                        <m:t>              →          </m:t>
                      </m:r>
                      <m:r>
                        <a:rPr lang="es-BO" i="1">
                          <a:latin typeface="Cambria Math" panose="02040503050406030204" pitchFamily="18" charset="0"/>
                        </a:rPr>
                        <m:t>𝐴</m:t>
                      </m:r>
                      <m:r>
                        <a:rPr lang="es-BO" i="1">
                          <a:latin typeface="Cambria Math" panose="02040503050406030204" pitchFamily="18" charset="0"/>
                        </a:rPr>
                        <m:t>=</m:t>
                      </m:r>
                      <m:d>
                        <m:dPr>
                          <m:begChr m:val="["/>
                          <m:endChr m:val="]"/>
                          <m:ctrlPr>
                            <a:rPr lang="en-US" i="1">
                              <a:latin typeface="Cambria Math" panose="02040503050406030204" pitchFamily="18" charset="0"/>
                            </a:rPr>
                          </m:ctrlPr>
                        </m:dPr>
                        <m:e>
                          <m:f>
                            <m:fPr>
                              <m:ctrlPr>
                                <a:rPr lang="en-US" i="1">
                                  <a:latin typeface="Cambria Math" panose="02040503050406030204" pitchFamily="18" charset="0"/>
                                </a:rPr>
                              </m:ctrlPr>
                            </m:fPr>
                            <m:num>
                              <m:r>
                                <a:rPr lang="es-BO" i="1">
                                  <a:latin typeface="Cambria Math" panose="02040503050406030204" pitchFamily="18" charset="0"/>
                                </a:rPr>
                                <m:t>−1</m:t>
                              </m:r>
                            </m:num>
                            <m:den>
                              <m:r>
                                <a:rPr lang="es-BO" i="1">
                                  <a:latin typeface="Cambria Math" panose="02040503050406030204" pitchFamily="18" charset="0"/>
                                </a:rPr>
                                <m:t>𝑅𝐶</m:t>
                              </m:r>
                            </m:den>
                          </m:f>
                        </m:e>
                      </m:d>
                      <m:r>
                        <a:rPr lang="es-BO" i="1">
                          <a:latin typeface="Cambria Math" panose="02040503050406030204" pitchFamily="18" charset="0"/>
                        </a:rPr>
                        <m:t>,      </m:t>
                      </m:r>
                      <m:r>
                        <a:rPr lang="es-BO" i="1">
                          <a:latin typeface="Cambria Math" panose="02040503050406030204" pitchFamily="18" charset="0"/>
                        </a:rPr>
                        <m:t>𝐵</m:t>
                      </m:r>
                      <m:r>
                        <a:rPr lang="es-BO" i="1">
                          <a:latin typeface="Cambria Math" panose="02040503050406030204" pitchFamily="18" charset="0"/>
                        </a:rPr>
                        <m:t>=</m:t>
                      </m:r>
                      <m:d>
                        <m:dPr>
                          <m:begChr m:val="["/>
                          <m:endChr m:val="]"/>
                          <m:ctrlPr>
                            <a:rPr lang="en-US" i="1">
                              <a:latin typeface="Cambria Math" panose="02040503050406030204" pitchFamily="18" charset="0"/>
                            </a:rPr>
                          </m:ctrlPr>
                        </m:dPr>
                        <m:e>
                          <m:f>
                            <m:fPr>
                              <m:ctrlPr>
                                <a:rPr lang="en-US" i="1">
                                  <a:latin typeface="Cambria Math" panose="02040503050406030204" pitchFamily="18" charset="0"/>
                                </a:rPr>
                              </m:ctrlPr>
                            </m:fPr>
                            <m:num>
                              <m:r>
                                <a:rPr lang="es-BO" b="0" i="1" smtClean="0">
                                  <a:latin typeface="Cambria Math" panose="02040503050406030204" pitchFamily="18" charset="0"/>
                                </a:rPr>
                                <m:t>𝑘𝑥</m:t>
                              </m:r>
                            </m:num>
                            <m:den>
                              <m:r>
                                <a:rPr lang="es-BO" i="1">
                                  <a:latin typeface="Cambria Math" panose="02040503050406030204" pitchFamily="18" charset="0"/>
                                </a:rPr>
                                <m:t>𝐶</m:t>
                              </m:r>
                            </m:den>
                          </m:f>
                        </m:e>
                      </m:d>
                      <m:r>
                        <a:rPr lang="es-BO" i="1">
                          <a:latin typeface="Cambria Math" panose="02040503050406030204" pitchFamily="18" charset="0"/>
                        </a:rPr>
                        <m:t>,     </m:t>
                      </m:r>
                      <m:r>
                        <a:rPr lang="es-BO" i="1">
                          <a:latin typeface="Cambria Math" panose="02040503050406030204" pitchFamily="18" charset="0"/>
                        </a:rPr>
                        <m:t>𝐶</m:t>
                      </m:r>
                      <m:r>
                        <a:rPr lang="es-BO" i="1">
                          <a:latin typeface="Cambria Math" panose="02040503050406030204" pitchFamily="18" charset="0"/>
                        </a:rPr>
                        <m:t>=</m:t>
                      </m:r>
                      <m:d>
                        <m:dPr>
                          <m:begChr m:val="["/>
                          <m:endChr m:val="]"/>
                          <m:ctrlPr>
                            <a:rPr lang="en-US" i="1">
                              <a:latin typeface="Cambria Math" panose="02040503050406030204" pitchFamily="18" charset="0"/>
                            </a:rPr>
                          </m:ctrlPr>
                        </m:dPr>
                        <m:e>
                          <m:r>
                            <a:rPr lang="es-BO" i="1">
                              <a:latin typeface="Cambria Math" panose="02040503050406030204" pitchFamily="18" charset="0"/>
                            </a:rPr>
                            <m:t>1</m:t>
                          </m:r>
                        </m:e>
                      </m:d>
                      <m:r>
                        <a:rPr lang="es-BO" b="1" i="1">
                          <a:latin typeface="Cambria Math" panose="02040503050406030204" pitchFamily="18" charset="0"/>
                        </a:rPr>
                        <m:t> </m:t>
                      </m:r>
                    </m:oMath>
                  </m:oMathPara>
                </a14:m>
                <a:endParaRPr lang="en-US" dirty="0"/>
              </a:p>
              <a:p>
                <a:pPr marL="0" indent="0">
                  <a:buNone/>
                </a:pPr>
                <a:r>
                  <a:rPr lang="es-BO" b="1" dirty="0"/>
                  <a:t> </a:t>
                </a:r>
                <a:endParaRPr lang="en-US" dirty="0"/>
              </a:p>
              <a:p>
                <a:pPr marL="0" indent="0">
                  <a:buNone/>
                </a:pPr>
                <a14:m>
                  <m:oMathPara xmlns:m="http://schemas.openxmlformats.org/officeDocument/2006/math">
                    <m:oMathParaPr>
                      <m:jc m:val="centerGroup"/>
                    </m:oMathParaPr>
                    <m:oMath xmlns:m="http://schemas.openxmlformats.org/officeDocument/2006/math">
                      <m:acc>
                        <m:accPr>
                          <m:chr m:val="̅"/>
                          <m:ctrlPr>
                            <a:rPr lang="en-US" i="1">
                              <a:latin typeface="Cambria Math" panose="02040503050406030204" pitchFamily="18" charset="0"/>
                            </a:rPr>
                          </m:ctrlPr>
                        </m:accPr>
                        <m:e>
                          <m:r>
                            <a:rPr lang="es-BO" i="1">
                              <a:latin typeface="Cambria Math" panose="02040503050406030204" pitchFamily="18" charset="0"/>
                            </a:rPr>
                            <m:t>𝐴</m:t>
                          </m:r>
                        </m:e>
                      </m:acc>
                      <m:r>
                        <a:rPr lang="es-BO" i="1">
                          <a:latin typeface="Cambria Math" panose="02040503050406030204" pitchFamily="18" charset="0"/>
                        </a:rPr>
                        <m:t>=</m:t>
                      </m:r>
                      <m:sSub>
                        <m:sSubPr>
                          <m:ctrlPr>
                            <a:rPr lang="en-US" i="1">
                              <a:latin typeface="Cambria Math" panose="02040503050406030204" pitchFamily="18" charset="0"/>
                            </a:rPr>
                          </m:ctrlPr>
                        </m:sSubPr>
                        <m:e>
                          <m:d>
                            <m:dPr>
                              <m:begChr m:val=""/>
                              <m:endChr m:val="|"/>
                              <m:ctrlPr>
                                <a:rPr lang="en-US" i="1">
                                  <a:latin typeface="Cambria Math" panose="02040503050406030204" pitchFamily="18" charset="0"/>
                                </a:rPr>
                              </m:ctrlPr>
                            </m:dPr>
                            <m:e>
                              <m:sSup>
                                <m:sSupPr>
                                  <m:ctrlPr>
                                    <a:rPr lang="en-US" i="1">
                                      <a:latin typeface="Cambria Math" panose="02040503050406030204" pitchFamily="18" charset="0"/>
                                    </a:rPr>
                                  </m:ctrlPr>
                                </m:sSupPr>
                                <m:e>
                                  <m:r>
                                    <a:rPr lang="es-BO" i="1">
                                      <a:latin typeface="Cambria Math" panose="02040503050406030204" pitchFamily="18" charset="0"/>
                                    </a:rPr>
                                    <m:t>ℒ</m:t>
                                  </m:r>
                                </m:e>
                                <m:sup>
                                  <m:r>
                                    <a:rPr lang="es-BO" i="1">
                                      <a:latin typeface="Cambria Math" panose="02040503050406030204" pitchFamily="18" charset="0"/>
                                    </a:rPr>
                                    <m:t>−1</m:t>
                                  </m:r>
                                </m:sup>
                              </m:sSup>
                              <m:d>
                                <m:dPr>
                                  <m:begChr m:val="{"/>
                                  <m:endChr m:val="}"/>
                                  <m:ctrlPr>
                                    <a:rPr lang="en-US" i="1">
                                      <a:latin typeface="Cambria Math" panose="02040503050406030204" pitchFamily="18" charset="0"/>
                                    </a:rPr>
                                  </m:ctrlPr>
                                </m:dPr>
                                <m:e>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s-BO" i="1">
                                              <a:latin typeface="Cambria Math" panose="02040503050406030204" pitchFamily="18" charset="0"/>
                                            </a:rPr>
                                            <m:t>𝑠𝐼</m:t>
                                          </m:r>
                                          <m:r>
                                            <a:rPr lang="es-BO" i="1">
                                              <a:latin typeface="Cambria Math" panose="02040503050406030204" pitchFamily="18" charset="0"/>
                                            </a:rPr>
                                            <m:t>−</m:t>
                                          </m:r>
                                          <m:r>
                                            <a:rPr lang="es-BO" i="1">
                                              <a:latin typeface="Cambria Math" panose="02040503050406030204" pitchFamily="18" charset="0"/>
                                            </a:rPr>
                                            <m:t>𝐴</m:t>
                                          </m:r>
                                        </m:e>
                                      </m:d>
                                    </m:e>
                                    <m:sup>
                                      <m:r>
                                        <a:rPr lang="es-BO" i="1">
                                          <a:latin typeface="Cambria Math" panose="02040503050406030204" pitchFamily="18" charset="0"/>
                                        </a:rPr>
                                        <m:t>−1</m:t>
                                      </m:r>
                                    </m:sup>
                                  </m:sSup>
                                </m:e>
                              </m:d>
                            </m:e>
                          </m:d>
                        </m:e>
                        <m:sub>
                          <m:r>
                            <a:rPr lang="es-BO" i="1">
                              <a:latin typeface="Cambria Math" panose="02040503050406030204" pitchFamily="18" charset="0"/>
                            </a:rPr>
                            <m:t>𝑇</m:t>
                          </m:r>
                        </m:sub>
                      </m:sSub>
                      <m:r>
                        <a:rPr lang="es-BO" i="1">
                          <a:latin typeface="Cambria Math" panose="02040503050406030204" pitchFamily="18" charset="0"/>
                        </a:rPr>
                        <m:t>   →  </m:t>
                      </m:r>
                      <m:acc>
                        <m:accPr>
                          <m:chr m:val="̅"/>
                          <m:ctrlPr>
                            <a:rPr lang="en-US" i="1">
                              <a:latin typeface="Cambria Math" panose="02040503050406030204" pitchFamily="18" charset="0"/>
                            </a:rPr>
                          </m:ctrlPr>
                        </m:accPr>
                        <m:e>
                          <m:r>
                            <a:rPr lang="es-BO" i="1">
                              <a:latin typeface="Cambria Math" panose="02040503050406030204" pitchFamily="18" charset="0"/>
                            </a:rPr>
                            <m:t>𝐴</m:t>
                          </m:r>
                        </m:e>
                      </m:acc>
                      <m:r>
                        <a:rPr lang="es-BO" i="1">
                          <a:latin typeface="Cambria Math" panose="02040503050406030204" pitchFamily="18" charset="0"/>
                        </a:rPr>
                        <m:t>=</m:t>
                      </m:r>
                      <m:sSup>
                        <m:sSupPr>
                          <m:ctrlPr>
                            <a:rPr lang="en-US" i="1">
                              <a:latin typeface="Cambria Math" panose="02040503050406030204" pitchFamily="18" charset="0"/>
                            </a:rPr>
                          </m:ctrlPr>
                        </m:sSupPr>
                        <m:e>
                          <m:r>
                            <a:rPr lang="es-BO" i="1">
                              <a:latin typeface="Cambria Math" panose="02040503050406030204" pitchFamily="18" charset="0"/>
                            </a:rPr>
                            <m:t>𝑒</m:t>
                          </m:r>
                        </m:e>
                        <m:sup>
                          <m:r>
                            <a:rPr lang="es-BO" i="1">
                              <a:latin typeface="Cambria Math" panose="02040503050406030204" pitchFamily="18" charset="0"/>
                            </a:rPr>
                            <m:t>−</m:t>
                          </m:r>
                          <m:r>
                            <a:rPr lang="es-MX" i="1">
                              <a:latin typeface="Cambria Math" panose="02040503050406030204" pitchFamily="18" charset="0"/>
                            </a:rPr>
                            <m:t>3,</m:t>
                          </m:r>
                          <m:r>
                            <a:rPr lang="es-BO" b="0" i="1" smtClean="0">
                              <a:latin typeface="Cambria Math" panose="02040503050406030204" pitchFamily="18" charset="0"/>
                            </a:rPr>
                            <m:t>3003</m:t>
                          </m:r>
                          <m:r>
                            <a:rPr lang="es-MX" i="1">
                              <a:latin typeface="Cambria Math" panose="02040503050406030204" pitchFamily="18" charset="0"/>
                            </a:rPr>
                            <m:t>∙</m:t>
                          </m:r>
                          <m:sSup>
                            <m:sSupPr>
                              <m:ctrlPr>
                                <a:rPr lang="en-US" i="1">
                                  <a:latin typeface="Cambria Math" panose="02040503050406030204" pitchFamily="18" charset="0"/>
                                </a:rPr>
                              </m:ctrlPr>
                            </m:sSupPr>
                            <m:e>
                              <m:r>
                                <a:rPr lang="es-MX" i="1">
                                  <a:latin typeface="Cambria Math" panose="02040503050406030204" pitchFamily="18" charset="0"/>
                                </a:rPr>
                                <m:t>10</m:t>
                              </m:r>
                            </m:e>
                            <m:sup>
                              <m:r>
                                <a:rPr lang="es-MX" i="1">
                                  <a:latin typeface="Cambria Math" panose="02040503050406030204" pitchFamily="18" charset="0"/>
                                </a:rPr>
                                <m:t>−3</m:t>
                              </m:r>
                            </m:sup>
                          </m:sSup>
                          <m:r>
                            <a:rPr lang="es-MX" i="1">
                              <a:latin typeface="Cambria Math" panose="02040503050406030204" pitchFamily="18" charset="0"/>
                            </a:rPr>
                            <m:t>𝑇</m:t>
                          </m:r>
                        </m:sup>
                      </m:sSup>
                      <m:r>
                        <a:rPr lang="es-BO" i="1">
                          <a:latin typeface="Cambria Math" panose="02040503050406030204" pitchFamily="18" charset="0"/>
                        </a:rPr>
                        <m:t>=</m:t>
                      </m:r>
                      <m:sSup>
                        <m:sSupPr>
                          <m:ctrlPr>
                            <a:rPr lang="en-US" i="1">
                              <a:latin typeface="Cambria Math" panose="02040503050406030204" pitchFamily="18" charset="0"/>
                            </a:rPr>
                          </m:ctrlPr>
                        </m:sSupPr>
                        <m:e>
                          <m:r>
                            <a:rPr lang="es-BO" i="1">
                              <a:latin typeface="Cambria Math" panose="02040503050406030204" pitchFamily="18" charset="0"/>
                            </a:rPr>
                            <m:t>𝑒</m:t>
                          </m:r>
                        </m:e>
                        <m:sup>
                          <m:r>
                            <a:rPr lang="es-BO" i="1">
                              <a:latin typeface="Cambria Math" panose="02040503050406030204" pitchFamily="18" charset="0"/>
                            </a:rPr>
                            <m:t>−</m:t>
                          </m:r>
                          <m:r>
                            <a:rPr lang="es-MX" i="1">
                              <a:latin typeface="Cambria Math" panose="02040503050406030204" pitchFamily="18" charset="0"/>
                            </a:rPr>
                            <m:t>3,</m:t>
                          </m:r>
                          <m:r>
                            <a:rPr lang="es-BO" i="1">
                              <a:latin typeface="Cambria Math" panose="02040503050406030204" pitchFamily="18" charset="0"/>
                            </a:rPr>
                            <m:t>3003</m:t>
                          </m:r>
                          <m:r>
                            <a:rPr lang="es-MX" i="1">
                              <a:latin typeface="Cambria Math" panose="02040503050406030204" pitchFamily="18" charset="0"/>
                            </a:rPr>
                            <m:t>∙</m:t>
                          </m:r>
                          <m:sSup>
                            <m:sSupPr>
                              <m:ctrlPr>
                                <a:rPr lang="en-US" i="1">
                                  <a:latin typeface="Cambria Math" panose="02040503050406030204" pitchFamily="18" charset="0"/>
                                </a:rPr>
                              </m:ctrlPr>
                            </m:sSupPr>
                            <m:e>
                              <m:r>
                                <a:rPr lang="es-MX" i="1">
                                  <a:latin typeface="Cambria Math" panose="02040503050406030204" pitchFamily="18" charset="0"/>
                                </a:rPr>
                                <m:t>10</m:t>
                              </m:r>
                            </m:e>
                            <m:sup>
                              <m:r>
                                <a:rPr lang="es-MX" i="1">
                                  <a:latin typeface="Cambria Math" panose="02040503050406030204" pitchFamily="18" charset="0"/>
                                </a:rPr>
                                <m:t>−3</m:t>
                              </m:r>
                            </m:sup>
                          </m:sSup>
                          <m:r>
                            <a:rPr lang="es-BO" b="0" i="1" smtClean="0">
                              <a:latin typeface="Cambria Math" panose="02040503050406030204" pitchFamily="18" charset="0"/>
                            </a:rPr>
                            <m:t>∗30,3</m:t>
                          </m:r>
                        </m:sup>
                      </m:sSup>
                      <m:r>
                        <a:rPr lang="es-BO" i="1">
                          <a:latin typeface="Cambria Math" panose="02040503050406030204" pitchFamily="18" charset="0"/>
                        </a:rPr>
                        <m:t>=0.9048</m:t>
                      </m:r>
                    </m:oMath>
                  </m:oMathPara>
                </a14:m>
                <a:endParaRPr lang="en-US" dirty="0"/>
              </a:p>
              <a:p>
                <a:pPr marL="0" indent="0">
                  <a:buNone/>
                </a:pPr>
                <a14:m>
                  <m:oMathPara xmlns:m="http://schemas.openxmlformats.org/officeDocument/2006/math">
                    <m:oMathParaPr>
                      <m:jc m:val="centerGroup"/>
                    </m:oMathParaPr>
                    <m:oMath xmlns:m="http://schemas.openxmlformats.org/officeDocument/2006/math">
                      <m:acc>
                        <m:accPr>
                          <m:chr m:val="̅"/>
                          <m:ctrlPr>
                            <a:rPr lang="en-US" i="1">
                              <a:latin typeface="Cambria Math" panose="02040503050406030204" pitchFamily="18" charset="0"/>
                            </a:rPr>
                          </m:ctrlPr>
                        </m:accPr>
                        <m:e>
                          <m:r>
                            <a:rPr lang="es-BO" i="1">
                              <a:latin typeface="Cambria Math" panose="02040503050406030204" pitchFamily="18" charset="0"/>
                            </a:rPr>
                            <m:t>𝐵</m:t>
                          </m:r>
                        </m:e>
                      </m:acc>
                      <m:r>
                        <a:rPr lang="es-BO" i="1">
                          <a:latin typeface="Cambria Math" panose="02040503050406030204" pitchFamily="18" charset="0"/>
                        </a:rPr>
                        <m:t>=</m:t>
                      </m:r>
                      <m:r>
                        <a:rPr lang="es-BO" i="1">
                          <a:latin typeface="Cambria Math" panose="02040503050406030204" pitchFamily="18" charset="0"/>
                        </a:rPr>
                        <m:t>𝐵</m:t>
                      </m:r>
                      <m:r>
                        <a:rPr lang="es-BO" i="1">
                          <a:latin typeface="Cambria Math" panose="02040503050406030204" pitchFamily="18" charset="0"/>
                        </a:rPr>
                        <m:t>∗</m:t>
                      </m:r>
                      <m:nary>
                        <m:naryPr>
                          <m:limLoc m:val="subSup"/>
                          <m:ctrlPr>
                            <a:rPr lang="en-US" i="1">
                              <a:latin typeface="Cambria Math" panose="02040503050406030204" pitchFamily="18" charset="0"/>
                            </a:rPr>
                          </m:ctrlPr>
                        </m:naryPr>
                        <m:sub>
                          <m:r>
                            <a:rPr lang="es-BO" i="1">
                              <a:latin typeface="Cambria Math" panose="02040503050406030204" pitchFamily="18" charset="0"/>
                            </a:rPr>
                            <m:t>0</m:t>
                          </m:r>
                        </m:sub>
                        <m:sup>
                          <m:r>
                            <a:rPr lang="es-BO" i="1">
                              <a:latin typeface="Cambria Math" panose="02040503050406030204" pitchFamily="18" charset="0"/>
                            </a:rPr>
                            <m:t>𝑇</m:t>
                          </m:r>
                        </m:sup>
                        <m:e>
                          <m:d>
                            <m:dPr>
                              <m:ctrlPr>
                                <a:rPr lang="en-US" i="1">
                                  <a:latin typeface="Cambria Math" panose="02040503050406030204" pitchFamily="18" charset="0"/>
                                </a:rPr>
                              </m:ctrlPr>
                            </m:dPr>
                            <m:e>
                              <m:sSup>
                                <m:sSupPr>
                                  <m:ctrlPr>
                                    <a:rPr lang="en-US" i="1">
                                      <a:latin typeface="Cambria Math" panose="02040503050406030204" pitchFamily="18" charset="0"/>
                                    </a:rPr>
                                  </m:ctrlPr>
                                </m:sSupPr>
                                <m:e>
                                  <m:r>
                                    <a:rPr lang="es-BO" i="1">
                                      <a:latin typeface="Cambria Math" panose="02040503050406030204" pitchFamily="18" charset="0"/>
                                    </a:rPr>
                                    <m:t>ℒ</m:t>
                                  </m:r>
                                </m:e>
                                <m:sup>
                                  <m:r>
                                    <a:rPr lang="es-BO" i="1">
                                      <a:latin typeface="Cambria Math" panose="02040503050406030204" pitchFamily="18" charset="0"/>
                                    </a:rPr>
                                    <m:t>−1</m:t>
                                  </m:r>
                                </m:sup>
                              </m:sSup>
                              <m:d>
                                <m:dPr>
                                  <m:begChr m:val="{"/>
                                  <m:endChr m:val="}"/>
                                  <m:ctrlPr>
                                    <a:rPr lang="en-US" i="1">
                                      <a:latin typeface="Cambria Math" panose="02040503050406030204" pitchFamily="18" charset="0"/>
                                    </a:rPr>
                                  </m:ctrlPr>
                                </m:dPr>
                                <m:e>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s-BO" i="1">
                                              <a:latin typeface="Cambria Math" panose="02040503050406030204" pitchFamily="18" charset="0"/>
                                            </a:rPr>
                                            <m:t>𝑠𝐼</m:t>
                                          </m:r>
                                          <m:r>
                                            <a:rPr lang="es-BO" i="1">
                                              <a:latin typeface="Cambria Math" panose="02040503050406030204" pitchFamily="18" charset="0"/>
                                            </a:rPr>
                                            <m:t>−</m:t>
                                          </m:r>
                                          <m:r>
                                            <a:rPr lang="es-BO" i="1">
                                              <a:latin typeface="Cambria Math" panose="02040503050406030204" pitchFamily="18" charset="0"/>
                                            </a:rPr>
                                            <m:t>𝐴</m:t>
                                          </m:r>
                                        </m:e>
                                      </m:d>
                                    </m:e>
                                    <m:sup>
                                      <m:r>
                                        <a:rPr lang="es-BO" i="1">
                                          <a:latin typeface="Cambria Math" panose="02040503050406030204" pitchFamily="18" charset="0"/>
                                        </a:rPr>
                                        <m:t>−1</m:t>
                                      </m:r>
                                    </m:sup>
                                  </m:sSup>
                                </m:e>
                              </m:d>
                              <m:r>
                                <a:rPr lang="es-BO" i="1">
                                  <a:latin typeface="Cambria Math" panose="02040503050406030204" pitchFamily="18" charset="0"/>
                                </a:rPr>
                                <m:t>𝑑𝑡</m:t>
                              </m:r>
                            </m:e>
                          </m:d>
                        </m:e>
                      </m:nary>
                      <m:r>
                        <a:rPr lang="es-BO" i="1">
                          <a:latin typeface="Cambria Math" panose="02040503050406030204" pitchFamily="18" charset="0"/>
                        </a:rPr>
                        <m:t> →    </m:t>
                      </m:r>
                      <m:acc>
                        <m:accPr>
                          <m:chr m:val="̅"/>
                          <m:ctrlPr>
                            <a:rPr lang="en-US" i="1">
                              <a:latin typeface="Cambria Math" panose="02040503050406030204" pitchFamily="18" charset="0"/>
                            </a:rPr>
                          </m:ctrlPr>
                        </m:accPr>
                        <m:e>
                          <m:r>
                            <a:rPr lang="es-BO" i="1">
                              <a:latin typeface="Cambria Math" panose="02040503050406030204" pitchFamily="18" charset="0"/>
                            </a:rPr>
                            <m:t>𝐵</m:t>
                          </m:r>
                        </m:e>
                      </m:acc>
                      <m:r>
                        <a:rPr lang="es-BO" i="1">
                          <a:latin typeface="Cambria Math" panose="02040503050406030204" pitchFamily="18" charset="0"/>
                        </a:rPr>
                        <m:t>=</m:t>
                      </m:r>
                      <m:r>
                        <a:rPr lang="es-BO" b="0" i="1" smtClean="0">
                          <a:latin typeface="Cambria Math" panose="02040503050406030204" pitchFamily="18" charset="0"/>
                        </a:rPr>
                        <m:t>303∗</m:t>
                      </m:r>
                      <m:d>
                        <m:dPr>
                          <m:ctrlPr>
                            <a:rPr lang="en-US" i="1">
                              <a:latin typeface="Cambria Math" panose="02040503050406030204" pitchFamily="18" charset="0"/>
                            </a:rPr>
                          </m:ctrlPr>
                        </m:dPr>
                        <m:e>
                          <m:r>
                            <a:rPr lang="es-BO" i="1">
                              <a:latin typeface="Cambria Math" panose="02040503050406030204" pitchFamily="18" charset="0"/>
                            </a:rPr>
                            <m:t>1−</m:t>
                          </m:r>
                          <m:sSup>
                            <m:sSupPr>
                              <m:ctrlPr>
                                <a:rPr lang="en-US" i="1">
                                  <a:latin typeface="Cambria Math" panose="02040503050406030204" pitchFamily="18" charset="0"/>
                                </a:rPr>
                              </m:ctrlPr>
                            </m:sSupPr>
                            <m:e>
                              <m:r>
                                <a:rPr lang="es-BO" i="1">
                                  <a:latin typeface="Cambria Math" panose="02040503050406030204" pitchFamily="18" charset="0"/>
                                </a:rPr>
                                <m:t>𝑒</m:t>
                              </m:r>
                            </m:e>
                            <m:sup>
                              <m:r>
                                <a:rPr lang="es-BO" i="1">
                                  <a:latin typeface="Cambria Math" panose="02040503050406030204" pitchFamily="18" charset="0"/>
                                </a:rPr>
                                <m:t>−</m:t>
                              </m:r>
                              <m:r>
                                <a:rPr lang="es-MX" i="1">
                                  <a:latin typeface="Cambria Math" panose="02040503050406030204" pitchFamily="18" charset="0"/>
                                </a:rPr>
                                <m:t>0.1</m:t>
                              </m:r>
                            </m:sup>
                          </m:sSup>
                        </m:e>
                      </m:d>
                      <m:r>
                        <a:rPr lang="es-BO" i="1">
                          <a:latin typeface="Cambria Math" panose="02040503050406030204" pitchFamily="18" charset="0"/>
                        </a:rPr>
                        <m:t>𝐵</m:t>
                      </m:r>
                      <m:r>
                        <a:rPr lang="es-BO" b="0" i="1" smtClean="0">
                          <a:latin typeface="Cambria Math" panose="02040503050406030204" pitchFamily="18" charset="0"/>
                        </a:rPr>
                        <m:t>∗</m:t>
                      </m:r>
                      <m:sSub>
                        <m:sSubPr>
                          <m:ctrlPr>
                            <a:rPr lang="es-BO" i="1">
                              <a:latin typeface="Cambria Math" panose="02040503050406030204" pitchFamily="18" charset="0"/>
                            </a:rPr>
                          </m:ctrlPr>
                        </m:sSubPr>
                        <m:e>
                          <m:r>
                            <a:rPr lang="es-BO" i="1">
                              <a:latin typeface="Cambria Math" panose="02040503050406030204" pitchFamily="18" charset="0"/>
                            </a:rPr>
                            <m:t>𝑘</m:t>
                          </m:r>
                        </m:e>
                        <m:sub>
                          <m:r>
                            <a:rPr lang="es-BO" i="1">
                              <a:latin typeface="Cambria Math" panose="02040503050406030204" pitchFamily="18" charset="0"/>
                            </a:rPr>
                            <m:t>𝑥</m:t>
                          </m:r>
                        </m:sub>
                      </m:sSub>
                      <m:r>
                        <a:rPr lang="es-BO" i="1">
                          <a:latin typeface="Cambria Math" panose="02040503050406030204" pitchFamily="18" charset="0"/>
                        </a:rPr>
                        <m:t>=303∗</m:t>
                      </m:r>
                      <m:d>
                        <m:dPr>
                          <m:ctrlPr>
                            <a:rPr lang="en-US" i="1">
                              <a:latin typeface="Cambria Math" panose="02040503050406030204" pitchFamily="18" charset="0"/>
                            </a:rPr>
                          </m:ctrlPr>
                        </m:dPr>
                        <m:e>
                          <m:r>
                            <a:rPr lang="es-BO" i="1">
                              <a:latin typeface="Cambria Math" panose="02040503050406030204" pitchFamily="18" charset="0"/>
                            </a:rPr>
                            <m:t>1−</m:t>
                          </m:r>
                          <m:sSup>
                            <m:sSupPr>
                              <m:ctrlPr>
                                <a:rPr lang="en-US" i="1">
                                  <a:latin typeface="Cambria Math" panose="02040503050406030204" pitchFamily="18" charset="0"/>
                                </a:rPr>
                              </m:ctrlPr>
                            </m:sSupPr>
                            <m:e>
                              <m:r>
                                <a:rPr lang="es-BO" i="1">
                                  <a:latin typeface="Cambria Math" panose="02040503050406030204" pitchFamily="18" charset="0"/>
                                </a:rPr>
                                <m:t>𝑒</m:t>
                              </m:r>
                            </m:e>
                            <m:sup>
                              <m:r>
                                <a:rPr lang="es-BO" i="1">
                                  <a:latin typeface="Cambria Math" panose="02040503050406030204" pitchFamily="18" charset="0"/>
                                </a:rPr>
                                <m:t>−</m:t>
                              </m:r>
                              <m:r>
                                <a:rPr lang="es-MX" i="1">
                                  <a:latin typeface="Cambria Math" panose="02040503050406030204" pitchFamily="18" charset="0"/>
                                </a:rPr>
                                <m:t>0.1</m:t>
                              </m:r>
                            </m:sup>
                          </m:sSup>
                        </m:e>
                      </m:d>
                      <m:r>
                        <a:rPr lang="es-BO" b="0" i="1" smtClean="0">
                          <a:latin typeface="Cambria Math" panose="02040503050406030204" pitchFamily="18" charset="0"/>
                        </a:rPr>
                        <m:t>∗</m:t>
                      </m:r>
                      <m:f>
                        <m:fPr>
                          <m:ctrlPr>
                            <a:rPr lang="en-US" i="1">
                              <a:latin typeface="Cambria Math" panose="02040503050406030204" pitchFamily="18" charset="0"/>
                            </a:rPr>
                          </m:ctrlPr>
                        </m:fPr>
                        <m:num>
                          <m:r>
                            <a:rPr lang="es-BO" i="1">
                              <a:latin typeface="Cambria Math" panose="02040503050406030204" pitchFamily="18" charset="0"/>
                            </a:rPr>
                            <m:t>1</m:t>
                          </m:r>
                        </m:num>
                        <m:den>
                          <m:r>
                            <a:rPr lang="es-BO" i="1">
                              <a:latin typeface="Cambria Math" panose="02040503050406030204" pitchFamily="18" charset="0"/>
                            </a:rPr>
                            <m:t>3166.47</m:t>
                          </m:r>
                        </m:den>
                      </m:f>
                      <m:r>
                        <a:rPr lang="es-BO" b="0" i="1" smtClean="0">
                          <a:latin typeface="Cambria Math" panose="02040503050406030204" pitchFamily="18" charset="0"/>
                        </a:rPr>
                        <m:t>∗9.967</m:t>
                      </m:r>
                      <m:r>
                        <a:rPr lang="es-BO" i="1">
                          <a:latin typeface="Cambria Math" panose="02040503050406030204" pitchFamily="18" charset="0"/>
                        </a:rPr>
                        <m:t>=</m:t>
                      </m:r>
                      <m:r>
                        <a:rPr lang="es-BO" b="0" i="1" smtClean="0">
                          <a:latin typeface="Cambria Math" panose="02040503050406030204" pitchFamily="18" charset="0"/>
                        </a:rPr>
                        <m:t>91.025</m:t>
                      </m:r>
                      <m:r>
                        <a:rPr lang="es-BO" i="1">
                          <a:latin typeface="Cambria Math" panose="02040503050406030204" pitchFamily="18" charset="0"/>
                        </a:rPr>
                        <m:t>∙</m:t>
                      </m:r>
                      <m:sSup>
                        <m:sSupPr>
                          <m:ctrlPr>
                            <a:rPr lang="en-US" i="1">
                              <a:latin typeface="Cambria Math" panose="02040503050406030204" pitchFamily="18" charset="0"/>
                            </a:rPr>
                          </m:ctrlPr>
                        </m:sSupPr>
                        <m:e>
                          <m:r>
                            <a:rPr lang="es-MX" i="1">
                              <a:latin typeface="Cambria Math" panose="02040503050406030204" pitchFamily="18" charset="0"/>
                            </a:rPr>
                            <m:t>10</m:t>
                          </m:r>
                        </m:e>
                        <m:sup>
                          <m:r>
                            <a:rPr lang="es-MX" i="1">
                              <a:latin typeface="Cambria Math" panose="02040503050406030204" pitchFamily="18" charset="0"/>
                            </a:rPr>
                            <m:t>−3</m:t>
                          </m:r>
                        </m:sup>
                      </m:sSup>
                    </m:oMath>
                  </m:oMathPara>
                </a14:m>
                <a:endParaRPr lang="en-US" dirty="0"/>
              </a:p>
              <a:p>
                <a:pPr marL="0" indent="0">
                  <a:buNone/>
                </a:pPr>
                <a14:m>
                  <m:oMathPara xmlns:m="http://schemas.openxmlformats.org/officeDocument/2006/math">
                    <m:oMathParaPr>
                      <m:jc m:val="centerGroup"/>
                    </m:oMathParaPr>
                    <m:oMath xmlns:m="http://schemas.openxmlformats.org/officeDocument/2006/math">
                      <m:acc>
                        <m:accPr>
                          <m:chr m:val="̅"/>
                          <m:ctrlPr>
                            <a:rPr lang="en-US" i="1">
                              <a:latin typeface="Cambria Math" panose="02040503050406030204" pitchFamily="18" charset="0"/>
                            </a:rPr>
                          </m:ctrlPr>
                        </m:accPr>
                        <m:e>
                          <m:r>
                            <a:rPr lang="es-BO" i="1">
                              <a:latin typeface="Cambria Math" panose="02040503050406030204" pitchFamily="18" charset="0"/>
                            </a:rPr>
                            <m:t>𝐶</m:t>
                          </m:r>
                        </m:e>
                      </m:acc>
                      <m:r>
                        <a:rPr lang="es-BO" i="1">
                          <a:latin typeface="Cambria Math" panose="02040503050406030204" pitchFamily="18" charset="0"/>
                        </a:rPr>
                        <m:t>=</m:t>
                      </m:r>
                      <m:r>
                        <a:rPr lang="es-BO" i="1">
                          <a:latin typeface="Cambria Math" panose="02040503050406030204" pitchFamily="18" charset="0"/>
                        </a:rPr>
                        <m:t>𝐶</m:t>
                      </m:r>
                      <m:r>
                        <a:rPr lang="es-BO" i="1">
                          <a:latin typeface="Cambria Math" panose="02040503050406030204" pitchFamily="18" charset="0"/>
                        </a:rPr>
                        <m:t>=1 </m:t>
                      </m:r>
                    </m:oMath>
                  </m:oMathPara>
                </a14:m>
                <a:endParaRPr lang="en-US" dirty="0"/>
              </a:p>
              <a:p>
                <a:pPr marL="0" indent="0">
                  <a:buNone/>
                </a:pPr>
                <a:r>
                  <a:rPr lang="es-BO" dirty="0"/>
                  <a:t>Analizamos el requerimiento (</a:t>
                </a:r>
                <a:r>
                  <a:rPr lang="es-BO" dirty="0" err="1"/>
                  <a:t>ts</a:t>
                </a:r>
                <a:r>
                  <a:rPr lang="es-BO" dirty="0"/>
                  <a:t> = 10 min = 600 </a:t>
                </a:r>
                <a:r>
                  <a:rPr lang="es-BO" dirty="0" err="1"/>
                  <a:t>seg</a:t>
                </a:r>
                <a:r>
                  <a:rPr lang="es-BO" dirty="0"/>
                  <a:t>):</a:t>
                </a:r>
                <a:endParaRPr lang="en-US" dirty="0"/>
              </a:p>
              <a:p>
                <a:pPr marL="0" indent="0">
                  <a:buNone/>
                </a:pPr>
                <a14:m>
                  <m:oMathPara xmlns:m="http://schemas.openxmlformats.org/officeDocument/2006/math">
                    <m:oMathParaPr>
                      <m:jc m:val="centerGroup"/>
                    </m:oMathParaPr>
                    <m:oMath xmlns:m="http://schemas.openxmlformats.org/officeDocument/2006/math">
                      <m:f>
                        <m:fPr>
                          <m:ctrlPr>
                            <a:rPr lang="es-BO" b="0" i="1" smtClean="0">
                              <a:latin typeface="Cambria Math" panose="02040503050406030204" pitchFamily="18" charset="0"/>
                            </a:rPr>
                          </m:ctrlPr>
                        </m:fPr>
                        <m:num>
                          <m:r>
                            <a:rPr lang="es-BO" b="0" i="1" smtClean="0">
                              <a:latin typeface="Cambria Math" panose="02040503050406030204" pitchFamily="18" charset="0"/>
                            </a:rPr>
                            <m:t>00</m:t>
                          </m:r>
                        </m:num>
                        <m:den>
                          <m:r>
                            <a:rPr lang="es-BO" b="0" i="1" smtClean="0">
                              <a:latin typeface="Cambria Math" panose="02040503050406030204" pitchFamily="18" charset="0"/>
                            </a:rPr>
                            <m:t>4</m:t>
                          </m:r>
                        </m:den>
                      </m:f>
                      <m:r>
                        <a:rPr lang="es-MX" i="1">
                          <a:latin typeface="Cambria Math" panose="02040503050406030204" pitchFamily="18" charset="0"/>
                        </a:rPr>
                        <m:t>=</m:t>
                      </m:r>
                      <m:r>
                        <a:rPr lang="es-MX" i="1">
                          <a:latin typeface="Cambria Math" panose="02040503050406030204" pitchFamily="18" charset="0"/>
                        </a:rPr>
                        <m:t>𝜏</m:t>
                      </m:r>
                      <m:r>
                        <a:rPr lang="es-BO" b="0" i="1" smtClean="0">
                          <a:latin typeface="Cambria Math" panose="02040503050406030204" pitchFamily="18" charset="0"/>
                        </a:rPr>
                        <m:t> ;</m:t>
                      </m:r>
                      <m:r>
                        <a:rPr lang="es-BO" b="0" i="1" smtClean="0">
                          <a:latin typeface="Cambria Math" panose="02040503050406030204" pitchFamily="18" charset="0"/>
                        </a:rPr>
                        <m:t>𝑇</m:t>
                      </m:r>
                      <m:r>
                        <a:rPr lang="es-BO" b="0" i="1" smtClean="0">
                          <a:latin typeface="Cambria Math" panose="02040503050406030204" pitchFamily="18" charset="0"/>
                        </a:rPr>
                        <m:t>=30.30 ; </m:t>
                      </m:r>
                      <m:r>
                        <a:rPr lang="es-MX" i="1">
                          <a:latin typeface="Cambria Math" panose="02040503050406030204" pitchFamily="18" charset="0"/>
                        </a:rPr>
                        <m:t>𝜏</m:t>
                      </m:r>
                      <m:r>
                        <a:rPr lang="es-MX" i="1">
                          <a:latin typeface="Cambria Math" panose="02040503050406030204" pitchFamily="18" charset="0"/>
                        </a:rPr>
                        <m:t>≥</m:t>
                      </m:r>
                      <m:f>
                        <m:fPr>
                          <m:ctrlPr>
                            <a:rPr lang="en-US" i="1">
                              <a:latin typeface="Cambria Math" panose="02040503050406030204" pitchFamily="18" charset="0"/>
                            </a:rPr>
                          </m:ctrlPr>
                        </m:fPr>
                        <m:num>
                          <m:r>
                            <a:rPr lang="es-MX" i="1">
                              <a:latin typeface="Cambria Math" panose="02040503050406030204" pitchFamily="18" charset="0"/>
                            </a:rPr>
                            <m:t>−</m:t>
                          </m:r>
                          <m:r>
                            <a:rPr lang="es-MX" i="1">
                              <a:latin typeface="Cambria Math" panose="02040503050406030204" pitchFamily="18" charset="0"/>
                            </a:rPr>
                            <m:t>𝑇</m:t>
                          </m:r>
                        </m:num>
                        <m:den>
                          <m:r>
                            <a:rPr lang="es-MX" i="1">
                              <a:latin typeface="Cambria Math" panose="02040503050406030204" pitchFamily="18" charset="0"/>
                            </a:rPr>
                            <m:t>𝐼𝑛</m:t>
                          </m:r>
                          <m:d>
                            <m:dPr>
                              <m:ctrlPr>
                                <a:rPr lang="en-US" i="1">
                                  <a:latin typeface="Cambria Math" panose="02040503050406030204" pitchFamily="18" charset="0"/>
                                </a:rPr>
                              </m:ctrlPr>
                            </m:dPr>
                            <m:e>
                              <m:r>
                                <a:rPr lang="es-MX" i="1">
                                  <a:latin typeface="Cambria Math" panose="02040503050406030204" pitchFamily="18" charset="0"/>
                                </a:rPr>
                                <m:t>𝑟</m:t>
                              </m:r>
                            </m:e>
                          </m:d>
                        </m:den>
                      </m:f>
                      <m:r>
                        <a:rPr lang="es-MX" i="1">
                          <a:latin typeface="Cambria Math" panose="02040503050406030204" pitchFamily="18" charset="0"/>
                        </a:rPr>
                        <m:t>   ;      </m:t>
                      </m:r>
                      <m:r>
                        <a:rPr lang="es-MX" i="1">
                          <a:latin typeface="Cambria Math" panose="02040503050406030204" pitchFamily="18" charset="0"/>
                        </a:rPr>
                        <m:t>𝑟</m:t>
                      </m:r>
                      <m:r>
                        <a:rPr lang="es-MX" i="1">
                          <a:latin typeface="Cambria Math" panose="02040503050406030204" pitchFamily="18" charset="0"/>
                        </a:rPr>
                        <m:t>=</m:t>
                      </m:r>
                      <m:sSup>
                        <m:sSupPr>
                          <m:ctrlPr>
                            <a:rPr lang="es-MX" i="1" smtClean="0">
                              <a:latin typeface="Cambria Math" panose="02040503050406030204" pitchFamily="18" charset="0"/>
                            </a:rPr>
                          </m:ctrlPr>
                        </m:sSupPr>
                        <m:e>
                          <m:r>
                            <a:rPr lang="es-BO" b="0" i="1" smtClean="0">
                              <a:latin typeface="Cambria Math" panose="02040503050406030204" pitchFamily="18" charset="0"/>
                            </a:rPr>
                            <m:t>𝑒</m:t>
                          </m:r>
                        </m:e>
                        <m:sup>
                          <m:r>
                            <a:rPr lang="es-BO" b="0" i="1" smtClean="0">
                              <a:latin typeface="Cambria Math" panose="02040503050406030204" pitchFamily="18" charset="0"/>
                            </a:rPr>
                            <m:t>−</m:t>
                          </m:r>
                          <m:f>
                            <m:fPr>
                              <m:ctrlPr>
                                <a:rPr lang="es-BO" b="0" i="1" smtClean="0">
                                  <a:latin typeface="Cambria Math" panose="02040503050406030204" pitchFamily="18" charset="0"/>
                                </a:rPr>
                              </m:ctrlPr>
                            </m:fPr>
                            <m:num>
                              <m:r>
                                <a:rPr lang="es-BO" b="0" i="1" smtClean="0">
                                  <a:latin typeface="Cambria Math" panose="02040503050406030204" pitchFamily="18" charset="0"/>
                                </a:rPr>
                                <m:t>𝑇</m:t>
                              </m:r>
                            </m:num>
                            <m:den>
                              <m:r>
                                <a:rPr lang="es-BO" b="0" i="1" smtClean="0">
                                  <a:latin typeface="Cambria Math" panose="02040503050406030204" pitchFamily="18" charset="0"/>
                                  <a:ea typeface="Cambria Math" panose="02040503050406030204" pitchFamily="18" charset="0"/>
                                </a:rPr>
                                <m:t>𝜏</m:t>
                              </m:r>
                            </m:den>
                          </m:f>
                        </m:sup>
                      </m:sSup>
                      <m:r>
                        <a:rPr lang="es-BO" b="0" i="1" smtClean="0">
                          <a:latin typeface="Cambria Math" panose="02040503050406030204" pitchFamily="18" charset="0"/>
                        </a:rPr>
                        <m:t>=</m:t>
                      </m:r>
                      <m:r>
                        <a:rPr lang="es-MX" i="1">
                          <a:latin typeface="Cambria Math" panose="02040503050406030204" pitchFamily="18" charset="0"/>
                        </a:rPr>
                        <m:t>0.</m:t>
                      </m:r>
                      <m:r>
                        <a:rPr lang="es-BO" b="0" i="1" smtClean="0">
                          <a:latin typeface="Cambria Math" panose="02040503050406030204" pitchFamily="18" charset="0"/>
                        </a:rPr>
                        <m:t>8171</m:t>
                      </m:r>
                    </m:oMath>
                  </m:oMathPara>
                </a14:m>
                <a:endParaRPr lang="es-BO" b="0" dirty="0"/>
              </a:p>
              <a:p>
                <a:pPr marL="0" indent="0">
                  <a:buNone/>
                </a:pPr>
                <a:r>
                  <a:rPr lang="es-BO" dirty="0"/>
                  <a:t>Sea el polinomio característico de un sistema deseado:</a:t>
                </a:r>
                <a:endParaRPr lang="en-US" dirty="0"/>
              </a:p>
              <a:p>
                <a:pPr marL="0" indent="0">
                  <a:buNone/>
                </a:pPr>
                <a14:m>
                  <m:oMathPara xmlns:m="http://schemas.openxmlformats.org/officeDocument/2006/math">
                    <m:oMathParaPr>
                      <m:jc m:val="centerGroup"/>
                    </m:oMathParaPr>
                    <m:oMath xmlns:m="http://schemas.openxmlformats.org/officeDocument/2006/math">
                      <m:r>
                        <a:rPr lang="es-MX" i="1">
                          <a:latin typeface="Cambria Math" panose="02040503050406030204" pitchFamily="18" charset="0"/>
                        </a:rPr>
                        <m:t>𝑧</m:t>
                      </m:r>
                      <m:r>
                        <a:rPr lang="es-MX" i="1">
                          <a:latin typeface="Cambria Math" panose="02040503050406030204" pitchFamily="18" charset="0"/>
                        </a:rPr>
                        <m:t>−</m:t>
                      </m:r>
                      <m:r>
                        <a:rPr lang="es-MX" i="1">
                          <a:latin typeface="Cambria Math" panose="02040503050406030204" pitchFamily="18" charset="0"/>
                        </a:rPr>
                        <m:t>𝑟</m:t>
                      </m:r>
                      <m:r>
                        <a:rPr lang="es-MX" i="1">
                          <a:latin typeface="Cambria Math" panose="02040503050406030204" pitchFamily="18" charset="0"/>
                        </a:rPr>
                        <m:t>      →    </m:t>
                      </m:r>
                      <m:r>
                        <a:rPr lang="es-MX" i="1">
                          <a:latin typeface="Cambria Math" panose="02040503050406030204" pitchFamily="18" charset="0"/>
                        </a:rPr>
                        <m:t>𝑧</m:t>
                      </m:r>
                      <m:r>
                        <a:rPr lang="es-MX" i="1">
                          <a:latin typeface="Cambria Math" panose="02040503050406030204" pitchFamily="18" charset="0"/>
                        </a:rPr>
                        <m:t>−0.8171</m:t>
                      </m:r>
                    </m:oMath>
                  </m:oMathPara>
                </a14:m>
                <a:endParaRPr lang="es-BO" dirty="0"/>
              </a:p>
              <a:p>
                <a:pPr marL="0" indent="0">
                  <a:buNone/>
                </a:pPr>
                <a:r>
                  <a:rPr lang="es-BO" dirty="0"/>
                  <a:t>Por el método de </a:t>
                </a:r>
                <a:r>
                  <a:rPr lang="es-BO" dirty="0" err="1"/>
                  <a:t>Ackerman</a:t>
                </a:r>
                <a:r>
                  <a:rPr lang="es-BO" dirty="0"/>
                  <a:t>:</a:t>
                </a:r>
                <a:endParaRPr lang="en-US" dirty="0"/>
              </a:p>
              <a:p>
                <a:pPr marL="0" indent="0">
                  <a:buNone/>
                </a:pPr>
                <a14:m>
                  <m:oMathPara xmlns:m="http://schemas.openxmlformats.org/officeDocument/2006/math">
                    <m:oMathParaPr>
                      <m:jc m:val="centerGroup"/>
                    </m:oMathParaPr>
                    <m:oMath xmlns:m="http://schemas.openxmlformats.org/officeDocument/2006/math">
                      <m:acc>
                        <m:accPr>
                          <m:chr m:val="̅"/>
                          <m:ctrlPr>
                            <a:rPr lang="en-US" i="1">
                              <a:latin typeface="Cambria Math" panose="02040503050406030204" pitchFamily="18" charset="0"/>
                            </a:rPr>
                          </m:ctrlPr>
                        </m:accPr>
                        <m:e>
                          <m:r>
                            <a:rPr lang="es-BO" i="1">
                              <a:latin typeface="Cambria Math" panose="02040503050406030204" pitchFamily="18" charset="0"/>
                            </a:rPr>
                            <m:t>𝐾</m:t>
                          </m:r>
                        </m:e>
                      </m:acc>
                      <m:r>
                        <a:rPr lang="es-BO" i="1">
                          <a:latin typeface="Cambria Math" panose="02040503050406030204" pitchFamily="18" charset="0"/>
                        </a:rPr>
                        <m:t>=</m:t>
                      </m:r>
                      <m:d>
                        <m:dPr>
                          <m:begChr m:val="["/>
                          <m:endChr m:val="]"/>
                          <m:ctrlPr>
                            <a:rPr lang="en-US" i="1">
                              <a:latin typeface="Cambria Math" panose="02040503050406030204" pitchFamily="18" charset="0"/>
                            </a:rPr>
                          </m:ctrlPr>
                        </m:dPr>
                        <m:e>
                          <m:r>
                            <a:rPr lang="es-BO" i="1">
                              <a:latin typeface="Cambria Math" panose="02040503050406030204" pitchFamily="18" charset="0"/>
                            </a:rPr>
                            <m:t>1</m:t>
                          </m:r>
                        </m:e>
                      </m:d>
                      <m:r>
                        <a:rPr lang="es-BO" i="1">
                          <a:latin typeface="Cambria Math" panose="02040503050406030204" pitchFamily="18" charset="0"/>
                        </a:rPr>
                        <m:t>∗</m:t>
                      </m:r>
                      <m:sSubSup>
                        <m:sSubSupPr>
                          <m:ctrlPr>
                            <a:rPr lang="en-US" i="1">
                              <a:latin typeface="Cambria Math" panose="02040503050406030204" pitchFamily="18" charset="0"/>
                            </a:rPr>
                          </m:ctrlPr>
                        </m:sSubSupPr>
                        <m:e>
                          <m:r>
                            <a:rPr lang="es-BO" i="1">
                              <a:latin typeface="Cambria Math" panose="02040503050406030204" pitchFamily="18" charset="0"/>
                            </a:rPr>
                            <m:t>𝐶</m:t>
                          </m:r>
                        </m:e>
                        <m:sub>
                          <m:r>
                            <a:rPr lang="es-BO" i="1">
                              <a:latin typeface="Cambria Math" panose="02040503050406030204" pitchFamily="18" charset="0"/>
                            </a:rPr>
                            <m:t>𝑜</m:t>
                          </m:r>
                        </m:sub>
                        <m:sup>
                          <m:r>
                            <a:rPr lang="es-BO" i="1">
                              <a:latin typeface="Cambria Math" panose="02040503050406030204" pitchFamily="18" charset="0"/>
                            </a:rPr>
                            <m:t>−1</m:t>
                          </m:r>
                        </m:sup>
                      </m:sSubSup>
                      <m:r>
                        <a:rPr lang="es-BO" i="1">
                          <a:latin typeface="Cambria Math" panose="02040503050406030204" pitchFamily="18" charset="0"/>
                        </a:rPr>
                        <m:t>∗</m:t>
                      </m:r>
                      <m:r>
                        <a:rPr lang="es-BO" i="1">
                          <a:latin typeface="Cambria Math" panose="02040503050406030204" pitchFamily="18" charset="0"/>
                        </a:rPr>
                        <m:t>𝜙</m:t>
                      </m:r>
                      <m:d>
                        <m:dPr>
                          <m:ctrlPr>
                            <a:rPr lang="en-US" i="1">
                              <a:latin typeface="Cambria Math" panose="02040503050406030204" pitchFamily="18" charset="0"/>
                            </a:rPr>
                          </m:ctrlPr>
                        </m:dPr>
                        <m:e>
                          <m:acc>
                            <m:accPr>
                              <m:chr m:val="̅"/>
                              <m:ctrlPr>
                                <a:rPr lang="en-US" i="1">
                                  <a:latin typeface="Cambria Math" panose="02040503050406030204" pitchFamily="18" charset="0"/>
                                </a:rPr>
                              </m:ctrlPr>
                            </m:accPr>
                            <m:e>
                              <m:r>
                                <a:rPr lang="es-BO" i="1">
                                  <a:latin typeface="Cambria Math" panose="02040503050406030204" pitchFamily="18" charset="0"/>
                                </a:rPr>
                                <m:t>𝐴</m:t>
                              </m:r>
                            </m:e>
                          </m:acc>
                        </m:e>
                      </m:d>
                    </m:oMath>
                  </m:oMathPara>
                </a14:m>
                <a:endParaRPr lang="en-US" dirty="0"/>
              </a:p>
              <a:p>
                <a:pPr marL="0" indent="0">
                  <a:buNone/>
                </a:pPr>
                <a14:m>
                  <m:oMathPara xmlns:m="http://schemas.openxmlformats.org/officeDocument/2006/math">
                    <m:oMathParaPr>
                      <m:jc m:val="centerGroup"/>
                    </m:oMathParaPr>
                    <m:oMath xmlns:m="http://schemas.openxmlformats.org/officeDocument/2006/math">
                      <m:r>
                        <a:rPr lang="es-BO" i="1">
                          <a:latin typeface="Cambria Math" panose="02040503050406030204" pitchFamily="18" charset="0"/>
                        </a:rPr>
                        <m:t> </m:t>
                      </m:r>
                      <m:acc>
                        <m:accPr>
                          <m:chr m:val="̅"/>
                          <m:ctrlPr>
                            <a:rPr lang="en-US" i="1">
                              <a:latin typeface="Cambria Math" panose="02040503050406030204" pitchFamily="18" charset="0"/>
                            </a:rPr>
                          </m:ctrlPr>
                        </m:accPr>
                        <m:e>
                          <m:r>
                            <a:rPr lang="es-BO" i="1">
                              <a:latin typeface="Cambria Math" panose="02040503050406030204" pitchFamily="18" charset="0"/>
                            </a:rPr>
                            <m:t>𝐾</m:t>
                          </m:r>
                        </m:e>
                      </m:acc>
                      <m:r>
                        <a:rPr lang="es-BO" i="1">
                          <a:latin typeface="Cambria Math" panose="02040503050406030204" pitchFamily="18" charset="0"/>
                        </a:rPr>
                        <m:t>=</m:t>
                      </m:r>
                      <m:d>
                        <m:dPr>
                          <m:begChr m:val="["/>
                          <m:endChr m:val="]"/>
                          <m:ctrlPr>
                            <a:rPr lang="en-US" i="1">
                              <a:latin typeface="Cambria Math" panose="02040503050406030204" pitchFamily="18" charset="0"/>
                            </a:rPr>
                          </m:ctrlPr>
                        </m:dPr>
                        <m:e>
                          <m:r>
                            <a:rPr lang="es-BO" i="1">
                              <a:latin typeface="Cambria Math" panose="02040503050406030204" pitchFamily="18" charset="0"/>
                            </a:rPr>
                            <m:t>1</m:t>
                          </m:r>
                        </m:e>
                      </m:d>
                      <m:r>
                        <a:rPr lang="es-BO" i="1">
                          <a:latin typeface="Cambria Math" panose="02040503050406030204" pitchFamily="18" charset="0"/>
                        </a:rPr>
                        <m:t>∗</m:t>
                      </m:r>
                      <m:sSup>
                        <m:sSupPr>
                          <m:ctrlPr>
                            <a:rPr lang="en-US" i="1">
                              <a:latin typeface="Cambria Math" panose="02040503050406030204" pitchFamily="18" charset="0"/>
                            </a:rPr>
                          </m:ctrlPr>
                        </m:sSupPr>
                        <m:e>
                          <m:acc>
                            <m:accPr>
                              <m:chr m:val="̅"/>
                              <m:ctrlPr>
                                <a:rPr lang="en-US" i="1">
                                  <a:latin typeface="Cambria Math" panose="02040503050406030204" pitchFamily="18" charset="0"/>
                                </a:rPr>
                              </m:ctrlPr>
                            </m:accPr>
                            <m:e>
                              <m:r>
                                <a:rPr lang="es-BO" i="1">
                                  <a:latin typeface="Cambria Math" panose="02040503050406030204" pitchFamily="18" charset="0"/>
                                </a:rPr>
                                <m:t>𝐵</m:t>
                              </m:r>
                            </m:e>
                          </m:acc>
                        </m:e>
                        <m:sup>
                          <m:r>
                            <a:rPr lang="es-BO" i="1">
                              <a:latin typeface="Cambria Math" panose="02040503050406030204" pitchFamily="18" charset="0"/>
                            </a:rPr>
                            <m:t>−1</m:t>
                          </m:r>
                        </m:sup>
                      </m:sSup>
                      <m:r>
                        <a:rPr lang="es-BO" i="1">
                          <a:latin typeface="Cambria Math" panose="02040503050406030204" pitchFamily="18" charset="0"/>
                        </a:rPr>
                        <m:t>∗</m:t>
                      </m:r>
                      <m:d>
                        <m:dPr>
                          <m:begChr m:val="["/>
                          <m:endChr m:val="]"/>
                          <m:ctrlPr>
                            <a:rPr lang="en-US" i="1">
                              <a:latin typeface="Cambria Math" panose="02040503050406030204" pitchFamily="18" charset="0"/>
                            </a:rPr>
                          </m:ctrlPr>
                        </m:dPr>
                        <m:e>
                          <m:acc>
                            <m:accPr>
                              <m:chr m:val="̅"/>
                              <m:ctrlPr>
                                <a:rPr lang="en-US" i="1">
                                  <a:latin typeface="Cambria Math" panose="02040503050406030204" pitchFamily="18" charset="0"/>
                                </a:rPr>
                              </m:ctrlPr>
                            </m:accPr>
                            <m:e>
                              <m:r>
                                <a:rPr lang="es-BO" i="1" smtClean="0">
                                  <a:latin typeface="Cambria Math" panose="02040503050406030204" pitchFamily="18" charset="0"/>
                                </a:rPr>
                                <m:t>𝐴</m:t>
                              </m:r>
                            </m:e>
                          </m:acc>
                          <m:r>
                            <a:rPr lang="es-MX" i="1">
                              <a:latin typeface="Cambria Math" panose="02040503050406030204" pitchFamily="18" charset="0"/>
                            </a:rPr>
                            <m:t>−0.6522</m:t>
                          </m:r>
                        </m:e>
                      </m:d>
                    </m:oMath>
                  </m:oMathPara>
                </a14:m>
                <a:endParaRPr lang="en-US" dirty="0"/>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r>
                        <a:rPr lang="es-BO" i="1">
                          <a:latin typeface="Cambria Math" panose="02040503050406030204" pitchFamily="18" charset="0"/>
                        </a:rPr>
                        <m:t> </m:t>
                      </m:r>
                      <m:acc>
                        <m:accPr>
                          <m:chr m:val="̅"/>
                          <m:ctrlPr>
                            <a:rPr lang="en-US" i="1">
                              <a:latin typeface="Cambria Math" panose="02040503050406030204" pitchFamily="18" charset="0"/>
                            </a:rPr>
                          </m:ctrlPr>
                        </m:accPr>
                        <m:e>
                          <m:r>
                            <a:rPr lang="es-BO" i="1">
                              <a:latin typeface="Cambria Math" panose="02040503050406030204" pitchFamily="18" charset="0"/>
                            </a:rPr>
                            <m:t>𝐾</m:t>
                          </m:r>
                        </m:e>
                      </m:acc>
                      <m:r>
                        <a:rPr lang="es-BO" i="1">
                          <a:latin typeface="Cambria Math" panose="02040503050406030204" pitchFamily="18" charset="0"/>
                        </a:rPr>
                        <m:t>=</m:t>
                      </m:r>
                      <m:d>
                        <m:dPr>
                          <m:begChr m:val="["/>
                          <m:endChr m:val="]"/>
                          <m:ctrlPr>
                            <a:rPr lang="en-US" i="1">
                              <a:latin typeface="Cambria Math" panose="02040503050406030204" pitchFamily="18" charset="0"/>
                            </a:rPr>
                          </m:ctrlPr>
                        </m:dPr>
                        <m:e>
                          <m:r>
                            <a:rPr lang="es-BO" i="1">
                              <a:latin typeface="Cambria Math" panose="02040503050406030204" pitchFamily="18" charset="0"/>
                            </a:rPr>
                            <m:t>1</m:t>
                          </m:r>
                        </m:e>
                      </m:d>
                      <m:r>
                        <a:rPr lang="es-BO" i="1">
                          <a:latin typeface="Cambria Math" panose="02040503050406030204" pitchFamily="18" charset="0"/>
                        </a:rPr>
                        <m:t>∗</m:t>
                      </m:r>
                      <m:sSup>
                        <m:sSupPr>
                          <m:ctrlPr>
                            <a:rPr lang="en-US" i="1">
                              <a:latin typeface="Cambria Math" panose="02040503050406030204" pitchFamily="18" charset="0"/>
                            </a:rPr>
                          </m:ctrlPr>
                        </m:sSupPr>
                        <m:e>
                          <m:d>
                            <m:dPr>
                              <m:begChr m:val="["/>
                              <m:endChr m:val="]"/>
                              <m:ctrlPr>
                                <a:rPr lang="es-BO" b="0" i="1" smtClean="0">
                                  <a:latin typeface="Cambria Math" panose="02040503050406030204" pitchFamily="18" charset="0"/>
                                </a:rPr>
                              </m:ctrlPr>
                            </m:dPr>
                            <m:e>
                              <m:r>
                                <a:rPr lang="es-BO" i="1">
                                  <a:latin typeface="Cambria Math" panose="02040503050406030204" pitchFamily="18" charset="0"/>
                                </a:rPr>
                                <m:t>91</m:t>
                              </m:r>
                              <m:r>
                                <a:rPr lang="es-BO" b="0" i="1" smtClean="0">
                                  <a:latin typeface="Cambria Math" panose="02040503050406030204" pitchFamily="18" charset="0"/>
                                </a:rPr>
                                <m:t>.</m:t>
                              </m:r>
                              <m:r>
                                <a:rPr lang="es-BO" i="1">
                                  <a:latin typeface="Cambria Math" panose="02040503050406030204" pitchFamily="18" charset="0"/>
                                </a:rPr>
                                <m:t>0</m:t>
                              </m:r>
                              <m:r>
                                <a:rPr lang="es-BO" b="0" i="1" smtClean="0">
                                  <a:latin typeface="Cambria Math" panose="02040503050406030204" pitchFamily="18" charset="0"/>
                                </a:rPr>
                                <m:t>25</m:t>
                              </m:r>
                              <m:r>
                                <a:rPr lang="es-BO" i="1">
                                  <a:latin typeface="Cambria Math" panose="02040503050406030204" pitchFamily="18" charset="0"/>
                                </a:rPr>
                                <m:t>∙</m:t>
                              </m:r>
                              <m:sSup>
                                <m:sSupPr>
                                  <m:ctrlPr>
                                    <a:rPr lang="en-US" i="1">
                                      <a:latin typeface="Cambria Math" panose="02040503050406030204" pitchFamily="18" charset="0"/>
                                    </a:rPr>
                                  </m:ctrlPr>
                                </m:sSupPr>
                                <m:e>
                                  <m:r>
                                    <a:rPr lang="es-MX" i="1">
                                      <a:latin typeface="Cambria Math" panose="02040503050406030204" pitchFamily="18" charset="0"/>
                                    </a:rPr>
                                    <m:t>10</m:t>
                                  </m:r>
                                </m:e>
                                <m:sup>
                                  <m:r>
                                    <a:rPr lang="es-MX" i="1">
                                      <a:latin typeface="Cambria Math" panose="02040503050406030204" pitchFamily="18" charset="0"/>
                                    </a:rPr>
                                    <m:t>−3</m:t>
                                  </m:r>
                                </m:sup>
                              </m:sSup>
                            </m:e>
                          </m:d>
                        </m:e>
                        <m:sup>
                          <m:r>
                            <a:rPr lang="es-BO" i="1">
                              <a:latin typeface="Cambria Math" panose="02040503050406030204" pitchFamily="18" charset="0"/>
                            </a:rPr>
                            <m:t>−1</m:t>
                          </m:r>
                        </m:sup>
                      </m:sSup>
                      <m:r>
                        <a:rPr lang="es-BO" i="1">
                          <a:latin typeface="Cambria Math" panose="02040503050406030204" pitchFamily="18" charset="0"/>
                        </a:rPr>
                        <m:t>∗</m:t>
                      </m:r>
                      <m:d>
                        <m:dPr>
                          <m:begChr m:val="["/>
                          <m:endChr m:val="]"/>
                          <m:ctrlPr>
                            <a:rPr lang="en-US" i="1">
                              <a:latin typeface="Cambria Math" panose="02040503050406030204" pitchFamily="18" charset="0"/>
                            </a:rPr>
                          </m:ctrlPr>
                        </m:dPr>
                        <m:e>
                          <m:acc>
                            <m:accPr>
                              <m:chr m:val="̅"/>
                              <m:ctrlPr>
                                <a:rPr lang="en-US" i="1">
                                  <a:latin typeface="Cambria Math" panose="02040503050406030204" pitchFamily="18" charset="0"/>
                                </a:rPr>
                              </m:ctrlPr>
                            </m:accPr>
                            <m:e>
                              <m:r>
                                <a:rPr lang="es-BO" i="1">
                                  <a:latin typeface="Cambria Math" panose="02040503050406030204" pitchFamily="18" charset="0"/>
                                </a:rPr>
                                <m:t>0.9048</m:t>
                              </m:r>
                              <m:r>
                                <m:rPr>
                                  <m:nor/>
                                </m:rPr>
                                <a:rPr lang="en-US" dirty="0"/>
                                <m:t> </m:t>
                              </m:r>
                            </m:e>
                          </m:acc>
                          <m:r>
                            <a:rPr lang="es-MX" i="1">
                              <a:latin typeface="Cambria Math" panose="02040503050406030204" pitchFamily="18" charset="0"/>
                            </a:rPr>
                            <m:t>−0.0.</m:t>
                          </m:r>
                          <m:r>
                            <a:rPr lang="es-BO" i="1">
                              <a:latin typeface="Cambria Math" panose="02040503050406030204" pitchFamily="18" charset="0"/>
                            </a:rPr>
                            <m:t>8171</m:t>
                          </m:r>
                          <m:r>
                            <m:rPr>
                              <m:nor/>
                            </m:rPr>
                            <a:rPr lang="es-BO" dirty="0"/>
                            <m:t> </m:t>
                          </m:r>
                        </m:e>
                      </m:d>
                    </m:oMath>
                  </m:oMathPara>
                </a14:m>
                <a:endParaRPr lang="en-US" dirty="0"/>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acc>
                        <m:accPr>
                          <m:chr m:val="̅"/>
                          <m:ctrlPr>
                            <a:rPr lang="en-US" b="1" i="1">
                              <a:latin typeface="Cambria Math" panose="02040503050406030204" pitchFamily="18" charset="0"/>
                            </a:rPr>
                          </m:ctrlPr>
                        </m:accPr>
                        <m:e>
                          <m:r>
                            <a:rPr lang="es-BO" b="1" i="1">
                              <a:latin typeface="Cambria Math" panose="02040503050406030204" pitchFamily="18" charset="0"/>
                            </a:rPr>
                            <m:t>𝑲</m:t>
                          </m:r>
                        </m:e>
                      </m:acc>
                      <m:r>
                        <a:rPr lang="es-BO" b="1" i="1" smtClean="0">
                          <a:latin typeface="Cambria Math" panose="02040503050406030204" pitchFamily="18" charset="0"/>
                        </a:rPr>
                        <m:t>=</m:t>
                      </m:r>
                      <m:r>
                        <a:rPr lang="es-BO" b="1" i="1" smtClean="0">
                          <a:latin typeface="Cambria Math" panose="02040503050406030204" pitchFamily="18" charset="0"/>
                        </a:rPr>
                        <m:t>𝟎</m:t>
                      </m:r>
                      <m:r>
                        <a:rPr lang="es-BO" b="1" i="1" smtClean="0">
                          <a:latin typeface="Cambria Math" panose="02040503050406030204" pitchFamily="18" charset="0"/>
                        </a:rPr>
                        <m:t>.</m:t>
                      </m:r>
                      <m:r>
                        <a:rPr lang="es-BO" b="1" i="1" smtClean="0">
                          <a:latin typeface="Cambria Math" panose="02040503050406030204" pitchFamily="18" charset="0"/>
                        </a:rPr>
                        <m:t>𝟗𝟔𝟔𝟗</m:t>
                      </m:r>
                    </m:oMath>
                  </m:oMathPara>
                </a14:m>
                <a:endParaRPr lang="en-US" dirty="0"/>
              </a:p>
              <a:p>
                <a:pPr marL="0" indent="0">
                  <a:buNone/>
                </a:pPr>
                <a:r>
                  <a:rPr lang="es-BO" dirty="0"/>
                  <a:t>Calculamos la matriz de recompensación para el seguimiento a referencia:</a:t>
                </a:r>
                <a:endParaRPr lang="en-US" dirty="0"/>
              </a:p>
              <a:p>
                <a:pPr marL="0" indent="0">
                  <a:buNone/>
                </a:pPr>
                <a14:m>
                  <m:oMathPara xmlns:m="http://schemas.openxmlformats.org/officeDocument/2006/math">
                    <m:oMathParaPr>
                      <m:jc m:val="centerGroup"/>
                    </m:oMathParaPr>
                    <m:oMath xmlns:m="http://schemas.openxmlformats.org/officeDocument/2006/math">
                      <m:r>
                        <a:rPr lang="es-BO" i="1">
                          <a:latin typeface="Cambria Math" panose="02040503050406030204" pitchFamily="18" charset="0"/>
                        </a:rPr>
                        <m:t>𝐺</m:t>
                      </m:r>
                      <m:d>
                        <m:dPr>
                          <m:ctrlPr>
                            <a:rPr lang="en-US" i="1">
                              <a:latin typeface="Cambria Math" panose="02040503050406030204" pitchFamily="18" charset="0"/>
                            </a:rPr>
                          </m:ctrlPr>
                        </m:dPr>
                        <m:e>
                          <m:r>
                            <a:rPr lang="es-BO" i="1">
                              <a:latin typeface="Cambria Math" panose="02040503050406030204" pitchFamily="18" charset="0"/>
                            </a:rPr>
                            <m:t>𝑧</m:t>
                          </m:r>
                        </m:e>
                      </m:d>
                      <m:r>
                        <a:rPr lang="es-BO" i="1">
                          <a:latin typeface="Cambria Math" panose="02040503050406030204" pitchFamily="18" charset="0"/>
                        </a:rPr>
                        <m:t>=</m:t>
                      </m:r>
                      <m:sSup>
                        <m:sSupPr>
                          <m:ctrlPr>
                            <a:rPr lang="en-US" i="1">
                              <a:latin typeface="Cambria Math" panose="02040503050406030204" pitchFamily="18" charset="0"/>
                            </a:rPr>
                          </m:ctrlPr>
                        </m:sSupPr>
                        <m:e>
                          <m:r>
                            <a:rPr lang="es-BO" i="1">
                              <a:latin typeface="Cambria Math" panose="02040503050406030204" pitchFamily="18" charset="0"/>
                            </a:rPr>
                            <m:t>𝐶</m:t>
                          </m:r>
                          <m:r>
                            <a:rPr lang="es-BO" i="1">
                              <a:latin typeface="Cambria Math" panose="02040503050406030204" pitchFamily="18" charset="0"/>
                            </a:rPr>
                            <m:t>∗</m:t>
                          </m:r>
                          <m:d>
                            <m:dPr>
                              <m:ctrlPr>
                                <a:rPr lang="en-US" i="1">
                                  <a:latin typeface="Cambria Math" panose="02040503050406030204" pitchFamily="18" charset="0"/>
                                </a:rPr>
                              </m:ctrlPr>
                            </m:dPr>
                            <m:e>
                              <m:r>
                                <a:rPr lang="es-BO" i="1">
                                  <a:latin typeface="Cambria Math" panose="02040503050406030204" pitchFamily="18" charset="0"/>
                                </a:rPr>
                                <m:t>𝑧𝐼</m:t>
                              </m:r>
                              <m:r>
                                <a:rPr lang="es-BO" i="1">
                                  <a:latin typeface="Cambria Math" panose="02040503050406030204" pitchFamily="18" charset="0"/>
                                </a:rPr>
                                <m:t>−(</m:t>
                              </m:r>
                              <m:r>
                                <a:rPr lang="es-BO" i="1">
                                  <a:latin typeface="Cambria Math" panose="02040503050406030204" pitchFamily="18" charset="0"/>
                                </a:rPr>
                                <m:t>𝐴</m:t>
                              </m:r>
                              <m:r>
                                <a:rPr lang="es-BO" i="1">
                                  <a:latin typeface="Cambria Math" panose="02040503050406030204" pitchFamily="18" charset="0"/>
                                </a:rPr>
                                <m:t>−</m:t>
                              </m:r>
                              <m:r>
                                <a:rPr lang="es-BO" i="1">
                                  <a:latin typeface="Cambria Math" panose="02040503050406030204" pitchFamily="18" charset="0"/>
                                </a:rPr>
                                <m:t>𝐵𝐾</m:t>
                              </m:r>
                              <m:r>
                                <a:rPr lang="es-BO" i="1">
                                  <a:latin typeface="Cambria Math" panose="02040503050406030204" pitchFamily="18" charset="0"/>
                                </a:rPr>
                                <m:t>)</m:t>
                              </m:r>
                            </m:e>
                          </m:d>
                        </m:e>
                        <m:sup>
                          <m:r>
                            <a:rPr lang="es-BO" i="1">
                              <a:latin typeface="Cambria Math" panose="02040503050406030204" pitchFamily="18" charset="0"/>
                            </a:rPr>
                            <m:t>−1</m:t>
                          </m:r>
                        </m:sup>
                      </m:sSup>
                      <m:r>
                        <a:rPr lang="es-BO" i="1">
                          <a:latin typeface="Cambria Math" panose="02040503050406030204" pitchFamily="18" charset="0"/>
                        </a:rPr>
                        <m:t>∗</m:t>
                      </m:r>
                      <m:r>
                        <a:rPr lang="es-BO" i="1">
                          <a:latin typeface="Cambria Math" panose="02040503050406030204" pitchFamily="18" charset="0"/>
                        </a:rPr>
                        <m:t>𝐵</m:t>
                      </m:r>
                      <m:r>
                        <a:rPr lang="es-BO" i="1">
                          <a:latin typeface="Cambria Math" panose="02040503050406030204" pitchFamily="18" charset="0"/>
                        </a:rPr>
                        <m:t> →    </m:t>
                      </m:r>
                      <m:r>
                        <a:rPr lang="es-BO" i="1">
                          <a:latin typeface="Cambria Math" panose="02040503050406030204" pitchFamily="18" charset="0"/>
                        </a:rPr>
                        <m:t>𝐺</m:t>
                      </m:r>
                      <m:d>
                        <m:dPr>
                          <m:ctrlPr>
                            <a:rPr lang="en-US" i="1">
                              <a:latin typeface="Cambria Math" panose="02040503050406030204" pitchFamily="18" charset="0"/>
                            </a:rPr>
                          </m:ctrlPr>
                        </m:dPr>
                        <m:e>
                          <m:r>
                            <a:rPr lang="es-BO" i="1">
                              <a:latin typeface="Cambria Math" panose="02040503050406030204" pitchFamily="18" charset="0"/>
                            </a:rPr>
                            <m:t>𝑧</m:t>
                          </m:r>
                        </m:e>
                      </m:d>
                      <m:r>
                        <a:rPr lang="es-BO" i="1">
                          <a:latin typeface="Cambria Math" panose="02040503050406030204" pitchFamily="18" charset="0"/>
                        </a:rPr>
                        <m:t>=</m:t>
                      </m:r>
                      <m:f>
                        <m:fPr>
                          <m:ctrlPr>
                            <a:rPr lang="en-US" i="1">
                              <a:latin typeface="Cambria Math" panose="02040503050406030204" pitchFamily="18" charset="0"/>
                            </a:rPr>
                          </m:ctrlPr>
                        </m:fPr>
                        <m:num>
                          <m:r>
                            <a:rPr lang="es-BO" i="1">
                              <a:latin typeface="Cambria Math" panose="02040503050406030204" pitchFamily="18" charset="0"/>
                            </a:rPr>
                            <m:t>91</m:t>
                          </m:r>
                          <m:r>
                            <a:rPr lang="es-BO" b="0" i="1" smtClean="0">
                              <a:latin typeface="Cambria Math" panose="02040503050406030204" pitchFamily="18" charset="0"/>
                            </a:rPr>
                            <m:t>.</m:t>
                          </m:r>
                          <m:r>
                            <a:rPr lang="es-BO" i="1">
                              <a:latin typeface="Cambria Math" panose="02040503050406030204" pitchFamily="18" charset="0"/>
                            </a:rPr>
                            <m:t>0</m:t>
                          </m:r>
                          <m:r>
                            <a:rPr lang="es-BO" b="0" i="1" smtClean="0">
                              <a:latin typeface="Cambria Math" panose="02040503050406030204" pitchFamily="18" charset="0"/>
                            </a:rPr>
                            <m:t>25</m:t>
                          </m:r>
                          <m:r>
                            <a:rPr lang="es-MX" i="1">
                              <a:latin typeface="Cambria Math" panose="02040503050406030204" pitchFamily="18" charset="0"/>
                            </a:rPr>
                            <m:t>∙</m:t>
                          </m:r>
                          <m:sSup>
                            <m:sSupPr>
                              <m:ctrlPr>
                                <a:rPr lang="en-US" i="1">
                                  <a:latin typeface="Cambria Math" panose="02040503050406030204" pitchFamily="18" charset="0"/>
                                </a:rPr>
                              </m:ctrlPr>
                            </m:sSupPr>
                            <m:e>
                              <m:r>
                                <a:rPr lang="es-MX" i="1">
                                  <a:latin typeface="Cambria Math" panose="02040503050406030204" pitchFamily="18" charset="0"/>
                                </a:rPr>
                                <m:t>10</m:t>
                              </m:r>
                            </m:e>
                            <m:sup>
                              <m:r>
                                <a:rPr lang="es-MX" i="1">
                                  <a:latin typeface="Cambria Math" panose="02040503050406030204" pitchFamily="18" charset="0"/>
                                </a:rPr>
                                <m:t>−3</m:t>
                              </m:r>
                            </m:sup>
                          </m:sSup>
                        </m:num>
                        <m:den>
                          <m:r>
                            <a:rPr lang="es-BO" i="1">
                              <a:latin typeface="Cambria Math" panose="02040503050406030204" pitchFamily="18" charset="0"/>
                            </a:rPr>
                            <m:t>𝑧</m:t>
                          </m:r>
                          <m:r>
                            <a:rPr lang="es-BO" i="1">
                              <a:latin typeface="Cambria Math" panose="02040503050406030204" pitchFamily="18" charset="0"/>
                            </a:rPr>
                            <m:t>−0.922</m:t>
                          </m:r>
                        </m:den>
                      </m:f>
                    </m:oMath>
                  </m:oMathPara>
                </a14:m>
                <a:endParaRPr lang="en-US" dirty="0"/>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r>
                        <a:rPr lang="es-BO" i="1">
                          <a:latin typeface="Cambria Math" panose="02040503050406030204" pitchFamily="18" charset="0"/>
                        </a:rPr>
                        <m:t>𝑆𝑖</m:t>
                      </m:r>
                      <m:r>
                        <a:rPr lang="es-BO" i="1">
                          <a:latin typeface="Cambria Math" panose="02040503050406030204" pitchFamily="18" charset="0"/>
                        </a:rPr>
                        <m:t>: </m:t>
                      </m:r>
                      <m:r>
                        <a:rPr lang="es-BO" i="1">
                          <a:latin typeface="Cambria Math" panose="02040503050406030204" pitchFamily="18" charset="0"/>
                        </a:rPr>
                        <m:t>𝑧</m:t>
                      </m:r>
                      <m:r>
                        <a:rPr lang="es-BO" i="1">
                          <a:latin typeface="Cambria Math" panose="02040503050406030204" pitchFamily="18" charset="0"/>
                        </a:rPr>
                        <m:t>→1     </m:t>
                      </m:r>
                      <m:r>
                        <a:rPr lang="es-BO" i="1">
                          <a:latin typeface="Cambria Math" panose="02040503050406030204" pitchFamily="18" charset="0"/>
                        </a:rPr>
                        <m:t>𝑒𝑛𝑡𝑜𝑛𝑐𝑒𝑠</m:t>
                      </m:r>
                      <m:r>
                        <a:rPr lang="es-BO" i="1">
                          <a:latin typeface="Cambria Math" panose="02040503050406030204" pitchFamily="18" charset="0"/>
                        </a:rPr>
                        <m:t>:     </m:t>
                      </m:r>
                      <m:f>
                        <m:fPr>
                          <m:ctrlPr>
                            <a:rPr lang="en-US" i="1">
                              <a:latin typeface="Cambria Math" panose="02040503050406030204" pitchFamily="18" charset="0"/>
                            </a:rPr>
                          </m:ctrlPr>
                        </m:fPr>
                        <m:num>
                          <m:r>
                            <a:rPr lang="es-BO" i="1">
                              <a:latin typeface="Cambria Math" panose="02040503050406030204" pitchFamily="18" charset="0"/>
                            </a:rPr>
                            <m:t>1</m:t>
                          </m:r>
                        </m:num>
                        <m:den>
                          <m:r>
                            <a:rPr lang="es-BO" i="1">
                              <a:latin typeface="Cambria Math" panose="02040503050406030204" pitchFamily="18" charset="0"/>
                            </a:rPr>
                            <m:t>𝑁</m:t>
                          </m:r>
                        </m:den>
                      </m:f>
                      <m:r>
                        <a:rPr lang="es-BO" i="1">
                          <a:latin typeface="Cambria Math" panose="02040503050406030204" pitchFamily="18" charset="0"/>
                        </a:rPr>
                        <m:t>=</m:t>
                      </m:r>
                      <m:r>
                        <a:rPr lang="es-BO" b="0" i="1" smtClean="0">
                          <a:latin typeface="Cambria Math" panose="02040503050406030204" pitchFamily="18" charset="0"/>
                        </a:rPr>
                        <m:t>261</m:t>
                      </m:r>
                      <m:r>
                        <a:rPr lang="es-BO" i="1">
                          <a:latin typeface="Cambria Math" panose="02040503050406030204" pitchFamily="18" charset="0"/>
                        </a:rPr>
                        <m:t>.</m:t>
                      </m:r>
                      <m:r>
                        <a:rPr lang="es-BO" b="0" i="1" smtClean="0">
                          <a:latin typeface="Cambria Math" panose="02040503050406030204" pitchFamily="18" charset="0"/>
                        </a:rPr>
                        <m:t>7159</m:t>
                      </m:r>
                      <m:r>
                        <a:rPr lang="es-MX" i="1">
                          <a:latin typeface="Cambria Math" panose="02040503050406030204" pitchFamily="18" charset="0"/>
                        </a:rPr>
                        <m:t>∙</m:t>
                      </m:r>
                      <m:sSup>
                        <m:sSupPr>
                          <m:ctrlPr>
                            <a:rPr lang="en-US" i="1">
                              <a:latin typeface="Cambria Math" panose="02040503050406030204" pitchFamily="18" charset="0"/>
                            </a:rPr>
                          </m:ctrlPr>
                        </m:sSupPr>
                        <m:e>
                          <m:r>
                            <a:rPr lang="es-MX" i="1">
                              <a:latin typeface="Cambria Math" panose="02040503050406030204" pitchFamily="18" charset="0"/>
                            </a:rPr>
                            <m:t>10</m:t>
                          </m:r>
                        </m:e>
                        <m:sup>
                          <m:r>
                            <a:rPr lang="es-MX" i="1">
                              <a:latin typeface="Cambria Math" panose="02040503050406030204" pitchFamily="18" charset="0"/>
                            </a:rPr>
                            <m:t>−3</m:t>
                          </m:r>
                        </m:sup>
                      </m:sSup>
                      <m:r>
                        <a:rPr lang="es-MX" i="1">
                          <a:latin typeface="Cambria Math" panose="02040503050406030204" pitchFamily="18" charset="0"/>
                        </a:rPr>
                        <m:t>  →   </m:t>
                      </m:r>
                      <m:r>
                        <a:rPr lang="es-MX" b="1" i="1">
                          <a:latin typeface="Cambria Math" panose="02040503050406030204" pitchFamily="18" charset="0"/>
                        </a:rPr>
                        <m:t>𝑵</m:t>
                      </m:r>
                      <m:r>
                        <a:rPr lang="es-MX" b="1" i="1">
                          <a:latin typeface="Cambria Math" panose="02040503050406030204" pitchFamily="18" charset="0"/>
                        </a:rPr>
                        <m:t>=</m:t>
                      </m:r>
                      <m:r>
                        <a:rPr lang="es-BO" b="1" i="1" smtClean="0">
                          <a:latin typeface="Cambria Math" panose="02040503050406030204" pitchFamily="18" charset="0"/>
                        </a:rPr>
                        <m:t>𝟐</m:t>
                      </m:r>
                      <m:r>
                        <a:rPr lang="es-BO" b="1" i="1" smtClean="0">
                          <a:latin typeface="Cambria Math" panose="02040503050406030204" pitchFamily="18" charset="0"/>
                        </a:rPr>
                        <m:t>.</m:t>
                      </m:r>
                      <m:r>
                        <a:rPr lang="es-BO" b="1" i="1" smtClean="0">
                          <a:latin typeface="Cambria Math" panose="02040503050406030204" pitchFamily="18" charset="0"/>
                        </a:rPr>
                        <m:t>𝟎𝟓𝟒</m:t>
                      </m:r>
                      <m:r>
                        <a:rPr lang="es-BO" b="1" i="1" smtClean="0">
                          <a:latin typeface="Cambria Math" panose="02040503050406030204" pitchFamily="18" charset="0"/>
                        </a:rPr>
                        <m:t>                                      </m:t>
                      </m:r>
                    </m:oMath>
                  </m:oMathPara>
                </a14:m>
                <a:endParaRPr lang="en-US" dirty="0"/>
              </a:p>
              <a:p>
                <a:pPr marL="0" indent="0">
                  <a:buNone/>
                </a:pPr>
                <a:r>
                  <a:rPr lang="es-BO" b="1" dirty="0"/>
                  <a:t> </a:t>
                </a:r>
                <a:endParaRPr lang="en-US" dirty="0"/>
              </a:p>
            </p:txBody>
          </p:sp>
        </mc:Choice>
        <mc:Fallback xmlns="">
          <p:sp>
            <p:nvSpPr>
              <p:cNvPr id="3" name="Marcador de contenido 2"/>
              <p:cNvSpPr>
                <a:spLocks noGrp="1" noRot="1" noChangeAspect="1" noMove="1" noResize="1" noEditPoints="1" noAdjustHandles="1" noChangeArrowheads="1" noChangeShapeType="1" noTextEdit="1"/>
              </p:cNvSpPr>
              <p:nvPr>
                <p:ph idx="1"/>
              </p:nvPr>
            </p:nvSpPr>
            <p:spPr>
              <a:xfrm>
                <a:off x="765048" y="1259259"/>
                <a:ext cx="10058400" cy="5498592"/>
              </a:xfrm>
              <a:blipFill>
                <a:blip r:embed="rId2"/>
                <a:stretch>
                  <a:fillRect t="-99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Rectángulo 3"/>
              <p:cNvSpPr/>
              <p:nvPr/>
            </p:nvSpPr>
            <p:spPr>
              <a:xfrm>
                <a:off x="7603276" y="904899"/>
                <a:ext cx="4779770" cy="7087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s-BO" i="1" smtClean="0">
                          <a:latin typeface="Cambria Math" panose="02040503050406030204" pitchFamily="18" charset="0"/>
                        </a:rPr>
                        <m:t>→</m:t>
                      </m:r>
                      <m:r>
                        <a:rPr lang="es-BO" b="0" i="1" smtClean="0">
                          <a:latin typeface="Cambria Math" panose="02040503050406030204" pitchFamily="18" charset="0"/>
                        </a:rPr>
                        <m:t>𝑇</m:t>
                      </m:r>
                      <m:r>
                        <a:rPr lang="es-BO" b="0" i="1" smtClean="0">
                          <a:latin typeface="Cambria Math" panose="02040503050406030204" pitchFamily="18" charset="0"/>
                        </a:rPr>
                        <m:t>=          </m:t>
                      </m:r>
                      <m:r>
                        <a:rPr lang="es-BO" i="1">
                          <a:latin typeface="Cambria Math" panose="02040503050406030204" pitchFamily="18" charset="0"/>
                        </a:rPr>
                        <m:t>𝐴</m:t>
                      </m:r>
                      <m:r>
                        <a:rPr lang="es-BO" i="1">
                          <a:latin typeface="Cambria Math" panose="02040503050406030204" pitchFamily="18" charset="0"/>
                        </a:rPr>
                        <m:t>=</m:t>
                      </m:r>
                      <m:d>
                        <m:dPr>
                          <m:begChr m:val="["/>
                          <m:endChr m:val="]"/>
                          <m:ctrlPr>
                            <a:rPr lang="en-US" i="1">
                              <a:latin typeface="Cambria Math" panose="02040503050406030204" pitchFamily="18" charset="0"/>
                            </a:rPr>
                          </m:ctrlPr>
                        </m:dPr>
                        <m:e>
                          <m:f>
                            <m:fPr>
                              <m:ctrlPr>
                                <a:rPr lang="en-US" i="1">
                                  <a:latin typeface="Cambria Math" panose="02040503050406030204" pitchFamily="18" charset="0"/>
                                </a:rPr>
                              </m:ctrlPr>
                            </m:fPr>
                            <m:num>
                              <m:r>
                                <a:rPr lang="es-BO" i="1">
                                  <a:latin typeface="Cambria Math" panose="02040503050406030204" pitchFamily="18" charset="0"/>
                                </a:rPr>
                                <m:t>−1</m:t>
                              </m:r>
                            </m:num>
                            <m:den>
                              <m:r>
                                <a:rPr lang="es-BO" i="1">
                                  <a:latin typeface="Cambria Math" panose="02040503050406030204" pitchFamily="18" charset="0"/>
                                </a:rPr>
                                <m:t>303</m:t>
                              </m:r>
                            </m:den>
                          </m:f>
                        </m:e>
                      </m:d>
                      <m:r>
                        <a:rPr lang="es-BO" i="1">
                          <a:latin typeface="Cambria Math" panose="02040503050406030204" pitchFamily="18" charset="0"/>
                        </a:rPr>
                        <m:t>,      </m:t>
                      </m:r>
                      <m:r>
                        <a:rPr lang="es-BO" i="1">
                          <a:latin typeface="Cambria Math" panose="02040503050406030204" pitchFamily="18" charset="0"/>
                        </a:rPr>
                        <m:t>𝐵</m:t>
                      </m:r>
                      <m:r>
                        <a:rPr lang="es-BO" i="1">
                          <a:latin typeface="Cambria Math" panose="02040503050406030204" pitchFamily="18" charset="0"/>
                        </a:rPr>
                        <m:t>=</m:t>
                      </m:r>
                      <m:d>
                        <m:dPr>
                          <m:begChr m:val="["/>
                          <m:endChr m:val="]"/>
                          <m:ctrlPr>
                            <a:rPr lang="en-US" i="1">
                              <a:latin typeface="Cambria Math" panose="02040503050406030204" pitchFamily="18" charset="0"/>
                            </a:rPr>
                          </m:ctrlPr>
                        </m:dPr>
                        <m:e>
                          <m:f>
                            <m:fPr>
                              <m:ctrlPr>
                                <a:rPr lang="en-US" i="1">
                                  <a:latin typeface="Cambria Math" panose="02040503050406030204" pitchFamily="18" charset="0"/>
                                </a:rPr>
                              </m:ctrlPr>
                            </m:fPr>
                            <m:num>
                              <m:r>
                                <a:rPr lang="es-BO" i="1">
                                  <a:latin typeface="Cambria Math" panose="02040503050406030204" pitchFamily="18" charset="0"/>
                                </a:rPr>
                                <m:t>1</m:t>
                              </m:r>
                            </m:num>
                            <m:den>
                              <m:r>
                                <a:rPr lang="es-BO" i="1">
                                  <a:latin typeface="Cambria Math" panose="02040503050406030204" pitchFamily="18" charset="0"/>
                                </a:rPr>
                                <m:t>3166.47</m:t>
                              </m:r>
                            </m:den>
                          </m:f>
                        </m:e>
                      </m:d>
                      <m:r>
                        <a:rPr lang="es-BO" i="1">
                          <a:latin typeface="Cambria Math" panose="02040503050406030204" pitchFamily="18" charset="0"/>
                        </a:rPr>
                        <m:t>,</m:t>
                      </m:r>
                    </m:oMath>
                  </m:oMathPara>
                </a14:m>
                <a:endParaRPr lang="en-US" dirty="0"/>
              </a:p>
            </p:txBody>
          </p:sp>
        </mc:Choice>
        <mc:Fallback xmlns="">
          <p:sp>
            <p:nvSpPr>
              <p:cNvPr id="4" name="Rectángulo 3"/>
              <p:cNvSpPr>
                <a:spLocks noRot="1" noChangeAspect="1" noMove="1" noResize="1" noEditPoints="1" noAdjustHandles="1" noChangeArrowheads="1" noChangeShapeType="1" noTextEdit="1"/>
              </p:cNvSpPr>
              <p:nvPr/>
            </p:nvSpPr>
            <p:spPr>
              <a:xfrm>
                <a:off x="7603276" y="904899"/>
                <a:ext cx="4779770" cy="708720"/>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Rectángulo 4"/>
              <p:cNvSpPr/>
              <p:nvPr/>
            </p:nvSpPr>
            <p:spPr>
              <a:xfrm>
                <a:off x="9639214" y="2817614"/>
                <a:ext cx="1360885"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s-BO" i="1">
                              <a:latin typeface="Cambria Math" panose="02040503050406030204" pitchFamily="18" charset="0"/>
                            </a:rPr>
                          </m:ctrlPr>
                        </m:sSubPr>
                        <m:e>
                          <m:r>
                            <a:rPr lang="es-BO" i="1">
                              <a:latin typeface="Cambria Math" panose="02040503050406030204" pitchFamily="18" charset="0"/>
                            </a:rPr>
                            <m:t>𝑘</m:t>
                          </m:r>
                        </m:e>
                        <m:sub>
                          <m:r>
                            <a:rPr lang="es-BO" i="1">
                              <a:latin typeface="Cambria Math" panose="02040503050406030204" pitchFamily="18" charset="0"/>
                            </a:rPr>
                            <m:t>𝑥</m:t>
                          </m:r>
                        </m:sub>
                      </m:sSub>
                      <m:r>
                        <a:rPr lang="es-BO" i="1">
                          <a:latin typeface="Cambria Math" panose="02040503050406030204" pitchFamily="18" charset="0"/>
                        </a:rPr>
                        <m:t>=9.967</m:t>
                      </m:r>
                    </m:oMath>
                  </m:oMathPara>
                </a14:m>
                <a:endParaRPr lang="en-US" dirty="0"/>
              </a:p>
            </p:txBody>
          </p:sp>
        </mc:Choice>
        <mc:Fallback xmlns="">
          <p:sp>
            <p:nvSpPr>
              <p:cNvPr id="5" name="Rectángulo 4"/>
              <p:cNvSpPr>
                <a:spLocks noRot="1" noChangeAspect="1" noMove="1" noResize="1" noEditPoints="1" noAdjustHandles="1" noChangeArrowheads="1" noChangeShapeType="1" noTextEdit="1"/>
              </p:cNvSpPr>
              <p:nvPr/>
            </p:nvSpPr>
            <p:spPr>
              <a:xfrm>
                <a:off x="9639214" y="2817614"/>
                <a:ext cx="1360885" cy="369332"/>
              </a:xfrm>
              <a:prstGeom prst="rect">
                <a:avLst/>
              </a:prstGeom>
              <a:blipFill>
                <a:blip r:embed="rId4"/>
                <a:stretch>
                  <a:fillRect/>
                </a:stretch>
              </a:blipFill>
            </p:spPr>
            <p:txBody>
              <a:bodyPr/>
              <a:lstStyle/>
              <a:p>
                <a:r>
                  <a:rPr lang="en-US">
                    <a:noFill/>
                  </a:rPr>
                  <a:t> </a:t>
                </a:r>
              </a:p>
            </p:txBody>
          </p:sp>
        </mc:Fallback>
      </mc:AlternateContent>
      <p:sp>
        <p:nvSpPr>
          <p:cNvPr id="8" name="Rectángulo redondeado 7"/>
          <p:cNvSpPr/>
          <p:nvPr/>
        </p:nvSpPr>
        <p:spPr>
          <a:xfrm>
            <a:off x="5215128" y="4859382"/>
            <a:ext cx="1158240" cy="426720"/>
          </a:xfrm>
          <a:prstGeom prst="round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ángulo redondeado 8"/>
          <p:cNvSpPr/>
          <p:nvPr/>
        </p:nvSpPr>
        <p:spPr>
          <a:xfrm>
            <a:off x="6099048" y="5952307"/>
            <a:ext cx="1158240" cy="426720"/>
          </a:xfrm>
          <a:prstGeom prst="round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4476532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BO" dirty="0"/>
              <a:t>Resultados obtenidos con MATLAB</a:t>
            </a:r>
            <a:endParaRPr lang="en-US" dirty="0"/>
          </a:p>
        </p:txBody>
      </p:sp>
      <p:pic>
        <p:nvPicPr>
          <p:cNvPr id="4" name="Marcador de contenido 3"/>
          <p:cNvPicPr>
            <a:picLocks noGrp="1" noChangeAspect="1"/>
          </p:cNvPicPr>
          <p:nvPr>
            <p:ph idx="1"/>
          </p:nvPr>
        </p:nvPicPr>
        <p:blipFill>
          <a:blip r:embed="rId2"/>
          <a:stretch>
            <a:fillRect/>
          </a:stretch>
        </p:blipFill>
        <p:spPr>
          <a:xfrm>
            <a:off x="1216199" y="2446020"/>
            <a:ext cx="3649632" cy="4051300"/>
          </a:xfrm>
          <a:prstGeom prst="rect">
            <a:avLst/>
          </a:prstGeom>
        </p:spPr>
      </p:pic>
      <p:pic>
        <p:nvPicPr>
          <p:cNvPr id="5" name="Imagen 4"/>
          <p:cNvPicPr>
            <a:picLocks noChangeAspect="1"/>
          </p:cNvPicPr>
          <p:nvPr/>
        </p:nvPicPr>
        <p:blipFill>
          <a:blip r:embed="rId3"/>
          <a:stretch>
            <a:fillRect/>
          </a:stretch>
        </p:blipFill>
        <p:spPr>
          <a:xfrm>
            <a:off x="5213862" y="1829410"/>
            <a:ext cx="6315956" cy="4906060"/>
          </a:xfrm>
          <a:prstGeom prst="rect">
            <a:avLst/>
          </a:prstGeom>
        </p:spPr>
      </p:pic>
    </p:spTree>
    <p:extLst>
      <p:ext uri="{BB962C8B-B14F-4D97-AF65-F5344CB8AC3E}">
        <p14:creationId xmlns:p14="http://schemas.microsoft.com/office/powerpoint/2010/main" val="381916998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1"/>
          <p:cNvSpPr txBox="1">
            <a:spLocks/>
          </p:cNvSpPr>
          <p:nvPr/>
        </p:nvSpPr>
        <p:spPr>
          <a:xfrm>
            <a:off x="1069848" y="484632"/>
            <a:ext cx="10058400" cy="1609344"/>
          </a:xfrm>
          <a:prstGeom prst="rect">
            <a:avLst/>
          </a:prstGeom>
        </p:spPr>
        <p:txBody>
          <a:bodyPr/>
          <a:lstStyle>
            <a:lvl1pPr algn="l" defTabSz="914400" rtl="0" eaLnBrk="1" latinLnBrk="0" hangingPunct="1">
              <a:lnSpc>
                <a:spcPct val="90000"/>
              </a:lnSpc>
              <a:spcBef>
                <a:spcPct val="0"/>
              </a:spcBef>
              <a:buNone/>
              <a:defRPr sz="4800" b="1" kern="1200" cap="none" baseline="0">
                <a:blipFill>
                  <a:blip r:embed="rId2">
                    <a:extLst>
                      <a:ext uri="{28A0092B-C50C-407E-A947-70E740481C1C}">
                        <a14:useLocalDpi xmlns:a14="http://schemas.microsoft.com/office/drawing/2010/main" val="0"/>
                      </a:ext>
                    </a:extLst>
                  </a:blip>
                  <a:tile tx="6350" ty="-127000" sx="65000" sy="64000" flip="none" algn="tl"/>
                </a:blipFill>
                <a:latin typeface="+mj-lt"/>
                <a:ea typeface="+mj-ea"/>
                <a:cs typeface="+mj-cs"/>
              </a:defRPr>
            </a:lvl1pPr>
          </a:lstStyle>
          <a:p>
            <a:r>
              <a:rPr lang="es-BO" u="sng" dirty="0"/>
              <a:t>Conclusiones</a:t>
            </a:r>
            <a:endParaRPr lang="en-US" dirty="0"/>
          </a:p>
        </p:txBody>
      </p:sp>
      <p:sp>
        <p:nvSpPr>
          <p:cNvPr id="4" name="Marcador de contenido 2"/>
          <p:cNvSpPr txBox="1">
            <a:spLocks/>
          </p:cNvSpPr>
          <p:nvPr/>
        </p:nvSpPr>
        <p:spPr>
          <a:xfrm>
            <a:off x="1069848" y="1384300"/>
            <a:ext cx="10058400" cy="4989068"/>
          </a:xfrm>
          <a:prstGeom prst="rect">
            <a:avLst/>
          </a:prstGeom>
        </p:spPr>
        <p:txBody>
          <a:bodyPr>
            <a:normAutofit/>
          </a:bodyPr>
          <a:lstStyle>
            <a:lvl1pPr marL="182880" indent="-182880" algn="l" defTabSz="914400" rtl="0" eaLnBrk="1" latinLnBrk="0" hangingPunct="1">
              <a:lnSpc>
                <a:spcPct val="90000"/>
              </a:lnSpc>
              <a:spcBef>
                <a:spcPts val="1200"/>
              </a:spcBef>
              <a:buClr>
                <a:schemeClr val="accent2"/>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2"/>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2"/>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2"/>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2"/>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2"/>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2"/>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2"/>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2"/>
              </a:buClr>
              <a:buSzPct val="85000"/>
              <a:buFont typeface="Wingdings" pitchFamily="2" charset="2"/>
              <a:buChar char="§"/>
              <a:defRPr sz="1600" kern="1200">
                <a:solidFill>
                  <a:schemeClr val="tx1"/>
                </a:solidFill>
                <a:latin typeface="+mn-lt"/>
                <a:ea typeface="+mn-ea"/>
                <a:cs typeface="+mn-cs"/>
              </a:defRPr>
            </a:lvl9pPr>
          </a:lstStyle>
          <a:p>
            <a:r>
              <a:rPr lang="es-BO" sz="2800" dirty="0"/>
              <a:t>Al considerar la dinámica del actuador los valores de la ganancia de </a:t>
            </a:r>
            <a:r>
              <a:rPr lang="es-BO" sz="2800" dirty="0" err="1"/>
              <a:t>precompensacion</a:t>
            </a:r>
            <a:r>
              <a:rPr lang="es-BO" sz="2800" dirty="0"/>
              <a:t> y </a:t>
            </a:r>
            <a:r>
              <a:rPr lang="es-BO" sz="2800" dirty="0" err="1"/>
              <a:t>prealimentacion</a:t>
            </a:r>
            <a:r>
              <a:rPr lang="es-BO" sz="2800" dirty="0"/>
              <a:t> disminuyen, lo cual nos permite implementar satisfactoriamente el controlador. </a:t>
            </a:r>
          </a:p>
          <a:p>
            <a:r>
              <a:rPr lang="es-BO" sz="2800" dirty="0"/>
              <a:t>Con los nuevos requerimientos el tiempo de establecimiento de 10 minutos, se cumple tanto en simulación como en la parte experimental y </a:t>
            </a:r>
            <a:r>
              <a:rPr lang="es-BO" sz="2800" dirty="0" err="1"/>
              <a:t>teorica</a:t>
            </a:r>
            <a:r>
              <a:rPr lang="es-BO" sz="2800" dirty="0"/>
              <a:t> satisfactoriamente.</a:t>
            </a:r>
          </a:p>
          <a:p>
            <a:r>
              <a:rPr lang="es-BO" sz="2800" dirty="0"/>
              <a:t>Nuestro grupo obtuvo un desempeño satisfactorio del sistema para unos 10 minutos para el tiempo de establecimiento, logrando no saturar al actuador.</a:t>
            </a:r>
          </a:p>
          <a:p>
            <a:endParaRPr lang="es-BO" sz="2800" dirty="0"/>
          </a:p>
          <a:p>
            <a:pPr lvl="0"/>
            <a:endParaRPr lang="es-BO" sz="2400" dirty="0"/>
          </a:p>
          <a:p>
            <a:pPr lvl="0"/>
            <a:endParaRPr lang="es-BO" sz="2400" dirty="0"/>
          </a:p>
          <a:p>
            <a:pPr marL="0" indent="0">
              <a:buFont typeface="Wingdings" pitchFamily="2" charset="2"/>
              <a:buNone/>
            </a:pPr>
            <a:endParaRPr lang="en-US" sz="2400" dirty="0"/>
          </a:p>
        </p:txBody>
      </p:sp>
    </p:spTree>
    <p:extLst>
      <p:ext uri="{BB962C8B-B14F-4D97-AF65-F5344CB8AC3E}">
        <p14:creationId xmlns:p14="http://schemas.microsoft.com/office/powerpoint/2010/main" val="333088471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Tipo de madera">
  <a:themeElements>
    <a:clrScheme name="Wood Type">
      <a:dk1>
        <a:sysClr val="windowText" lastClr="000000"/>
      </a:dk1>
      <a:lt1>
        <a:sysClr val="window" lastClr="FFFFFF"/>
      </a:lt1>
      <a:dk2>
        <a:srgbClr val="84ACB6"/>
      </a:dk2>
      <a:lt2>
        <a:srgbClr val="EBE9DD"/>
      </a:lt2>
      <a:accent1>
        <a:srgbClr val="6F8183"/>
      </a:accent1>
      <a:accent2>
        <a:srgbClr val="967E96"/>
      </a:accent2>
      <a:accent3>
        <a:srgbClr val="CCC893"/>
      </a:accent3>
      <a:accent4>
        <a:srgbClr val="A54D74"/>
      </a:accent4>
      <a:accent5>
        <a:srgbClr val="949C6B"/>
      </a:accent5>
      <a:accent6>
        <a:srgbClr val="766A50"/>
      </a:accent6>
      <a:hlink>
        <a:srgbClr val="CC6600"/>
      </a:hlink>
      <a:folHlink>
        <a:srgbClr val="777777"/>
      </a:folHlink>
    </a:clrScheme>
    <a:fontScheme name="Wood Type">
      <a:majorFont>
        <a:latin typeface="Century Gothic" panose="020B0502020202020204"/>
        <a:ea typeface=""/>
        <a:cs typeface=""/>
        <a:font script="Jpan" typeface="HGｺﾞｼｯｸM"/>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Bookman Old Style" panose="02050604050505020204"/>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8E89CD47-BF55-4DDE-B823-2283AA7E7695}"/>
    </a:ext>
  </a:extLst>
</a:theme>
</file>

<file path=docProps/app.xml><?xml version="1.0" encoding="utf-8"?>
<Properties xmlns="http://schemas.openxmlformats.org/officeDocument/2006/extended-properties" xmlns:vt="http://schemas.openxmlformats.org/officeDocument/2006/docPropsVTypes">
  <Template>Letras en madera</Template>
  <TotalTime>5195</TotalTime>
  <Words>2189</Words>
  <Application>Microsoft Office PowerPoint</Application>
  <PresentationFormat>Panorámica</PresentationFormat>
  <Paragraphs>341</Paragraphs>
  <Slides>38</Slides>
  <Notes>0</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38</vt:i4>
      </vt:variant>
    </vt:vector>
  </HeadingPairs>
  <TitlesOfParts>
    <vt:vector size="46" baseType="lpstr">
      <vt:lpstr>Arial</vt:lpstr>
      <vt:lpstr>Bookman Old Style</vt:lpstr>
      <vt:lpstr>Calibri</vt:lpstr>
      <vt:lpstr>Californian FB</vt:lpstr>
      <vt:lpstr>Cambria Math</vt:lpstr>
      <vt:lpstr>Century Gothic</vt:lpstr>
      <vt:lpstr>Wingdings</vt:lpstr>
      <vt:lpstr>Tipo de madera</vt:lpstr>
      <vt:lpstr>DISEÑO DEL CONTROLADOR </vt:lpstr>
      <vt:lpstr>RESPUESTA TEMPORAL DEL SISTEMA</vt:lpstr>
      <vt:lpstr>Datos</vt:lpstr>
      <vt:lpstr>Presentación de PowerPoint</vt:lpstr>
      <vt:lpstr>REQUERIMIENTOS</vt:lpstr>
      <vt:lpstr>DISEÑO DEL CONTROLADOR PARA UN SERVOSISTEMA</vt:lpstr>
      <vt:lpstr>POLINOMIO CARACTERISTICO DESEADO:</vt:lpstr>
      <vt:lpstr>Presentación de PowerPoint</vt:lpstr>
      <vt:lpstr>Presentación de PowerPoint</vt:lpstr>
      <vt:lpstr>Presentación de PowerPoint</vt:lpstr>
      <vt:lpstr>DISEÑO DEL CONTROLADOR EN TIEMPO CONTINUO </vt:lpstr>
      <vt:lpstr>DISEÑO DEL CONTROLADOR EN TIEMPO CONTINUO </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DISEÑO DEL CONTROLADOR</vt:lpstr>
      <vt:lpstr>ANALISIS DEL ACTUADOR VF-B</vt:lpstr>
      <vt:lpstr>CON MATLAB</vt:lpstr>
      <vt:lpstr>Presentación de PowerPoint</vt:lpstr>
      <vt:lpstr>DISEÑO DEL CONTROLADOR EN TIEMPO CONTINUO </vt:lpstr>
      <vt:lpstr>Resultados con MATLAB</vt:lpstr>
      <vt:lpstr>POLINOMIO CARACTERISTICO DESEADO:</vt:lpstr>
      <vt:lpstr>Presentación de PowerPoint</vt:lpstr>
      <vt:lpstr>Presentación de PowerPoint</vt:lpstr>
      <vt:lpstr>Presentación de PowerPoint</vt:lpstr>
      <vt:lpstr>Con MATLAB</vt:lpstr>
      <vt:lpstr>ELECCION DE PERIODO DE MUESTREO </vt:lpstr>
      <vt:lpstr>PLANTA EN DISCRETA</vt:lpstr>
      <vt:lpstr>DIAGRAMA EN DISCRETA</vt:lpstr>
      <vt:lpstr>DISEÑO DEL CONTROLADOR EN TIEMPO DISCRETO</vt:lpstr>
      <vt:lpstr>Resultados obtenidos con MATLAB</vt:lpstr>
      <vt:lpstr>Presentación de PowerPoint</vt:lpstr>
    </vt:vector>
  </TitlesOfParts>
  <Company>HP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DISEÑO DEL CONTROLADOR</dc:title>
  <dc:creator>HP PAVILION</dc:creator>
  <cp:lastModifiedBy>Isabel Espino Marca</cp:lastModifiedBy>
  <cp:revision>63</cp:revision>
  <dcterms:created xsi:type="dcterms:W3CDTF">2023-06-12T20:53:52Z</dcterms:created>
  <dcterms:modified xsi:type="dcterms:W3CDTF">2023-06-23T20:48:33Z</dcterms:modified>
</cp:coreProperties>
</file>