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sldIdLst>
    <p:sldId id="256" r:id="rId2"/>
    <p:sldId id="257" r:id="rId3"/>
    <p:sldId id="274" r:id="rId4"/>
    <p:sldId id="275" r:id="rId5"/>
    <p:sldId id="276" r:id="rId6"/>
    <p:sldId id="277" r:id="rId7"/>
    <p:sldId id="278" r:id="rId8"/>
    <p:sldId id="279" r:id="rId9"/>
    <p:sldId id="280" r:id="rId10"/>
    <p:sldId id="281" r:id="rId11"/>
    <p:sldId id="282" r:id="rId12"/>
    <p:sldId id="283" r:id="rId13"/>
    <p:sldId id="284" r:id="rId14"/>
    <p:sldId id="286" r:id="rId15"/>
    <p:sldId id="269" r:id="rId16"/>
    <p:sldId id="318" r:id="rId17"/>
    <p:sldId id="319" r:id="rId18"/>
    <p:sldId id="289" r:id="rId19"/>
    <p:sldId id="271" r:id="rId20"/>
    <p:sldId id="265" r:id="rId21"/>
    <p:sldId id="290" r:id="rId22"/>
    <p:sldId id="260" r:id="rId23"/>
    <p:sldId id="291" r:id="rId24"/>
    <p:sldId id="268" r:id="rId25"/>
    <p:sldId id="292" r:id="rId26"/>
    <p:sldId id="301" r:id="rId27"/>
    <p:sldId id="303" r:id="rId28"/>
    <p:sldId id="302" r:id="rId29"/>
    <p:sldId id="285" r:id="rId30"/>
    <p:sldId id="294" r:id="rId31"/>
    <p:sldId id="295" r:id="rId32"/>
    <p:sldId id="296" r:id="rId33"/>
    <p:sldId id="297" r:id="rId34"/>
    <p:sldId id="273" r:id="rId35"/>
    <p:sldId id="306" r:id="rId36"/>
    <p:sldId id="304" r:id="rId37"/>
    <p:sldId id="305" r:id="rId38"/>
    <p:sldId id="272" r:id="rId39"/>
    <p:sldId id="307" r:id="rId40"/>
    <p:sldId id="308" r:id="rId41"/>
    <p:sldId id="309" r:id="rId42"/>
    <p:sldId id="310" r:id="rId43"/>
    <p:sldId id="311" r:id="rId44"/>
    <p:sldId id="312" r:id="rId45"/>
    <p:sldId id="313" r:id="rId46"/>
    <p:sldId id="314" r:id="rId47"/>
    <p:sldId id="315" r:id="rId48"/>
    <p:sldId id="316" r:id="rId49"/>
    <p:sldId id="317" r:id="rId50"/>
    <p:sldId id="298" r:id="rId51"/>
    <p:sldId id="299"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38" d="100"/>
          <a:sy n="38" d="100"/>
        </p:scale>
        <p:origin x="48" y="7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acroz\Desktop\funcion%20de%20transferencia%20experimental(Nive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Archivos%20de%20Programas\MATLAB2020\bin\planta.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BO"/>
              <a:t>H</a:t>
            </a:r>
            <a:r>
              <a:rPr lang="es-BO" baseline="0"/>
              <a:t> vs t</a:t>
            </a:r>
            <a:endParaRPr lang="es-BO"/>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manualLayout>
          <c:layoutTarget val="inner"/>
          <c:xMode val="edge"/>
          <c:yMode val="edge"/>
          <c:x val="6.0198434408318825E-2"/>
          <c:y val="0.13733418184476431"/>
          <c:w val="0.88877956883515485"/>
          <c:h val="0.78333264387057211"/>
        </c:manualLayout>
      </c:layout>
      <c:scatterChart>
        <c:scatterStyle val="smoothMarker"/>
        <c:varyColors val="0"/>
        <c:ser>
          <c:idx val="0"/>
          <c:order val="0"/>
          <c:spPr>
            <a:ln w="19050" cap="rnd">
              <a:solidFill>
                <a:schemeClr val="accent1"/>
              </a:solidFill>
              <a:round/>
            </a:ln>
            <a:effectLst/>
          </c:spPr>
          <c:marker>
            <c:symbol val="none"/>
          </c:marker>
          <c:xVal>
            <c:numRef>
              <c:f>Hoja1!$B$11:$B$261</c:f>
              <c:numCache>
                <c:formatCode>General</c:formatCode>
                <c:ptCount val="25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pt idx="130">
                  <c:v>1300</c:v>
                </c:pt>
                <c:pt idx="131">
                  <c:v>1310</c:v>
                </c:pt>
                <c:pt idx="132">
                  <c:v>1320</c:v>
                </c:pt>
                <c:pt idx="133">
                  <c:v>1330</c:v>
                </c:pt>
                <c:pt idx="134">
                  <c:v>1340</c:v>
                </c:pt>
                <c:pt idx="135">
                  <c:v>1350</c:v>
                </c:pt>
                <c:pt idx="136">
                  <c:v>1360</c:v>
                </c:pt>
                <c:pt idx="137">
                  <c:v>1370</c:v>
                </c:pt>
                <c:pt idx="138">
                  <c:v>1380</c:v>
                </c:pt>
                <c:pt idx="139">
                  <c:v>1390</c:v>
                </c:pt>
                <c:pt idx="140">
                  <c:v>1400</c:v>
                </c:pt>
                <c:pt idx="141">
                  <c:v>1410</c:v>
                </c:pt>
                <c:pt idx="142">
                  <c:v>1420</c:v>
                </c:pt>
                <c:pt idx="143">
                  <c:v>1430</c:v>
                </c:pt>
                <c:pt idx="144">
                  <c:v>1440</c:v>
                </c:pt>
                <c:pt idx="145">
                  <c:v>1450</c:v>
                </c:pt>
                <c:pt idx="146">
                  <c:v>1460</c:v>
                </c:pt>
                <c:pt idx="147">
                  <c:v>1470</c:v>
                </c:pt>
                <c:pt idx="148">
                  <c:v>1480</c:v>
                </c:pt>
                <c:pt idx="149">
                  <c:v>1490</c:v>
                </c:pt>
                <c:pt idx="150">
                  <c:v>1500</c:v>
                </c:pt>
                <c:pt idx="151">
                  <c:v>1510</c:v>
                </c:pt>
                <c:pt idx="152">
                  <c:v>1520</c:v>
                </c:pt>
                <c:pt idx="153">
                  <c:v>1530</c:v>
                </c:pt>
                <c:pt idx="154">
                  <c:v>1540</c:v>
                </c:pt>
                <c:pt idx="155">
                  <c:v>1550</c:v>
                </c:pt>
                <c:pt idx="156">
                  <c:v>1560</c:v>
                </c:pt>
                <c:pt idx="157">
                  <c:v>1570</c:v>
                </c:pt>
                <c:pt idx="158">
                  <c:v>1580</c:v>
                </c:pt>
                <c:pt idx="159">
                  <c:v>1590</c:v>
                </c:pt>
                <c:pt idx="160">
                  <c:v>1600</c:v>
                </c:pt>
                <c:pt idx="161">
                  <c:v>1610</c:v>
                </c:pt>
                <c:pt idx="162">
                  <c:v>1620</c:v>
                </c:pt>
                <c:pt idx="163">
                  <c:v>1630</c:v>
                </c:pt>
                <c:pt idx="164">
                  <c:v>1640</c:v>
                </c:pt>
                <c:pt idx="165">
                  <c:v>1650</c:v>
                </c:pt>
                <c:pt idx="166">
                  <c:v>1660</c:v>
                </c:pt>
                <c:pt idx="167">
                  <c:v>1670</c:v>
                </c:pt>
                <c:pt idx="168">
                  <c:v>1680</c:v>
                </c:pt>
                <c:pt idx="169">
                  <c:v>1690</c:v>
                </c:pt>
                <c:pt idx="170">
                  <c:v>1700</c:v>
                </c:pt>
                <c:pt idx="171">
                  <c:v>1710</c:v>
                </c:pt>
                <c:pt idx="172">
                  <c:v>1720</c:v>
                </c:pt>
                <c:pt idx="173">
                  <c:v>1730</c:v>
                </c:pt>
                <c:pt idx="174">
                  <c:v>1740</c:v>
                </c:pt>
                <c:pt idx="175">
                  <c:v>1750</c:v>
                </c:pt>
                <c:pt idx="176">
                  <c:v>1760</c:v>
                </c:pt>
                <c:pt idx="177">
                  <c:v>1770</c:v>
                </c:pt>
                <c:pt idx="178">
                  <c:v>1780</c:v>
                </c:pt>
                <c:pt idx="179">
                  <c:v>1790</c:v>
                </c:pt>
                <c:pt idx="180">
                  <c:v>1800</c:v>
                </c:pt>
                <c:pt idx="181">
                  <c:v>1810</c:v>
                </c:pt>
                <c:pt idx="182">
                  <c:v>1820</c:v>
                </c:pt>
                <c:pt idx="183">
                  <c:v>1830</c:v>
                </c:pt>
                <c:pt idx="184">
                  <c:v>1840</c:v>
                </c:pt>
                <c:pt idx="185">
                  <c:v>1850</c:v>
                </c:pt>
                <c:pt idx="186">
                  <c:v>1860</c:v>
                </c:pt>
                <c:pt idx="187">
                  <c:v>1870</c:v>
                </c:pt>
                <c:pt idx="188">
                  <c:v>1880</c:v>
                </c:pt>
                <c:pt idx="189">
                  <c:v>1890</c:v>
                </c:pt>
                <c:pt idx="190">
                  <c:v>1900</c:v>
                </c:pt>
                <c:pt idx="191">
                  <c:v>1910</c:v>
                </c:pt>
                <c:pt idx="192">
                  <c:v>1920</c:v>
                </c:pt>
                <c:pt idx="193">
                  <c:v>1930</c:v>
                </c:pt>
                <c:pt idx="194">
                  <c:v>1940</c:v>
                </c:pt>
                <c:pt idx="195">
                  <c:v>1950</c:v>
                </c:pt>
                <c:pt idx="196">
                  <c:v>1960</c:v>
                </c:pt>
                <c:pt idx="197">
                  <c:v>1970</c:v>
                </c:pt>
                <c:pt idx="198">
                  <c:v>1980</c:v>
                </c:pt>
                <c:pt idx="199">
                  <c:v>1990</c:v>
                </c:pt>
                <c:pt idx="200">
                  <c:v>2000</c:v>
                </c:pt>
                <c:pt idx="201">
                  <c:v>2010</c:v>
                </c:pt>
                <c:pt idx="202">
                  <c:v>2020</c:v>
                </c:pt>
                <c:pt idx="203">
                  <c:v>2030</c:v>
                </c:pt>
                <c:pt idx="204">
                  <c:v>2040</c:v>
                </c:pt>
                <c:pt idx="205">
                  <c:v>2050</c:v>
                </c:pt>
                <c:pt idx="206">
                  <c:v>2060</c:v>
                </c:pt>
                <c:pt idx="207">
                  <c:v>2070</c:v>
                </c:pt>
                <c:pt idx="208">
                  <c:v>2080</c:v>
                </c:pt>
                <c:pt idx="209">
                  <c:v>2090</c:v>
                </c:pt>
                <c:pt idx="210">
                  <c:v>2100</c:v>
                </c:pt>
                <c:pt idx="211">
                  <c:v>2110</c:v>
                </c:pt>
                <c:pt idx="212">
                  <c:v>2120</c:v>
                </c:pt>
                <c:pt idx="213">
                  <c:v>2130</c:v>
                </c:pt>
                <c:pt idx="214">
                  <c:v>2140</c:v>
                </c:pt>
                <c:pt idx="215">
                  <c:v>2150</c:v>
                </c:pt>
                <c:pt idx="216">
                  <c:v>2160</c:v>
                </c:pt>
                <c:pt idx="217">
                  <c:v>2170</c:v>
                </c:pt>
                <c:pt idx="218">
                  <c:v>2180</c:v>
                </c:pt>
                <c:pt idx="219">
                  <c:v>2190</c:v>
                </c:pt>
                <c:pt idx="220">
                  <c:v>2200</c:v>
                </c:pt>
                <c:pt idx="221">
                  <c:v>2210</c:v>
                </c:pt>
                <c:pt idx="222">
                  <c:v>2220</c:v>
                </c:pt>
                <c:pt idx="223">
                  <c:v>2230</c:v>
                </c:pt>
                <c:pt idx="224">
                  <c:v>2240</c:v>
                </c:pt>
                <c:pt idx="225">
                  <c:v>2250</c:v>
                </c:pt>
                <c:pt idx="226">
                  <c:v>2260</c:v>
                </c:pt>
                <c:pt idx="227">
                  <c:v>2270</c:v>
                </c:pt>
                <c:pt idx="228">
                  <c:v>2280</c:v>
                </c:pt>
                <c:pt idx="229">
                  <c:v>2290</c:v>
                </c:pt>
                <c:pt idx="230">
                  <c:v>2300</c:v>
                </c:pt>
                <c:pt idx="231">
                  <c:v>2310</c:v>
                </c:pt>
                <c:pt idx="232">
                  <c:v>2320</c:v>
                </c:pt>
                <c:pt idx="233">
                  <c:v>2330</c:v>
                </c:pt>
                <c:pt idx="234">
                  <c:v>2340</c:v>
                </c:pt>
                <c:pt idx="235">
                  <c:v>2350</c:v>
                </c:pt>
                <c:pt idx="236">
                  <c:v>2360</c:v>
                </c:pt>
                <c:pt idx="237">
                  <c:v>2370</c:v>
                </c:pt>
                <c:pt idx="238">
                  <c:v>2380</c:v>
                </c:pt>
                <c:pt idx="239">
                  <c:v>2390</c:v>
                </c:pt>
                <c:pt idx="240">
                  <c:v>2400</c:v>
                </c:pt>
                <c:pt idx="241">
                  <c:v>2410</c:v>
                </c:pt>
                <c:pt idx="242">
                  <c:v>2420</c:v>
                </c:pt>
                <c:pt idx="243">
                  <c:v>2430</c:v>
                </c:pt>
                <c:pt idx="244">
                  <c:v>2440</c:v>
                </c:pt>
                <c:pt idx="245">
                  <c:v>2450</c:v>
                </c:pt>
                <c:pt idx="246">
                  <c:v>2460</c:v>
                </c:pt>
                <c:pt idx="247">
                  <c:v>2470</c:v>
                </c:pt>
                <c:pt idx="248">
                  <c:v>2480</c:v>
                </c:pt>
                <c:pt idx="249">
                  <c:v>2490</c:v>
                </c:pt>
                <c:pt idx="250">
                  <c:v>2500</c:v>
                </c:pt>
              </c:numCache>
            </c:numRef>
          </c:xVal>
          <c:yVal>
            <c:numRef>
              <c:f>Hoja1!$C$11:$C$266</c:f>
              <c:numCache>
                <c:formatCode>General</c:formatCode>
                <c:ptCount val="256"/>
                <c:pt idx="0">
                  <c:v>0</c:v>
                </c:pt>
                <c:pt idx="1">
                  <c:v>1</c:v>
                </c:pt>
                <c:pt idx="2">
                  <c:v>2</c:v>
                </c:pt>
                <c:pt idx="3">
                  <c:v>3</c:v>
                </c:pt>
                <c:pt idx="4">
                  <c:v>4</c:v>
                </c:pt>
                <c:pt idx="5">
                  <c:v>5</c:v>
                </c:pt>
                <c:pt idx="6">
                  <c:v>6</c:v>
                </c:pt>
                <c:pt idx="7">
                  <c:v>6.4</c:v>
                </c:pt>
                <c:pt idx="8">
                  <c:v>6.9</c:v>
                </c:pt>
                <c:pt idx="9">
                  <c:v>7.3</c:v>
                </c:pt>
                <c:pt idx="10">
                  <c:v>8</c:v>
                </c:pt>
                <c:pt idx="11">
                  <c:v>8.6</c:v>
                </c:pt>
                <c:pt idx="12">
                  <c:v>9</c:v>
                </c:pt>
                <c:pt idx="13">
                  <c:v>9.6999999999999993</c:v>
                </c:pt>
                <c:pt idx="14">
                  <c:v>10.1</c:v>
                </c:pt>
                <c:pt idx="15">
                  <c:v>10.6</c:v>
                </c:pt>
                <c:pt idx="16">
                  <c:v>10.9</c:v>
                </c:pt>
                <c:pt idx="17">
                  <c:v>11.3</c:v>
                </c:pt>
                <c:pt idx="18">
                  <c:v>11.8</c:v>
                </c:pt>
                <c:pt idx="19">
                  <c:v>12.2</c:v>
                </c:pt>
                <c:pt idx="20">
                  <c:v>12.6</c:v>
                </c:pt>
                <c:pt idx="21">
                  <c:v>13</c:v>
                </c:pt>
                <c:pt idx="22">
                  <c:v>13.4</c:v>
                </c:pt>
                <c:pt idx="23">
                  <c:v>13.7</c:v>
                </c:pt>
                <c:pt idx="24">
                  <c:v>14.2</c:v>
                </c:pt>
                <c:pt idx="25">
                  <c:v>14.5</c:v>
                </c:pt>
                <c:pt idx="26">
                  <c:v>14.9</c:v>
                </c:pt>
                <c:pt idx="27">
                  <c:v>15.1</c:v>
                </c:pt>
                <c:pt idx="28">
                  <c:v>15.4</c:v>
                </c:pt>
                <c:pt idx="29">
                  <c:v>15.7</c:v>
                </c:pt>
                <c:pt idx="30">
                  <c:v>16</c:v>
                </c:pt>
                <c:pt idx="31">
                  <c:v>16.3</c:v>
                </c:pt>
                <c:pt idx="32">
                  <c:v>16.7</c:v>
                </c:pt>
                <c:pt idx="33">
                  <c:v>17</c:v>
                </c:pt>
                <c:pt idx="34">
                  <c:v>17.399999999999999</c:v>
                </c:pt>
                <c:pt idx="35">
                  <c:v>17.600000000000001</c:v>
                </c:pt>
                <c:pt idx="36">
                  <c:v>17.8</c:v>
                </c:pt>
                <c:pt idx="37">
                  <c:v>18</c:v>
                </c:pt>
                <c:pt idx="38">
                  <c:v>18.2</c:v>
                </c:pt>
                <c:pt idx="39">
                  <c:v>18.5</c:v>
                </c:pt>
                <c:pt idx="40">
                  <c:v>18.8</c:v>
                </c:pt>
                <c:pt idx="41">
                  <c:v>19</c:v>
                </c:pt>
                <c:pt idx="42">
                  <c:v>19.3</c:v>
                </c:pt>
                <c:pt idx="43">
                  <c:v>19.5</c:v>
                </c:pt>
                <c:pt idx="44">
                  <c:v>19.7</c:v>
                </c:pt>
                <c:pt idx="45">
                  <c:v>19.899999999999999</c:v>
                </c:pt>
                <c:pt idx="46">
                  <c:v>20.100000000000001</c:v>
                </c:pt>
                <c:pt idx="47">
                  <c:v>20.3</c:v>
                </c:pt>
                <c:pt idx="48">
                  <c:v>20.5</c:v>
                </c:pt>
                <c:pt idx="49">
                  <c:v>20.7</c:v>
                </c:pt>
                <c:pt idx="50">
                  <c:v>20.9</c:v>
                </c:pt>
                <c:pt idx="51">
                  <c:v>21.1</c:v>
                </c:pt>
                <c:pt idx="52">
                  <c:v>21.2</c:v>
                </c:pt>
                <c:pt idx="53">
                  <c:v>21.4</c:v>
                </c:pt>
                <c:pt idx="54">
                  <c:v>21.6</c:v>
                </c:pt>
                <c:pt idx="55">
                  <c:v>21.7</c:v>
                </c:pt>
                <c:pt idx="56">
                  <c:v>21.8</c:v>
                </c:pt>
                <c:pt idx="57">
                  <c:v>21.8</c:v>
                </c:pt>
                <c:pt idx="58">
                  <c:v>21.9</c:v>
                </c:pt>
                <c:pt idx="59">
                  <c:v>22</c:v>
                </c:pt>
                <c:pt idx="60">
                  <c:v>22.1</c:v>
                </c:pt>
                <c:pt idx="61">
                  <c:v>22.1</c:v>
                </c:pt>
                <c:pt idx="62">
                  <c:v>22.2</c:v>
                </c:pt>
                <c:pt idx="63">
                  <c:v>22.4</c:v>
                </c:pt>
                <c:pt idx="64">
                  <c:v>22.5</c:v>
                </c:pt>
                <c:pt idx="65">
                  <c:v>22.5</c:v>
                </c:pt>
                <c:pt idx="66">
                  <c:v>22.6</c:v>
                </c:pt>
                <c:pt idx="67">
                  <c:v>22.6</c:v>
                </c:pt>
                <c:pt idx="68">
                  <c:v>22.6</c:v>
                </c:pt>
                <c:pt idx="69">
                  <c:v>22.7</c:v>
                </c:pt>
                <c:pt idx="70">
                  <c:v>22.8</c:v>
                </c:pt>
                <c:pt idx="71">
                  <c:v>22.9</c:v>
                </c:pt>
                <c:pt idx="72">
                  <c:v>22.9</c:v>
                </c:pt>
                <c:pt idx="73">
                  <c:v>22.9</c:v>
                </c:pt>
                <c:pt idx="74">
                  <c:v>23</c:v>
                </c:pt>
                <c:pt idx="75">
                  <c:v>23.1</c:v>
                </c:pt>
                <c:pt idx="76">
                  <c:v>23.1</c:v>
                </c:pt>
                <c:pt idx="77">
                  <c:v>23.2</c:v>
                </c:pt>
                <c:pt idx="78">
                  <c:v>23.3</c:v>
                </c:pt>
                <c:pt idx="79">
                  <c:v>23.4</c:v>
                </c:pt>
                <c:pt idx="80">
                  <c:v>23.4</c:v>
                </c:pt>
                <c:pt idx="81">
                  <c:v>23.4</c:v>
                </c:pt>
                <c:pt idx="82">
                  <c:v>23.4</c:v>
                </c:pt>
                <c:pt idx="83">
                  <c:v>23.5</c:v>
                </c:pt>
                <c:pt idx="84">
                  <c:v>23.5</c:v>
                </c:pt>
                <c:pt idx="85">
                  <c:v>23.6</c:v>
                </c:pt>
                <c:pt idx="86">
                  <c:v>23.6</c:v>
                </c:pt>
                <c:pt idx="87">
                  <c:v>23.6</c:v>
                </c:pt>
                <c:pt idx="88">
                  <c:v>23.7</c:v>
                </c:pt>
                <c:pt idx="89">
                  <c:v>23.8</c:v>
                </c:pt>
                <c:pt idx="90">
                  <c:v>23.8</c:v>
                </c:pt>
                <c:pt idx="91">
                  <c:v>23.8</c:v>
                </c:pt>
                <c:pt idx="92">
                  <c:v>23.9</c:v>
                </c:pt>
                <c:pt idx="93">
                  <c:v>23.9</c:v>
                </c:pt>
                <c:pt idx="94">
                  <c:v>24</c:v>
                </c:pt>
                <c:pt idx="95">
                  <c:v>24</c:v>
                </c:pt>
                <c:pt idx="96">
                  <c:v>24</c:v>
                </c:pt>
                <c:pt idx="97">
                  <c:v>24</c:v>
                </c:pt>
                <c:pt idx="98">
                  <c:v>24.1</c:v>
                </c:pt>
                <c:pt idx="99">
                  <c:v>24.1</c:v>
                </c:pt>
                <c:pt idx="100">
                  <c:v>24.1</c:v>
                </c:pt>
                <c:pt idx="101">
                  <c:v>24.1</c:v>
                </c:pt>
                <c:pt idx="102">
                  <c:v>24.1</c:v>
                </c:pt>
                <c:pt idx="103">
                  <c:v>24.2</c:v>
                </c:pt>
                <c:pt idx="104">
                  <c:v>24.2</c:v>
                </c:pt>
                <c:pt idx="105">
                  <c:v>24.2</c:v>
                </c:pt>
                <c:pt idx="106">
                  <c:v>24.2</c:v>
                </c:pt>
                <c:pt idx="107">
                  <c:v>24.2</c:v>
                </c:pt>
                <c:pt idx="108">
                  <c:v>24.2</c:v>
                </c:pt>
                <c:pt idx="109">
                  <c:v>24.3</c:v>
                </c:pt>
                <c:pt idx="110">
                  <c:v>24.3</c:v>
                </c:pt>
                <c:pt idx="111">
                  <c:v>24.3</c:v>
                </c:pt>
                <c:pt idx="112">
                  <c:v>24.3</c:v>
                </c:pt>
                <c:pt idx="113">
                  <c:v>24.3</c:v>
                </c:pt>
                <c:pt idx="114">
                  <c:v>24.4</c:v>
                </c:pt>
                <c:pt idx="115">
                  <c:v>24.4</c:v>
                </c:pt>
                <c:pt idx="116">
                  <c:v>24.4</c:v>
                </c:pt>
                <c:pt idx="117">
                  <c:v>24.4</c:v>
                </c:pt>
                <c:pt idx="118">
                  <c:v>24.5</c:v>
                </c:pt>
                <c:pt idx="119">
                  <c:v>24.5</c:v>
                </c:pt>
                <c:pt idx="120">
                  <c:v>24.5</c:v>
                </c:pt>
                <c:pt idx="121">
                  <c:v>24.5</c:v>
                </c:pt>
                <c:pt idx="122">
                  <c:v>24.5</c:v>
                </c:pt>
                <c:pt idx="123">
                  <c:v>24.5</c:v>
                </c:pt>
                <c:pt idx="124">
                  <c:v>24.5</c:v>
                </c:pt>
                <c:pt idx="125">
                  <c:v>24.5</c:v>
                </c:pt>
                <c:pt idx="126">
                  <c:v>24.5</c:v>
                </c:pt>
                <c:pt idx="127">
                  <c:v>24.6</c:v>
                </c:pt>
                <c:pt idx="128">
                  <c:v>24.6</c:v>
                </c:pt>
                <c:pt idx="129">
                  <c:v>24.6</c:v>
                </c:pt>
                <c:pt idx="130">
                  <c:v>24.6</c:v>
                </c:pt>
                <c:pt idx="131">
                  <c:v>24.6</c:v>
                </c:pt>
                <c:pt idx="132">
                  <c:v>24.6</c:v>
                </c:pt>
                <c:pt idx="133">
                  <c:v>24.6</c:v>
                </c:pt>
                <c:pt idx="134">
                  <c:v>24.7</c:v>
                </c:pt>
                <c:pt idx="135">
                  <c:v>24.7</c:v>
                </c:pt>
                <c:pt idx="136">
                  <c:v>24.7</c:v>
                </c:pt>
                <c:pt idx="137">
                  <c:v>24.7</c:v>
                </c:pt>
                <c:pt idx="138">
                  <c:v>24.7</c:v>
                </c:pt>
                <c:pt idx="139">
                  <c:v>24.7</c:v>
                </c:pt>
                <c:pt idx="140">
                  <c:v>24.7</c:v>
                </c:pt>
                <c:pt idx="141">
                  <c:v>24.7</c:v>
                </c:pt>
                <c:pt idx="142">
                  <c:v>24.7</c:v>
                </c:pt>
                <c:pt idx="143">
                  <c:v>24.7</c:v>
                </c:pt>
                <c:pt idx="144">
                  <c:v>24.7</c:v>
                </c:pt>
                <c:pt idx="145">
                  <c:v>24.7</c:v>
                </c:pt>
                <c:pt idx="146">
                  <c:v>24.7</c:v>
                </c:pt>
                <c:pt idx="147">
                  <c:v>24.7</c:v>
                </c:pt>
                <c:pt idx="148">
                  <c:v>24.7</c:v>
                </c:pt>
                <c:pt idx="149">
                  <c:v>24.8</c:v>
                </c:pt>
                <c:pt idx="150">
                  <c:v>24.8</c:v>
                </c:pt>
                <c:pt idx="151">
                  <c:v>24.8</c:v>
                </c:pt>
                <c:pt idx="152">
                  <c:v>24.8</c:v>
                </c:pt>
                <c:pt idx="153">
                  <c:v>24.8</c:v>
                </c:pt>
                <c:pt idx="154">
                  <c:v>24.8</c:v>
                </c:pt>
                <c:pt idx="155">
                  <c:v>24.8</c:v>
                </c:pt>
                <c:pt idx="156">
                  <c:v>24.8</c:v>
                </c:pt>
                <c:pt idx="157">
                  <c:v>24.8</c:v>
                </c:pt>
                <c:pt idx="158">
                  <c:v>24.8</c:v>
                </c:pt>
                <c:pt idx="159">
                  <c:v>24.8</c:v>
                </c:pt>
                <c:pt idx="160">
                  <c:v>24.8</c:v>
                </c:pt>
                <c:pt idx="161">
                  <c:v>24.8</c:v>
                </c:pt>
                <c:pt idx="162">
                  <c:v>24.8</c:v>
                </c:pt>
                <c:pt idx="163">
                  <c:v>24.8</c:v>
                </c:pt>
                <c:pt idx="164">
                  <c:v>24.8</c:v>
                </c:pt>
                <c:pt idx="165">
                  <c:v>24.8</c:v>
                </c:pt>
                <c:pt idx="166">
                  <c:v>24.8</c:v>
                </c:pt>
                <c:pt idx="167">
                  <c:v>24.8</c:v>
                </c:pt>
                <c:pt idx="168">
                  <c:v>24.8</c:v>
                </c:pt>
                <c:pt idx="169">
                  <c:v>24.8</c:v>
                </c:pt>
                <c:pt idx="170">
                  <c:v>24.8</c:v>
                </c:pt>
                <c:pt idx="171">
                  <c:v>24.8</c:v>
                </c:pt>
                <c:pt idx="172">
                  <c:v>24.9</c:v>
                </c:pt>
                <c:pt idx="173">
                  <c:v>24.8</c:v>
                </c:pt>
                <c:pt idx="174">
                  <c:v>24.9</c:v>
                </c:pt>
                <c:pt idx="175">
                  <c:v>24.9</c:v>
                </c:pt>
                <c:pt idx="176">
                  <c:v>24.9</c:v>
                </c:pt>
                <c:pt idx="177">
                  <c:v>24.9</c:v>
                </c:pt>
                <c:pt idx="178">
                  <c:v>24.9</c:v>
                </c:pt>
                <c:pt idx="179">
                  <c:v>25</c:v>
                </c:pt>
                <c:pt idx="180">
                  <c:v>24.9</c:v>
                </c:pt>
                <c:pt idx="181">
                  <c:v>24.9</c:v>
                </c:pt>
                <c:pt idx="182">
                  <c:v>25</c:v>
                </c:pt>
                <c:pt idx="183">
                  <c:v>24.9</c:v>
                </c:pt>
                <c:pt idx="184">
                  <c:v>24.9</c:v>
                </c:pt>
                <c:pt idx="185">
                  <c:v>25</c:v>
                </c:pt>
                <c:pt idx="186">
                  <c:v>25</c:v>
                </c:pt>
                <c:pt idx="187">
                  <c:v>25</c:v>
                </c:pt>
                <c:pt idx="188">
                  <c:v>25</c:v>
                </c:pt>
                <c:pt idx="189">
                  <c:v>25</c:v>
                </c:pt>
                <c:pt idx="190">
                  <c:v>25</c:v>
                </c:pt>
                <c:pt idx="191">
                  <c:v>24.9</c:v>
                </c:pt>
                <c:pt idx="192">
                  <c:v>24.9</c:v>
                </c:pt>
                <c:pt idx="193">
                  <c:v>25</c:v>
                </c:pt>
                <c:pt idx="194">
                  <c:v>25</c:v>
                </c:pt>
                <c:pt idx="195">
                  <c:v>25</c:v>
                </c:pt>
                <c:pt idx="196">
                  <c:v>25</c:v>
                </c:pt>
                <c:pt idx="197">
                  <c:v>25</c:v>
                </c:pt>
                <c:pt idx="198">
                  <c:v>25</c:v>
                </c:pt>
                <c:pt idx="199">
                  <c:v>25</c:v>
                </c:pt>
                <c:pt idx="200">
                  <c:v>25</c:v>
                </c:pt>
                <c:pt idx="201">
                  <c:v>25</c:v>
                </c:pt>
                <c:pt idx="202">
                  <c:v>25</c:v>
                </c:pt>
                <c:pt idx="203">
                  <c:v>25</c:v>
                </c:pt>
                <c:pt idx="204">
                  <c:v>25</c:v>
                </c:pt>
                <c:pt idx="205">
                  <c:v>25.1</c:v>
                </c:pt>
                <c:pt idx="206">
                  <c:v>25</c:v>
                </c:pt>
                <c:pt idx="207">
                  <c:v>25.1</c:v>
                </c:pt>
                <c:pt idx="208">
                  <c:v>25</c:v>
                </c:pt>
                <c:pt idx="209">
                  <c:v>25</c:v>
                </c:pt>
                <c:pt idx="210">
                  <c:v>25</c:v>
                </c:pt>
                <c:pt idx="211">
                  <c:v>25</c:v>
                </c:pt>
                <c:pt idx="212">
                  <c:v>25</c:v>
                </c:pt>
                <c:pt idx="213">
                  <c:v>25</c:v>
                </c:pt>
                <c:pt idx="214">
                  <c:v>25.1</c:v>
                </c:pt>
                <c:pt idx="215">
                  <c:v>25</c:v>
                </c:pt>
                <c:pt idx="216">
                  <c:v>25.1</c:v>
                </c:pt>
                <c:pt idx="217">
                  <c:v>25.1</c:v>
                </c:pt>
                <c:pt idx="218">
                  <c:v>25.1</c:v>
                </c:pt>
                <c:pt idx="219">
                  <c:v>25</c:v>
                </c:pt>
                <c:pt idx="220">
                  <c:v>25.1</c:v>
                </c:pt>
                <c:pt idx="221">
                  <c:v>25.1</c:v>
                </c:pt>
                <c:pt idx="222">
                  <c:v>25.1</c:v>
                </c:pt>
                <c:pt idx="223">
                  <c:v>25</c:v>
                </c:pt>
                <c:pt idx="224">
                  <c:v>25.1</c:v>
                </c:pt>
                <c:pt idx="225">
                  <c:v>25</c:v>
                </c:pt>
                <c:pt idx="226">
                  <c:v>25.1</c:v>
                </c:pt>
                <c:pt idx="227">
                  <c:v>25.1</c:v>
                </c:pt>
                <c:pt idx="228">
                  <c:v>25.1</c:v>
                </c:pt>
                <c:pt idx="229">
                  <c:v>25</c:v>
                </c:pt>
                <c:pt idx="230">
                  <c:v>25.1</c:v>
                </c:pt>
                <c:pt idx="231">
                  <c:v>25</c:v>
                </c:pt>
                <c:pt idx="232">
                  <c:v>25.1</c:v>
                </c:pt>
                <c:pt idx="233">
                  <c:v>25</c:v>
                </c:pt>
                <c:pt idx="234">
                  <c:v>25.1</c:v>
                </c:pt>
                <c:pt idx="235">
                  <c:v>25.1</c:v>
                </c:pt>
                <c:pt idx="236">
                  <c:v>25.1</c:v>
                </c:pt>
                <c:pt idx="237">
                  <c:v>25.1</c:v>
                </c:pt>
                <c:pt idx="238">
                  <c:v>25.1</c:v>
                </c:pt>
                <c:pt idx="239">
                  <c:v>25</c:v>
                </c:pt>
                <c:pt idx="240">
                  <c:v>25.1</c:v>
                </c:pt>
                <c:pt idx="241">
                  <c:v>25.1</c:v>
                </c:pt>
                <c:pt idx="242">
                  <c:v>25.1</c:v>
                </c:pt>
                <c:pt idx="243">
                  <c:v>25.1</c:v>
                </c:pt>
                <c:pt idx="244">
                  <c:v>25</c:v>
                </c:pt>
                <c:pt idx="245">
                  <c:v>25.1</c:v>
                </c:pt>
                <c:pt idx="246">
                  <c:v>25.1</c:v>
                </c:pt>
                <c:pt idx="247">
                  <c:v>25.1</c:v>
                </c:pt>
                <c:pt idx="248">
                  <c:v>25.1</c:v>
                </c:pt>
                <c:pt idx="249">
                  <c:v>25.1</c:v>
                </c:pt>
                <c:pt idx="250">
                  <c:v>25.1</c:v>
                </c:pt>
                <c:pt idx="251">
                  <c:v>25.1</c:v>
                </c:pt>
                <c:pt idx="252">
                  <c:v>25.1</c:v>
                </c:pt>
                <c:pt idx="253">
                  <c:v>25.1</c:v>
                </c:pt>
                <c:pt idx="254">
                  <c:v>25</c:v>
                </c:pt>
                <c:pt idx="255">
                  <c:v>25.1</c:v>
                </c:pt>
              </c:numCache>
            </c:numRef>
          </c:yVal>
          <c:smooth val="1"/>
          <c:extLst>
            <c:ext xmlns:c16="http://schemas.microsoft.com/office/drawing/2014/chart" uri="{C3380CC4-5D6E-409C-BE32-E72D297353CC}">
              <c16:uniqueId val="{00000000-460C-40F5-B644-76209F3CDEB9}"/>
            </c:ext>
          </c:extLst>
        </c:ser>
        <c:ser>
          <c:idx val="1"/>
          <c:order val="1"/>
          <c:spPr>
            <a:ln w="19050" cap="rnd">
              <a:solidFill>
                <a:schemeClr val="accent2"/>
              </a:solidFill>
              <a:round/>
            </a:ln>
            <a:effectLst/>
          </c:spPr>
          <c:marker>
            <c:symbol val="none"/>
          </c:marker>
          <c:xVal>
            <c:numRef>
              <c:f>Hoja1!$B$11:$B$266</c:f>
              <c:numCache>
                <c:formatCode>General</c:formatCode>
                <c:ptCount val="256"/>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pt idx="130">
                  <c:v>1300</c:v>
                </c:pt>
                <c:pt idx="131">
                  <c:v>1310</c:v>
                </c:pt>
                <c:pt idx="132">
                  <c:v>1320</c:v>
                </c:pt>
                <c:pt idx="133">
                  <c:v>1330</c:v>
                </c:pt>
                <c:pt idx="134">
                  <c:v>1340</c:v>
                </c:pt>
                <c:pt idx="135">
                  <c:v>1350</c:v>
                </c:pt>
                <c:pt idx="136">
                  <c:v>1360</c:v>
                </c:pt>
                <c:pt idx="137">
                  <c:v>1370</c:v>
                </c:pt>
                <c:pt idx="138">
                  <c:v>1380</c:v>
                </c:pt>
                <c:pt idx="139">
                  <c:v>1390</c:v>
                </c:pt>
                <c:pt idx="140">
                  <c:v>1400</c:v>
                </c:pt>
                <c:pt idx="141">
                  <c:v>1410</c:v>
                </c:pt>
                <c:pt idx="142">
                  <c:v>1420</c:v>
                </c:pt>
                <c:pt idx="143">
                  <c:v>1430</c:v>
                </c:pt>
                <c:pt idx="144">
                  <c:v>1440</c:v>
                </c:pt>
                <c:pt idx="145">
                  <c:v>1450</c:v>
                </c:pt>
                <c:pt idx="146">
                  <c:v>1460</c:v>
                </c:pt>
                <c:pt idx="147">
                  <c:v>1470</c:v>
                </c:pt>
                <c:pt idx="148">
                  <c:v>1480</c:v>
                </c:pt>
                <c:pt idx="149">
                  <c:v>1490</c:v>
                </c:pt>
                <c:pt idx="150">
                  <c:v>1500</c:v>
                </c:pt>
                <c:pt idx="151">
                  <c:v>1510</c:v>
                </c:pt>
                <c:pt idx="152">
                  <c:v>1520</c:v>
                </c:pt>
                <c:pt idx="153">
                  <c:v>1530</c:v>
                </c:pt>
                <c:pt idx="154">
                  <c:v>1540</c:v>
                </c:pt>
                <c:pt idx="155">
                  <c:v>1550</c:v>
                </c:pt>
                <c:pt idx="156">
                  <c:v>1560</c:v>
                </c:pt>
                <c:pt idx="157">
                  <c:v>1570</c:v>
                </c:pt>
                <c:pt idx="158">
                  <c:v>1580</c:v>
                </c:pt>
                <c:pt idx="159">
                  <c:v>1590</c:v>
                </c:pt>
                <c:pt idx="160">
                  <c:v>1600</c:v>
                </c:pt>
                <c:pt idx="161">
                  <c:v>1610</c:v>
                </c:pt>
                <c:pt idx="162">
                  <c:v>1620</c:v>
                </c:pt>
                <c:pt idx="163">
                  <c:v>1630</c:v>
                </c:pt>
                <c:pt idx="164">
                  <c:v>1640</c:v>
                </c:pt>
                <c:pt idx="165">
                  <c:v>1650</c:v>
                </c:pt>
                <c:pt idx="166">
                  <c:v>1660</c:v>
                </c:pt>
                <c:pt idx="167">
                  <c:v>1670</c:v>
                </c:pt>
                <c:pt idx="168">
                  <c:v>1680</c:v>
                </c:pt>
                <c:pt idx="169">
                  <c:v>1690</c:v>
                </c:pt>
                <c:pt idx="170">
                  <c:v>1700</c:v>
                </c:pt>
                <c:pt idx="171">
                  <c:v>1710</c:v>
                </c:pt>
                <c:pt idx="172">
                  <c:v>1720</c:v>
                </c:pt>
                <c:pt idx="173">
                  <c:v>1730</c:v>
                </c:pt>
                <c:pt idx="174">
                  <c:v>1740</c:v>
                </c:pt>
                <c:pt idx="175">
                  <c:v>1750</c:v>
                </c:pt>
                <c:pt idx="176">
                  <c:v>1760</c:v>
                </c:pt>
                <c:pt idx="177">
                  <c:v>1770</c:v>
                </c:pt>
                <c:pt idx="178">
                  <c:v>1780</c:v>
                </c:pt>
                <c:pt idx="179">
                  <c:v>1790</c:v>
                </c:pt>
                <c:pt idx="180">
                  <c:v>1800</c:v>
                </c:pt>
                <c:pt idx="181">
                  <c:v>1810</c:v>
                </c:pt>
                <c:pt idx="182">
                  <c:v>1820</c:v>
                </c:pt>
                <c:pt idx="183">
                  <c:v>1830</c:v>
                </c:pt>
                <c:pt idx="184">
                  <c:v>1840</c:v>
                </c:pt>
                <c:pt idx="185">
                  <c:v>1850</c:v>
                </c:pt>
                <c:pt idx="186">
                  <c:v>1860</c:v>
                </c:pt>
                <c:pt idx="187">
                  <c:v>1870</c:v>
                </c:pt>
                <c:pt idx="188">
                  <c:v>1880</c:v>
                </c:pt>
                <c:pt idx="189">
                  <c:v>1890</c:v>
                </c:pt>
                <c:pt idx="190">
                  <c:v>1900</c:v>
                </c:pt>
                <c:pt idx="191">
                  <c:v>1910</c:v>
                </c:pt>
                <c:pt idx="192">
                  <c:v>1920</c:v>
                </c:pt>
                <c:pt idx="193">
                  <c:v>1930</c:v>
                </c:pt>
                <c:pt idx="194">
                  <c:v>1940</c:v>
                </c:pt>
                <c:pt idx="195">
                  <c:v>1950</c:v>
                </c:pt>
                <c:pt idx="196">
                  <c:v>1960</c:v>
                </c:pt>
                <c:pt idx="197">
                  <c:v>1970</c:v>
                </c:pt>
                <c:pt idx="198">
                  <c:v>1980</c:v>
                </c:pt>
                <c:pt idx="199">
                  <c:v>1990</c:v>
                </c:pt>
                <c:pt idx="200">
                  <c:v>2000</c:v>
                </c:pt>
                <c:pt idx="201">
                  <c:v>2010</c:v>
                </c:pt>
                <c:pt idx="202">
                  <c:v>2020</c:v>
                </c:pt>
                <c:pt idx="203">
                  <c:v>2030</c:v>
                </c:pt>
                <c:pt idx="204">
                  <c:v>2040</c:v>
                </c:pt>
                <c:pt idx="205">
                  <c:v>2050</c:v>
                </c:pt>
                <c:pt idx="206">
                  <c:v>2060</c:v>
                </c:pt>
                <c:pt idx="207">
                  <c:v>2070</c:v>
                </c:pt>
                <c:pt idx="208">
                  <c:v>2080</c:v>
                </c:pt>
                <c:pt idx="209">
                  <c:v>2090</c:v>
                </c:pt>
                <c:pt idx="210">
                  <c:v>2100</c:v>
                </c:pt>
                <c:pt idx="211">
                  <c:v>2110</c:v>
                </c:pt>
                <c:pt idx="212">
                  <c:v>2120</c:v>
                </c:pt>
                <c:pt idx="213">
                  <c:v>2130</c:v>
                </c:pt>
                <c:pt idx="214">
                  <c:v>2140</c:v>
                </c:pt>
                <c:pt idx="215">
                  <c:v>2150</c:v>
                </c:pt>
                <c:pt idx="216">
                  <c:v>2160</c:v>
                </c:pt>
                <c:pt idx="217">
                  <c:v>2170</c:v>
                </c:pt>
                <c:pt idx="218">
                  <c:v>2180</c:v>
                </c:pt>
                <c:pt idx="219">
                  <c:v>2190</c:v>
                </c:pt>
                <c:pt idx="220">
                  <c:v>2200</c:v>
                </c:pt>
                <c:pt idx="221">
                  <c:v>2210</c:v>
                </c:pt>
                <c:pt idx="222">
                  <c:v>2220</c:v>
                </c:pt>
                <c:pt idx="223">
                  <c:v>2230</c:v>
                </c:pt>
                <c:pt idx="224">
                  <c:v>2240</c:v>
                </c:pt>
                <c:pt idx="225">
                  <c:v>2250</c:v>
                </c:pt>
                <c:pt idx="226">
                  <c:v>2260</c:v>
                </c:pt>
                <c:pt idx="227">
                  <c:v>2270</c:v>
                </c:pt>
                <c:pt idx="228">
                  <c:v>2280</c:v>
                </c:pt>
                <c:pt idx="229">
                  <c:v>2290</c:v>
                </c:pt>
                <c:pt idx="230">
                  <c:v>2300</c:v>
                </c:pt>
                <c:pt idx="231">
                  <c:v>2310</c:v>
                </c:pt>
                <c:pt idx="232">
                  <c:v>2320</c:v>
                </c:pt>
                <c:pt idx="233">
                  <c:v>2330</c:v>
                </c:pt>
                <c:pt idx="234">
                  <c:v>2340</c:v>
                </c:pt>
                <c:pt idx="235">
                  <c:v>2350</c:v>
                </c:pt>
                <c:pt idx="236">
                  <c:v>2360</c:v>
                </c:pt>
                <c:pt idx="237">
                  <c:v>2370</c:v>
                </c:pt>
                <c:pt idx="238">
                  <c:v>2380</c:v>
                </c:pt>
                <c:pt idx="239">
                  <c:v>2390</c:v>
                </c:pt>
                <c:pt idx="240">
                  <c:v>2400</c:v>
                </c:pt>
                <c:pt idx="241">
                  <c:v>2410</c:v>
                </c:pt>
                <c:pt idx="242">
                  <c:v>2420</c:v>
                </c:pt>
                <c:pt idx="243">
                  <c:v>2430</c:v>
                </c:pt>
                <c:pt idx="244">
                  <c:v>2440</c:v>
                </c:pt>
                <c:pt idx="245">
                  <c:v>2450</c:v>
                </c:pt>
                <c:pt idx="246">
                  <c:v>2460</c:v>
                </c:pt>
                <c:pt idx="247">
                  <c:v>2470</c:v>
                </c:pt>
                <c:pt idx="248">
                  <c:v>2480</c:v>
                </c:pt>
                <c:pt idx="249">
                  <c:v>2490</c:v>
                </c:pt>
                <c:pt idx="250">
                  <c:v>2500</c:v>
                </c:pt>
                <c:pt idx="251">
                  <c:v>2510</c:v>
                </c:pt>
                <c:pt idx="252">
                  <c:v>2520</c:v>
                </c:pt>
                <c:pt idx="253">
                  <c:v>2530</c:v>
                </c:pt>
                <c:pt idx="254">
                  <c:v>2540</c:v>
                </c:pt>
                <c:pt idx="255">
                  <c:v>2550</c:v>
                </c:pt>
              </c:numCache>
            </c:numRef>
          </c:xVal>
          <c:yVal>
            <c:numRef>
              <c:f>Hoja1!$D$11:$D$266</c:f>
              <c:numCache>
                <c:formatCode>General</c:formatCode>
                <c:ptCount val="256"/>
                <c:pt idx="0">
                  <c:v>0</c:v>
                </c:pt>
                <c:pt idx="1">
                  <c:v>1.4338840892426383</c:v>
                </c:pt>
                <c:pt idx="2">
                  <c:v>2.7858548883903311</c:v>
                </c:pt>
                <c:pt idx="3">
                  <c:v>4.0605918461827031</c:v>
                </c:pt>
                <c:pt idx="4">
                  <c:v>5.2625070891643961</c:v>
                </c:pt>
                <c:pt idx="5">
                  <c:v>6.3957606929616402</c:v>
                </c:pt>
                <c:pt idx="6">
                  <c:v>7.4642750811588128</c:v>
                </c:pt>
                <c:pt idx="7">
                  <c:v>8.4717486016124521</c:v>
                </c:pt>
                <c:pt idx="8">
                  <c:v>9.4216683271931121</c:v>
                </c:pt>
                <c:pt idx="9">
                  <c:v>10.317322125261109</c:v>
                </c:pt>
                <c:pt idx="10">
                  <c:v>11.161810037651042</c:v>
                </c:pt>
                <c:pt idx="11">
                  <c:v>11.958055010553577</c:v>
                </c:pt>
                <c:pt idx="12">
                  <c:v>12.708813011432829</c:v>
                </c:pt>
                <c:pt idx="13">
                  <c:v>13.41668256799605</c:v>
                </c:pt>
                <c:pt idx="14">
                  <c:v>14.084113762231974</c:v>
                </c:pt>
                <c:pt idx="15">
                  <c:v>14.713416710648012</c:v>
                </c:pt>
                <c:pt idx="16">
                  <c:v>15.306769560058184</c:v>
                </c:pt>
                <c:pt idx="17">
                  <c:v>15.866226026596799</c:v>
                </c:pt>
                <c:pt idx="18">
                  <c:v>16.393722504052004</c:v>
                </c:pt>
                <c:pt idx="19">
                  <c:v>16.891084766122564</c:v>
                </c:pt>
                <c:pt idx="20">
                  <c:v>17.360034285795809</c:v>
                </c:pt>
                <c:pt idx="21">
                  <c:v>17.802194193719352</c:v>
                </c:pt>
                <c:pt idx="22">
                  <c:v>18.219094896189805</c:v>
                </c:pt>
                <c:pt idx="23">
                  <c:v>18.612179372203425</c:v>
                </c:pt>
                <c:pt idx="24">
                  <c:v>18.982808167902935</c:v>
                </c:pt>
                <c:pt idx="25">
                  <c:v>19.332264105707278</c:v>
                </c:pt>
                <c:pt idx="26">
                  <c:v>19.661756724423611</c:v>
                </c:pt>
                <c:pt idx="27">
                  <c:v>19.972426465709656</c:v>
                </c:pt>
                <c:pt idx="28">
                  <c:v>20.265348621376614</c:v>
                </c:pt>
                <c:pt idx="29">
                  <c:v>20.541537055195061</c:v>
                </c:pt>
                <c:pt idx="30">
                  <c:v>20.801947712085816</c:v>
                </c:pt>
                <c:pt idx="31">
                  <c:v>21.047481926841719</c:v>
                </c:pt>
                <c:pt idx="32">
                  <c:v>21.278989543832552</c:v>
                </c:pt>
                <c:pt idx="33">
                  <c:v>21.497271858491047</c:v>
                </c:pt>
                <c:pt idx="34">
                  <c:v>21.703084390761024</c:v>
                </c:pt>
                <c:pt idx="35">
                  <c:v>21.897139500107148</c:v>
                </c:pt>
                <c:pt idx="36">
                  <c:v>22.080108851137432</c:v>
                </c:pt>
                <c:pt idx="37">
                  <c:v>22.252625738372441</c:v>
                </c:pt>
                <c:pt idx="38">
                  <c:v>22.415287278207771</c:v>
                </c:pt>
                <c:pt idx="39">
                  <c:v>22.568656475656578</c:v>
                </c:pt>
                <c:pt idx="40">
                  <c:v>22.713264173025642</c:v>
                </c:pt>
                <c:pt idx="41">
                  <c:v>22.84961088726962</c:v>
                </c:pt>
                <c:pt idx="42">
                  <c:v>22.978168542383127</c:v>
                </c:pt>
                <c:pt idx="43">
                  <c:v>23.099382102826603</c:v>
                </c:pt>
                <c:pt idx="44">
                  <c:v>23.213671113639794</c:v>
                </c:pt>
                <c:pt idx="45">
                  <c:v>23.321431152573286</c:v>
                </c:pt>
                <c:pt idx="46">
                  <c:v>23.423035199264433</c:v>
                </c:pt>
                <c:pt idx="47">
                  <c:v>23.518834926196494</c:v>
                </c:pt>
                <c:pt idx="48">
                  <c:v>23.609161915909361</c:v>
                </c:pt>
                <c:pt idx="49">
                  <c:v>23.694328808674882</c:v>
                </c:pt>
                <c:pt idx="50">
                  <c:v>23.774630384609058</c:v>
                </c:pt>
                <c:pt idx="51">
                  <c:v>23.850344583966617</c:v>
                </c:pt>
                <c:pt idx="52">
                  <c:v>23.921733469149334</c:v>
                </c:pt>
                <c:pt idx="53">
                  <c:v>23.989044131757854</c:v>
                </c:pt>
                <c:pt idx="54">
                  <c:v>24.052509547826507</c:v>
                </c:pt>
                <c:pt idx="55">
                  <c:v>24.112349384201213</c:v>
                </c:pt>
                <c:pt idx="56">
                  <c:v>24.168770758851593</c:v>
                </c:pt>
                <c:pt idx="57">
                  <c:v>24.221968957748814</c:v>
                </c:pt>
                <c:pt idx="58">
                  <c:v>24.272128110790451</c:v>
                </c:pt>
                <c:pt idx="59">
                  <c:v>24.319421829111917</c:v>
                </c:pt>
                <c:pt idx="60">
                  <c:v>24.364013805990268</c:v>
                </c:pt>
                <c:pt idx="61">
                  <c:v>24.406058383420259</c:v>
                </c:pt>
                <c:pt idx="62">
                  <c:v>24.445701086323727</c:v>
                </c:pt>
                <c:pt idx="63">
                  <c:v>24.483079126241222</c:v>
                </c:pt>
                <c:pt idx="64">
                  <c:v>24.518321876249363</c:v>
                </c:pt>
                <c:pt idx="65">
                  <c:v>24.551551318747634</c:v>
                </c:pt>
                <c:pt idx="66">
                  <c:v>24.582882467664518</c:v>
                </c:pt>
                <c:pt idx="67">
                  <c:v>24.612423766544371</c:v>
                </c:pt>
                <c:pt idx="68">
                  <c:v>24.640277463892772</c:v>
                </c:pt>
                <c:pt idx="69">
                  <c:v>24.666539967079643</c:v>
                </c:pt>
                <c:pt idx="70">
                  <c:v>24.691302176024944</c:v>
                </c:pt>
                <c:pt idx="71">
                  <c:v>24.714649797821995</c:v>
                </c:pt>
                <c:pt idx="72">
                  <c:v>24.73666364338731</c:v>
                </c:pt>
                <c:pt idx="73">
                  <c:v>24.757419907163818</c:v>
                </c:pt>
                <c:pt idx="74">
                  <c:v>24.776990430845455</c:v>
                </c:pt>
                <c:pt idx="75">
                  <c:v>24.795442952036044</c:v>
                </c:pt>
                <c:pt idx="76">
                  <c:v>24.812841338703066</c:v>
                </c:pt>
                <c:pt idx="77">
                  <c:v>24.829245810237801</c:v>
                </c:pt>
                <c:pt idx="78">
                  <c:v>24.844713145887038</c:v>
                </c:pt>
                <c:pt idx="79">
                  <c:v>24.859296881277693</c:v>
                </c:pt>
                <c:pt idx="80">
                  <c:v>24.873047493714623</c:v>
                </c:pt>
                <c:pt idx="81">
                  <c:v>24.886012576892963</c:v>
                </c:pt>
                <c:pt idx="82">
                  <c:v>24.898237005629667</c:v>
                </c:pt>
                <c:pt idx="83">
                  <c:v>24.90976309118447</c:v>
                </c:pt>
                <c:pt idx="84">
                  <c:v>24.920630727707866</c:v>
                </c:pt>
                <c:pt idx="85">
                  <c:v>24.930877530322956</c:v>
                </c:pt>
                <c:pt idx="86">
                  <c:v>24.940538965319107</c:v>
                </c:pt>
                <c:pt idx="87">
                  <c:v>24.949648472908073</c:v>
                </c:pt>
                <c:pt idx="88">
                  <c:v>24.958237582967453</c:v>
                </c:pt>
                <c:pt idx="89">
                  <c:v>24.966336024172058</c:v>
                </c:pt>
                <c:pt idx="90">
                  <c:v>24.973971826890967</c:v>
                </c:pt>
                <c:pt idx="91">
                  <c:v>24.981171420206401</c:v>
                </c:pt>
                <c:pt idx="92">
                  <c:v>24.987959723390198</c:v>
                </c:pt>
                <c:pt idx="93">
                  <c:v>24.994360232154545</c:v>
                </c:pt>
                <c:pt idx="94">
                  <c:v>25.000395099975457</c:v>
                </c:pt>
                <c:pt idx="95">
                  <c:v>25.006085214770508</c:v>
                </c:pt>
                <c:pt idx="96">
                  <c:v>25.011450271196214</c:v>
                </c:pt>
                <c:pt idx="97">
                  <c:v>25.016508838815277</c:v>
                </c:pt>
                <c:pt idx="98">
                  <c:v>25.021278426369669</c:v>
                </c:pt>
                <c:pt idx="99">
                  <c:v>25.025775542381965</c:v>
                </c:pt>
                <c:pt idx="100">
                  <c:v>25.030015752294762</c:v>
                </c:pt>
                <c:pt idx="101">
                  <c:v>25.034013732345844</c:v>
                </c:pt>
                <c:pt idx="102">
                  <c:v>25.037783320365676</c:v>
                </c:pt>
                <c:pt idx="103">
                  <c:v>25.041337563672972</c:v>
                </c:pt>
                <c:pt idx="104">
                  <c:v>25.044688764234149</c:v>
                </c:pt>
                <c:pt idx="105">
                  <c:v>25.047848521242955</c:v>
                </c:pt>
                <c:pt idx="106">
                  <c:v>25.050827771267667</c:v>
                </c:pt>
                <c:pt idx="107">
                  <c:v>25.053636826104789</c:v>
                </c:pt>
                <c:pt idx="108">
                  <c:v>25.056285408470334</c:v>
                </c:pt>
                <c:pt idx="109">
                  <c:v>25.058782685652094</c:v>
                </c:pt>
                <c:pt idx="110">
                  <c:v>25.061137301239533</c:v>
                </c:pt>
                <c:pt idx="111">
                  <c:v>25.063357405041035</c:v>
                </c:pt>
                <c:pt idx="112">
                  <c:v>25.065450681292038</c:v>
                </c:pt>
                <c:pt idx="113">
                  <c:v>25.067424375251782</c:v>
                </c:pt>
                <c:pt idx="114">
                  <c:v>25.06928531828061</c:v>
                </c:pt>
                <c:pt idx="115">
                  <c:v>25.071039951484739</c:v>
                </c:pt>
                <c:pt idx="116">
                  <c:v>25.072694348010224</c:v>
                </c:pt>
                <c:pt idx="117">
                  <c:v>25.074254234063392</c:v>
                </c:pt>
                <c:pt idx="118">
                  <c:v>25.075725008730402</c:v>
                </c:pt>
                <c:pt idx="119">
                  <c:v>25.077111762664583</c:v>
                </c:pt>
                <c:pt idx="120">
                  <c:v>25.078419295706258</c:v>
                </c:pt>
                <c:pt idx="121">
                  <c:v>25.079652133495959</c:v>
                </c:pt>
                <c:pt idx="122">
                  <c:v>25.080814543138594</c:v>
                </c:pt>
                <c:pt idx="123">
                  <c:v>25.081910547972793</c:v>
                </c:pt>
                <c:pt idx="124">
                  <c:v>25.082943941496495</c:v>
                </c:pt>
                <c:pt idx="125">
                  <c:v>25.083918300497032</c:v>
                </c:pt>
                <c:pt idx="126">
                  <c:v>25.084836997431108</c:v>
                </c:pt>
                <c:pt idx="127">
                  <c:v>25.085703212097588</c:v>
                </c:pt>
                <c:pt idx="128">
                  <c:v>25.086519942643424</c:v>
                </c:pt>
                <c:pt idx="129">
                  <c:v>25.087290015940862</c:v>
                </c:pt>
                <c:pt idx="130">
                  <c:v>25.088016097371817</c:v>
                </c:pt>
                <c:pt idx="131">
                  <c:v>25.088700700053312</c:v>
                </c:pt>
                <c:pt idx="132">
                  <c:v>25.08934619353591</c:v>
                </c:pt>
                <c:pt idx="133">
                  <c:v>25.089954812005182</c:v>
                </c:pt>
                <c:pt idx="134">
                  <c:v>25.090528662014712</c:v>
                </c:pt>
                <c:pt idx="135">
                  <c:v>25.091069729777299</c:v>
                </c:pt>
                <c:pt idx="136">
                  <c:v>25.091579888039647</c:v>
                </c:pt>
                <c:pt idx="137">
                  <c:v>25.092060902564331</c:v>
                </c:pt>
                <c:pt idx="138">
                  <c:v>25.092514438241462</c:v>
                </c:pt>
                <c:pt idx="139">
                  <c:v>25.092942064851208</c:v>
                </c:pt>
                <c:pt idx="140">
                  <c:v>25.093345262497134</c:v>
                </c:pt>
                <c:pt idx="141">
                  <c:v>25.093725426729144</c:v>
                </c:pt>
                <c:pt idx="142">
                  <c:v>25.094083873373762</c:v>
                </c:pt>
                <c:pt idx="143">
                  <c:v>25.094421843088476</c:v>
                </c:pt>
                <c:pt idx="144">
                  <c:v>25.094740505655917</c:v>
                </c:pt>
                <c:pt idx="145">
                  <c:v>25.095040964032705</c:v>
                </c:pt>
                <c:pt idx="146">
                  <c:v>25.095324258167029</c:v>
                </c:pt>
                <c:pt idx="147">
                  <c:v>25.09559136859809</c:v>
                </c:pt>
                <c:pt idx="148">
                  <c:v>25.095843219849986</c:v>
                </c:pt>
                <c:pt idx="149">
                  <c:v>25.096080683631641</c:v>
                </c:pt>
                <c:pt idx="150">
                  <c:v>25.096304581854003</c:v>
                </c:pt>
                <c:pt idx="151">
                  <c:v>25.096515689474828</c:v>
                </c:pt>
                <c:pt idx="152">
                  <c:v>25.096714737180964</c:v>
                </c:pt>
                <c:pt idx="153">
                  <c:v>25.096902413917427</c:v>
                </c:pt>
                <c:pt idx="154">
                  <c:v>25.097079369271963</c:v>
                </c:pt>
                <c:pt idx="155">
                  <c:v>25.097246215723416</c:v>
                </c:pt>
                <c:pt idx="156">
                  <c:v>25.097403530761639</c:v>
                </c:pt>
                <c:pt idx="157">
                  <c:v>25.097551858886302</c:v>
                </c:pt>
                <c:pt idx="158">
                  <c:v>25.097691713491528</c:v>
                </c:pt>
                <c:pt idx="159">
                  <c:v>25.097823578642839</c:v>
                </c:pt>
                <c:pt idx="160">
                  <c:v>25.09794791075262</c:v>
                </c:pt>
                <c:pt idx="161">
                  <c:v>25.098065140159854</c:v>
                </c:pt>
                <c:pt idx="162">
                  <c:v>25.098175672619604</c:v>
                </c:pt>
                <c:pt idx="163">
                  <c:v>25.098279890707424</c:v>
                </c:pt>
                <c:pt idx="164">
                  <c:v>25.098378155143536</c:v>
                </c:pt>
                <c:pt idx="165">
                  <c:v>25.098470806041341</c:v>
                </c:pt>
                <c:pt idx="166">
                  <c:v>25.098558164084636</c:v>
                </c:pt>
                <c:pt idx="167">
                  <c:v>25.098640531637557</c:v>
                </c:pt>
                <c:pt idx="168">
                  <c:v>25.098718193791132</c:v>
                </c:pt>
                <c:pt idx="169">
                  <c:v>25.098791419350032</c:v>
                </c:pt>
                <c:pt idx="170">
                  <c:v>25.098860461762964</c:v>
                </c:pt>
                <c:pt idx="171">
                  <c:v>25.098925559999902</c:v>
                </c:pt>
                <c:pt idx="172">
                  <c:v>25.098986939379223</c:v>
                </c:pt>
                <c:pt idx="173">
                  <c:v>25.099044812347575</c:v>
                </c:pt>
                <c:pt idx="174">
                  <c:v>25.099099379215186</c:v>
                </c:pt>
                <c:pt idx="175">
                  <c:v>25.099150828849201</c:v>
                </c:pt>
                <c:pt idx="176">
                  <c:v>25.099199339327374</c:v>
                </c:pt>
                <c:pt idx="177">
                  <c:v>25.099245078554443</c:v>
                </c:pt>
                <c:pt idx="178">
                  <c:v>25.099288204843266</c:v>
                </c:pt>
                <c:pt idx="179">
                  <c:v>25.099328867462788</c:v>
                </c:pt>
                <c:pt idx="180">
                  <c:v>25.099367207154696</c:v>
                </c:pt>
                <c:pt idx="181">
                  <c:v>25.099403356620538</c:v>
                </c:pt>
                <c:pt idx="182">
                  <c:v>25.099437440981045</c:v>
                </c:pt>
                <c:pt idx="183">
                  <c:v>25.099469578209195</c:v>
                </c:pt>
                <c:pt idx="184">
                  <c:v>25.099499879538538</c:v>
                </c:pt>
                <c:pt idx="185">
                  <c:v>25.099528449848194</c:v>
                </c:pt>
                <c:pt idx="186">
                  <c:v>25.09955538802588</c:v>
                </c:pt>
                <c:pt idx="187">
                  <c:v>25.099580787310167</c:v>
                </c:pt>
                <c:pt idx="188">
                  <c:v>25.099604735613195</c:v>
                </c:pt>
                <c:pt idx="189">
                  <c:v>25.099627315824957</c:v>
                </c:pt>
                <c:pt idx="190">
                  <c:v>25.099648606100214</c:v>
                </c:pt>
                <c:pt idx="191">
                  <c:v>25.099668680128975</c:v>
                </c:pt>
                <c:pt idx="192">
                  <c:v>25.099687607391587</c:v>
                </c:pt>
                <c:pt idx="193">
                  <c:v>25.099705453399189</c:v>
                </c:pt>
                <c:pt idx="194">
                  <c:v>25.099722279920478</c:v>
                </c:pt>
                <c:pt idx="195">
                  <c:v>25.099738145195513</c:v>
                </c:pt>
                <c:pt idx="196">
                  <c:v>25.09975310413726</c:v>
                </c:pt>
                <c:pt idx="197">
                  <c:v>25.099767208521691</c:v>
                </c:pt>
                <c:pt idx="198">
                  <c:v>25.099780507166987</c:v>
                </c:pt>
                <c:pt idx="199">
                  <c:v>25.099793046102484</c:v>
                </c:pt>
                <c:pt idx="200">
                  <c:v>25.099804868728015</c:v>
                </c:pt>
                <c:pt idx="201">
                  <c:v>25.099816015964119</c:v>
                </c:pt>
                <c:pt idx="202">
                  <c:v>25.09982652639367</c:v>
                </c:pt>
                <c:pt idx="203">
                  <c:v>25.099836436395424</c:v>
                </c:pt>
                <c:pt idx="204">
                  <c:v>25.099845780269934</c:v>
                </c:pt>
                <c:pt idx="205">
                  <c:v>25.099854590358266</c:v>
                </c:pt>
                <c:pt idx="206">
                  <c:v>25.099862897153951</c:v>
                </c:pt>
                <c:pt idx="207">
                  <c:v>25.099870729408515</c:v>
                </c:pt>
                <c:pt idx="208">
                  <c:v>25.099878114231</c:v>
                </c:pt>
                <c:pt idx="209">
                  <c:v>25.099885077181792</c:v>
                </c:pt>
                <c:pt idx="210">
                  <c:v>25.099891642361094</c:v>
                </c:pt>
                <c:pt idx="211">
                  <c:v>25.099897832492346</c:v>
                </c:pt>
                <c:pt idx="212">
                  <c:v>25.099903669000859</c:v>
                </c:pt>
                <c:pt idx="213">
                  <c:v>25.099909172087987</c:v>
                </c:pt>
                <c:pt idx="214">
                  <c:v>25.099914360801051</c:v>
                </c:pt>
                <c:pt idx="215">
                  <c:v>25.099919253099252</c:v>
                </c:pt>
                <c:pt idx="216">
                  <c:v>25.099923865915834</c:v>
                </c:pt>
                <c:pt idx="217">
                  <c:v>25.09992821521671</c:v>
                </c:pt>
                <c:pt idx="218">
                  <c:v>25.099932316055696</c:v>
                </c:pt>
                <c:pt idx="219">
                  <c:v>25.099936182626646</c:v>
                </c:pt>
                <c:pt idx="220">
                  <c:v>25.099939828312554</c:v>
                </c:pt>
                <c:pt idx="221">
                  <c:v>25.099943265731888</c:v>
                </c:pt>
                <c:pt idx="222">
                  <c:v>25.09994650678226</c:v>
                </c:pt>
                <c:pt idx="223">
                  <c:v>25.099949562681616</c:v>
                </c:pt>
                <c:pt idx="224">
                  <c:v>25.099952444007045</c:v>
                </c:pt>
                <c:pt idx="225">
                  <c:v>25.099955160731415</c:v>
                </c:pt>
                <c:pt idx="226">
                  <c:v>25.099957722257862</c:v>
                </c:pt>
                <c:pt idx="227">
                  <c:v>25.099960137452356</c:v>
                </c:pt>
                <c:pt idx="228">
                  <c:v>25.09996241467438</c:v>
                </c:pt>
                <c:pt idx="229">
                  <c:v>25.099964561805869</c:v>
                </c:pt>
                <c:pt idx="230">
                  <c:v>25.099966586278487</c:v>
                </c:pt>
                <c:pt idx="231">
                  <c:v>25.09996849509935</c:v>
                </c:pt>
                <c:pt idx="232">
                  <c:v>25.099970294875277</c:v>
                </c:pt>
                <c:pt idx="233">
                  <c:v>25.099971991835663</c:v>
                </c:pt>
                <c:pt idx="234">
                  <c:v>25.099973591854038</c:v>
                </c:pt>
                <c:pt idx="235">
                  <c:v>25.099975100468395</c:v>
                </c:pt>
                <c:pt idx="236">
                  <c:v>25.099976522900352</c:v>
                </c:pt>
                <c:pt idx="237">
                  <c:v>25.099977864073249</c:v>
                </c:pt>
                <c:pt idx="238">
                  <c:v>25.099979128629151</c:v>
                </c:pt>
                <c:pt idx="239">
                  <c:v>25.099980320944951</c:v>
                </c:pt>
                <c:pt idx="240">
                  <c:v>25.099981445147499</c:v>
                </c:pt>
                <c:pt idx="241">
                  <c:v>25.099982505127887</c:v>
                </c:pt>
                <c:pt idx="242">
                  <c:v>25.099983504554931</c:v>
                </c:pt>
                <c:pt idx="243">
                  <c:v>25.099984446887849</c:v>
                </c:pt>
                <c:pt idx="244">
                  <c:v>25.099985335388251</c:v>
                </c:pt>
                <c:pt idx="245">
                  <c:v>25.099986173131416</c:v>
                </c:pt>
                <c:pt idx="246">
                  <c:v>25.099986963016946</c:v>
                </c:pt>
                <c:pt idx="247">
                  <c:v>25.099987707778805</c:v>
                </c:pt>
                <c:pt idx="248">
                  <c:v>25.099988409994758</c:v>
                </c:pt>
                <c:pt idx="249">
                  <c:v>25.099989072095315</c:v>
                </c:pt>
                <c:pt idx="250">
                  <c:v>25.099989696372155</c:v>
                </c:pt>
                <c:pt idx="251">
                  <c:v>25.099990284986024</c:v>
                </c:pt>
                <c:pt idx="252">
                  <c:v>25.099990839974229</c:v>
                </c:pt>
                <c:pt idx="253">
                  <c:v>25.099991363257704</c:v>
                </c:pt>
                <c:pt idx="254">
                  <c:v>25.099991856647637</c:v>
                </c:pt>
                <c:pt idx="255">
                  <c:v>25.099992321851758</c:v>
                </c:pt>
              </c:numCache>
            </c:numRef>
          </c:yVal>
          <c:smooth val="1"/>
          <c:extLst>
            <c:ext xmlns:c16="http://schemas.microsoft.com/office/drawing/2014/chart" uri="{C3380CC4-5D6E-409C-BE32-E72D297353CC}">
              <c16:uniqueId val="{00000001-460C-40F5-B644-76209F3CDEB9}"/>
            </c:ext>
          </c:extLst>
        </c:ser>
        <c:dLbls>
          <c:showLegendKey val="0"/>
          <c:showVal val="0"/>
          <c:showCatName val="0"/>
          <c:showSerName val="0"/>
          <c:showPercent val="0"/>
          <c:showBubbleSize val="0"/>
        </c:dLbls>
        <c:axId val="238905520"/>
        <c:axId val="238906080"/>
      </c:scatterChart>
      <c:valAx>
        <c:axId val="23890552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38906080"/>
        <c:crosses val="autoZero"/>
        <c:crossBetween val="midCat"/>
      </c:valAx>
      <c:valAx>
        <c:axId val="2389060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238905520"/>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s-B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s-ES" dirty="0"/>
              <a:t>Nivel</a:t>
            </a:r>
            <a:r>
              <a:rPr lang="es-ES" baseline="0" dirty="0"/>
              <a:t> de liquido</a:t>
            </a:r>
            <a:endParaRPr lang="es-BO"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s-BO"/>
        </a:p>
      </c:txPr>
    </c:title>
    <c:autoTitleDeleted val="0"/>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xVal>
            <c:numRef>
              <c:f>Hoja1!$E$2:$E$252</c:f>
              <c:numCache>
                <c:formatCode>General</c:formatCode>
                <c:ptCount val="251"/>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pt idx="101">
                  <c:v>1010</c:v>
                </c:pt>
                <c:pt idx="102">
                  <c:v>1020</c:v>
                </c:pt>
                <c:pt idx="103">
                  <c:v>1030</c:v>
                </c:pt>
                <c:pt idx="104">
                  <c:v>1040</c:v>
                </c:pt>
                <c:pt idx="105">
                  <c:v>1050</c:v>
                </c:pt>
                <c:pt idx="106">
                  <c:v>1060</c:v>
                </c:pt>
                <c:pt idx="107">
                  <c:v>1070</c:v>
                </c:pt>
                <c:pt idx="108">
                  <c:v>1080</c:v>
                </c:pt>
                <c:pt idx="109">
                  <c:v>1090</c:v>
                </c:pt>
                <c:pt idx="110">
                  <c:v>1100</c:v>
                </c:pt>
                <c:pt idx="111">
                  <c:v>1110</c:v>
                </c:pt>
                <c:pt idx="112">
                  <c:v>1120</c:v>
                </c:pt>
                <c:pt idx="113">
                  <c:v>1130</c:v>
                </c:pt>
                <c:pt idx="114">
                  <c:v>1140</c:v>
                </c:pt>
                <c:pt idx="115">
                  <c:v>1150</c:v>
                </c:pt>
                <c:pt idx="116">
                  <c:v>1160</c:v>
                </c:pt>
                <c:pt idx="117">
                  <c:v>1170</c:v>
                </c:pt>
                <c:pt idx="118">
                  <c:v>1180</c:v>
                </c:pt>
                <c:pt idx="119">
                  <c:v>1190</c:v>
                </c:pt>
                <c:pt idx="120">
                  <c:v>1200</c:v>
                </c:pt>
                <c:pt idx="121">
                  <c:v>1210</c:v>
                </c:pt>
                <c:pt idx="122">
                  <c:v>1220</c:v>
                </c:pt>
                <c:pt idx="123">
                  <c:v>1230</c:v>
                </c:pt>
                <c:pt idx="124">
                  <c:v>1240</c:v>
                </c:pt>
                <c:pt idx="125">
                  <c:v>1250</c:v>
                </c:pt>
                <c:pt idx="126">
                  <c:v>1260</c:v>
                </c:pt>
                <c:pt idx="127">
                  <c:v>1270</c:v>
                </c:pt>
                <c:pt idx="128">
                  <c:v>1280</c:v>
                </c:pt>
                <c:pt idx="129">
                  <c:v>1290</c:v>
                </c:pt>
                <c:pt idx="130">
                  <c:v>1300</c:v>
                </c:pt>
                <c:pt idx="131">
                  <c:v>1310</c:v>
                </c:pt>
                <c:pt idx="132">
                  <c:v>1320</c:v>
                </c:pt>
                <c:pt idx="133">
                  <c:v>1330</c:v>
                </c:pt>
                <c:pt idx="134">
                  <c:v>1340</c:v>
                </c:pt>
                <c:pt idx="135">
                  <c:v>1350</c:v>
                </c:pt>
                <c:pt idx="136">
                  <c:v>1360</c:v>
                </c:pt>
                <c:pt idx="137">
                  <c:v>1370</c:v>
                </c:pt>
                <c:pt idx="138">
                  <c:v>1380</c:v>
                </c:pt>
                <c:pt idx="139">
                  <c:v>1390</c:v>
                </c:pt>
                <c:pt idx="140">
                  <c:v>1400</c:v>
                </c:pt>
                <c:pt idx="141">
                  <c:v>1410</c:v>
                </c:pt>
                <c:pt idx="142">
                  <c:v>1420</c:v>
                </c:pt>
                <c:pt idx="143">
                  <c:v>1430</c:v>
                </c:pt>
                <c:pt idx="144">
                  <c:v>1440</c:v>
                </c:pt>
                <c:pt idx="145">
                  <c:v>1450</c:v>
                </c:pt>
                <c:pt idx="146">
                  <c:v>1460</c:v>
                </c:pt>
                <c:pt idx="147">
                  <c:v>1470</c:v>
                </c:pt>
                <c:pt idx="148">
                  <c:v>1480</c:v>
                </c:pt>
                <c:pt idx="149">
                  <c:v>1490</c:v>
                </c:pt>
                <c:pt idx="150">
                  <c:v>1500</c:v>
                </c:pt>
                <c:pt idx="151">
                  <c:v>1510</c:v>
                </c:pt>
                <c:pt idx="152">
                  <c:v>1520</c:v>
                </c:pt>
                <c:pt idx="153">
                  <c:v>1530</c:v>
                </c:pt>
                <c:pt idx="154">
                  <c:v>1540</c:v>
                </c:pt>
                <c:pt idx="155">
                  <c:v>1550</c:v>
                </c:pt>
                <c:pt idx="156">
                  <c:v>1560</c:v>
                </c:pt>
                <c:pt idx="157">
                  <c:v>1570</c:v>
                </c:pt>
                <c:pt idx="158">
                  <c:v>1580</c:v>
                </c:pt>
                <c:pt idx="159">
                  <c:v>1590</c:v>
                </c:pt>
                <c:pt idx="160">
                  <c:v>1600</c:v>
                </c:pt>
                <c:pt idx="161">
                  <c:v>1610</c:v>
                </c:pt>
                <c:pt idx="162">
                  <c:v>1620</c:v>
                </c:pt>
                <c:pt idx="163">
                  <c:v>1630</c:v>
                </c:pt>
                <c:pt idx="164">
                  <c:v>1640</c:v>
                </c:pt>
                <c:pt idx="165">
                  <c:v>1650</c:v>
                </c:pt>
                <c:pt idx="166">
                  <c:v>1660</c:v>
                </c:pt>
                <c:pt idx="167">
                  <c:v>1670</c:v>
                </c:pt>
                <c:pt idx="168">
                  <c:v>1680</c:v>
                </c:pt>
                <c:pt idx="169">
                  <c:v>1690</c:v>
                </c:pt>
                <c:pt idx="170">
                  <c:v>1700</c:v>
                </c:pt>
                <c:pt idx="171">
                  <c:v>1710</c:v>
                </c:pt>
                <c:pt idx="172">
                  <c:v>1720</c:v>
                </c:pt>
                <c:pt idx="173">
                  <c:v>1730</c:v>
                </c:pt>
                <c:pt idx="174">
                  <c:v>1740</c:v>
                </c:pt>
                <c:pt idx="175">
                  <c:v>1750</c:v>
                </c:pt>
                <c:pt idx="176">
                  <c:v>1760</c:v>
                </c:pt>
                <c:pt idx="177">
                  <c:v>1770</c:v>
                </c:pt>
                <c:pt idx="178">
                  <c:v>1780</c:v>
                </c:pt>
                <c:pt idx="179">
                  <c:v>1790</c:v>
                </c:pt>
                <c:pt idx="180">
                  <c:v>1800</c:v>
                </c:pt>
                <c:pt idx="181">
                  <c:v>1810</c:v>
                </c:pt>
                <c:pt idx="182">
                  <c:v>1820</c:v>
                </c:pt>
                <c:pt idx="183">
                  <c:v>1830</c:v>
                </c:pt>
                <c:pt idx="184">
                  <c:v>1840</c:v>
                </c:pt>
                <c:pt idx="185">
                  <c:v>1850</c:v>
                </c:pt>
                <c:pt idx="186">
                  <c:v>1860</c:v>
                </c:pt>
                <c:pt idx="187">
                  <c:v>1870</c:v>
                </c:pt>
                <c:pt idx="188">
                  <c:v>1880</c:v>
                </c:pt>
                <c:pt idx="189">
                  <c:v>1890</c:v>
                </c:pt>
                <c:pt idx="190">
                  <c:v>1900</c:v>
                </c:pt>
                <c:pt idx="191">
                  <c:v>1910</c:v>
                </c:pt>
                <c:pt idx="192">
                  <c:v>1920</c:v>
                </c:pt>
                <c:pt idx="193">
                  <c:v>1930</c:v>
                </c:pt>
                <c:pt idx="194">
                  <c:v>1940</c:v>
                </c:pt>
                <c:pt idx="195">
                  <c:v>1950</c:v>
                </c:pt>
                <c:pt idx="196">
                  <c:v>1960</c:v>
                </c:pt>
                <c:pt idx="197">
                  <c:v>1970</c:v>
                </c:pt>
                <c:pt idx="198">
                  <c:v>1980</c:v>
                </c:pt>
                <c:pt idx="199">
                  <c:v>1990</c:v>
                </c:pt>
                <c:pt idx="200">
                  <c:v>2000</c:v>
                </c:pt>
                <c:pt idx="201">
                  <c:v>2010</c:v>
                </c:pt>
                <c:pt idx="202">
                  <c:v>2020</c:v>
                </c:pt>
                <c:pt idx="203">
                  <c:v>2030</c:v>
                </c:pt>
                <c:pt idx="204">
                  <c:v>2040</c:v>
                </c:pt>
                <c:pt idx="205">
                  <c:v>2050</c:v>
                </c:pt>
                <c:pt idx="206">
                  <c:v>2060</c:v>
                </c:pt>
                <c:pt idx="207">
                  <c:v>2070</c:v>
                </c:pt>
                <c:pt idx="208">
                  <c:v>2080</c:v>
                </c:pt>
                <c:pt idx="209">
                  <c:v>2090</c:v>
                </c:pt>
                <c:pt idx="210">
                  <c:v>2100</c:v>
                </c:pt>
                <c:pt idx="211">
                  <c:v>2110</c:v>
                </c:pt>
                <c:pt idx="212">
                  <c:v>2120</c:v>
                </c:pt>
                <c:pt idx="213">
                  <c:v>2130</c:v>
                </c:pt>
                <c:pt idx="214">
                  <c:v>2140</c:v>
                </c:pt>
                <c:pt idx="215">
                  <c:v>2150</c:v>
                </c:pt>
                <c:pt idx="216">
                  <c:v>2160</c:v>
                </c:pt>
                <c:pt idx="217">
                  <c:v>2170</c:v>
                </c:pt>
                <c:pt idx="218">
                  <c:v>2180</c:v>
                </c:pt>
                <c:pt idx="219">
                  <c:v>2190</c:v>
                </c:pt>
                <c:pt idx="220">
                  <c:v>2200</c:v>
                </c:pt>
                <c:pt idx="221">
                  <c:v>2210</c:v>
                </c:pt>
                <c:pt idx="222">
                  <c:v>2220</c:v>
                </c:pt>
                <c:pt idx="223">
                  <c:v>2230</c:v>
                </c:pt>
                <c:pt idx="224">
                  <c:v>2240</c:v>
                </c:pt>
                <c:pt idx="225">
                  <c:v>2250</c:v>
                </c:pt>
                <c:pt idx="226">
                  <c:v>2260</c:v>
                </c:pt>
                <c:pt idx="227">
                  <c:v>2270</c:v>
                </c:pt>
                <c:pt idx="228">
                  <c:v>2280</c:v>
                </c:pt>
                <c:pt idx="229">
                  <c:v>2290</c:v>
                </c:pt>
                <c:pt idx="230">
                  <c:v>2300</c:v>
                </c:pt>
                <c:pt idx="231">
                  <c:v>2310</c:v>
                </c:pt>
                <c:pt idx="232">
                  <c:v>2320</c:v>
                </c:pt>
                <c:pt idx="233">
                  <c:v>2330</c:v>
                </c:pt>
                <c:pt idx="234">
                  <c:v>2340</c:v>
                </c:pt>
                <c:pt idx="235">
                  <c:v>2350</c:v>
                </c:pt>
                <c:pt idx="236">
                  <c:v>2360</c:v>
                </c:pt>
                <c:pt idx="237">
                  <c:v>2370</c:v>
                </c:pt>
                <c:pt idx="238">
                  <c:v>2380</c:v>
                </c:pt>
                <c:pt idx="239">
                  <c:v>2390</c:v>
                </c:pt>
                <c:pt idx="240">
                  <c:v>2400</c:v>
                </c:pt>
                <c:pt idx="241">
                  <c:v>2410</c:v>
                </c:pt>
                <c:pt idx="242">
                  <c:v>2420</c:v>
                </c:pt>
                <c:pt idx="243">
                  <c:v>2430</c:v>
                </c:pt>
                <c:pt idx="244">
                  <c:v>2440</c:v>
                </c:pt>
                <c:pt idx="245">
                  <c:v>2450</c:v>
                </c:pt>
                <c:pt idx="246">
                  <c:v>2460</c:v>
                </c:pt>
                <c:pt idx="247">
                  <c:v>2470</c:v>
                </c:pt>
                <c:pt idx="248">
                  <c:v>2480</c:v>
                </c:pt>
                <c:pt idx="249">
                  <c:v>2490</c:v>
                </c:pt>
                <c:pt idx="250">
                  <c:v>2500</c:v>
                </c:pt>
              </c:numCache>
            </c:numRef>
          </c:xVal>
          <c:yVal>
            <c:numRef>
              <c:f>Hoja1!$F$2:$F$252</c:f>
              <c:numCache>
                <c:formatCode>General</c:formatCode>
                <c:ptCount val="251"/>
                <c:pt idx="0">
                  <c:v>0.5</c:v>
                </c:pt>
                <c:pt idx="1">
                  <c:v>1</c:v>
                </c:pt>
                <c:pt idx="2">
                  <c:v>1.4</c:v>
                </c:pt>
                <c:pt idx="3">
                  <c:v>1.9</c:v>
                </c:pt>
                <c:pt idx="4">
                  <c:v>2.2999999999999998</c:v>
                </c:pt>
                <c:pt idx="5">
                  <c:v>3</c:v>
                </c:pt>
                <c:pt idx="6">
                  <c:v>3.6</c:v>
                </c:pt>
                <c:pt idx="7">
                  <c:v>4</c:v>
                </c:pt>
                <c:pt idx="8">
                  <c:v>4.7</c:v>
                </c:pt>
                <c:pt idx="9">
                  <c:v>5.0999999999999996</c:v>
                </c:pt>
                <c:pt idx="10">
                  <c:v>5.6</c:v>
                </c:pt>
                <c:pt idx="11">
                  <c:v>5.9</c:v>
                </c:pt>
                <c:pt idx="12">
                  <c:v>6.3</c:v>
                </c:pt>
                <c:pt idx="13">
                  <c:v>6.8</c:v>
                </c:pt>
                <c:pt idx="14">
                  <c:v>7.2</c:v>
                </c:pt>
                <c:pt idx="15">
                  <c:v>7.6</c:v>
                </c:pt>
                <c:pt idx="16">
                  <c:v>8</c:v>
                </c:pt>
                <c:pt idx="17">
                  <c:v>8.4</c:v>
                </c:pt>
                <c:pt idx="18">
                  <c:v>8.6999999999999993</c:v>
                </c:pt>
                <c:pt idx="19">
                  <c:v>9.1999999999999993</c:v>
                </c:pt>
                <c:pt idx="20">
                  <c:v>9.5</c:v>
                </c:pt>
                <c:pt idx="21">
                  <c:v>9.9</c:v>
                </c:pt>
                <c:pt idx="22">
                  <c:v>10.1</c:v>
                </c:pt>
                <c:pt idx="23">
                  <c:v>10.4</c:v>
                </c:pt>
                <c:pt idx="24">
                  <c:v>10.7</c:v>
                </c:pt>
                <c:pt idx="25">
                  <c:v>11</c:v>
                </c:pt>
                <c:pt idx="26">
                  <c:v>11.3</c:v>
                </c:pt>
                <c:pt idx="27">
                  <c:v>11.7</c:v>
                </c:pt>
                <c:pt idx="28">
                  <c:v>12</c:v>
                </c:pt>
                <c:pt idx="29">
                  <c:v>12.4</c:v>
                </c:pt>
                <c:pt idx="30">
                  <c:v>12.6</c:v>
                </c:pt>
                <c:pt idx="31">
                  <c:v>12.8</c:v>
                </c:pt>
                <c:pt idx="32">
                  <c:v>13</c:v>
                </c:pt>
                <c:pt idx="33">
                  <c:v>13.2</c:v>
                </c:pt>
                <c:pt idx="34">
                  <c:v>13.5</c:v>
                </c:pt>
                <c:pt idx="35">
                  <c:v>13.8</c:v>
                </c:pt>
                <c:pt idx="36">
                  <c:v>14</c:v>
                </c:pt>
                <c:pt idx="37">
                  <c:v>14.3</c:v>
                </c:pt>
                <c:pt idx="38">
                  <c:v>14.5</c:v>
                </c:pt>
                <c:pt idx="39">
                  <c:v>14.7</c:v>
                </c:pt>
                <c:pt idx="40">
                  <c:v>14.9</c:v>
                </c:pt>
                <c:pt idx="41">
                  <c:v>15.1</c:v>
                </c:pt>
                <c:pt idx="42">
                  <c:v>15.3</c:v>
                </c:pt>
                <c:pt idx="43">
                  <c:v>15.5</c:v>
                </c:pt>
                <c:pt idx="44">
                  <c:v>15.7</c:v>
                </c:pt>
                <c:pt idx="45">
                  <c:v>15.9</c:v>
                </c:pt>
                <c:pt idx="46">
                  <c:v>16.100000000000001</c:v>
                </c:pt>
                <c:pt idx="47">
                  <c:v>16.2</c:v>
                </c:pt>
                <c:pt idx="48">
                  <c:v>16.399999999999999</c:v>
                </c:pt>
                <c:pt idx="49">
                  <c:v>16.600000000000001</c:v>
                </c:pt>
                <c:pt idx="50">
                  <c:v>16.7</c:v>
                </c:pt>
                <c:pt idx="51">
                  <c:v>16.8</c:v>
                </c:pt>
                <c:pt idx="52">
                  <c:v>16.8</c:v>
                </c:pt>
                <c:pt idx="53">
                  <c:v>16.899999999999999</c:v>
                </c:pt>
                <c:pt idx="54">
                  <c:v>17</c:v>
                </c:pt>
                <c:pt idx="55">
                  <c:v>17.100000000000001</c:v>
                </c:pt>
                <c:pt idx="56">
                  <c:v>17.100000000000001</c:v>
                </c:pt>
                <c:pt idx="57">
                  <c:v>17.2</c:v>
                </c:pt>
                <c:pt idx="58">
                  <c:v>17.399999999999999</c:v>
                </c:pt>
                <c:pt idx="59">
                  <c:v>17.5</c:v>
                </c:pt>
                <c:pt idx="60">
                  <c:v>17.5</c:v>
                </c:pt>
                <c:pt idx="61">
                  <c:v>17.600000000000001</c:v>
                </c:pt>
                <c:pt idx="62">
                  <c:v>17.600000000000001</c:v>
                </c:pt>
                <c:pt idx="63">
                  <c:v>17.600000000000001</c:v>
                </c:pt>
                <c:pt idx="64">
                  <c:v>17.7</c:v>
                </c:pt>
                <c:pt idx="65">
                  <c:v>17.8</c:v>
                </c:pt>
                <c:pt idx="66">
                  <c:v>17.899999999999999</c:v>
                </c:pt>
                <c:pt idx="67">
                  <c:v>17.899999999999999</c:v>
                </c:pt>
                <c:pt idx="68">
                  <c:v>17.899999999999999</c:v>
                </c:pt>
                <c:pt idx="69">
                  <c:v>18</c:v>
                </c:pt>
                <c:pt idx="70">
                  <c:v>18.100000000000001</c:v>
                </c:pt>
                <c:pt idx="71">
                  <c:v>18.100000000000001</c:v>
                </c:pt>
                <c:pt idx="72">
                  <c:v>18.2</c:v>
                </c:pt>
                <c:pt idx="73">
                  <c:v>18.3</c:v>
                </c:pt>
                <c:pt idx="74">
                  <c:v>18.399999999999999</c:v>
                </c:pt>
                <c:pt idx="75">
                  <c:v>18.399999999999999</c:v>
                </c:pt>
                <c:pt idx="76">
                  <c:v>18.399999999999999</c:v>
                </c:pt>
                <c:pt idx="77">
                  <c:v>18.399999999999999</c:v>
                </c:pt>
                <c:pt idx="78">
                  <c:v>18.5</c:v>
                </c:pt>
                <c:pt idx="79">
                  <c:v>18.5</c:v>
                </c:pt>
                <c:pt idx="80">
                  <c:v>18.600000000000001</c:v>
                </c:pt>
                <c:pt idx="81">
                  <c:v>18.600000000000001</c:v>
                </c:pt>
                <c:pt idx="82">
                  <c:v>18.600000000000001</c:v>
                </c:pt>
                <c:pt idx="83">
                  <c:v>18.7</c:v>
                </c:pt>
                <c:pt idx="84">
                  <c:v>18.8</c:v>
                </c:pt>
                <c:pt idx="85">
                  <c:v>18.8</c:v>
                </c:pt>
                <c:pt idx="86">
                  <c:v>18.8</c:v>
                </c:pt>
                <c:pt idx="87">
                  <c:v>18.899999999999999</c:v>
                </c:pt>
                <c:pt idx="88">
                  <c:v>18.899999999999999</c:v>
                </c:pt>
                <c:pt idx="89">
                  <c:v>19</c:v>
                </c:pt>
                <c:pt idx="90">
                  <c:v>19</c:v>
                </c:pt>
                <c:pt idx="91">
                  <c:v>19</c:v>
                </c:pt>
                <c:pt idx="92">
                  <c:v>19</c:v>
                </c:pt>
                <c:pt idx="93">
                  <c:v>19.100000000000001</c:v>
                </c:pt>
                <c:pt idx="94">
                  <c:v>19.100000000000001</c:v>
                </c:pt>
                <c:pt idx="95">
                  <c:v>19.100000000000001</c:v>
                </c:pt>
                <c:pt idx="96">
                  <c:v>19.100000000000001</c:v>
                </c:pt>
                <c:pt idx="97">
                  <c:v>19.100000000000001</c:v>
                </c:pt>
                <c:pt idx="98">
                  <c:v>19.2</c:v>
                </c:pt>
                <c:pt idx="99">
                  <c:v>19.2</c:v>
                </c:pt>
                <c:pt idx="100">
                  <c:v>19.2</c:v>
                </c:pt>
                <c:pt idx="101">
                  <c:v>19.2</c:v>
                </c:pt>
                <c:pt idx="102">
                  <c:v>19.2</c:v>
                </c:pt>
                <c:pt idx="103">
                  <c:v>19.2</c:v>
                </c:pt>
                <c:pt idx="104">
                  <c:v>19.3</c:v>
                </c:pt>
                <c:pt idx="105">
                  <c:v>19.3</c:v>
                </c:pt>
                <c:pt idx="106">
                  <c:v>19.3</c:v>
                </c:pt>
                <c:pt idx="107">
                  <c:v>19.3</c:v>
                </c:pt>
                <c:pt idx="108">
                  <c:v>19.3</c:v>
                </c:pt>
                <c:pt idx="109">
                  <c:v>19.399999999999999</c:v>
                </c:pt>
                <c:pt idx="110">
                  <c:v>19.399999999999999</c:v>
                </c:pt>
                <c:pt idx="111">
                  <c:v>19.399999999999999</c:v>
                </c:pt>
                <c:pt idx="112">
                  <c:v>19.399999999999999</c:v>
                </c:pt>
                <c:pt idx="113">
                  <c:v>19.5</c:v>
                </c:pt>
                <c:pt idx="114">
                  <c:v>19.5</c:v>
                </c:pt>
                <c:pt idx="115">
                  <c:v>19.5</c:v>
                </c:pt>
                <c:pt idx="116">
                  <c:v>19.5</c:v>
                </c:pt>
                <c:pt idx="117">
                  <c:v>19.5</c:v>
                </c:pt>
                <c:pt idx="118">
                  <c:v>19.5</c:v>
                </c:pt>
                <c:pt idx="119">
                  <c:v>19.5</c:v>
                </c:pt>
                <c:pt idx="120">
                  <c:v>19.5</c:v>
                </c:pt>
                <c:pt idx="121">
                  <c:v>19.5</c:v>
                </c:pt>
                <c:pt idx="122">
                  <c:v>19.600000000000001</c:v>
                </c:pt>
                <c:pt idx="123">
                  <c:v>19.600000000000001</c:v>
                </c:pt>
                <c:pt idx="124">
                  <c:v>19.600000000000001</c:v>
                </c:pt>
                <c:pt idx="125">
                  <c:v>19.600000000000001</c:v>
                </c:pt>
                <c:pt idx="126">
                  <c:v>19.600000000000001</c:v>
                </c:pt>
                <c:pt idx="127">
                  <c:v>19.600000000000001</c:v>
                </c:pt>
                <c:pt idx="128">
                  <c:v>19.600000000000001</c:v>
                </c:pt>
                <c:pt idx="129">
                  <c:v>19.7</c:v>
                </c:pt>
                <c:pt idx="130">
                  <c:v>19.7</c:v>
                </c:pt>
                <c:pt idx="131">
                  <c:v>19.7</c:v>
                </c:pt>
                <c:pt idx="132">
                  <c:v>19.7</c:v>
                </c:pt>
                <c:pt idx="133">
                  <c:v>19.7</c:v>
                </c:pt>
                <c:pt idx="134">
                  <c:v>19.7</c:v>
                </c:pt>
                <c:pt idx="135">
                  <c:v>19.7</c:v>
                </c:pt>
                <c:pt idx="136">
                  <c:v>19.7</c:v>
                </c:pt>
                <c:pt idx="137">
                  <c:v>19.7</c:v>
                </c:pt>
                <c:pt idx="138">
                  <c:v>19.7</c:v>
                </c:pt>
                <c:pt idx="139">
                  <c:v>19.7</c:v>
                </c:pt>
                <c:pt idx="140">
                  <c:v>19.7</c:v>
                </c:pt>
                <c:pt idx="141">
                  <c:v>19.7</c:v>
                </c:pt>
                <c:pt idx="142">
                  <c:v>19.7</c:v>
                </c:pt>
                <c:pt idx="143">
                  <c:v>19.7</c:v>
                </c:pt>
                <c:pt idx="144">
                  <c:v>19.8</c:v>
                </c:pt>
                <c:pt idx="145">
                  <c:v>19.8</c:v>
                </c:pt>
                <c:pt idx="146">
                  <c:v>19.8</c:v>
                </c:pt>
                <c:pt idx="147">
                  <c:v>19.8</c:v>
                </c:pt>
                <c:pt idx="148">
                  <c:v>19.8</c:v>
                </c:pt>
                <c:pt idx="149">
                  <c:v>19.8</c:v>
                </c:pt>
                <c:pt idx="150">
                  <c:v>19.8</c:v>
                </c:pt>
                <c:pt idx="151">
                  <c:v>19.8</c:v>
                </c:pt>
                <c:pt idx="152">
                  <c:v>19.8</c:v>
                </c:pt>
                <c:pt idx="153">
                  <c:v>19.8</c:v>
                </c:pt>
                <c:pt idx="154">
                  <c:v>19.8</c:v>
                </c:pt>
                <c:pt idx="155">
                  <c:v>19.8</c:v>
                </c:pt>
                <c:pt idx="156">
                  <c:v>19.8</c:v>
                </c:pt>
                <c:pt idx="157">
                  <c:v>19.8</c:v>
                </c:pt>
                <c:pt idx="158">
                  <c:v>19.8</c:v>
                </c:pt>
                <c:pt idx="159">
                  <c:v>19.8</c:v>
                </c:pt>
                <c:pt idx="160">
                  <c:v>19.8</c:v>
                </c:pt>
                <c:pt idx="161">
                  <c:v>19.8</c:v>
                </c:pt>
                <c:pt idx="162">
                  <c:v>19.8</c:v>
                </c:pt>
                <c:pt idx="163">
                  <c:v>19.8</c:v>
                </c:pt>
                <c:pt idx="164">
                  <c:v>19.8</c:v>
                </c:pt>
                <c:pt idx="165">
                  <c:v>19.8</c:v>
                </c:pt>
                <c:pt idx="166">
                  <c:v>19.8</c:v>
                </c:pt>
                <c:pt idx="167">
                  <c:v>19.899999999999999</c:v>
                </c:pt>
                <c:pt idx="168">
                  <c:v>19.8</c:v>
                </c:pt>
                <c:pt idx="169">
                  <c:v>19.899999999999999</c:v>
                </c:pt>
                <c:pt idx="170">
                  <c:v>19.899999999999999</c:v>
                </c:pt>
                <c:pt idx="171">
                  <c:v>19.899999999999999</c:v>
                </c:pt>
                <c:pt idx="172">
                  <c:v>19.899999999999999</c:v>
                </c:pt>
                <c:pt idx="173">
                  <c:v>19.899999999999999</c:v>
                </c:pt>
                <c:pt idx="174">
                  <c:v>20</c:v>
                </c:pt>
                <c:pt idx="175">
                  <c:v>19.899999999999999</c:v>
                </c:pt>
                <c:pt idx="176">
                  <c:v>19.899999999999999</c:v>
                </c:pt>
                <c:pt idx="177">
                  <c:v>20</c:v>
                </c:pt>
                <c:pt idx="178">
                  <c:v>19.899999999999999</c:v>
                </c:pt>
                <c:pt idx="179">
                  <c:v>19.899999999999999</c:v>
                </c:pt>
                <c:pt idx="180">
                  <c:v>20</c:v>
                </c:pt>
                <c:pt idx="181">
                  <c:v>20</c:v>
                </c:pt>
                <c:pt idx="182">
                  <c:v>20</c:v>
                </c:pt>
                <c:pt idx="183">
                  <c:v>20</c:v>
                </c:pt>
                <c:pt idx="184">
                  <c:v>20</c:v>
                </c:pt>
                <c:pt idx="185">
                  <c:v>20</c:v>
                </c:pt>
                <c:pt idx="186">
                  <c:v>19.899999999999999</c:v>
                </c:pt>
                <c:pt idx="187">
                  <c:v>19.899999999999999</c:v>
                </c:pt>
                <c:pt idx="188">
                  <c:v>20</c:v>
                </c:pt>
                <c:pt idx="189">
                  <c:v>20</c:v>
                </c:pt>
                <c:pt idx="190">
                  <c:v>20</c:v>
                </c:pt>
                <c:pt idx="191">
                  <c:v>20</c:v>
                </c:pt>
                <c:pt idx="192">
                  <c:v>20</c:v>
                </c:pt>
                <c:pt idx="193">
                  <c:v>20</c:v>
                </c:pt>
                <c:pt idx="194">
                  <c:v>20</c:v>
                </c:pt>
                <c:pt idx="195">
                  <c:v>20</c:v>
                </c:pt>
                <c:pt idx="196">
                  <c:v>20</c:v>
                </c:pt>
                <c:pt idx="197">
                  <c:v>20</c:v>
                </c:pt>
                <c:pt idx="198">
                  <c:v>20</c:v>
                </c:pt>
                <c:pt idx="199">
                  <c:v>20</c:v>
                </c:pt>
                <c:pt idx="200">
                  <c:v>20.100000000000001</c:v>
                </c:pt>
                <c:pt idx="201">
                  <c:v>20</c:v>
                </c:pt>
                <c:pt idx="202">
                  <c:v>20.100000000000001</c:v>
                </c:pt>
                <c:pt idx="203">
                  <c:v>20</c:v>
                </c:pt>
                <c:pt idx="204">
                  <c:v>20</c:v>
                </c:pt>
                <c:pt idx="205">
                  <c:v>20</c:v>
                </c:pt>
                <c:pt idx="206">
                  <c:v>20</c:v>
                </c:pt>
                <c:pt idx="207">
                  <c:v>20</c:v>
                </c:pt>
                <c:pt idx="208">
                  <c:v>20</c:v>
                </c:pt>
                <c:pt idx="209">
                  <c:v>20.100000000000001</c:v>
                </c:pt>
                <c:pt idx="210">
                  <c:v>20</c:v>
                </c:pt>
                <c:pt idx="211">
                  <c:v>20.100000000000001</c:v>
                </c:pt>
                <c:pt idx="212">
                  <c:v>20.100000000000001</c:v>
                </c:pt>
                <c:pt idx="213">
                  <c:v>20.100000000000001</c:v>
                </c:pt>
                <c:pt idx="214">
                  <c:v>20</c:v>
                </c:pt>
                <c:pt idx="215">
                  <c:v>20.100000000000001</c:v>
                </c:pt>
                <c:pt idx="216">
                  <c:v>20.100000000000001</c:v>
                </c:pt>
                <c:pt idx="217">
                  <c:v>20.100000000000001</c:v>
                </c:pt>
                <c:pt idx="218">
                  <c:v>20</c:v>
                </c:pt>
                <c:pt idx="219">
                  <c:v>20.100000000000001</c:v>
                </c:pt>
                <c:pt idx="220">
                  <c:v>20</c:v>
                </c:pt>
                <c:pt idx="221">
                  <c:v>20.100000000000001</c:v>
                </c:pt>
                <c:pt idx="222">
                  <c:v>20.100000000000001</c:v>
                </c:pt>
                <c:pt idx="223">
                  <c:v>20.100000000000001</c:v>
                </c:pt>
                <c:pt idx="224">
                  <c:v>20</c:v>
                </c:pt>
                <c:pt idx="225">
                  <c:v>20.100000000000001</c:v>
                </c:pt>
                <c:pt idx="226">
                  <c:v>20</c:v>
                </c:pt>
                <c:pt idx="227">
                  <c:v>20.100000000000001</c:v>
                </c:pt>
                <c:pt idx="228">
                  <c:v>20</c:v>
                </c:pt>
                <c:pt idx="229">
                  <c:v>20.100000000000001</c:v>
                </c:pt>
                <c:pt idx="230">
                  <c:v>20.100000000000001</c:v>
                </c:pt>
                <c:pt idx="231">
                  <c:v>20.100000000000001</c:v>
                </c:pt>
                <c:pt idx="232">
                  <c:v>20.100000000000001</c:v>
                </c:pt>
                <c:pt idx="233">
                  <c:v>20.100000000000001</c:v>
                </c:pt>
                <c:pt idx="234">
                  <c:v>20</c:v>
                </c:pt>
                <c:pt idx="235">
                  <c:v>20.100000000000001</c:v>
                </c:pt>
                <c:pt idx="236">
                  <c:v>20.100000000000001</c:v>
                </c:pt>
                <c:pt idx="237">
                  <c:v>20.100000000000001</c:v>
                </c:pt>
                <c:pt idx="238">
                  <c:v>20.100000000000001</c:v>
                </c:pt>
                <c:pt idx="239">
                  <c:v>20</c:v>
                </c:pt>
                <c:pt idx="240">
                  <c:v>20.100000000000001</c:v>
                </c:pt>
                <c:pt idx="241">
                  <c:v>20.100000000000001</c:v>
                </c:pt>
                <c:pt idx="242">
                  <c:v>20.100000000000001</c:v>
                </c:pt>
                <c:pt idx="243">
                  <c:v>20.100000000000001</c:v>
                </c:pt>
                <c:pt idx="244">
                  <c:v>20.100000000000001</c:v>
                </c:pt>
                <c:pt idx="245">
                  <c:v>20.100000000000001</c:v>
                </c:pt>
                <c:pt idx="246">
                  <c:v>20.100000000000001</c:v>
                </c:pt>
                <c:pt idx="247">
                  <c:v>20.100000000000001</c:v>
                </c:pt>
                <c:pt idx="248">
                  <c:v>20.100000000000001</c:v>
                </c:pt>
                <c:pt idx="249">
                  <c:v>20</c:v>
                </c:pt>
                <c:pt idx="250">
                  <c:v>20.100000000000001</c:v>
                </c:pt>
              </c:numCache>
            </c:numRef>
          </c:yVal>
          <c:smooth val="0"/>
          <c:extLst>
            <c:ext xmlns:c16="http://schemas.microsoft.com/office/drawing/2014/chart" uri="{C3380CC4-5D6E-409C-BE32-E72D297353CC}">
              <c16:uniqueId val="{00000000-CDDC-46E4-9D7F-86AD74A5E23F}"/>
            </c:ext>
          </c:extLst>
        </c:ser>
        <c:dLbls>
          <c:showLegendKey val="0"/>
          <c:showVal val="0"/>
          <c:showCatName val="0"/>
          <c:showSerName val="0"/>
          <c:showPercent val="0"/>
          <c:showBubbleSize val="0"/>
        </c:dLbls>
        <c:axId val="981960751"/>
        <c:axId val="981963151"/>
      </c:scatterChart>
      <c:valAx>
        <c:axId val="98196075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sz="2000" dirty="0"/>
                  <a:t>t [s]</a:t>
                </a:r>
              </a:p>
            </c:rich>
          </c:tx>
          <c:layout>
            <c:manualLayout>
              <c:xMode val="edge"/>
              <c:yMode val="edge"/>
              <c:x val="0.50079480273843058"/>
              <c:y val="0.9089890368571179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981963151"/>
        <c:crosses val="autoZero"/>
        <c:crossBetween val="midCat"/>
      </c:valAx>
      <c:valAx>
        <c:axId val="98196315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s-BO" sz="2000" dirty="0"/>
                  <a:t>H</a:t>
                </a:r>
                <a:r>
                  <a:rPr lang="es-BO" sz="2000" baseline="0" dirty="0"/>
                  <a:t> [cm]</a:t>
                </a:r>
                <a:endParaRPr lang="es-BO" sz="200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s-BO"/>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BO"/>
          </a:p>
        </c:txPr>
        <c:crossAx val="981960751"/>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B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2809698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7865906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2248870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3403509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4A57AD2-7EA5-44A9-9688-1D387CCBF185}" type="datetimeFigureOut">
              <a:rPr lang="es-BO" smtClean="0"/>
              <a:t>20/6/2023</a:t>
            </a:fld>
            <a:endParaRPr lang="es-BO"/>
          </a:p>
        </p:txBody>
      </p:sp>
      <p:sp>
        <p:nvSpPr>
          <p:cNvPr id="8" name="Footer Placeholder 7"/>
          <p:cNvSpPr>
            <a:spLocks noGrp="1"/>
          </p:cNvSpPr>
          <p:nvPr>
            <p:ph type="ftr" sz="quarter" idx="11"/>
          </p:nvPr>
        </p:nvSpPr>
        <p:spPr/>
        <p:txBody>
          <a:bodyPr/>
          <a:lstStyle/>
          <a:p>
            <a:endParaRPr lang="es-BO"/>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312438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4A57AD2-7EA5-44A9-9688-1D387CCBF185}" type="datetimeFigureOut">
              <a:rPr lang="es-BO" smtClean="0"/>
              <a:t>20/6/2023</a:t>
            </a:fld>
            <a:endParaRPr lang="es-BO"/>
          </a:p>
        </p:txBody>
      </p:sp>
      <p:sp>
        <p:nvSpPr>
          <p:cNvPr id="4" name="Footer Placeholder 3"/>
          <p:cNvSpPr>
            <a:spLocks noGrp="1"/>
          </p:cNvSpPr>
          <p:nvPr>
            <p:ph type="ftr" sz="quarter" idx="11"/>
          </p:nvPr>
        </p:nvSpPr>
        <p:spPr/>
        <p:txBody>
          <a:bodyPr/>
          <a:lstStyle/>
          <a:p>
            <a:endParaRPr lang="es-BO"/>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2229855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A57AD2-7EA5-44A9-9688-1D387CCBF185}" type="datetimeFigureOut">
              <a:rPr lang="es-BO" smtClean="0"/>
              <a:t>20/6/2023</a:t>
            </a:fld>
            <a:endParaRPr lang="es-BO"/>
          </a:p>
        </p:txBody>
      </p:sp>
      <p:sp>
        <p:nvSpPr>
          <p:cNvPr id="3" name="Footer Placeholder 2"/>
          <p:cNvSpPr>
            <a:spLocks noGrp="1"/>
          </p:cNvSpPr>
          <p:nvPr>
            <p:ph type="ftr" sz="quarter" idx="11"/>
          </p:nvPr>
        </p:nvSpPr>
        <p:spPr/>
        <p:txBody>
          <a:bodyPr/>
          <a:lstStyle/>
          <a:p>
            <a:endParaRPr lang="es-BO"/>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36322141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1096174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79965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3648706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D2CEB04-D146-4B8C-A175-34FF0EC4B541}" type="slidenum">
              <a:rPr lang="es-BO" smtClean="0"/>
              <a:t>‹Nº›</a:t>
            </a:fld>
            <a:endParaRPr lang="es-BO"/>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56922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23574138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2CEB04-D146-4B8C-A175-34FF0EC4B541}" type="slidenum">
              <a:rPr lang="es-BO" smtClean="0"/>
              <a:t>‹Nº›</a:t>
            </a:fld>
            <a:endParaRPr lang="es-BO"/>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94711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34A57AD2-7EA5-44A9-9688-1D387CCBF185}" type="datetimeFigureOut">
              <a:rPr lang="es-BO" smtClean="0"/>
              <a:t>20/6/2023</a:t>
            </a:fld>
            <a:endParaRPr lang="es-BO"/>
          </a:p>
        </p:txBody>
      </p:sp>
      <p:sp>
        <p:nvSpPr>
          <p:cNvPr id="6" name="Footer Placeholder 5"/>
          <p:cNvSpPr>
            <a:spLocks noGrp="1"/>
          </p:cNvSpPr>
          <p:nvPr>
            <p:ph type="ftr" sz="quarter" idx="11"/>
          </p:nvPr>
        </p:nvSpPr>
        <p:spPr/>
        <p:txBody>
          <a:bodyPr/>
          <a:lstStyle/>
          <a:p>
            <a:endParaRPr lang="es-BO"/>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2822009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617612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4A57AD2-7EA5-44A9-9688-1D387CCBF185}" type="datetimeFigureOut">
              <a:rPr lang="es-BO" smtClean="0"/>
              <a:t>20/6/2023</a:t>
            </a:fld>
            <a:endParaRPr lang="es-BO"/>
          </a:p>
        </p:txBody>
      </p:sp>
      <p:sp>
        <p:nvSpPr>
          <p:cNvPr id="5" name="Footer Placeholder 4"/>
          <p:cNvSpPr>
            <a:spLocks noGrp="1"/>
          </p:cNvSpPr>
          <p:nvPr>
            <p:ph type="ftr" sz="quarter" idx="11"/>
          </p:nvPr>
        </p:nvSpPr>
        <p:spPr/>
        <p:txBody>
          <a:bodyPr/>
          <a:lstStyle/>
          <a:p>
            <a:endParaRPr lang="es-BO"/>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D2CEB04-D146-4B8C-A175-34FF0EC4B541}" type="slidenum">
              <a:rPr lang="es-BO" smtClean="0"/>
              <a:t>‹Nº›</a:t>
            </a:fld>
            <a:endParaRPr lang="es-BO"/>
          </a:p>
        </p:txBody>
      </p:sp>
    </p:spTree>
    <p:extLst>
      <p:ext uri="{BB962C8B-B14F-4D97-AF65-F5344CB8AC3E}">
        <p14:creationId xmlns:p14="http://schemas.microsoft.com/office/powerpoint/2010/main" val="1000883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4A57AD2-7EA5-44A9-9688-1D387CCBF185}" type="datetimeFigureOut">
              <a:rPr lang="es-BO" smtClean="0"/>
              <a:t>20/6/2023</a:t>
            </a:fld>
            <a:endParaRPr lang="es-BO"/>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BO"/>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D2CEB04-D146-4B8C-A175-34FF0EC4B541}" type="slidenum">
              <a:rPr lang="es-BO" smtClean="0"/>
              <a:t>‹Nº›</a:t>
            </a:fld>
            <a:endParaRPr lang="es-BO"/>
          </a:p>
        </p:txBody>
      </p:sp>
    </p:spTree>
    <p:extLst>
      <p:ext uri="{BB962C8B-B14F-4D97-AF65-F5344CB8AC3E}">
        <p14:creationId xmlns:p14="http://schemas.microsoft.com/office/powerpoint/2010/main" val="48397816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50.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300.png"/><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320.png"/><Relationship Id="rId7" Type="http://schemas.openxmlformats.org/officeDocument/2006/relationships/image" Target="../media/image36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image" Target="../media/image63.png"/><Relationship Id="rId5" Type="http://schemas.openxmlformats.org/officeDocument/2006/relationships/image" Target="../media/image340.png"/><Relationship Id="rId10" Type="http://schemas.openxmlformats.org/officeDocument/2006/relationships/image" Target="../media/image62.png"/><Relationship Id="rId4" Type="http://schemas.openxmlformats.org/officeDocument/2006/relationships/image" Target="../media/image330.png"/><Relationship Id="rId9" Type="http://schemas.openxmlformats.org/officeDocument/2006/relationships/image" Target="../media/image38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46.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300.png"/><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8" Type="http://schemas.openxmlformats.org/officeDocument/2006/relationships/image" Target="../media/image370.png"/><Relationship Id="rId3" Type="http://schemas.openxmlformats.org/officeDocument/2006/relationships/image" Target="../media/image320.png"/><Relationship Id="rId7" Type="http://schemas.openxmlformats.org/officeDocument/2006/relationships/image" Target="../media/image360.pn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image" Target="../media/image63.png"/><Relationship Id="rId5" Type="http://schemas.openxmlformats.org/officeDocument/2006/relationships/image" Target="../media/image340.png"/><Relationship Id="rId10" Type="http://schemas.openxmlformats.org/officeDocument/2006/relationships/image" Target="../media/image62.png"/><Relationship Id="rId4" Type="http://schemas.openxmlformats.org/officeDocument/2006/relationships/image" Target="../media/image330.png"/><Relationship Id="rId9" Type="http://schemas.openxmlformats.org/officeDocument/2006/relationships/image" Target="../media/image380.png"/></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F5E8B5-E179-30B6-F14C-79D620FF828A}"/>
              </a:ext>
            </a:extLst>
          </p:cNvPr>
          <p:cNvSpPr>
            <a:spLocks noGrp="1"/>
          </p:cNvSpPr>
          <p:nvPr>
            <p:ph type="ctrTitle"/>
          </p:nvPr>
        </p:nvSpPr>
        <p:spPr>
          <a:xfrm>
            <a:off x="2475915" y="1617786"/>
            <a:ext cx="9028698" cy="2827606"/>
          </a:xfrm>
        </p:spPr>
        <p:txBody>
          <a:bodyPr>
            <a:normAutofit/>
          </a:bodyPr>
          <a:lstStyle/>
          <a:p>
            <a:pPr algn="ctr">
              <a:lnSpc>
                <a:spcPct val="107000"/>
              </a:lnSpc>
              <a:spcAft>
                <a:spcPts val="800"/>
              </a:spcAft>
            </a:pPr>
            <a:r>
              <a:rPr lang="es-BO" sz="4400" b="1" dirty="0">
                <a:effectLst>
                  <a:outerShdw blurRad="38100" dist="38100" dir="2700000" algn="tl">
                    <a:srgbClr val="000000">
                      <a:alpha val="43137"/>
                    </a:srgbClr>
                  </a:outerShdw>
                </a:effectLst>
                <a:latin typeface="Arial Black" panose="020B0A04020102020204" pitchFamily="34" charset="0"/>
                <a:ea typeface="Calibri" panose="020F0502020204030204" pitchFamily="34" charset="0"/>
                <a:cs typeface="Times New Roman" panose="02020603050405020304" pitchFamily="18" charset="0"/>
              </a:rPr>
              <a:t>CARACTERIZACIÓN Y DESARROLLO DE LA PLANTA</a:t>
            </a:r>
          </a:p>
        </p:txBody>
      </p:sp>
      <p:sp>
        <p:nvSpPr>
          <p:cNvPr id="3" name="Subtítulo 2">
            <a:extLst>
              <a:ext uri="{FF2B5EF4-FFF2-40B4-BE49-F238E27FC236}">
                <a16:creationId xmlns:a16="http://schemas.microsoft.com/office/drawing/2014/main" id="{4143FF7F-89BA-A860-8EDD-38DB388B7249}"/>
              </a:ext>
            </a:extLst>
          </p:cNvPr>
          <p:cNvSpPr>
            <a:spLocks noGrp="1"/>
          </p:cNvSpPr>
          <p:nvPr>
            <p:ph type="subTitle" idx="1"/>
          </p:nvPr>
        </p:nvSpPr>
        <p:spPr>
          <a:xfrm>
            <a:off x="2589213" y="4777379"/>
            <a:ext cx="8915399" cy="1735963"/>
          </a:xfrm>
        </p:spPr>
        <p:txBody>
          <a:bodyPr>
            <a:normAutofit/>
          </a:bodyPr>
          <a:lstStyle/>
          <a:p>
            <a:r>
              <a:rPr lang="es-BO" sz="2000" b="1" dirty="0">
                <a:solidFill>
                  <a:schemeClr val="tx1"/>
                </a:solidFill>
              </a:rPr>
              <a:t>INTEGRANTES:        </a:t>
            </a:r>
            <a:r>
              <a:rPr lang="es-BO" sz="2000" dirty="0">
                <a:solidFill>
                  <a:schemeClr val="tx1"/>
                </a:solidFill>
              </a:rPr>
              <a:t>Arias </a:t>
            </a:r>
            <a:r>
              <a:rPr lang="es-BO" sz="2000" dirty="0" err="1">
                <a:solidFill>
                  <a:schemeClr val="tx1"/>
                </a:solidFill>
              </a:rPr>
              <a:t>Llampaso</a:t>
            </a:r>
            <a:r>
              <a:rPr lang="es-BO" sz="2000" dirty="0">
                <a:solidFill>
                  <a:schemeClr val="tx1"/>
                </a:solidFill>
              </a:rPr>
              <a:t> Leidy Melany</a:t>
            </a:r>
          </a:p>
          <a:p>
            <a:r>
              <a:rPr lang="es-BO" sz="2000" dirty="0">
                <a:solidFill>
                  <a:schemeClr val="tx1"/>
                </a:solidFill>
              </a:rPr>
              <a:t>		   			Espino Marca Mary Isabel</a:t>
            </a:r>
          </a:p>
          <a:p>
            <a:r>
              <a:rPr lang="es-BO" sz="2000" dirty="0">
                <a:solidFill>
                  <a:schemeClr val="tx1"/>
                </a:solidFill>
              </a:rPr>
              <a:t>		   			Laura Mamani Vania Cindy</a:t>
            </a:r>
          </a:p>
          <a:p>
            <a:r>
              <a:rPr lang="es-BO" sz="2000" dirty="0">
                <a:solidFill>
                  <a:schemeClr val="tx1"/>
                </a:solidFill>
              </a:rPr>
              <a:t>		   			Ramos Apaza Marco Daniel</a:t>
            </a:r>
          </a:p>
          <a:p>
            <a:endParaRPr lang="es-BO" dirty="0"/>
          </a:p>
        </p:txBody>
      </p:sp>
    </p:spTree>
    <p:extLst>
      <p:ext uri="{BB962C8B-B14F-4D97-AF65-F5344CB8AC3E}">
        <p14:creationId xmlns:p14="http://schemas.microsoft.com/office/powerpoint/2010/main" val="3928179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91EE52-C960-927B-B7D7-D19A4727936B}"/>
              </a:ext>
            </a:extLst>
          </p:cNvPr>
          <p:cNvSpPr>
            <a:spLocks noGrp="1"/>
          </p:cNvSpPr>
          <p:nvPr>
            <p:ph type="title"/>
          </p:nvPr>
        </p:nvSpPr>
        <p:spPr/>
        <p:txBody>
          <a:bodyPr/>
          <a:lstStyle/>
          <a:p>
            <a:r>
              <a:rPr lang="es-ES" b="1" dirty="0"/>
              <a:t>INDICE</a:t>
            </a:r>
            <a:endParaRPr lang="es-BO" b="1" dirty="0"/>
          </a:p>
        </p:txBody>
      </p:sp>
      <p:sp>
        <p:nvSpPr>
          <p:cNvPr id="3" name="Marcador de contenido 2">
            <a:extLst>
              <a:ext uri="{FF2B5EF4-FFF2-40B4-BE49-F238E27FC236}">
                <a16:creationId xmlns:a16="http://schemas.microsoft.com/office/drawing/2014/main" id="{BD0B3BA9-2B85-4922-784F-35665DE1346D}"/>
              </a:ext>
            </a:extLst>
          </p:cNvPr>
          <p:cNvSpPr>
            <a:spLocks noGrp="1"/>
          </p:cNvSpPr>
          <p:nvPr>
            <p:ph idx="1"/>
          </p:nvPr>
        </p:nvSpPr>
        <p:spPr/>
        <p:txBody>
          <a:bodyPr>
            <a:normAutofit fontScale="92500" lnSpcReduction="20000"/>
          </a:bodyPr>
          <a:lstStyle/>
          <a:p>
            <a:r>
              <a:rPr lang="es-ES" sz="2000" dirty="0"/>
              <a:t>Análisis teórico</a:t>
            </a:r>
          </a:p>
          <a:p>
            <a:pPr indent="279400">
              <a:buFont typeface="Wingdings" panose="05000000000000000000" pitchFamily="2" charset="2"/>
              <a:buChar char="q"/>
            </a:pPr>
            <a:r>
              <a:rPr lang="es-ES" sz="2000" dirty="0"/>
              <a:t>Función de transferencia</a:t>
            </a:r>
          </a:p>
          <a:p>
            <a:pPr indent="279400">
              <a:buFont typeface="Wingdings" panose="05000000000000000000" pitchFamily="2" charset="2"/>
              <a:buChar char="q"/>
            </a:pPr>
            <a:r>
              <a:rPr lang="es-ES" sz="2000" dirty="0"/>
              <a:t>Respuesta temporal del sistema</a:t>
            </a:r>
          </a:p>
          <a:p>
            <a:pPr indent="279400">
              <a:buFont typeface="Wingdings" panose="05000000000000000000" pitchFamily="2" charset="2"/>
              <a:buChar char="q"/>
            </a:pPr>
            <a:r>
              <a:rPr lang="es-ES" sz="2000" dirty="0"/>
              <a:t>Respuesta en frecuencia del sistema</a:t>
            </a:r>
          </a:p>
          <a:p>
            <a:pPr indent="279400">
              <a:buFont typeface="Wingdings" panose="05000000000000000000" pitchFamily="2" charset="2"/>
              <a:buChar char="q"/>
            </a:pPr>
            <a:r>
              <a:rPr lang="es-ES" sz="2000" dirty="0"/>
              <a:t>Estabilidad absoluta</a:t>
            </a:r>
          </a:p>
          <a:p>
            <a:pPr indent="279400">
              <a:buFont typeface="Wingdings" panose="05000000000000000000" pitchFamily="2" charset="2"/>
              <a:buChar char="q"/>
            </a:pPr>
            <a:r>
              <a:rPr lang="es-ES" sz="2000" dirty="0"/>
              <a:t>Análisis en discreto</a:t>
            </a:r>
          </a:p>
          <a:p>
            <a:pPr indent="279400">
              <a:buFont typeface="Wingdings" panose="05000000000000000000" pitchFamily="2" charset="2"/>
              <a:buChar char="q"/>
            </a:pPr>
            <a:r>
              <a:rPr lang="es-ES" sz="2000" dirty="0"/>
              <a:t>Estabilidad en discreto</a:t>
            </a:r>
          </a:p>
          <a:p>
            <a:r>
              <a:rPr lang="es-BO" sz="2000" dirty="0"/>
              <a:t>Análisis experimental</a:t>
            </a:r>
          </a:p>
          <a:p>
            <a:pPr indent="12700">
              <a:buFont typeface="Wingdings" panose="05000000000000000000" pitchFamily="2" charset="2"/>
              <a:buChar char="q"/>
            </a:pPr>
            <a:r>
              <a:rPr lang="es-BO" sz="2000" dirty="0"/>
              <a:t>Función de transferencia</a:t>
            </a:r>
          </a:p>
          <a:p>
            <a:r>
              <a:rPr lang="es-BO" sz="2000" dirty="0"/>
              <a:t>Conclusiones</a:t>
            </a:r>
            <a:endParaRPr lang="es-ES" sz="2000" dirty="0"/>
          </a:p>
        </p:txBody>
      </p:sp>
    </p:spTree>
    <p:extLst>
      <p:ext uri="{BB962C8B-B14F-4D97-AF65-F5344CB8AC3E}">
        <p14:creationId xmlns:p14="http://schemas.microsoft.com/office/powerpoint/2010/main" val="2524204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F613655-868E-D15C-25CC-2C92AC8613EC}"/>
              </a:ext>
            </a:extLst>
          </p:cNvPr>
          <p:cNvSpPr>
            <a:spLocks noGrp="1"/>
          </p:cNvSpPr>
          <p:nvPr>
            <p:ph type="ctrTitle"/>
          </p:nvPr>
        </p:nvSpPr>
        <p:spPr>
          <a:xfrm>
            <a:off x="2321927" y="1754945"/>
            <a:ext cx="8915399" cy="2262781"/>
          </a:xfrm>
        </p:spPr>
        <p:txBody>
          <a:bodyPr>
            <a:normAutofit/>
          </a:bodyPr>
          <a:lstStyle/>
          <a:p>
            <a:pPr algn="ctr"/>
            <a:r>
              <a:rPr lang="es-BO" sz="6600" b="1" dirty="0"/>
              <a:t>ANALISIS TEÓRICO</a:t>
            </a:r>
          </a:p>
        </p:txBody>
      </p:sp>
    </p:spTree>
    <p:extLst>
      <p:ext uri="{BB962C8B-B14F-4D97-AF65-F5344CB8AC3E}">
        <p14:creationId xmlns:p14="http://schemas.microsoft.com/office/powerpoint/2010/main" val="1747144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76614" y="532356"/>
            <a:ext cx="10872591" cy="731489"/>
          </a:xfrm>
        </p:spPr>
        <p:txBody>
          <a:bodyPr>
            <a:noAutofit/>
          </a:bodyPr>
          <a:lstStyle/>
          <a:p>
            <a:r>
              <a:rPr lang="es-BO" sz="4000" b="1" dirty="0">
                <a:solidFill>
                  <a:srgbClr val="0070C0"/>
                </a:solidFill>
                <a:latin typeface="Californian FB" panose="0207040306080B030204" pitchFamily="18" charset="0"/>
              </a:rPr>
              <a:t>Nivel de un tanque con restricción de descarga</a:t>
            </a:r>
          </a:p>
        </p:txBody>
      </p:sp>
      <p:pic>
        <p:nvPicPr>
          <p:cNvPr id="5" name="Imagen 4"/>
          <p:cNvPicPr>
            <a:picLocks noChangeAspect="1"/>
          </p:cNvPicPr>
          <p:nvPr/>
        </p:nvPicPr>
        <p:blipFill>
          <a:blip r:embed="rId2"/>
          <a:stretch>
            <a:fillRect/>
          </a:stretch>
        </p:blipFill>
        <p:spPr>
          <a:xfrm>
            <a:off x="1819733" y="1628384"/>
            <a:ext cx="5246939" cy="4697260"/>
          </a:xfrm>
          <a:prstGeom prst="rect">
            <a:avLst/>
          </a:prstGeom>
        </p:spPr>
      </p:pic>
      <mc:AlternateContent xmlns:mc="http://schemas.openxmlformats.org/markup-compatibility/2006" xmlns:a14="http://schemas.microsoft.com/office/drawing/2010/main">
        <mc:Choice Requires="a14">
          <p:sp>
            <p:nvSpPr>
              <p:cNvPr id="8" name="Marcador de contenido 2"/>
              <p:cNvSpPr txBox="1">
                <a:spLocks/>
              </p:cNvSpPr>
              <p:nvPr/>
            </p:nvSpPr>
            <p:spPr>
              <a:xfrm>
                <a:off x="7024467" y="1825624"/>
                <a:ext cx="4624737" cy="462527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 typeface="Wingdings" panose="05000000000000000000" pitchFamily="2" charset="2"/>
                  <a:buChar char="Ø"/>
                </a:pPr>
                <a:r>
                  <a:rPr lang="es-BO" dirty="0"/>
                  <a:t>El caudal de salida </a:t>
                </a:r>
                <a14:m>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𝑠</m:t>
                        </m:r>
                      </m:sub>
                    </m:sSub>
                  </m:oMath>
                </a14:m>
                <a:r>
                  <a:rPr lang="es-BO" dirty="0"/>
                  <a:t> depende de la restricción R.</a:t>
                </a:r>
              </a:p>
              <a:p>
                <a:pPr marL="342900" indent="-342900" algn="just">
                  <a:buFont typeface="Wingdings" panose="05000000000000000000" pitchFamily="2" charset="2"/>
                  <a:buChar char="Ø"/>
                </a:pPr>
                <a:r>
                  <a:rPr lang="es-BO" dirty="0"/>
                  <a:t>La válvula de salida </a:t>
                </a:r>
                <a:r>
                  <a:rPr lang="es-BO" b="1" u="sng" dirty="0">
                    <a:solidFill>
                      <a:srgbClr val="0070C0"/>
                    </a:solidFill>
                  </a:rPr>
                  <a:t>No interviene</a:t>
                </a:r>
                <a:r>
                  <a:rPr lang="es-BO" b="1" dirty="0">
                    <a:solidFill>
                      <a:srgbClr val="0070C0"/>
                    </a:solidFill>
                  </a:rPr>
                  <a:t> </a:t>
                </a:r>
                <a:r>
                  <a:rPr lang="es-BO" dirty="0"/>
                  <a:t>en el proceso (No influye en la restricción) </a:t>
                </a:r>
              </a:p>
              <a:p>
                <a:pPr marL="342900" indent="-342900" algn="just">
                  <a:buFont typeface="Wingdings" panose="05000000000000000000" pitchFamily="2" charset="2"/>
                  <a:buChar char="Ø"/>
                </a:pPr>
                <a:r>
                  <a:rPr lang="es-BO" dirty="0"/>
                  <a:t>La altura h depende del caudal de entrada </a:t>
                </a:r>
                <a14:m>
                  <m:oMath xmlns:m="http://schemas.openxmlformats.org/officeDocument/2006/math">
                    <m:sSub>
                      <m:sSubPr>
                        <m:ctrlPr>
                          <a:rPr lang="es-BO" i="1" smtClean="0">
                            <a:latin typeface="Cambria Math" panose="02040503050406030204" pitchFamily="18" charset="0"/>
                          </a:rPr>
                        </m:ctrlPr>
                      </m:sSubPr>
                      <m:e>
                        <m:r>
                          <a:rPr lang="es-BO" i="1">
                            <a:latin typeface="Cambria Math" panose="02040503050406030204" pitchFamily="18" charset="0"/>
                          </a:rPr>
                          <m:t>𝑞</m:t>
                        </m:r>
                      </m:e>
                      <m:sub>
                        <m:r>
                          <a:rPr lang="es-BO" b="0" i="1" smtClean="0">
                            <a:latin typeface="Cambria Math" panose="02040503050406030204" pitchFamily="18" charset="0"/>
                          </a:rPr>
                          <m:t>𝑒</m:t>
                        </m:r>
                      </m:sub>
                    </m:sSub>
                  </m:oMath>
                </a14:m>
                <a:r>
                  <a:rPr lang="es-BO" dirty="0"/>
                  <a:t>.</a:t>
                </a:r>
              </a:p>
              <a:p>
                <a:pPr marL="342900" indent="-342900" algn="just">
                  <a:buFont typeface="Wingdings" panose="05000000000000000000" pitchFamily="2" charset="2"/>
                  <a:buChar char="Ø"/>
                </a:pPr>
                <a:r>
                  <a:rPr lang="es-BO" dirty="0"/>
                  <a:t>El caudal de salida </a:t>
                </a:r>
                <a14:m>
                  <m:oMath xmlns:m="http://schemas.openxmlformats.org/officeDocument/2006/math">
                    <m:sSub>
                      <m:sSubPr>
                        <m:ctrlPr>
                          <a:rPr lang="es-BO" i="1">
                            <a:latin typeface="Cambria Math" panose="02040503050406030204" pitchFamily="18" charset="0"/>
                          </a:rPr>
                        </m:ctrlPr>
                      </m:sSubPr>
                      <m:e>
                        <m:r>
                          <a:rPr lang="es-BO" i="1">
                            <a:latin typeface="Cambria Math" panose="02040503050406030204" pitchFamily="18" charset="0"/>
                          </a:rPr>
                          <m:t>𝑞</m:t>
                        </m:r>
                      </m:e>
                      <m:sub>
                        <m:r>
                          <a:rPr lang="es-BO" i="1">
                            <a:latin typeface="Cambria Math" panose="02040503050406030204" pitchFamily="18" charset="0"/>
                          </a:rPr>
                          <m:t>𝑠</m:t>
                        </m:r>
                      </m:sub>
                    </m:sSub>
                  </m:oMath>
                </a14:m>
                <a:r>
                  <a:rPr lang="es-BO" dirty="0"/>
                  <a:t> también depende de la altura h.</a:t>
                </a:r>
              </a:p>
              <a:p>
                <a:pPr marL="342900" indent="-342900" algn="just">
                  <a:buFontTx/>
                  <a:buChar char="-"/>
                </a:pPr>
                <a:endParaRPr lang="es-BO" dirty="0"/>
              </a:p>
            </p:txBody>
          </p:sp>
        </mc:Choice>
        <mc:Fallback xmlns="">
          <p:sp>
            <p:nvSpPr>
              <p:cNvPr id="8" name="Marcador de contenido 2"/>
              <p:cNvSpPr txBox="1">
                <a:spLocks noRot="1" noChangeAspect="1" noMove="1" noResize="1" noEditPoints="1" noAdjustHandles="1" noChangeArrowheads="1" noChangeShapeType="1" noTextEdit="1"/>
              </p:cNvSpPr>
              <p:nvPr/>
            </p:nvSpPr>
            <p:spPr>
              <a:xfrm>
                <a:off x="7024467" y="1825624"/>
                <a:ext cx="4624737" cy="4625279"/>
              </a:xfrm>
              <a:prstGeom prst="rect">
                <a:avLst/>
              </a:prstGeom>
              <a:blipFill>
                <a:blip r:embed="rId3"/>
                <a:stretch>
                  <a:fillRect l="-1713" t="-1845" r="-2108"/>
                </a:stretch>
              </a:blipFill>
            </p:spPr>
            <p:txBody>
              <a:bodyPr/>
              <a:lstStyle/>
              <a:p>
                <a:r>
                  <a:rPr lang="es-BO">
                    <a:noFill/>
                  </a:rPr>
                  <a:t> </a:t>
                </a:r>
              </a:p>
            </p:txBody>
          </p:sp>
        </mc:Fallback>
      </mc:AlternateContent>
    </p:spTree>
    <p:extLst>
      <p:ext uri="{BB962C8B-B14F-4D97-AF65-F5344CB8AC3E}">
        <p14:creationId xmlns:p14="http://schemas.microsoft.com/office/powerpoint/2010/main" val="13323558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296012" y="896895"/>
            <a:ext cx="8472195" cy="731489"/>
          </a:xfrm>
        </p:spPr>
        <p:txBody>
          <a:bodyPr>
            <a:noAutofit/>
          </a:bodyPr>
          <a:lstStyle/>
          <a:p>
            <a:r>
              <a:rPr lang="es-BO" b="1" dirty="0">
                <a:solidFill>
                  <a:srgbClr val="0070C0"/>
                </a:solidFill>
                <a:latin typeface="Californian FB" panose="0207040306080B030204" pitchFamily="18" charset="0"/>
              </a:rPr>
              <a:t>Análisis</a:t>
            </a:r>
          </a:p>
        </p:txBody>
      </p:sp>
      <p:sp>
        <p:nvSpPr>
          <p:cNvPr id="8" name="Marcador de contenido 2"/>
          <p:cNvSpPr txBox="1">
            <a:spLocks/>
          </p:cNvSpPr>
          <p:nvPr/>
        </p:nvSpPr>
        <p:spPr>
          <a:xfrm>
            <a:off x="7024437" y="1843621"/>
            <a:ext cx="4541953" cy="217017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2800" dirty="0"/>
              <a:t>El caudal de entrada debe ser suficiente para permitir que se tenga un caudal de salida y permita el aumento de nivel</a:t>
            </a:r>
          </a:p>
          <a:p>
            <a:pPr marL="342900" indent="-342900" algn="just">
              <a:buFontTx/>
              <a:buChar char="-"/>
            </a:pPr>
            <a:endParaRPr lang="es-BO" dirty="0"/>
          </a:p>
        </p:txBody>
      </p:sp>
      <p:pic>
        <p:nvPicPr>
          <p:cNvPr id="3" name="Imagen 2"/>
          <p:cNvPicPr>
            <a:picLocks noChangeAspect="1"/>
          </p:cNvPicPr>
          <p:nvPr/>
        </p:nvPicPr>
        <p:blipFill>
          <a:blip r:embed="rId2"/>
          <a:stretch>
            <a:fillRect/>
          </a:stretch>
        </p:blipFill>
        <p:spPr>
          <a:xfrm>
            <a:off x="2296012" y="1628384"/>
            <a:ext cx="4090727" cy="4893088"/>
          </a:xfrm>
          <a:prstGeom prst="rect">
            <a:avLst/>
          </a:prstGeom>
        </p:spPr>
      </p:pic>
      <p:pic>
        <p:nvPicPr>
          <p:cNvPr id="4" name="Imagen 3"/>
          <p:cNvPicPr>
            <a:picLocks noChangeAspect="1"/>
          </p:cNvPicPr>
          <p:nvPr/>
        </p:nvPicPr>
        <p:blipFill>
          <a:blip r:embed="rId3"/>
          <a:stretch>
            <a:fillRect/>
          </a:stretch>
        </p:blipFill>
        <p:spPr>
          <a:xfrm>
            <a:off x="7423527" y="4074928"/>
            <a:ext cx="3743772" cy="918926"/>
          </a:xfrm>
          <a:prstGeom prst="rect">
            <a:avLst/>
          </a:prstGeom>
        </p:spPr>
      </p:pic>
    </p:spTree>
    <p:extLst>
      <p:ext uri="{BB962C8B-B14F-4D97-AF65-F5344CB8AC3E}">
        <p14:creationId xmlns:p14="http://schemas.microsoft.com/office/powerpoint/2010/main" val="198993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Marcador de contenido 2"/>
              <p:cNvSpPr txBox="1">
                <a:spLocks/>
              </p:cNvSpPr>
              <p:nvPr/>
            </p:nvSpPr>
            <p:spPr>
              <a:xfrm>
                <a:off x="7160454" y="2101197"/>
                <a:ext cx="4459459" cy="2963172"/>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2800" dirty="0"/>
                  <a:t>La altura es directamente proporcional al caudal, donde hay un g(t) que relaciona la altura con el caudal.</a:t>
                </a:r>
              </a:p>
              <a:p>
                <a:pPr algn="just"/>
                <a:endParaRPr lang="es-BO" dirty="0"/>
              </a:p>
              <a:p>
                <a:pPr algn="just"/>
                <a14:m>
                  <m:oMathPara xmlns:m="http://schemas.openxmlformats.org/officeDocument/2006/math">
                    <m:oMathParaPr>
                      <m:jc m:val="centerGroup"/>
                    </m:oMathParaPr>
                    <m:oMath xmlns:m="http://schemas.openxmlformats.org/officeDocument/2006/math">
                      <m:r>
                        <a:rPr lang="es-BO" sz="3000" b="0" i="1" smtClean="0">
                          <a:latin typeface="Cambria Math" panose="02040503050406030204" pitchFamily="18" charset="0"/>
                        </a:rPr>
                        <m:t>h</m:t>
                      </m:r>
                      <m:d>
                        <m:dPr>
                          <m:ctrlPr>
                            <a:rPr lang="es-BO" sz="3000" b="0" i="1" smtClean="0">
                              <a:latin typeface="Cambria Math" panose="02040503050406030204" pitchFamily="18" charset="0"/>
                            </a:rPr>
                          </m:ctrlPr>
                        </m:dPr>
                        <m:e>
                          <m:r>
                            <a:rPr lang="es-BO" sz="3000" b="0" i="1" smtClean="0">
                              <a:latin typeface="Cambria Math" panose="02040503050406030204" pitchFamily="18" charset="0"/>
                            </a:rPr>
                            <m:t>𝑡</m:t>
                          </m:r>
                        </m:e>
                      </m:d>
                      <m:r>
                        <a:rPr lang="es-BO" sz="3000" b="0" i="1" smtClean="0">
                          <a:latin typeface="Cambria Math" panose="02040503050406030204" pitchFamily="18" charset="0"/>
                        </a:rPr>
                        <m:t>=</m:t>
                      </m:r>
                      <m:r>
                        <a:rPr lang="es-BO" sz="3000" b="0" i="1" smtClean="0">
                          <a:latin typeface="Cambria Math" panose="02040503050406030204" pitchFamily="18" charset="0"/>
                        </a:rPr>
                        <m:t>𝑔</m:t>
                      </m:r>
                      <m:d>
                        <m:dPr>
                          <m:ctrlPr>
                            <a:rPr lang="es-BO" sz="3000" b="0" i="1" smtClean="0">
                              <a:latin typeface="Cambria Math" panose="02040503050406030204" pitchFamily="18" charset="0"/>
                            </a:rPr>
                          </m:ctrlPr>
                        </m:dPr>
                        <m:e>
                          <m:r>
                            <a:rPr lang="es-BO" sz="3000" b="0" i="1" smtClean="0">
                              <a:latin typeface="Cambria Math" panose="02040503050406030204" pitchFamily="18" charset="0"/>
                            </a:rPr>
                            <m:t>𝑡</m:t>
                          </m:r>
                        </m:e>
                      </m:d>
                      <m:r>
                        <a:rPr lang="es-BO" sz="3000" b="0" i="1" smtClean="0">
                          <a:latin typeface="Cambria Math" panose="02040503050406030204" pitchFamily="18" charset="0"/>
                        </a:rPr>
                        <m:t>∗</m:t>
                      </m:r>
                      <m:r>
                        <a:rPr lang="es-BO" sz="3000" b="0" i="1" smtClean="0">
                          <a:latin typeface="Cambria Math" panose="02040503050406030204" pitchFamily="18" charset="0"/>
                        </a:rPr>
                        <m:t>𝑞</m:t>
                      </m:r>
                      <m:r>
                        <a:rPr lang="es-BO" sz="3000" b="0" i="1" smtClean="0">
                          <a:latin typeface="Cambria Math" panose="02040503050406030204" pitchFamily="18" charset="0"/>
                        </a:rPr>
                        <m:t>(</m:t>
                      </m:r>
                      <m:r>
                        <a:rPr lang="es-BO" sz="3000" b="0" i="1" smtClean="0">
                          <a:latin typeface="Cambria Math" panose="02040503050406030204" pitchFamily="18" charset="0"/>
                        </a:rPr>
                        <m:t>𝑡</m:t>
                      </m:r>
                      <m:r>
                        <a:rPr lang="es-BO" sz="3000" b="0" i="1" smtClean="0">
                          <a:latin typeface="Cambria Math" panose="02040503050406030204" pitchFamily="18" charset="0"/>
                        </a:rPr>
                        <m:t>)</m:t>
                      </m:r>
                    </m:oMath>
                  </m:oMathPara>
                </a14:m>
                <a:endParaRPr lang="es-BO" sz="3000" dirty="0"/>
              </a:p>
            </p:txBody>
          </p:sp>
        </mc:Choice>
        <mc:Fallback xmlns="">
          <p:sp>
            <p:nvSpPr>
              <p:cNvPr id="8" name="Marcador de contenido 2"/>
              <p:cNvSpPr txBox="1">
                <a:spLocks noRot="1" noChangeAspect="1" noMove="1" noResize="1" noEditPoints="1" noAdjustHandles="1" noChangeArrowheads="1" noChangeShapeType="1" noTextEdit="1"/>
              </p:cNvSpPr>
              <p:nvPr/>
            </p:nvSpPr>
            <p:spPr>
              <a:xfrm>
                <a:off x="7160454" y="2101197"/>
                <a:ext cx="4459459" cy="2963172"/>
              </a:xfrm>
              <a:prstGeom prst="rect">
                <a:avLst/>
              </a:prstGeom>
              <a:blipFill>
                <a:blip r:embed="rId2"/>
                <a:stretch>
                  <a:fillRect l="-2462" t="-3498" r="-2462"/>
                </a:stretch>
              </a:blipFill>
            </p:spPr>
            <p:txBody>
              <a:bodyPr/>
              <a:lstStyle/>
              <a:p>
                <a:r>
                  <a:rPr lang="es-BO">
                    <a:noFill/>
                  </a:rPr>
                  <a:t> </a:t>
                </a:r>
              </a:p>
            </p:txBody>
          </p:sp>
        </mc:Fallback>
      </mc:AlternateContent>
      <p:pic>
        <p:nvPicPr>
          <p:cNvPr id="5" name="Imagen 4"/>
          <p:cNvPicPr>
            <a:picLocks noChangeAspect="1"/>
          </p:cNvPicPr>
          <p:nvPr/>
        </p:nvPicPr>
        <p:blipFill>
          <a:blip r:embed="rId3"/>
          <a:stretch>
            <a:fillRect/>
          </a:stretch>
        </p:blipFill>
        <p:spPr>
          <a:xfrm>
            <a:off x="2565651" y="1628384"/>
            <a:ext cx="4594803" cy="4764197"/>
          </a:xfrm>
          <a:prstGeom prst="rect">
            <a:avLst/>
          </a:prstGeom>
        </p:spPr>
      </p:pic>
      <p:sp>
        <p:nvSpPr>
          <p:cNvPr id="6" name="Título 1">
            <a:extLst>
              <a:ext uri="{FF2B5EF4-FFF2-40B4-BE49-F238E27FC236}">
                <a16:creationId xmlns:a16="http://schemas.microsoft.com/office/drawing/2014/main" id="{5818E5A2-464B-F57A-4D8E-186339B9BE78}"/>
              </a:ext>
            </a:extLst>
          </p:cNvPr>
          <p:cNvSpPr>
            <a:spLocks noGrp="1"/>
          </p:cNvSpPr>
          <p:nvPr>
            <p:ph type="ctrTitle"/>
          </p:nvPr>
        </p:nvSpPr>
        <p:spPr>
          <a:xfrm>
            <a:off x="2296012" y="896895"/>
            <a:ext cx="8472195" cy="731489"/>
          </a:xfrm>
        </p:spPr>
        <p:txBody>
          <a:bodyPr>
            <a:noAutofit/>
          </a:bodyPr>
          <a:lstStyle/>
          <a:p>
            <a:r>
              <a:rPr lang="es-BO" b="1" dirty="0">
                <a:solidFill>
                  <a:srgbClr val="0070C0"/>
                </a:solidFill>
                <a:latin typeface="Californian FB" panose="0207040306080B030204" pitchFamily="18" charset="0"/>
              </a:rPr>
              <a:t>Análisis</a:t>
            </a:r>
          </a:p>
        </p:txBody>
      </p:sp>
    </p:spTree>
    <p:extLst>
      <p:ext uri="{BB962C8B-B14F-4D97-AF65-F5344CB8AC3E}">
        <p14:creationId xmlns:p14="http://schemas.microsoft.com/office/powerpoint/2010/main" val="234418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contenido 2"/>
          <p:cNvSpPr txBox="1">
            <a:spLocks/>
          </p:cNvSpPr>
          <p:nvPr/>
        </p:nvSpPr>
        <p:spPr>
          <a:xfrm>
            <a:off x="6291852" y="2184373"/>
            <a:ext cx="1544300" cy="10752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400" dirty="0">
                <a:latin typeface="Blackadder ITC" panose="04020505051007020D02" pitchFamily="82" charset="0"/>
              </a:rPr>
              <a:t>L</a:t>
            </a:r>
            <a:r>
              <a:rPr lang="en-US" sz="4400" dirty="0"/>
              <a:t>{ }</a:t>
            </a:r>
            <a:endParaRPr lang="es-BO" sz="4400" dirty="0"/>
          </a:p>
        </p:txBody>
      </p:sp>
      <p:sp>
        <p:nvSpPr>
          <p:cNvPr id="10" name="Marcador de contenido 2"/>
          <p:cNvSpPr txBox="1">
            <a:spLocks/>
          </p:cNvSpPr>
          <p:nvPr/>
        </p:nvSpPr>
        <p:spPr>
          <a:xfrm>
            <a:off x="2504062" y="3429000"/>
            <a:ext cx="3691911" cy="55672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3200" dirty="0"/>
              <a:t>Reordenando:</a:t>
            </a:r>
          </a:p>
          <a:p>
            <a:pPr marL="342900" indent="-342900" algn="just">
              <a:buFontTx/>
              <a:buChar char="-"/>
            </a:pPr>
            <a:endParaRPr lang="es-BO" dirty="0"/>
          </a:p>
        </p:txBody>
      </p:sp>
      <p:sp>
        <p:nvSpPr>
          <p:cNvPr id="12" name="Marcador de contenido 2"/>
          <p:cNvSpPr txBox="1">
            <a:spLocks/>
          </p:cNvSpPr>
          <p:nvPr/>
        </p:nvSpPr>
        <p:spPr>
          <a:xfrm>
            <a:off x="2476374" y="5507977"/>
            <a:ext cx="8146884" cy="55672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3200" dirty="0"/>
              <a:t>Función de transferencia</a:t>
            </a:r>
          </a:p>
          <a:p>
            <a:pPr marL="342900" indent="-342900" algn="just">
              <a:buFontTx/>
              <a:buChar char="-"/>
            </a:pPr>
            <a:endParaRPr lang="es-BO" dirty="0"/>
          </a:p>
        </p:txBody>
      </p:sp>
      <p:sp>
        <p:nvSpPr>
          <p:cNvPr id="5" name="Título 1">
            <a:extLst>
              <a:ext uri="{FF2B5EF4-FFF2-40B4-BE49-F238E27FC236}">
                <a16:creationId xmlns:a16="http://schemas.microsoft.com/office/drawing/2014/main" id="{AA1A79DD-394F-8FEB-14A1-44CC662C5788}"/>
              </a:ext>
            </a:extLst>
          </p:cNvPr>
          <p:cNvSpPr txBox="1">
            <a:spLocks/>
          </p:cNvSpPr>
          <p:nvPr/>
        </p:nvSpPr>
        <p:spPr>
          <a:xfrm>
            <a:off x="2296012" y="896895"/>
            <a:ext cx="8472195" cy="731489"/>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BO" b="1" dirty="0">
                <a:solidFill>
                  <a:srgbClr val="0070C0"/>
                </a:solidFill>
                <a:latin typeface="Californian FB" panose="0207040306080B030204" pitchFamily="18" charset="0"/>
              </a:rPr>
              <a:t>Análisis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44156252-1BEC-84BE-E36A-E14AA182C298}"/>
                  </a:ext>
                </a:extLst>
              </p:cNvPr>
              <p:cNvSpPr txBox="1"/>
              <p:nvPr/>
            </p:nvSpPr>
            <p:spPr>
              <a:xfrm>
                <a:off x="2570208" y="2052137"/>
                <a:ext cx="3625765"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s-BO" sz="2800" b="0" i="1" smtClean="0">
                          <a:latin typeface="Cambria Math" panose="02040503050406030204" pitchFamily="18" charset="0"/>
                        </a:rPr>
                        <m:t>𝑞</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𝑡</m:t>
                          </m:r>
                        </m:e>
                      </m:d>
                      <m:r>
                        <a:rPr lang="es-BO" sz="2800" b="0" i="1" smtClean="0">
                          <a:latin typeface="Cambria Math" panose="02040503050406030204" pitchFamily="18" charset="0"/>
                        </a:rPr>
                        <m:t>=</m:t>
                      </m:r>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𝑞</m:t>
                          </m:r>
                        </m:e>
                        <m:sub>
                          <m:r>
                            <a:rPr lang="es-BO" sz="2800" b="0" i="1" smtClean="0">
                              <a:latin typeface="Cambria Math" panose="02040503050406030204" pitchFamily="18" charset="0"/>
                            </a:rPr>
                            <m:t>𝑅</m:t>
                          </m:r>
                        </m:sub>
                      </m:sSub>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𝑡</m:t>
                          </m:r>
                        </m:e>
                      </m:d>
                      <m:r>
                        <a:rPr lang="es-BO" sz="2800" b="0" i="1" smtClean="0">
                          <a:latin typeface="Cambria Math" panose="02040503050406030204" pitchFamily="18" charset="0"/>
                        </a:rPr>
                        <m:t>+</m:t>
                      </m:r>
                      <m:sSub>
                        <m:sSubPr>
                          <m:ctrlPr>
                            <a:rPr lang="es-BO" sz="2800" i="1">
                              <a:latin typeface="Cambria Math" panose="02040503050406030204" pitchFamily="18" charset="0"/>
                            </a:rPr>
                          </m:ctrlPr>
                        </m:sSubPr>
                        <m:e>
                          <m:r>
                            <a:rPr lang="es-BO" sz="2800" i="1">
                              <a:latin typeface="Cambria Math" panose="02040503050406030204" pitchFamily="18" charset="0"/>
                            </a:rPr>
                            <m:t>𝑞</m:t>
                          </m:r>
                        </m:e>
                        <m:sub>
                          <m:r>
                            <a:rPr lang="es-BO" sz="2800" b="0" i="1" smtClean="0">
                              <a:latin typeface="Cambria Math" panose="02040503050406030204" pitchFamily="18" charset="0"/>
                            </a:rPr>
                            <m:t>𝐶</m:t>
                          </m:r>
                        </m:sub>
                      </m:sSub>
                      <m:d>
                        <m:dPr>
                          <m:ctrlPr>
                            <a:rPr lang="es-BO" sz="2800" i="1">
                              <a:latin typeface="Cambria Math" panose="02040503050406030204" pitchFamily="18" charset="0"/>
                            </a:rPr>
                          </m:ctrlPr>
                        </m:dPr>
                        <m:e>
                          <m:r>
                            <a:rPr lang="es-BO" sz="2800" i="1">
                              <a:latin typeface="Cambria Math" panose="02040503050406030204" pitchFamily="18" charset="0"/>
                            </a:rPr>
                            <m:t>𝑡</m:t>
                          </m:r>
                        </m:e>
                      </m:d>
                    </m:oMath>
                  </m:oMathPara>
                </a14:m>
                <a:endParaRPr lang="es-BO" sz="2800" dirty="0"/>
              </a:p>
              <a:p>
                <a:pPr/>
                <a14:m>
                  <m:oMathPara xmlns:m="http://schemas.openxmlformats.org/officeDocument/2006/math">
                    <m:oMathParaPr>
                      <m:jc m:val="centerGroup"/>
                    </m:oMathParaPr>
                    <m:oMath xmlns:m="http://schemas.openxmlformats.org/officeDocument/2006/math">
                      <m:r>
                        <a:rPr lang="es-BO" sz="2800" b="0" i="1" smtClean="0">
                          <a:latin typeface="Cambria Math" panose="02040503050406030204" pitchFamily="18" charset="0"/>
                        </a:rPr>
                        <m:t>h</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𝑡</m:t>
                          </m:r>
                        </m:e>
                      </m:d>
                      <m:r>
                        <a:rPr lang="es-BO" sz="2800" b="0" i="1" smtClean="0">
                          <a:latin typeface="Cambria Math" panose="02040503050406030204" pitchFamily="18" charset="0"/>
                        </a:rPr>
                        <m:t>=</m:t>
                      </m:r>
                      <m:r>
                        <a:rPr lang="es-BO" sz="2800" b="0" i="1" smtClean="0">
                          <a:latin typeface="Cambria Math" panose="02040503050406030204" pitchFamily="18" charset="0"/>
                        </a:rPr>
                        <m:t>𝑔</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𝑡</m:t>
                          </m:r>
                        </m:e>
                      </m:d>
                      <m:r>
                        <a:rPr lang="es-BO" sz="2800" b="0" i="1" smtClean="0">
                          <a:latin typeface="Cambria Math" panose="02040503050406030204" pitchFamily="18" charset="0"/>
                        </a:rPr>
                        <m:t>∗</m:t>
                      </m:r>
                      <m:r>
                        <a:rPr lang="es-BO" sz="2800" b="0" i="1" smtClean="0">
                          <a:latin typeface="Cambria Math" panose="02040503050406030204" pitchFamily="18" charset="0"/>
                        </a:rPr>
                        <m:t>𝑞</m:t>
                      </m:r>
                      <m:r>
                        <a:rPr lang="es-BO" sz="2800" b="0" i="1" smtClean="0">
                          <a:latin typeface="Cambria Math" panose="02040503050406030204" pitchFamily="18" charset="0"/>
                        </a:rPr>
                        <m:t>(</m:t>
                      </m:r>
                      <m:r>
                        <a:rPr lang="es-BO" sz="2800" b="0" i="1" smtClean="0">
                          <a:latin typeface="Cambria Math" panose="02040503050406030204" pitchFamily="18" charset="0"/>
                        </a:rPr>
                        <m:t>𝑡</m:t>
                      </m:r>
                      <m:r>
                        <a:rPr lang="es-BO" sz="2800" b="0" i="1" smtClean="0">
                          <a:latin typeface="Cambria Math" panose="02040503050406030204" pitchFamily="18" charset="0"/>
                        </a:rPr>
                        <m:t>)</m:t>
                      </m:r>
                    </m:oMath>
                  </m:oMathPara>
                </a14:m>
                <a:endParaRPr lang="es-BO" sz="2800" dirty="0"/>
              </a:p>
            </p:txBody>
          </p:sp>
        </mc:Choice>
        <mc:Fallback xmlns="">
          <p:sp>
            <p:nvSpPr>
              <p:cNvPr id="6" name="CuadroTexto 5">
                <a:extLst>
                  <a:ext uri="{FF2B5EF4-FFF2-40B4-BE49-F238E27FC236}">
                    <a16:creationId xmlns:a16="http://schemas.microsoft.com/office/drawing/2014/main" id="{44156252-1BEC-84BE-E36A-E14AA182C298}"/>
                  </a:ext>
                </a:extLst>
              </p:cNvPr>
              <p:cNvSpPr txBox="1">
                <a:spLocks noRot="1" noChangeAspect="1" noMove="1" noResize="1" noEditPoints="1" noAdjustHandles="1" noChangeArrowheads="1" noChangeShapeType="1" noTextEdit="1"/>
              </p:cNvSpPr>
              <p:nvPr/>
            </p:nvSpPr>
            <p:spPr>
              <a:xfrm>
                <a:off x="2570208" y="2052137"/>
                <a:ext cx="3625765" cy="954107"/>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85B469-395A-1D53-C6CF-786AE2889A9E}"/>
                  </a:ext>
                </a:extLst>
              </p:cNvPr>
              <p:cNvSpPr txBox="1"/>
              <p:nvPr/>
            </p:nvSpPr>
            <p:spPr>
              <a:xfrm>
                <a:off x="7836152" y="2129341"/>
                <a:ext cx="3811897" cy="9541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s-BO" sz="2800" b="0" i="0" smtClean="0">
                          <a:latin typeface="Cambria Math" panose="02040503050406030204" pitchFamily="18" charset="0"/>
                        </a:rPr>
                        <m:t>Q</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sSub>
                        <m:sSubPr>
                          <m:ctrlPr>
                            <a:rPr lang="es-BO" sz="2800" b="0" i="1" smtClean="0">
                              <a:latin typeface="Cambria Math" panose="02040503050406030204" pitchFamily="18" charset="0"/>
                            </a:rPr>
                          </m:ctrlPr>
                        </m:sSubPr>
                        <m:e>
                          <m:r>
                            <a:rPr lang="es-BO" sz="2800" b="0" i="1" smtClean="0">
                              <a:latin typeface="Cambria Math" panose="02040503050406030204" pitchFamily="18" charset="0"/>
                            </a:rPr>
                            <m:t>𝑄</m:t>
                          </m:r>
                        </m:e>
                        <m:sub>
                          <m:r>
                            <a:rPr lang="es-BO" sz="2800" b="0" i="1" smtClean="0">
                              <a:latin typeface="Cambria Math" panose="02040503050406030204" pitchFamily="18" charset="0"/>
                            </a:rPr>
                            <m:t>𝑅</m:t>
                          </m:r>
                        </m:sub>
                      </m:sSub>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sSub>
                        <m:sSubPr>
                          <m:ctrlPr>
                            <a:rPr lang="es-BO" sz="2800" i="1">
                              <a:latin typeface="Cambria Math" panose="02040503050406030204" pitchFamily="18" charset="0"/>
                            </a:rPr>
                          </m:ctrlPr>
                        </m:sSubPr>
                        <m:e>
                          <m:r>
                            <a:rPr lang="es-BO" sz="2800" b="0" i="1" smtClean="0">
                              <a:latin typeface="Cambria Math" panose="02040503050406030204" pitchFamily="18" charset="0"/>
                            </a:rPr>
                            <m:t>𝑄</m:t>
                          </m:r>
                        </m:e>
                        <m:sub>
                          <m:r>
                            <a:rPr lang="es-BO" sz="2800" b="0" i="1" smtClean="0">
                              <a:latin typeface="Cambria Math" panose="02040503050406030204" pitchFamily="18" charset="0"/>
                            </a:rPr>
                            <m:t>𝐶</m:t>
                          </m:r>
                        </m:sub>
                      </m:sSub>
                      <m:d>
                        <m:dPr>
                          <m:ctrlPr>
                            <a:rPr lang="es-BO" sz="2800" i="1">
                              <a:latin typeface="Cambria Math" panose="02040503050406030204" pitchFamily="18" charset="0"/>
                            </a:rPr>
                          </m:ctrlPr>
                        </m:dPr>
                        <m:e>
                          <m:r>
                            <a:rPr lang="es-BO" sz="2800" b="0" i="1" smtClean="0">
                              <a:latin typeface="Cambria Math" panose="02040503050406030204" pitchFamily="18" charset="0"/>
                            </a:rPr>
                            <m:t>𝑠</m:t>
                          </m:r>
                        </m:e>
                      </m:d>
                    </m:oMath>
                  </m:oMathPara>
                </a14:m>
                <a:endParaRPr lang="es-BO" sz="2800" dirty="0"/>
              </a:p>
              <a:p>
                <a:pPr/>
                <a14:m>
                  <m:oMathPara xmlns:m="http://schemas.openxmlformats.org/officeDocument/2006/math">
                    <m:oMathParaPr>
                      <m:jc m:val="centerGroup"/>
                    </m:oMathParaPr>
                    <m:oMath xmlns:m="http://schemas.openxmlformats.org/officeDocument/2006/math">
                      <m:r>
                        <m:rPr>
                          <m:sty m:val="p"/>
                        </m:rPr>
                        <a:rPr lang="es-BO" sz="2800" i="1">
                          <a:latin typeface="Cambria Math" panose="02040503050406030204" pitchFamily="18" charset="0"/>
                        </a:rPr>
                        <m:t>H</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r>
                        <a:rPr lang="es-BO" sz="2800" b="0" i="1" smtClean="0">
                          <a:latin typeface="Cambria Math" panose="02040503050406030204" pitchFamily="18" charset="0"/>
                        </a:rPr>
                        <m:t>𝐺</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r>
                        <a:rPr lang="es-BO" sz="2800" b="0" i="1" smtClean="0">
                          <a:latin typeface="Cambria Math" panose="02040503050406030204" pitchFamily="18" charset="0"/>
                        </a:rPr>
                        <m:t>𝑄</m:t>
                      </m:r>
                      <m:r>
                        <a:rPr lang="es-BO" sz="2800" b="0" i="1" smtClean="0">
                          <a:latin typeface="Cambria Math" panose="02040503050406030204" pitchFamily="18" charset="0"/>
                        </a:rPr>
                        <m:t>(</m:t>
                      </m:r>
                      <m:r>
                        <a:rPr lang="es-BO" sz="2800" b="0" i="1" smtClean="0">
                          <a:latin typeface="Cambria Math" panose="02040503050406030204" pitchFamily="18" charset="0"/>
                        </a:rPr>
                        <m:t>𝑠</m:t>
                      </m:r>
                      <m:r>
                        <a:rPr lang="es-BO" sz="2800" b="0" i="1" smtClean="0">
                          <a:latin typeface="Cambria Math" panose="02040503050406030204" pitchFamily="18" charset="0"/>
                        </a:rPr>
                        <m:t>)</m:t>
                      </m:r>
                    </m:oMath>
                  </m:oMathPara>
                </a14:m>
                <a:endParaRPr lang="es-BO" sz="2800" dirty="0"/>
              </a:p>
            </p:txBody>
          </p:sp>
        </mc:Choice>
        <mc:Fallback xmlns="">
          <p:sp>
            <p:nvSpPr>
              <p:cNvPr id="13" name="CuadroTexto 12">
                <a:extLst>
                  <a:ext uri="{FF2B5EF4-FFF2-40B4-BE49-F238E27FC236}">
                    <a16:creationId xmlns:a16="http://schemas.microsoft.com/office/drawing/2014/main" id="{EC85B469-395A-1D53-C6CF-786AE2889A9E}"/>
                  </a:ext>
                </a:extLst>
              </p:cNvPr>
              <p:cNvSpPr txBox="1">
                <a:spLocks noRot="1" noChangeAspect="1" noMove="1" noResize="1" noEditPoints="1" noAdjustHandles="1" noChangeArrowheads="1" noChangeShapeType="1" noTextEdit="1"/>
              </p:cNvSpPr>
              <p:nvPr/>
            </p:nvSpPr>
            <p:spPr>
              <a:xfrm>
                <a:off x="7836152" y="2129341"/>
                <a:ext cx="3811897" cy="954107"/>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F42ADFFD-E037-6113-D378-A01A54ED0B1B}"/>
                  </a:ext>
                </a:extLst>
              </p:cNvPr>
              <p:cNvSpPr txBox="1"/>
              <p:nvPr/>
            </p:nvSpPr>
            <p:spPr>
              <a:xfrm>
                <a:off x="5735777" y="4130117"/>
                <a:ext cx="2656449" cy="100495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es-BO" sz="2800" i="1" smtClean="0">
                          <a:latin typeface="Cambria Math" panose="02040503050406030204" pitchFamily="18" charset="0"/>
                        </a:rPr>
                        <m:t>G</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𝐻</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num>
                        <m:den>
                          <m:r>
                            <a:rPr lang="es-BO" sz="2800" b="0" i="1" smtClean="0">
                              <a:latin typeface="Cambria Math" panose="02040503050406030204" pitchFamily="18" charset="0"/>
                            </a:rPr>
                            <m:t>𝑄</m:t>
                          </m:r>
                          <m:r>
                            <a:rPr lang="es-BO" sz="2800" b="0" i="1" smtClean="0">
                              <a:latin typeface="Cambria Math" panose="02040503050406030204" pitchFamily="18" charset="0"/>
                            </a:rPr>
                            <m:t>(</m:t>
                          </m:r>
                          <m:r>
                            <a:rPr lang="es-BO" sz="2800" b="0" i="1" smtClean="0">
                              <a:latin typeface="Cambria Math" panose="02040503050406030204" pitchFamily="18" charset="0"/>
                            </a:rPr>
                            <m:t>𝑠</m:t>
                          </m:r>
                          <m:r>
                            <a:rPr lang="es-BO" sz="2800" b="0" i="1" smtClean="0">
                              <a:latin typeface="Cambria Math" panose="02040503050406030204" pitchFamily="18" charset="0"/>
                            </a:rPr>
                            <m:t>)</m:t>
                          </m:r>
                        </m:den>
                      </m:f>
                    </m:oMath>
                  </m:oMathPara>
                </a14:m>
                <a:endParaRPr lang="es-BO" sz="2800" dirty="0"/>
              </a:p>
            </p:txBody>
          </p:sp>
        </mc:Choice>
        <mc:Fallback xmlns="">
          <p:sp>
            <p:nvSpPr>
              <p:cNvPr id="14" name="CuadroTexto 13">
                <a:extLst>
                  <a:ext uri="{FF2B5EF4-FFF2-40B4-BE49-F238E27FC236}">
                    <a16:creationId xmlns:a16="http://schemas.microsoft.com/office/drawing/2014/main" id="{F42ADFFD-E037-6113-D378-A01A54ED0B1B}"/>
                  </a:ext>
                </a:extLst>
              </p:cNvPr>
              <p:cNvSpPr txBox="1">
                <a:spLocks noRot="1" noChangeAspect="1" noMove="1" noResize="1" noEditPoints="1" noAdjustHandles="1" noChangeArrowheads="1" noChangeShapeType="1" noTextEdit="1"/>
              </p:cNvSpPr>
              <p:nvPr/>
            </p:nvSpPr>
            <p:spPr>
              <a:xfrm>
                <a:off x="5735777" y="4130117"/>
                <a:ext cx="2656449" cy="1004955"/>
              </a:xfrm>
              <a:prstGeom prst="rect">
                <a:avLst/>
              </a:prstGeom>
              <a:blipFill>
                <a:blip r:embed="rId4"/>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1438176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2"/>
          <p:cNvSpPr txBox="1">
            <a:spLocks/>
          </p:cNvSpPr>
          <p:nvPr/>
        </p:nvSpPr>
        <p:spPr>
          <a:xfrm>
            <a:off x="2296012" y="1699796"/>
            <a:ext cx="4938541" cy="674100"/>
          </a:xfrm>
          <a:prstGeom prst="rect">
            <a:avLst/>
          </a:prstGeom>
        </p:spPr>
        <p:txBody>
          <a:bodyPr vert="horz" lIns="91440" tIns="45720" rIns="91440" bIns="45720" rtlCol="0">
            <a:normAutofit fontScale="77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dirty="0"/>
              <a:t>Parámetros constantes:</a:t>
            </a:r>
          </a:p>
        </p:txBody>
      </p:sp>
      <p:sp>
        <p:nvSpPr>
          <p:cNvPr id="12" name="Marcador de contenido 2"/>
          <p:cNvSpPr txBox="1">
            <a:spLocks/>
          </p:cNvSpPr>
          <p:nvPr/>
        </p:nvSpPr>
        <p:spPr>
          <a:xfrm>
            <a:off x="6460601" y="2373896"/>
            <a:ext cx="5339694" cy="1916750"/>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000" dirty="0"/>
              <a:t>R es un coeficiente que indicia la relación entre la variación de nivel y la variación de caudal de salida.  </a:t>
            </a:r>
            <a:endParaRPr lang="es-BO" sz="3000" dirty="0"/>
          </a:p>
          <a:p>
            <a:pPr marL="342900" indent="-342900" algn="just">
              <a:buFontTx/>
              <a:buChar char="-"/>
            </a:pPr>
            <a:endParaRPr lang="es-BO" dirty="0"/>
          </a:p>
        </p:txBody>
      </p:sp>
      <p:sp>
        <p:nvSpPr>
          <p:cNvPr id="13" name="Marcador de contenido 2"/>
          <p:cNvSpPr txBox="1">
            <a:spLocks/>
          </p:cNvSpPr>
          <p:nvPr/>
        </p:nvSpPr>
        <p:spPr>
          <a:xfrm>
            <a:off x="6625884" y="4606014"/>
            <a:ext cx="5339693" cy="142880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2800" dirty="0"/>
              <a:t>C es la relación entre la variación del contenido y la variación del nivel.</a:t>
            </a:r>
            <a:endParaRPr lang="es-BO" sz="1200" dirty="0"/>
          </a:p>
        </p:txBody>
      </p:sp>
      <p:sp>
        <p:nvSpPr>
          <p:cNvPr id="3" name="Título 1">
            <a:extLst>
              <a:ext uri="{FF2B5EF4-FFF2-40B4-BE49-F238E27FC236}">
                <a16:creationId xmlns:a16="http://schemas.microsoft.com/office/drawing/2014/main" id="{B1A873B4-5C4B-72CC-694E-8859BDD7B17F}"/>
              </a:ext>
            </a:extLst>
          </p:cNvPr>
          <p:cNvSpPr txBox="1">
            <a:spLocks/>
          </p:cNvSpPr>
          <p:nvPr/>
        </p:nvSpPr>
        <p:spPr>
          <a:xfrm>
            <a:off x="2296012" y="896895"/>
            <a:ext cx="8472195" cy="731489"/>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BO" b="1" dirty="0">
                <a:solidFill>
                  <a:srgbClr val="0070C0"/>
                </a:solidFill>
                <a:latin typeface="Californian FB" panose="0207040306080B030204" pitchFamily="18" charset="0"/>
              </a:rPr>
              <a:t>Análisis</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C5FFF4B6-0897-41AD-3AC9-CB9E285D4ECC}"/>
                  </a:ext>
                </a:extLst>
              </p:cNvPr>
              <p:cNvSpPr txBox="1"/>
              <p:nvPr/>
            </p:nvSpPr>
            <p:spPr>
              <a:xfrm>
                <a:off x="3217983" y="2623112"/>
                <a:ext cx="2066781" cy="123739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BO" sz="3600" b="0" i="1" smtClean="0">
                          <a:latin typeface="Cambria Math" panose="02040503050406030204" pitchFamily="18" charset="0"/>
                        </a:rPr>
                        <m:t>𝑅</m:t>
                      </m:r>
                      <m:r>
                        <a:rPr lang="es-BO" sz="3600" b="0" i="1" smtClean="0">
                          <a:latin typeface="Cambria Math" panose="02040503050406030204" pitchFamily="18" charset="0"/>
                        </a:rPr>
                        <m:t>=</m:t>
                      </m:r>
                      <m:f>
                        <m:fPr>
                          <m:ctrlPr>
                            <a:rPr lang="es-BO" sz="3600" b="0" i="1" smtClean="0">
                              <a:latin typeface="Cambria Math" panose="02040503050406030204" pitchFamily="18" charset="0"/>
                            </a:rPr>
                          </m:ctrlPr>
                        </m:fPr>
                        <m:num>
                          <m:r>
                            <a:rPr lang="es-BO" sz="3600" b="0" i="1" smtClean="0">
                              <a:latin typeface="Cambria Math" panose="02040503050406030204" pitchFamily="18" charset="0"/>
                            </a:rPr>
                            <m:t>𝑑h</m:t>
                          </m:r>
                        </m:num>
                        <m:den>
                          <m:r>
                            <a:rPr lang="es-BO" sz="3600" b="0" i="1" smtClean="0">
                              <a:latin typeface="Cambria Math" panose="02040503050406030204" pitchFamily="18" charset="0"/>
                            </a:rPr>
                            <m:t>𝑑𝑞</m:t>
                          </m:r>
                        </m:den>
                      </m:f>
                    </m:oMath>
                  </m:oMathPara>
                </a14:m>
                <a:endParaRPr lang="es-BO" sz="3600" dirty="0"/>
              </a:p>
            </p:txBody>
          </p:sp>
        </mc:Choice>
        <mc:Fallback xmlns="">
          <p:sp>
            <p:nvSpPr>
              <p:cNvPr id="7" name="CuadroTexto 6">
                <a:extLst>
                  <a:ext uri="{FF2B5EF4-FFF2-40B4-BE49-F238E27FC236}">
                    <a16:creationId xmlns:a16="http://schemas.microsoft.com/office/drawing/2014/main" id="{C5FFF4B6-0897-41AD-3AC9-CB9E285D4ECC}"/>
                  </a:ext>
                </a:extLst>
              </p:cNvPr>
              <p:cNvSpPr txBox="1">
                <a:spLocks noRot="1" noChangeAspect="1" noMove="1" noResize="1" noEditPoints="1" noAdjustHandles="1" noChangeArrowheads="1" noChangeShapeType="1" noTextEdit="1"/>
              </p:cNvSpPr>
              <p:nvPr/>
            </p:nvSpPr>
            <p:spPr>
              <a:xfrm>
                <a:off x="3217983" y="2623112"/>
                <a:ext cx="2066781" cy="1237390"/>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740C53DB-3A09-8050-F158-2091BB97BB01}"/>
                  </a:ext>
                </a:extLst>
              </p:cNvPr>
              <p:cNvSpPr txBox="1"/>
              <p:nvPr/>
            </p:nvSpPr>
            <p:spPr>
              <a:xfrm>
                <a:off x="2853381" y="4437263"/>
                <a:ext cx="3242619" cy="12041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BO" sz="3600" b="0" i="1" smtClean="0">
                          <a:latin typeface="Cambria Math" panose="02040503050406030204" pitchFamily="18" charset="0"/>
                        </a:rPr>
                        <m:t>𝐶</m:t>
                      </m:r>
                      <m:r>
                        <a:rPr lang="es-BO" sz="3600" b="0" i="1" smtClean="0">
                          <a:latin typeface="Cambria Math" panose="02040503050406030204" pitchFamily="18" charset="0"/>
                        </a:rPr>
                        <m:t>=</m:t>
                      </m:r>
                      <m:f>
                        <m:fPr>
                          <m:ctrlPr>
                            <a:rPr lang="es-BO" sz="3600" b="0" i="1" smtClean="0">
                              <a:latin typeface="Cambria Math" panose="02040503050406030204" pitchFamily="18" charset="0"/>
                            </a:rPr>
                          </m:ctrlPr>
                        </m:fPr>
                        <m:num>
                          <m:r>
                            <a:rPr lang="es-BO" sz="3600" b="0" i="1" smtClean="0">
                              <a:latin typeface="Cambria Math" panose="02040503050406030204" pitchFamily="18" charset="0"/>
                            </a:rPr>
                            <m:t>[</m:t>
                          </m:r>
                          <m:r>
                            <a:rPr lang="es-BO" sz="3600" b="0" i="1" smtClean="0">
                              <a:latin typeface="Cambria Math" panose="02040503050406030204" pitchFamily="18" charset="0"/>
                            </a:rPr>
                            <m:t>𝑐</m:t>
                          </m:r>
                          <m:sSup>
                            <m:sSupPr>
                              <m:ctrlPr>
                                <a:rPr lang="es-BO" sz="3600" b="0" i="1" smtClean="0">
                                  <a:latin typeface="Cambria Math" panose="02040503050406030204" pitchFamily="18" charset="0"/>
                                </a:rPr>
                              </m:ctrlPr>
                            </m:sSupPr>
                            <m:e>
                              <m:r>
                                <a:rPr lang="es-BO" sz="3600" b="0" i="1" smtClean="0">
                                  <a:latin typeface="Cambria Math" panose="02040503050406030204" pitchFamily="18" charset="0"/>
                                </a:rPr>
                                <m:t>𝑚</m:t>
                              </m:r>
                            </m:e>
                            <m:sup>
                              <m:r>
                                <a:rPr lang="es-BO" sz="3600" b="0" i="1" smtClean="0">
                                  <a:latin typeface="Cambria Math" panose="02040503050406030204" pitchFamily="18" charset="0"/>
                                </a:rPr>
                                <m:t>3</m:t>
                              </m:r>
                            </m:sup>
                          </m:sSup>
                          <m:r>
                            <a:rPr lang="es-BO" sz="3600" b="0" i="1" smtClean="0">
                              <a:latin typeface="Cambria Math" panose="02040503050406030204" pitchFamily="18" charset="0"/>
                            </a:rPr>
                            <m:t>]</m:t>
                          </m:r>
                        </m:num>
                        <m:den>
                          <m:r>
                            <a:rPr lang="es-BO" sz="3600" b="0" i="1" smtClean="0">
                              <a:latin typeface="Cambria Math" panose="02040503050406030204" pitchFamily="18" charset="0"/>
                            </a:rPr>
                            <m:t>𝑐𝑚</m:t>
                          </m:r>
                        </m:den>
                      </m:f>
                      <m:r>
                        <a:rPr lang="es-BO" sz="3600" b="0" i="1" smtClean="0">
                          <a:latin typeface="Cambria Math" panose="02040503050406030204" pitchFamily="18" charset="0"/>
                        </a:rPr>
                        <m:t>=</m:t>
                      </m:r>
                      <m:r>
                        <a:rPr lang="es-BO" sz="3600" b="0" i="1" smtClean="0">
                          <a:latin typeface="Cambria Math" panose="02040503050406030204" pitchFamily="18" charset="0"/>
                        </a:rPr>
                        <m:t>𝐴</m:t>
                      </m:r>
                    </m:oMath>
                  </m:oMathPara>
                </a14:m>
                <a:endParaRPr lang="es-BO" sz="3600" dirty="0"/>
              </a:p>
            </p:txBody>
          </p:sp>
        </mc:Choice>
        <mc:Fallback xmlns="">
          <p:sp>
            <p:nvSpPr>
              <p:cNvPr id="8" name="CuadroTexto 7">
                <a:extLst>
                  <a:ext uri="{FF2B5EF4-FFF2-40B4-BE49-F238E27FC236}">
                    <a16:creationId xmlns:a16="http://schemas.microsoft.com/office/drawing/2014/main" id="{740C53DB-3A09-8050-F158-2091BB97BB01}"/>
                  </a:ext>
                </a:extLst>
              </p:cNvPr>
              <p:cNvSpPr txBox="1">
                <a:spLocks noRot="1" noChangeAspect="1" noMove="1" noResize="1" noEditPoints="1" noAdjustHandles="1" noChangeArrowheads="1" noChangeShapeType="1" noTextEdit="1"/>
              </p:cNvSpPr>
              <p:nvPr/>
            </p:nvSpPr>
            <p:spPr>
              <a:xfrm>
                <a:off x="2853381" y="4437263"/>
                <a:ext cx="3242619" cy="1204176"/>
              </a:xfrm>
              <a:prstGeom prst="rect">
                <a:avLst/>
              </a:prstGeom>
              <a:blipFill>
                <a:blip r:embed="rId3"/>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3706480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2"/>
          <p:cNvSpPr txBox="1">
            <a:spLocks/>
          </p:cNvSpPr>
          <p:nvPr/>
        </p:nvSpPr>
        <p:spPr>
          <a:xfrm>
            <a:off x="4770743" y="1665647"/>
            <a:ext cx="4481051" cy="674100"/>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b="1" dirty="0">
                <a:solidFill>
                  <a:srgbClr val="002060"/>
                </a:solidFill>
              </a:rPr>
              <a:t>Caudal por la restricción:</a:t>
            </a:r>
          </a:p>
          <a:p>
            <a:pPr marL="342900" indent="-342900" algn="just">
              <a:buFontTx/>
              <a:buChar char="-"/>
            </a:pPr>
            <a:endParaRPr lang="es-BO" dirty="0"/>
          </a:p>
        </p:txBody>
      </p:sp>
      <p:sp>
        <p:nvSpPr>
          <p:cNvPr id="12" name="Marcador de contenido 2"/>
          <p:cNvSpPr txBox="1">
            <a:spLocks/>
          </p:cNvSpPr>
          <p:nvPr/>
        </p:nvSpPr>
        <p:spPr>
          <a:xfrm>
            <a:off x="4770743" y="2100953"/>
            <a:ext cx="5973318" cy="275643"/>
          </a:xfrm>
          <a:prstGeom prst="rect">
            <a:avLst/>
          </a:prstGeom>
        </p:spPr>
        <p:txBody>
          <a:bodyPr vert="horz" lIns="91440" tIns="45720" rIns="91440" bIns="45720" rtlCol="0">
            <a:normAutofit fontScale="3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5200" dirty="0"/>
              <a:t>Considerando que no hay acumulación</a:t>
            </a:r>
          </a:p>
          <a:p>
            <a:pPr marL="342900" indent="-342900" algn="just">
              <a:buFontTx/>
              <a:buChar char="-"/>
            </a:pPr>
            <a:endParaRPr lang="es-BO" dirty="0"/>
          </a:p>
        </p:txBody>
      </p:sp>
      <p:sp>
        <p:nvSpPr>
          <p:cNvPr id="14" name="Marcador de contenido 2"/>
          <p:cNvSpPr txBox="1">
            <a:spLocks/>
          </p:cNvSpPr>
          <p:nvPr/>
        </p:nvSpPr>
        <p:spPr>
          <a:xfrm>
            <a:off x="4815808" y="3772760"/>
            <a:ext cx="6426867" cy="674100"/>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b="1" dirty="0">
                <a:solidFill>
                  <a:srgbClr val="002060"/>
                </a:solidFill>
              </a:rPr>
              <a:t>Caudal en la capacidad del tanque:</a:t>
            </a:r>
          </a:p>
          <a:p>
            <a:pPr marL="342900" indent="-342900" algn="just">
              <a:buFontTx/>
              <a:buChar char="-"/>
            </a:pPr>
            <a:endParaRPr lang="es-BO" dirty="0"/>
          </a:p>
        </p:txBody>
      </p:sp>
      <p:sp>
        <p:nvSpPr>
          <p:cNvPr id="15" name="Marcador de contenido 2"/>
          <p:cNvSpPr txBox="1">
            <a:spLocks/>
          </p:cNvSpPr>
          <p:nvPr/>
        </p:nvSpPr>
        <p:spPr>
          <a:xfrm>
            <a:off x="4770743" y="4182460"/>
            <a:ext cx="5973318" cy="275643"/>
          </a:xfrm>
          <a:prstGeom prst="rect">
            <a:avLst/>
          </a:prstGeom>
        </p:spPr>
        <p:txBody>
          <a:bodyPr vert="horz" lIns="91440" tIns="45720" rIns="91440" bIns="45720" rtlCol="0">
            <a:normAutofit fontScale="3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5200" dirty="0"/>
              <a:t>Considerando que hay acumulación</a:t>
            </a:r>
          </a:p>
          <a:p>
            <a:pPr marL="342900" indent="-342900" algn="just">
              <a:buFontTx/>
              <a:buChar char="-"/>
            </a:pPr>
            <a:endParaRPr lang="es-BO" dirty="0"/>
          </a:p>
        </p:txBody>
      </p:sp>
      <p:pic>
        <p:nvPicPr>
          <p:cNvPr id="8" name="Imagen 7"/>
          <p:cNvPicPr>
            <a:picLocks noChangeAspect="1"/>
          </p:cNvPicPr>
          <p:nvPr/>
        </p:nvPicPr>
        <p:blipFill>
          <a:blip r:embed="rId2"/>
          <a:stretch>
            <a:fillRect/>
          </a:stretch>
        </p:blipFill>
        <p:spPr>
          <a:xfrm>
            <a:off x="2374933" y="1544864"/>
            <a:ext cx="1988728" cy="2378799"/>
          </a:xfrm>
          <a:prstGeom prst="rect">
            <a:avLst/>
          </a:prstGeom>
        </p:spPr>
      </p:pic>
      <p:sp>
        <p:nvSpPr>
          <p:cNvPr id="11" name="Marcador de contenido 2"/>
          <p:cNvSpPr txBox="1">
            <a:spLocks/>
          </p:cNvSpPr>
          <p:nvPr/>
        </p:nvSpPr>
        <p:spPr>
          <a:xfrm>
            <a:off x="7740022" y="2396693"/>
            <a:ext cx="4348621" cy="41520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1700" dirty="0"/>
              <a:t>A mayor altura, mayor caudal.</a:t>
            </a:r>
          </a:p>
          <a:p>
            <a:pPr algn="just"/>
            <a:endParaRPr lang="es-BO" sz="1700" dirty="0"/>
          </a:p>
          <a:p>
            <a:pPr marL="342900" indent="-342900" algn="just">
              <a:buFontTx/>
              <a:buChar char="-"/>
            </a:pPr>
            <a:endParaRPr lang="es-BO" sz="1700" dirty="0"/>
          </a:p>
        </p:txBody>
      </p:sp>
      <p:sp>
        <p:nvSpPr>
          <p:cNvPr id="13" name="Marcador de contenido 2"/>
          <p:cNvSpPr txBox="1">
            <a:spLocks/>
          </p:cNvSpPr>
          <p:nvPr/>
        </p:nvSpPr>
        <p:spPr>
          <a:xfrm>
            <a:off x="4935132" y="2734264"/>
            <a:ext cx="1915906" cy="300157"/>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400" dirty="0">
                <a:latin typeface="Blackadder ITC" panose="04020505051007020D02" pitchFamily="82" charset="0"/>
              </a:rPr>
              <a:t>L</a:t>
            </a:r>
            <a:r>
              <a:rPr lang="en-US" sz="4400" dirty="0"/>
              <a:t>{ }</a:t>
            </a:r>
            <a:endParaRPr lang="es-BO" sz="4400" dirty="0"/>
          </a:p>
          <a:p>
            <a:pPr marL="342900" indent="-342900" algn="just">
              <a:buFontTx/>
              <a:buChar char="-"/>
            </a:pPr>
            <a:endParaRPr lang="es-BO" dirty="0"/>
          </a:p>
        </p:txBody>
      </p:sp>
      <p:pic>
        <p:nvPicPr>
          <p:cNvPr id="17" name="Imagen 16"/>
          <p:cNvPicPr>
            <a:picLocks noChangeAspect="1"/>
          </p:cNvPicPr>
          <p:nvPr/>
        </p:nvPicPr>
        <p:blipFill>
          <a:blip r:embed="rId3"/>
          <a:stretch>
            <a:fillRect/>
          </a:stretch>
        </p:blipFill>
        <p:spPr>
          <a:xfrm>
            <a:off x="2099968" y="3892226"/>
            <a:ext cx="2604749" cy="2700777"/>
          </a:xfrm>
          <a:prstGeom prst="rect">
            <a:avLst/>
          </a:prstGeom>
        </p:spPr>
      </p:pic>
      <p:sp>
        <p:nvSpPr>
          <p:cNvPr id="19" name="Marcador de contenido 2"/>
          <p:cNvSpPr txBox="1">
            <a:spLocks/>
          </p:cNvSpPr>
          <p:nvPr/>
        </p:nvSpPr>
        <p:spPr>
          <a:xfrm>
            <a:off x="7726504" y="4513792"/>
            <a:ext cx="3860159" cy="794799"/>
          </a:xfrm>
          <a:prstGeom prst="rect">
            <a:avLst/>
          </a:prstGeom>
        </p:spPr>
        <p:txBody>
          <a:bodyPr vert="horz" lIns="91440" tIns="45720" rIns="91440" bIns="45720" rtlCol="0">
            <a:normAutofit fontScale="3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5200" dirty="0"/>
              <a:t>El volumen acumulado es la suma de todo el caudal que se a acumulado en un tiempo.</a:t>
            </a:r>
          </a:p>
          <a:p>
            <a:pPr algn="just"/>
            <a:endParaRPr lang="es-BO" sz="5200" dirty="0"/>
          </a:p>
          <a:p>
            <a:pPr marL="342900" indent="-342900" algn="just">
              <a:buFontTx/>
              <a:buChar char="-"/>
            </a:pPr>
            <a:endParaRPr lang="es-BO" dirty="0"/>
          </a:p>
        </p:txBody>
      </p:sp>
      <p:sp>
        <p:nvSpPr>
          <p:cNvPr id="21" name="Marcador de contenido 2"/>
          <p:cNvSpPr txBox="1">
            <a:spLocks/>
          </p:cNvSpPr>
          <p:nvPr/>
        </p:nvSpPr>
        <p:spPr>
          <a:xfrm>
            <a:off x="7714033" y="5440744"/>
            <a:ext cx="1063674" cy="323066"/>
          </a:xfrm>
          <a:prstGeom prst="rect">
            <a:avLst/>
          </a:prstGeom>
        </p:spPr>
        <p:txBody>
          <a:bodyPr vert="horz" lIns="91440" tIns="45720" rIns="91440" bIns="45720" rtlCol="0">
            <a:normAutofit fontScale="4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900" dirty="0">
                <a:latin typeface="Blackadder ITC" panose="04020505051007020D02" pitchFamily="82" charset="0"/>
              </a:rPr>
              <a:t>L</a:t>
            </a:r>
            <a:r>
              <a:rPr lang="en-US" sz="4900" dirty="0"/>
              <a:t>{ }</a:t>
            </a:r>
            <a:endParaRPr lang="es-BO" sz="4900" dirty="0"/>
          </a:p>
          <a:p>
            <a:pPr marL="342900" indent="-342900" algn="just">
              <a:buFontTx/>
              <a:buChar char="-"/>
            </a:pPr>
            <a:endParaRPr lang="es-BO" dirty="0"/>
          </a:p>
        </p:txBody>
      </p:sp>
      <p:sp>
        <p:nvSpPr>
          <p:cNvPr id="24" name="Título 1">
            <a:extLst>
              <a:ext uri="{FF2B5EF4-FFF2-40B4-BE49-F238E27FC236}">
                <a16:creationId xmlns:a16="http://schemas.microsoft.com/office/drawing/2014/main" id="{4DE8C9F4-811A-8E55-6EF4-8AF40EAF53A0}"/>
              </a:ext>
            </a:extLst>
          </p:cNvPr>
          <p:cNvSpPr txBox="1">
            <a:spLocks/>
          </p:cNvSpPr>
          <p:nvPr/>
        </p:nvSpPr>
        <p:spPr>
          <a:xfrm>
            <a:off x="2296012" y="896895"/>
            <a:ext cx="8472195" cy="731489"/>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BO" b="1" dirty="0">
                <a:solidFill>
                  <a:srgbClr val="0070C0"/>
                </a:solidFill>
                <a:latin typeface="Californian FB" panose="0207040306080B030204" pitchFamily="18" charset="0"/>
              </a:rPr>
              <a:t>Análisis</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AF0E877B-ACC0-8C41-B95A-40DBE146288C}"/>
                  </a:ext>
                </a:extLst>
              </p:cNvPr>
              <p:cNvSpPr txBox="1"/>
              <p:nvPr/>
            </p:nvSpPr>
            <p:spPr>
              <a:xfrm>
                <a:off x="4935132" y="2283459"/>
                <a:ext cx="1990725"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BO" sz="2000" b="0" i="1" smtClean="0">
                          <a:latin typeface="Cambria Math" panose="02040503050406030204" pitchFamily="18" charset="0"/>
                        </a:rPr>
                        <m:t>h</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𝑡</m:t>
                          </m:r>
                        </m:e>
                      </m:d>
                      <m:r>
                        <a:rPr lang="es-BO" sz="2000" b="0" i="1" smtClean="0">
                          <a:latin typeface="Cambria Math" panose="02040503050406030204" pitchFamily="18" charset="0"/>
                        </a:rPr>
                        <m:t>=</m:t>
                      </m:r>
                      <m:sSub>
                        <m:sSubPr>
                          <m:ctrlPr>
                            <a:rPr lang="es-BO" sz="2000" b="0" i="1" smtClean="0">
                              <a:latin typeface="Cambria Math" panose="02040503050406030204" pitchFamily="18" charset="0"/>
                            </a:rPr>
                          </m:ctrlPr>
                        </m:sSubPr>
                        <m:e>
                          <m:r>
                            <a:rPr lang="es-BO" sz="2000" b="0" i="1" smtClean="0">
                              <a:latin typeface="Cambria Math" panose="02040503050406030204" pitchFamily="18" charset="0"/>
                            </a:rPr>
                            <m:t>𝑞</m:t>
                          </m:r>
                        </m:e>
                        <m:sub>
                          <m:r>
                            <a:rPr lang="es-BO" sz="2000" b="0" i="1" smtClean="0">
                              <a:latin typeface="Cambria Math" panose="02040503050406030204" pitchFamily="18" charset="0"/>
                            </a:rPr>
                            <m:t>𝑟</m:t>
                          </m:r>
                        </m:sub>
                      </m:sSub>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𝑡</m:t>
                          </m:r>
                        </m:e>
                      </m:d>
                      <m:r>
                        <a:rPr lang="es-BO" sz="2000" b="0" i="1" smtClean="0">
                          <a:latin typeface="Cambria Math" panose="02040503050406030204" pitchFamily="18" charset="0"/>
                        </a:rPr>
                        <m:t>∗</m:t>
                      </m:r>
                      <m:r>
                        <a:rPr lang="es-BO" sz="2000" b="0" i="1" smtClean="0">
                          <a:latin typeface="Cambria Math" panose="02040503050406030204" pitchFamily="18" charset="0"/>
                        </a:rPr>
                        <m:t>𝑅</m:t>
                      </m:r>
                    </m:oMath>
                  </m:oMathPara>
                </a14:m>
                <a:endParaRPr lang="es-BO" sz="2000" dirty="0"/>
              </a:p>
            </p:txBody>
          </p:sp>
        </mc:Choice>
        <mc:Fallback xmlns="">
          <p:sp>
            <p:nvSpPr>
              <p:cNvPr id="26" name="CuadroTexto 25">
                <a:extLst>
                  <a:ext uri="{FF2B5EF4-FFF2-40B4-BE49-F238E27FC236}">
                    <a16:creationId xmlns:a16="http://schemas.microsoft.com/office/drawing/2014/main" id="{AF0E877B-ACC0-8C41-B95A-40DBE146288C}"/>
                  </a:ext>
                </a:extLst>
              </p:cNvPr>
              <p:cNvSpPr txBox="1">
                <a:spLocks noRot="1" noChangeAspect="1" noMove="1" noResize="1" noEditPoints="1" noAdjustHandles="1" noChangeArrowheads="1" noChangeShapeType="1" noTextEdit="1"/>
              </p:cNvSpPr>
              <p:nvPr/>
            </p:nvSpPr>
            <p:spPr>
              <a:xfrm>
                <a:off x="4935132" y="2283459"/>
                <a:ext cx="1990725" cy="400110"/>
              </a:xfrm>
              <a:prstGeom prst="rect">
                <a:avLst/>
              </a:prstGeom>
              <a:blipFill>
                <a:blip r:embed="rId4"/>
                <a:stretch>
                  <a:fillRect b="-10769"/>
                </a:stretch>
              </a:blipFill>
            </p:spPr>
            <p:txBody>
              <a:bodyPr/>
              <a:lstStyle/>
              <a:p>
                <a:r>
                  <a:rPr lang="es-BO">
                    <a:noFill/>
                  </a:rPr>
                  <a:t> </a:t>
                </a:r>
              </a:p>
            </p:txBody>
          </p:sp>
        </mc:Fallback>
      </mc:AlternateContent>
      <mc:AlternateContent xmlns:mc="http://schemas.openxmlformats.org/markup-compatibility/2006">
        <mc:Choice xmlns:a14="http://schemas.microsoft.com/office/drawing/2010/main" Requires="a14">
          <p:sp>
            <p:nvSpPr>
              <p:cNvPr id="27" name="CuadroTexto 26">
                <a:extLst>
                  <a:ext uri="{FF2B5EF4-FFF2-40B4-BE49-F238E27FC236}">
                    <a16:creationId xmlns:a16="http://schemas.microsoft.com/office/drawing/2014/main" id="{198F6DBF-9C64-4995-21A6-28F89B39F27E}"/>
                  </a:ext>
                </a:extLst>
              </p:cNvPr>
              <p:cNvSpPr txBox="1"/>
              <p:nvPr/>
            </p:nvSpPr>
            <p:spPr>
              <a:xfrm>
                <a:off x="5276505" y="2658934"/>
                <a:ext cx="237230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i="1" smtClean="0">
                          <a:latin typeface="Cambria Math" panose="02040503050406030204" pitchFamily="18" charset="0"/>
                        </a:rPr>
                        <m:t>H</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r>
                        <a:rPr lang="es-BO" sz="2000" b="0" i="1" smtClean="0">
                          <a:latin typeface="Cambria Math" panose="02040503050406030204" pitchFamily="18" charset="0"/>
                        </a:rPr>
                        <m:t>=</m:t>
                      </m:r>
                      <m:sSub>
                        <m:sSubPr>
                          <m:ctrlPr>
                            <a:rPr lang="es-BO" sz="2000" b="0" i="1" smtClean="0">
                              <a:latin typeface="Cambria Math" panose="02040503050406030204" pitchFamily="18" charset="0"/>
                            </a:rPr>
                          </m:ctrlPr>
                        </m:sSubPr>
                        <m:e>
                          <m:r>
                            <a:rPr lang="es-BO" sz="2000" b="0" i="1" smtClean="0">
                              <a:latin typeface="Cambria Math" panose="02040503050406030204" pitchFamily="18" charset="0"/>
                            </a:rPr>
                            <m:t>𝑄</m:t>
                          </m:r>
                        </m:e>
                        <m:sub>
                          <m:r>
                            <a:rPr lang="es-BO" sz="2000" b="0" i="1" smtClean="0">
                              <a:latin typeface="Cambria Math" panose="02040503050406030204" pitchFamily="18" charset="0"/>
                            </a:rPr>
                            <m:t>𝑅</m:t>
                          </m:r>
                        </m:sub>
                      </m:sSub>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r>
                        <a:rPr lang="es-BO" sz="2000" b="0" i="1" smtClean="0">
                          <a:latin typeface="Cambria Math" panose="02040503050406030204" pitchFamily="18" charset="0"/>
                        </a:rPr>
                        <m:t>∗</m:t>
                      </m:r>
                      <m:r>
                        <a:rPr lang="es-BO" sz="2000" b="0" i="1" smtClean="0">
                          <a:latin typeface="Cambria Math" panose="02040503050406030204" pitchFamily="18" charset="0"/>
                        </a:rPr>
                        <m:t>𝑅</m:t>
                      </m:r>
                    </m:oMath>
                  </m:oMathPara>
                </a14:m>
                <a:endParaRPr lang="es-BO" sz="2000" b="0" dirty="0"/>
              </a:p>
            </p:txBody>
          </p:sp>
        </mc:Choice>
        <mc:Fallback>
          <p:sp>
            <p:nvSpPr>
              <p:cNvPr id="27" name="CuadroTexto 26">
                <a:extLst>
                  <a:ext uri="{FF2B5EF4-FFF2-40B4-BE49-F238E27FC236}">
                    <a16:creationId xmlns:a16="http://schemas.microsoft.com/office/drawing/2014/main" id="{198F6DBF-9C64-4995-21A6-28F89B39F27E}"/>
                  </a:ext>
                </a:extLst>
              </p:cNvPr>
              <p:cNvSpPr txBox="1">
                <a:spLocks noRot="1" noChangeAspect="1" noMove="1" noResize="1" noEditPoints="1" noAdjustHandles="1" noChangeArrowheads="1" noChangeShapeType="1" noTextEdit="1"/>
              </p:cNvSpPr>
              <p:nvPr/>
            </p:nvSpPr>
            <p:spPr>
              <a:xfrm>
                <a:off x="5276505" y="2658934"/>
                <a:ext cx="2372302" cy="400110"/>
              </a:xfrm>
              <a:prstGeom prst="rect">
                <a:avLst/>
              </a:prstGeom>
              <a:blipFill>
                <a:blip r:embed="rId5"/>
                <a:stretch>
                  <a:fillRect b="-12121"/>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76D0D5C5-8C99-2F51-980E-120C27807154}"/>
                  </a:ext>
                </a:extLst>
              </p:cNvPr>
              <p:cNvSpPr txBox="1"/>
              <p:nvPr/>
            </p:nvSpPr>
            <p:spPr>
              <a:xfrm>
                <a:off x="4720769" y="4436731"/>
                <a:ext cx="2818685" cy="8996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BO" sz="2000" b="0" i="1" smtClean="0">
                          <a:latin typeface="Cambria Math" panose="02040503050406030204" pitchFamily="18" charset="0"/>
                        </a:rPr>
                        <m:t>h</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𝑡</m:t>
                          </m:r>
                        </m:e>
                      </m:d>
                      <m:r>
                        <a:rPr lang="es-BO" sz="2000" b="0" i="1" smtClean="0">
                          <a:latin typeface="Cambria Math" panose="02040503050406030204" pitchFamily="18" charset="0"/>
                        </a:rPr>
                        <m:t>∗</m:t>
                      </m:r>
                      <m:r>
                        <a:rPr lang="es-BO" sz="2000" b="0" i="1" smtClean="0">
                          <a:latin typeface="Cambria Math" panose="02040503050406030204" pitchFamily="18" charset="0"/>
                        </a:rPr>
                        <m:t>𝐶</m:t>
                      </m:r>
                      <m:r>
                        <a:rPr lang="es-BO" sz="2000" b="0" i="1" smtClean="0">
                          <a:latin typeface="Cambria Math" panose="02040503050406030204" pitchFamily="18" charset="0"/>
                        </a:rPr>
                        <m:t>=</m:t>
                      </m:r>
                      <m:nary>
                        <m:naryPr>
                          <m:limLoc m:val="undOvr"/>
                          <m:subHide m:val="on"/>
                          <m:supHide m:val="on"/>
                          <m:ctrlPr>
                            <a:rPr lang="es-BO" sz="2000" i="1">
                              <a:latin typeface="Cambria Math" panose="02040503050406030204" pitchFamily="18" charset="0"/>
                            </a:rPr>
                          </m:ctrlPr>
                        </m:naryPr>
                        <m:sub/>
                        <m:sup/>
                        <m:e>
                          <m:sSub>
                            <m:sSubPr>
                              <m:ctrlPr>
                                <a:rPr lang="es-BO" sz="2000" i="1">
                                  <a:latin typeface="Cambria Math" panose="02040503050406030204" pitchFamily="18" charset="0"/>
                                </a:rPr>
                              </m:ctrlPr>
                            </m:sSubPr>
                            <m:e>
                              <m:r>
                                <a:rPr lang="es-BO" sz="2000" i="1">
                                  <a:latin typeface="Cambria Math" panose="02040503050406030204" pitchFamily="18" charset="0"/>
                                </a:rPr>
                                <m:t>𝑞</m:t>
                              </m:r>
                            </m:e>
                            <m:sub>
                              <m:r>
                                <a:rPr lang="es-BO" sz="2000" b="0" i="1" smtClean="0">
                                  <a:latin typeface="Cambria Math" panose="02040503050406030204" pitchFamily="18" charset="0"/>
                                </a:rPr>
                                <m:t>𝑐</m:t>
                              </m:r>
                            </m:sub>
                          </m:sSub>
                          <m:d>
                            <m:dPr>
                              <m:ctrlPr>
                                <a:rPr lang="es-BO" sz="2000" i="1">
                                  <a:latin typeface="Cambria Math" panose="02040503050406030204" pitchFamily="18" charset="0"/>
                                </a:rPr>
                              </m:ctrlPr>
                            </m:dPr>
                            <m:e>
                              <m:r>
                                <a:rPr lang="es-BO" sz="2000" i="1">
                                  <a:latin typeface="Cambria Math" panose="02040503050406030204" pitchFamily="18" charset="0"/>
                                </a:rPr>
                                <m:t>𝑡</m:t>
                              </m:r>
                            </m:e>
                          </m:d>
                        </m:e>
                      </m:nary>
                      <m:r>
                        <a:rPr lang="es-BO" sz="2000" b="0" i="1" smtClean="0">
                          <a:latin typeface="Cambria Math" panose="02040503050406030204" pitchFamily="18" charset="0"/>
                        </a:rPr>
                        <m:t>𝑑𝑡</m:t>
                      </m:r>
                    </m:oMath>
                  </m:oMathPara>
                </a14:m>
                <a:endParaRPr lang="es-BO" sz="2000" dirty="0"/>
              </a:p>
            </p:txBody>
          </p:sp>
        </mc:Choice>
        <mc:Fallback xmlns="">
          <p:sp>
            <p:nvSpPr>
              <p:cNvPr id="29" name="CuadroTexto 28">
                <a:extLst>
                  <a:ext uri="{FF2B5EF4-FFF2-40B4-BE49-F238E27FC236}">
                    <a16:creationId xmlns:a16="http://schemas.microsoft.com/office/drawing/2014/main" id="{76D0D5C5-8C99-2F51-980E-120C27807154}"/>
                  </a:ext>
                </a:extLst>
              </p:cNvPr>
              <p:cNvSpPr txBox="1">
                <a:spLocks noRot="1" noChangeAspect="1" noMove="1" noResize="1" noEditPoints="1" noAdjustHandles="1" noChangeArrowheads="1" noChangeShapeType="1" noTextEdit="1"/>
              </p:cNvSpPr>
              <p:nvPr/>
            </p:nvSpPr>
            <p:spPr>
              <a:xfrm>
                <a:off x="4720769" y="4436731"/>
                <a:ext cx="2818685" cy="899670"/>
              </a:xfrm>
              <a:prstGeom prst="rect">
                <a:avLst/>
              </a:prstGeom>
              <a:blipFill>
                <a:blip r:embed="rId6"/>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a16="http://schemas.microsoft.com/office/drawing/2014/main" id="{8698F6F0-28B1-5B62-C03E-20DC417A7B04}"/>
                  </a:ext>
                </a:extLst>
              </p:cNvPr>
              <p:cNvSpPr txBox="1"/>
              <p:nvPr/>
            </p:nvSpPr>
            <p:spPr>
              <a:xfrm>
                <a:off x="4710068" y="5140837"/>
                <a:ext cx="2728075" cy="8996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BO" sz="2000" b="0" i="1" smtClean="0">
                          <a:latin typeface="Cambria Math" panose="02040503050406030204" pitchFamily="18" charset="0"/>
                        </a:rPr>
                        <m:t>h</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𝑡</m:t>
                          </m:r>
                        </m:e>
                      </m:d>
                      <m:r>
                        <a:rPr lang="es-BO" sz="2000" b="0" i="1" smtClean="0">
                          <a:latin typeface="Cambria Math" panose="02040503050406030204" pitchFamily="18" charset="0"/>
                        </a:rPr>
                        <m:t>=</m:t>
                      </m:r>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1</m:t>
                          </m:r>
                        </m:num>
                        <m:den>
                          <m:r>
                            <a:rPr lang="es-BO" sz="2000" b="0" i="1" smtClean="0">
                              <a:latin typeface="Cambria Math" panose="02040503050406030204" pitchFamily="18" charset="0"/>
                            </a:rPr>
                            <m:t>𝑐</m:t>
                          </m:r>
                        </m:den>
                      </m:f>
                      <m:nary>
                        <m:naryPr>
                          <m:limLoc m:val="undOvr"/>
                          <m:subHide m:val="on"/>
                          <m:supHide m:val="on"/>
                          <m:ctrlPr>
                            <a:rPr lang="es-BO" sz="2000" i="1">
                              <a:latin typeface="Cambria Math" panose="02040503050406030204" pitchFamily="18" charset="0"/>
                            </a:rPr>
                          </m:ctrlPr>
                        </m:naryPr>
                        <m:sub/>
                        <m:sup/>
                        <m:e>
                          <m:sSub>
                            <m:sSubPr>
                              <m:ctrlPr>
                                <a:rPr lang="es-BO" sz="2000" i="1">
                                  <a:latin typeface="Cambria Math" panose="02040503050406030204" pitchFamily="18" charset="0"/>
                                </a:rPr>
                              </m:ctrlPr>
                            </m:sSubPr>
                            <m:e>
                              <m:r>
                                <a:rPr lang="es-BO" sz="2000" i="1">
                                  <a:latin typeface="Cambria Math" panose="02040503050406030204" pitchFamily="18" charset="0"/>
                                </a:rPr>
                                <m:t>𝑞</m:t>
                              </m:r>
                            </m:e>
                            <m:sub>
                              <m:r>
                                <a:rPr lang="es-BO" sz="2000" b="0" i="1" smtClean="0">
                                  <a:latin typeface="Cambria Math" panose="02040503050406030204" pitchFamily="18" charset="0"/>
                                </a:rPr>
                                <m:t>𝑐</m:t>
                              </m:r>
                            </m:sub>
                          </m:sSub>
                          <m:d>
                            <m:dPr>
                              <m:ctrlPr>
                                <a:rPr lang="es-BO" sz="2000" i="1">
                                  <a:latin typeface="Cambria Math" panose="02040503050406030204" pitchFamily="18" charset="0"/>
                                </a:rPr>
                              </m:ctrlPr>
                            </m:dPr>
                            <m:e>
                              <m:r>
                                <a:rPr lang="es-BO" sz="2000" i="1">
                                  <a:latin typeface="Cambria Math" panose="02040503050406030204" pitchFamily="18" charset="0"/>
                                </a:rPr>
                                <m:t>𝑡</m:t>
                              </m:r>
                            </m:e>
                          </m:d>
                        </m:e>
                      </m:nary>
                      <m:r>
                        <a:rPr lang="es-BO" sz="2000" b="0" i="1" smtClean="0">
                          <a:latin typeface="Cambria Math" panose="02040503050406030204" pitchFamily="18" charset="0"/>
                        </a:rPr>
                        <m:t>𝑑𝑡</m:t>
                      </m:r>
                    </m:oMath>
                  </m:oMathPara>
                </a14:m>
                <a:endParaRPr lang="es-BO" sz="2000" dirty="0"/>
              </a:p>
            </p:txBody>
          </p:sp>
        </mc:Choice>
        <mc:Fallback xmlns="">
          <p:sp>
            <p:nvSpPr>
              <p:cNvPr id="30" name="CuadroTexto 29">
                <a:extLst>
                  <a:ext uri="{FF2B5EF4-FFF2-40B4-BE49-F238E27FC236}">
                    <a16:creationId xmlns:a16="http://schemas.microsoft.com/office/drawing/2014/main" id="{8698F6F0-28B1-5B62-C03E-20DC417A7B04}"/>
                  </a:ext>
                </a:extLst>
              </p:cNvPr>
              <p:cNvSpPr txBox="1">
                <a:spLocks noRot="1" noChangeAspect="1" noMove="1" noResize="1" noEditPoints="1" noAdjustHandles="1" noChangeArrowheads="1" noChangeShapeType="1" noTextEdit="1"/>
              </p:cNvSpPr>
              <p:nvPr/>
            </p:nvSpPr>
            <p:spPr>
              <a:xfrm>
                <a:off x="4710068" y="5140837"/>
                <a:ext cx="2728075" cy="899670"/>
              </a:xfrm>
              <a:prstGeom prst="rect">
                <a:avLst/>
              </a:prstGeom>
              <a:blipFill>
                <a:blip r:embed="rId7"/>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624D462-7375-2143-91A4-CC70BE5DB8CD}"/>
                  </a:ext>
                </a:extLst>
              </p:cNvPr>
              <p:cNvSpPr txBox="1"/>
              <p:nvPr/>
            </p:nvSpPr>
            <p:spPr>
              <a:xfrm>
                <a:off x="8451477" y="5200703"/>
                <a:ext cx="2030360" cy="67069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i="1" smtClean="0">
                          <a:latin typeface="Cambria Math" panose="02040503050406030204" pitchFamily="18" charset="0"/>
                        </a:rPr>
                        <m:t>H</m:t>
                      </m:r>
                      <m:d>
                        <m:dPr>
                          <m:ctrlPr>
                            <a:rPr lang="es-BO" sz="2000" b="0" i="1" smtClean="0">
                              <a:latin typeface="Cambria Math" panose="02040503050406030204" pitchFamily="18" charset="0"/>
                            </a:rPr>
                          </m:ctrlPr>
                        </m:dPr>
                        <m:e>
                          <m:r>
                            <a:rPr lang="es-BO" sz="2000" b="0" i="1" smtClean="0">
                              <a:latin typeface="Cambria Math" panose="02040503050406030204" pitchFamily="18" charset="0"/>
                            </a:rPr>
                            <m:t>𝑠</m:t>
                          </m:r>
                        </m:e>
                      </m:d>
                      <m:r>
                        <a:rPr lang="es-BO" sz="2000" b="0" i="1" smtClean="0">
                          <a:latin typeface="Cambria Math" panose="02040503050406030204" pitchFamily="18" charset="0"/>
                        </a:rPr>
                        <m:t>=</m:t>
                      </m:r>
                      <m:f>
                        <m:fPr>
                          <m:ctrlPr>
                            <a:rPr lang="es-BO" sz="2000" b="0" i="1" smtClean="0">
                              <a:latin typeface="Cambria Math" panose="02040503050406030204" pitchFamily="18" charset="0"/>
                            </a:rPr>
                          </m:ctrlPr>
                        </m:fPr>
                        <m:num>
                          <m:r>
                            <a:rPr lang="es-BO" sz="2000" b="0" i="1" smtClean="0">
                              <a:latin typeface="Cambria Math" panose="02040503050406030204" pitchFamily="18" charset="0"/>
                            </a:rPr>
                            <m:t>1</m:t>
                          </m:r>
                        </m:num>
                        <m:den>
                          <m:r>
                            <a:rPr lang="es-BO" sz="2000" b="0" i="1" smtClean="0">
                              <a:latin typeface="Cambria Math" panose="02040503050406030204" pitchFamily="18" charset="0"/>
                            </a:rPr>
                            <m:t>𝐶𝑠</m:t>
                          </m:r>
                        </m:den>
                      </m:f>
                      <m:sSub>
                        <m:sSubPr>
                          <m:ctrlPr>
                            <a:rPr lang="es-BO" sz="2000" i="1" smtClean="0">
                              <a:latin typeface="Cambria Math" panose="02040503050406030204" pitchFamily="18" charset="0"/>
                            </a:rPr>
                          </m:ctrlPr>
                        </m:sSubPr>
                        <m:e>
                          <m:r>
                            <a:rPr lang="es-BO" sz="2000" b="0" i="1" smtClean="0">
                              <a:latin typeface="Cambria Math" panose="02040503050406030204" pitchFamily="18" charset="0"/>
                            </a:rPr>
                            <m:t>𝑄</m:t>
                          </m:r>
                        </m:e>
                        <m:sub>
                          <m:r>
                            <a:rPr lang="es-BO" sz="2000" i="1">
                              <a:latin typeface="Cambria Math" panose="02040503050406030204" pitchFamily="18" charset="0"/>
                            </a:rPr>
                            <m:t>𝑐</m:t>
                          </m:r>
                        </m:sub>
                      </m:sSub>
                      <m:d>
                        <m:dPr>
                          <m:ctrlPr>
                            <a:rPr lang="es-BO" sz="2000" i="1">
                              <a:latin typeface="Cambria Math" panose="02040503050406030204" pitchFamily="18" charset="0"/>
                            </a:rPr>
                          </m:ctrlPr>
                        </m:dPr>
                        <m:e>
                          <m:r>
                            <a:rPr lang="es-BO" sz="2000" b="0" i="1" smtClean="0">
                              <a:latin typeface="Cambria Math" panose="02040503050406030204" pitchFamily="18" charset="0"/>
                            </a:rPr>
                            <m:t>𝑠</m:t>
                          </m:r>
                        </m:e>
                      </m:d>
                    </m:oMath>
                  </m:oMathPara>
                </a14:m>
                <a:endParaRPr lang="es-BO" sz="2000" dirty="0"/>
              </a:p>
            </p:txBody>
          </p:sp>
        </mc:Choice>
        <mc:Fallback xmlns="">
          <p:sp>
            <p:nvSpPr>
              <p:cNvPr id="31" name="CuadroTexto 30">
                <a:extLst>
                  <a:ext uri="{FF2B5EF4-FFF2-40B4-BE49-F238E27FC236}">
                    <a16:creationId xmlns:a16="http://schemas.microsoft.com/office/drawing/2014/main" id="{2624D462-7375-2143-91A4-CC70BE5DB8CD}"/>
                  </a:ext>
                </a:extLst>
              </p:cNvPr>
              <p:cNvSpPr txBox="1">
                <a:spLocks noRot="1" noChangeAspect="1" noMove="1" noResize="1" noEditPoints="1" noAdjustHandles="1" noChangeArrowheads="1" noChangeShapeType="1" noTextEdit="1"/>
              </p:cNvSpPr>
              <p:nvPr/>
            </p:nvSpPr>
            <p:spPr>
              <a:xfrm>
                <a:off x="8451477" y="5200703"/>
                <a:ext cx="2030360" cy="670696"/>
              </a:xfrm>
              <a:prstGeom prst="rect">
                <a:avLst/>
              </a:prstGeom>
              <a:blipFill>
                <a:blip r:embed="rId8"/>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C0E877D3-FC1F-DF49-3CFD-1C2B1834A534}"/>
                  </a:ext>
                </a:extLst>
              </p:cNvPr>
              <p:cNvSpPr txBox="1"/>
              <p:nvPr/>
            </p:nvSpPr>
            <p:spPr>
              <a:xfrm>
                <a:off x="5609301" y="3059044"/>
                <a:ext cx="1729268" cy="61093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BO" sz="1800" b="0" i="1" smtClean="0">
                              <a:latin typeface="Cambria Math" panose="02040503050406030204" pitchFamily="18" charset="0"/>
                            </a:rPr>
                          </m:ctrlPr>
                        </m:sSubPr>
                        <m:e>
                          <m:r>
                            <a:rPr lang="es-BO" sz="1800" b="0" i="1" smtClean="0">
                              <a:latin typeface="Cambria Math" panose="02040503050406030204" pitchFamily="18" charset="0"/>
                            </a:rPr>
                            <m:t>𝑄</m:t>
                          </m:r>
                        </m:e>
                        <m:sub>
                          <m:r>
                            <a:rPr lang="es-BO" sz="1800" b="0" i="1" smtClean="0">
                              <a:latin typeface="Cambria Math" panose="02040503050406030204" pitchFamily="18" charset="0"/>
                            </a:rPr>
                            <m:t>𝑅</m:t>
                          </m:r>
                        </m:sub>
                      </m:sSub>
                      <m:d>
                        <m:dPr>
                          <m:ctrlPr>
                            <a:rPr lang="es-BO" sz="1800" b="0" i="1" smtClean="0">
                              <a:latin typeface="Cambria Math" panose="02040503050406030204" pitchFamily="18" charset="0"/>
                            </a:rPr>
                          </m:ctrlPr>
                        </m:dPr>
                        <m:e>
                          <m:r>
                            <a:rPr lang="es-BO" sz="1800" b="0" i="1" smtClean="0">
                              <a:latin typeface="Cambria Math" panose="02040503050406030204" pitchFamily="18" charset="0"/>
                            </a:rPr>
                            <m:t>𝑠</m:t>
                          </m:r>
                        </m:e>
                      </m:d>
                      <m:r>
                        <a:rPr lang="es-BO" sz="1800" b="0" i="1" smtClean="0">
                          <a:latin typeface="Cambria Math" panose="02040503050406030204" pitchFamily="18" charset="0"/>
                        </a:rPr>
                        <m:t>=</m:t>
                      </m:r>
                      <m:f>
                        <m:fPr>
                          <m:ctrlPr>
                            <a:rPr lang="es-BO" sz="1800" b="0" i="1" smtClean="0">
                              <a:latin typeface="Cambria Math" panose="02040503050406030204" pitchFamily="18" charset="0"/>
                            </a:rPr>
                          </m:ctrlPr>
                        </m:fPr>
                        <m:num>
                          <m:r>
                            <a:rPr lang="es-BO" sz="1800" b="0" i="1" smtClean="0">
                              <a:latin typeface="Cambria Math" panose="02040503050406030204" pitchFamily="18" charset="0"/>
                            </a:rPr>
                            <m:t>1</m:t>
                          </m:r>
                        </m:num>
                        <m:den>
                          <m:r>
                            <a:rPr lang="es-BO" sz="1800" b="0" i="1" smtClean="0">
                              <a:latin typeface="Cambria Math" panose="02040503050406030204" pitchFamily="18" charset="0"/>
                            </a:rPr>
                            <m:t>𝑅</m:t>
                          </m:r>
                        </m:den>
                      </m:f>
                      <m:r>
                        <a:rPr lang="es-BO" sz="1800" b="0" i="1" smtClean="0">
                          <a:latin typeface="Cambria Math" panose="02040503050406030204" pitchFamily="18" charset="0"/>
                        </a:rPr>
                        <m:t>𝐻</m:t>
                      </m:r>
                      <m:d>
                        <m:dPr>
                          <m:ctrlPr>
                            <a:rPr lang="es-BO" sz="1800" b="0" i="1" smtClean="0">
                              <a:latin typeface="Cambria Math" panose="02040503050406030204" pitchFamily="18" charset="0"/>
                            </a:rPr>
                          </m:ctrlPr>
                        </m:dPr>
                        <m:e>
                          <m:r>
                            <a:rPr lang="es-BO" sz="1800" b="0" i="1" smtClean="0">
                              <a:latin typeface="Cambria Math" panose="02040503050406030204" pitchFamily="18" charset="0"/>
                            </a:rPr>
                            <m:t>𝑠</m:t>
                          </m:r>
                        </m:e>
                      </m:d>
                    </m:oMath>
                  </m:oMathPara>
                </a14:m>
                <a:endParaRPr lang="es-BO" sz="1800" dirty="0"/>
              </a:p>
            </p:txBody>
          </p:sp>
        </mc:Choice>
        <mc:Fallback xmlns="">
          <p:sp>
            <p:nvSpPr>
              <p:cNvPr id="33" name="CuadroTexto 32">
                <a:extLst>
                  <a:ext uri="{FF2B5EF4-FFF2-40B4-BE49-F238E27FC236}">
                    <a16:creationId xmlns:a16="http://schemas.microsoft.com/office/drawing/2014/main" id="{C0E877D3-FC1F-DF49-3CFD-1C2B1834A534}"/>
                  </a:ext>
                </a:extLst>
              </p:cNvPr>
              <p:cNvSpPr txBox="1">
                <a:spLocks noRot="1" noChangeAspect="1" noMove="1" noResize="1" noEditPoints="1" noAdjustHandles="1" noChangeArrowheads="1" noChangeShapeType="1" noTextEdit="1"/>
              </p:cNvSpPr>
              <p:nvPr/>
            </p:nvSpPr>
            <p:spPr>
              <a:xfrm>
                <a:off x="5609301" y="3059044"/>
                <a:ext cx="1729268" cy="610936"/>
              </a:xfrm>
              <a:prstGeom prst="rect">
                <a:avLst/>
              </a:prstGeom>
              <a:blipFill>
                <a:blip r:embed="rId9"/>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35" name="CuadroTexto 34">
                <a:extLst>
                  <a:ext uri="{FF2B5EF4-FFF2-40B4-BE49-F238E27FC236}">
                    <a16:creationId xmlns:a16="http://schemas.microsoft.com/office/drawing/2014/main" id="{FF51C33B-1363-21A9-C0B1-409A4E5EE595}"/>
                  </a:ext>
                </a:extLst>
              </p:cNvPr>
              <p:cNvSpPr txBox="1"/>
              <p:nvPr/>
            </p:nvSpPr>
            <p:spPr>
              <a:xfrm>
                <a:off x="6628480" y="5979287"/>
                <a:ext cx="2040655" cy="610936"/>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BO" sz="1800" b="0" i="1" smtClean="0">
                              <a:latin typeface="Cambria Math" panose="02040503050406030204" pitchFamily="18" charset="0"/>
                            </a:rPr>
                          </m:ctrlPr>
                        </m:sSubPr>
                        <m:e>
                          <m:r>
                            <a:rPr lang="es-BO" sz="1800" b="0" i="1" smtClean="0">
                              <a:latin typeface="Cambria Math" panose="02040503050406030204" pitchFamily="18" charset="0"/>
                            </a:rPr>
                            <m:t>𝑄</m:t>
                          </m:r>
                        </m:e>
                        <m:sub>
                          <m:r>
                            <a:rPr lang="es-BO" sz="1800" b="0" i="1" smtClean="0">
                              <a:latin typeface="Cambria Math" panose="02040503050406030204" pitchFamily="18" charset="0"/>
                            </a:rPr>
                            <m:t>𝐶</m:t>
                          </m:r>
                        </m:sub>
                      </m:sSub>
                      <m:d>
                        <m:dPr>
                          <m:ctrlPr>
                            <a:rPr lang="es-BO" sz="1800" b="0" i="1" smtClean="0">
                              <a:latin typeface="Cambria Math" panose="02040503050406030204" pitchFamily="18" charset="0"/>
                            </a:rPr>
                          </m:ctrlPr>
                        </m:dPr>
                        <m:e>
                          <m:r>
                            <a:rPr lang="es-BO" sz="1800" b="0" i="1" smtClean="0">
                              <a:latin typeface="Cambria Math" panose="02040503050406030204" pitchFamily="18" charset="0"/>
                            </a:rPr>
                            <m:t>𝑠</m:t>
                          </m:r>
                        </m:e>
                      </m:d>
                      <m:r>
                        <a:rPr lang="es-BO" sz="1800" b="0" i="1" smtClean="0">
                          <a:latin typeface="Cambria Math" panose="02040503050406030204" pitchFamily="18" charset="0"/>
                        </a:rPr>
                        <m:t>=</m:t>
                      </m:r>
                      <m:f>
                        <m:fPr>
                          <m:ctrlPr>
                            <a:rPr lang="es-BO" sz="1800" b="0" i="1" smtClean="0">
                              <a:latin typeface="Cambria Math" panose="02040503050406030204" pitchFamily="18" charset="0"/>
                            </a:rPr>
                          </m:ctrlPr>
                        </m:fPr>
                        <m:num>
                          <m:r>
                            <a:rPr lang="es-BO" sz="1800" b="0" i="1" smtClean="0">
                              <a:latin typeface="Cambria Math" panose="02040503050406030204" pitchFamily="18" charset="0"/>
                            </a:rPr>
                            <m:t>1</m:t>
                          </m:r>
                        </m:num>
                        <m:den>
                          <m:r>
                            <a:rPr lang="es-BO" sz="1800" b="0" i="1" smtClean="0">
                              <a:latin typeface="Cambria Math" panose="02040503050406030204" pitchFamily="18" charset="0"/>
                            </a:rPr>
                            <m:t>𝑅</m:t>
                          </m:r>
                        </m:den>
                      </m:f>
                      <m:r>
                        <a:rPr lang="es-BO" sz="1800" b="0" i="1" smtClean="0">
                          <a:latin typeface="Cambria Math" panose="02040503050406030204" pitchFamily="18" charset="0"/>
                        </a:rPr>
                        <m:t>𝐻</m:t>
                      </m:r>
                      <m:d>
                        <m:dPr>
                          <m:ctrlPr>
                            <a:rPr lang="es-BO" sz="1800" b="0" i="1" smtClean="0">
                              <a:latin typeface="Cambria Math" panose="02040503050406030204" pitchFamily="18" charset="0"/>
                            </a:rPr>
                          </m:ctrlPr>
                        </m:dPr>
                        <m:e>
                          <m:r>
                            <a:rPr lang="es-BO" sz="1800" b="0" i="1" smtClean="0">
                              <a:latin typeface="Cambria Math" panose="02040503050406030204" pitchFamily="18" charset="0"/>
                            </a:rPr>
                            <m:t>𝑠</m:t>
                          </m:r>
                        </m:e>
                      </m:d>
                    </m:oMath>
                  </m:oMathPara>
                </a14:m>
                <a:endParaRPr lang="es-BO" sz="1800" dirty="0"/>
              </a:p>
            </p:txBody>
          </p:sp>
        </mc:Choice>
        <mc:Fallback xmlns="">
          <p:sp>
            <p:nvSpPr>
              <p:cNvPr id="35" name="CuadroTexto 34">
                <a:extLst>
                  <a:ext uri="{FF2B5EF4-FFF2-40B4-BE49-F238E27FC236}">
                    <a16:creationId xmlns:a16="http://schemas.microsoft.com/office/drawing/2014/main" id="{FF51C33B-1363-21A9-C0B1-409A4E5EE595}"/>
                  </a:ext>
                </a:extLst>
              </p:cNvPr>
              <p:cNvSpPr txBox="1">
                <a:spLocks noRot="1" noChangeAspect="1" noMove="1" noResize="1" noEditPoints="1" noAdjustHandles="1" noChangeArrowheads="1" noChangeShapeType="1" noTextEdit="1"/>
              </p:cNvSpPr>
              <p:nvPr/>
            </p:nvSpPr>
            <p:spPr>
              <a:xfrm>
                <a:off x="6628480" y="5979287"/>
                <a:ext cx="2040655" cy="610936"/>
              </a:xfrm>
              <a:prstGeom prst="rect">
                <a:avLst/>
              </a:prstGeom>
              <a:blipFill>
                <a:blip r:embed="rId10"/>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3462646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2"/>
          <p:cNvSpPr txBox="1">
            <a:spLocks/>
          </p:cNvSpPr>
          <p:nvPr/>
        </p:nvSpPr>
        <p:spPr>
          <a:xfrm>
            <a:off x="2296012" y="1527825"/>
            <a:ext cx="9203223" cy="16913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2800" dirty="0"/>
              <a:t>EL caudal que entra al tanque es igual al caudal que sale mas el caudal que se queda</a:t>
            </a:r>
          </a:p>
          <a:p>
            <a:pPr marL="342900" indent="-342900" algn="just">
              <a:buFontTx/>
              <a:buChar char="-"/>
            </a:pPr>
            <a:endParaRPr lang="es-BO" sz="2000" dirty="0"/>
          </a:p>
        </p:txBody>
      </p:sp>
      <p:sp>
        <p:nvSpPr>
          <p:cNvPr id="8" name="Título 1">
            <a:extLst>
              <a:ext uri="{FF2B5EF4-FFF2-40B4-BE49-F238E27FC236}">
                <a16:creationId xmlns:a16="http://schemas.microsoft.com/office/drawing/2014/main" id="{DDA02CB4-82F1-B85E-08AA-CE9C580D12BB}"/>
              </a:ext>
            </a:extLst>
          </p:cNvPr>
          <p:cNvSpPr txBox="1">
            <a:spLocks/>
          </p:cNvSpPr>
          <p:nvPr/>
        </p:nvSpPr>
        <p:spPr>
          <a:xfrm>
            <a:off x="2296012" y="896895"/>
            <a:ext cx="8472195" cy="731489"/>
          </a:xfrm>
          <a:prstGeom prst="rect">
            <a:avLst/>
          </a:prstGeom>
        </p:spPr>
        <p:txBody>
          <a:bodyPr vert="horz" lIns="91440" tIns="45720" rIns="91440" bIns="45720" rtlCol="0" anchor="b">
            <a:no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BO" b="1" dirty="0">
                <a:solidFill>
                  <a:srgbClr val="0070C0"/>
                </a:solidFill>
                <a:latin typeface="Californian FB" panose="0207040306080B030204" pitchFamily="18" charset="0"/>
              </a:rPr>
              <a:t>Análisis</a:t>
            </a:r>
          </a:p>
        </p:txBody>
      </p:sp>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C1CBD30-3AA4-64E4-6B5E-C0EA48962C65}"/>
                  </a:ext>
                </a:extLst>
              </p:cNvPr>
              <p:cNvSpPr txBox="1"/>
              <p:nvPr/>
            </p:nvSpPr>
            <p:spPr>
              <a:xfrm>
                <a:off x="2442455" y="2526125"/>
                <a:ext cx="3175000" cy="461665"/>
              </a:xfrm>
              <a:prstGeom prst="rect">
                <a:avLst/>
              </a:prstGeom>
              <a:no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400" i="1" smtClean="0">
                          <a:latin typeface="Cambria Math" panose="02040503050406030204" pitchFamily="18" charset="0"/>
                        </a:rPr>
                        <m:t>Q</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sSub>
                        <m:sSubPr>
                          <m:ctrlPr>
                            <a:rPr lang="es-BO" sz="2400" b="0" i="1" smtClean="0">
                              <a:latin typeface="Cambria Math" panose="02040503050406030204" pitchFamily="18" charset="0"/>
                            </a:rPr>
                          </m:ctrlPr>
                        </m:sSubPr>
                        <m:e>
                          <m:r>
                            <a:rPr lang="es-BO" sz="2400" b="0" i="1" smtClean="0">
                              <a:latin typeface="Cambria Math" panose="02040503050406030204" pitchFamily="18" charset="0"/>
                            </a:rPr>
                            <m:t>𝑄</m:t>
                          </m:r>
                        </m:e>
                        <m:sub>
                          <m:r>
                            <a:rPr lang="es-BO" sz="2400" b="0" i="1" smtClean="0">
                              <a:latin typeface="Cambria Math" panose="02040503050406030204" pitchFamily="18" charset="0"/>
                            </a:rPr>
                            <m:t>𝑅</m:t>
                          </m:r>
                        </m:sub>
                      </m:sSub>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sSub>
                        <m:sSubPr>
                          <m:ctrlPr>
                            <a:rPr lang="es-BO" sz="2400" i="1" smtClean="0">
                              <a:latin typeface="Cambria Math" panose="02040503050406030204" pitchFamily="18" charset="0"/>
                            </a:rPr>
                          </m:ctrlPr>
                        </m:sSubPr>
                        <m:e>
                          <m:r>
                            <a:rPr lang="es-BO" sz="2400" i="1">
                              <a:latin typeface="Cambria Math" panose="02040503050406030204" pitchFamily="18" charset="0"/>
                            </a:rPr>
                            <m:t>𝑄</m:t>
                          </m:r>
                        </m:e>
                        <m:sub>
                          <m:r>
                            <a:rPr lang="es-BO" sz="2400" b="0" i="1" smtClean="0">
                              <a:latin typeface="Cambria Math" panose="02040503050406030204" pitchFamily="18" charset="0"/>
                            </a:rPr>
                            <m:t>𝐶</m:t>
                          </m:r>
                        </m:sub>
                      </m:sSub>
                      <m:d>
                        <m:dPr>
                          <m:ctrlPr>
                            <a:rPr lang="es-BO" sz="2400" i="1">
                              <a:latin typeface="Cambria Math" panose="02040503050406030204" pitchFamily="18" charset="0"/>
                            </a:rPr>
                          </m:ctrlPr>
                        </m:dPr>
                        <m:e>
                          <m:r>
                            <a:rPr lang="es-BO" sz="2400" i="1">
                              <a:latin typeface="Cambria Math" panose="02040503050406030204" pitchFamily="18" charset="0"/>
                            </a:rPr>
                            <m:t>𝑠</m:t>
                          </m:r>
                        </m:e>
                      </m:d>
                    </m:oMath>
                  </m:oMathPara>
                </a14:m>
                <a:endParaRPr lang="es-BO" sz="2400" b="0" dirty="0"/>
              </a:p>
            </p:txBody>
          </p:sp>
        </mc:Choice>
        <mc:Fallback xmlns="">
          <p:sp>
            <p:nvSpPr>
              <p:cNvPr id="11" name="CuadroTexto 10">
                <a:extLst>
                  <a:ext uri="{FF2B5EF4-FFF2-40B4-BE49-F238E27FC236}">
                    <a16:creationId xmlns:a16="http://schemas.microsoft.com/office/drawing/2014/main" id="{0C1CBD30-3AA4-64E4-6B5E-C0EA48962C65}"/>
                  </a:ext>
                </a:extLst>
              </p:cNvPr>
              <p:cNvSpPr txBox="1">
                <a:spLocks noRot="1" noChangeAspect="1" noMove="1" noResize="1" noEditPoints="1" noAdjustHandles="1" noChangeArrowheads="1" noChangeShapeType="1" noTextEdit="1"/>
              </p:cNvSpPr>
              <p:nvPr/>
            </p:nvSpPr>
            <p:spPr>
              <a:xfrm>
                <a:off x="2442455" y="2526125"/>
                <a:ext cx="3175000" cy="461665"/>
              </a:xfrm>
              <a:prstGeom prst="rect">
                <a:avLst/>
              </a:prstGeom>
              <a:blipFill>
                <a:blip r:embed="rId2"/>
                <a:stretch>
                  <a:fillRect b="-14103"/>
                </a:stretch>
              </a:blipFill>
              <a:ln>
                <a:solidFill>
                  <a:srgbClr val="FF0000"/>
                </a:solidFill>
              </a:ln>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69872908-893A-A322-2D4D-BA1EF020C6B5}"/>
                  </a:ext>
                </a:extLst>
              </p:cNvPr>
              <p:cNvSpPr txBox="1"/>
              <p:nvPr/>
            </p:nvSpPr>
            <p:spPr>
              <a:xfrm>
                <a:off x="6769607" y="2417487"/>
                <a:ext cx="357747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BO" sz="2400" i="1" smtClean="0">
                              <a:latin typeface="Cambria Math" panose="02040503050406030204" pitchFamily="18" charset="0"/>
                            </a:rPr>
                          </m:ctrlPr>
                        </m:sSubPr>
                        <m:e>
                          <m:r>
                            <a:rPr lang="es-BO" sz="2400" i="1">
                              <a:latin typeface="Cambria Math" panose="02040503050406030204" pitchFamily="18" charset="0"/>
                            </a:rPr>
                            <m:t>𝑄</m:t>
                          </m:r>
                        </m:e>
                        <m:sub>
                          <m:r>
                            <a:rPr lang="es-BO" sz="2400" i="1">
                              <a:latin typeface="Cambria Math" panose="02040503050406030204" pitchFamily="18" charset="0"/>
                            </a:rPr>
                            <m:t>𝐶</m:t>
                          </m:r>
                        </m:sub>
                      </m:sSub>
                      <m:d>
                        <m:dPr>
                          <m:ctrlPr>
                            <a:rPr lang="es-BO" sz="2400" i="1">
                              <a:latin typeface="Cambria Math" panose="02040503050406030204" pitchFamily="18" charset="0"/>
                            </a:rPr>
                          </m:ctrlPr>
                        </m:dPr>
                        <m:e>
                          <m:r>
                            <a:rPr lang="es-BO" sz="2400" i="1">
                              <a:latin typeface="Cambria Math" panose="02040503050406030204" pitchFamily="18" charset="0"/>
                            </a:rPr>
                            <m:t>𝑠</m:t>
                          </m:r>
                        </m:e>
                      </m:d>
                      <m:r>
                        <a:rPr lang="es-BO" sz="2400" b="0" i="1" smtClean="0">
                          <a:latin typeface="Cambria Math" panose="02040503050406030204" pitchFamily="18" charset="0"/>
                        </a:rPr>
                        <m:t>=</m:t>
                      </m:r>
                      <m:r>
                        <a:rPr lang="es-BO" sz="2400" b="0" i="1" smtClean="0">
                          <a:latin typeface="Cambria Math" panose="02040503050406030204" pitchFamily="18" charset="0"/>
                        </a:rPr>
                        <m:t>𝐶𝑠</m:t>
                      </m:r>
                      <m:r>
                        <a:rPr lang="es-BO" sz="2400" b="0" i="1" smtClean="0">
                          <a:latin typeface="Cambria Math" panose="02040503050406030204" pitchFamily="18" charset="0"/>
                        </a:rPr>
                        <m:t>∗</m:t>
                      </m:r>
                      <m:r>
                        <a:rPr lang="es-BO" sz="2400" b="0" i="1" smtClean="0">
                          <a:latin typeface="Cambria Math" panose="02040503050406030204" pitchFamily="18" charset="0"/>
                        </a:rPr>
                        <m:t>𝐻</m:t>
                      </m:r>
                      <m:d>
                        <m:dPr>
                          <m:ctrlPr>
                            <a:rPr lang="es-BO" sz="2400" i="1">
                              <a:latin typeface="Cambria Math" panose="02040503050406030204" pitchFamily="18" charset="0"/>
                            </a:rPr>
                          </m:ctrlPr>
                        </m:dPr>
                        <m:e>
                          <m:r>
                            <a:rPr lang="es-BO" sz="2400" i="1">
                              <a:latin typeface="Cambria Math" panose="02040503050406030204" pitchFamily="18" charset="0"/>
                            </a:rPr>
                            <m:t>𝑠</m:t>
                          </m:r>
                        </m:e>
                      </m:d>
                    </m:oMath>
                  </m:oMathPara>
                </a14:m>
                <a:endParaRPr lang="es-BO" sz="2400" b="0" dirty="0"/>
              </a:p>
            </p:txBody>
          </p:sp>
        </mc:Choice>
        <mc:Fallback xmlns="">
          <p:sp>
            <p:nvSpPr>
              <p:cNvPr id="12" name="CuadroTexto 11">
                <a:extLst>
                  <a:ext uri="{FF2B5EF4-FFF2-40B4-BE49-F238E27FC236}">
                    <a16:creationId xmlns:a16="http://schemas.microsoft.com/office/drawing/2014/main" id="{69872908-893A-A322-2D4D-BA1EF020C6B5}"/>
                  </a:ext>
                </a:extLst>
              </p:cNvPr>
              <p:cNvSpPr txBox="1">
                <a:spLocks noRot="1" noChangeAspect="1" noMove="1" noResize="1" noEditPoints="1" noAdjustHandles="1" noChangeArrowheads="1" noChangeShapeType="1" noTextEdit="1"/>
              </p:cNvSpPr>
              <p:nvPr/>
            </p:nvSpPr>
            <p:spPr>
              <a:xfrm>
                <a:off x="6769607" y="2417487"/>
                <a:ext cx="3577476" cy="461665"/>
              </a:xfrm>
              <a:prstGeom prst="rect">
                <a:avLst/>
              </a:prstGeom>
              <a:blipFill>
                <a:blip r:embed="rId3"/>
                <a:stretch>
                  <a:fillRect b="-16000"/>
                </a:stretch>
              </a:blipFill>
            </p:spPr>
            <p:txBody>
              <a:bodyPr/>
              <a:lstStyle/>
              <a:p>
                <a:r>
                  <a:rPr lang="es-BO">
                    <a:noFill/>
                  </a:rPr>
                  <a:t> </a:t>
                </a:r>
              </a:p>
            </p:txBody>
          </p:sp>
        </mc:Fallback>
      </mc:AlternateContent>
      <mc:AlternateContent xmlns:mc="http://schemas.openxmlformats.org/markup-compatibility/2006">
        <mc:Choice xmlns:a14="http://schemas.microsoft.com/office/drawing/2010/main" Requires="a14">
          <p:sp>
            <p:nvSpPr>
              <p:cNvPr id="14" name="CuadroTexto 13">
                <a:extLst>
                  <a:ext uri="{FF2B5EF4-FFF2-40B4-BE49-F238E27FC236}">
                    <a16:creationId xmlns:a16="http://schemas.microsoft.com/office/drawing/2014/main" id="{19634A9D-AA00-32B3-3563-833811863516}"/>
                  </a:ext>
                </a:extLst>
              </p:cNvPr>
              <p:cNvSpPr txBox="1"/>
              <p:nvPr/>
            </p:nvSpPr>
            <p:spPr>
              <a:xfrm>
                <a:off x="7061200" y="2905864"/>
                <a:ext cx="2665612"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BO" sz="2400" b="0" i="1" smtClean="0">
                              <a:latin typeface="Cambria Math" panose="02040503050406030204" pitchFamily="18" charset="0"/>
                            </a:rPr>
                          </m:ctrlPr>
                        </m:sSubPr>
                        <m:e>
                          <m:r>
                            <a:rPr lang="es-BO" sz="2400" b="0" i="1" smtClean="0">
                              <a:latin typeface="Cambria Math" panose="02040503050406030204" pitchFamily="18" charset="0"/>
                            </a:rPr>
                            <m:t>𝑄</m:t>
                          </m:r>
                        </m:e>
                        <m:sub>
                          <m:r>
                            <a:rPr lang="es-BO" sz="2400" b="0" i="1" smtClean="0">
                              <a:latin typeface="Cambria Math" panose="02040503050406030204" pitchFamily="18" charset="0"/>
                            </a:rPr>
                            <m:t>𝑅</m:t>
                          </m:r>
                        </m:sub>
                      </m:sSub>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1</m:t>
                          </m:r>
                        </m:num>
                        <m:den>
                          <m:r>
                            <a:rPr lang="es-BO" sz="2400" b="0" i="1" smtClean="0">
                              <a:latin typeface="Cambria Math" panose="02040503050406030204" pitchFamily="18" charset="0"/>
                            </a:rPr>
                            <m:t>𝑅</m:t>
                          </m:r>
                        </m:den>
                      </m:f>
                      <m:r>
                        <a:rPr lang="es-BO" sz="2400" b="0" i="1" smtClean="0">
                          <a:latin typeface="Cambria Math" panose="02040503050406030204" pitchFamily="18" charset="0"/>
                        </a:rPr>
                        <m:t>𝐻</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oMath>
                  </m:oMathPara>
                </a14:m>
                <a:endParaRPr lang="es-BO" sz="2400" dirty="0"/>
              </a:p>
            </p:txBody>
          </p:sp>
        </mc:Choice>
        <mc:Fallback>
          <p:sp>
            <p:nvSpPr>
              <p:cNvPr id="14" name="CuadroTexto 13">
                <a:extLst>
                  <a:ext uri="{FF2B5EF4-FFF2-40B4-BE49-F238E27FC236}">
                    <a16:creationId xmlns:a16="http://schemas.microsoft.com/office/drawing/2014/main" id="{19634A9D-AA00-32B3-3563-833811863516}"/>
                  </a:ext>
                </a:extLst>
              </p:cNvPr>
              <p:cNvSpPr txBox="1">
                <a:spLocks noRot="1" noChangeAspect="1" noMove="1" noResize="1" noEditPoints="1" noAdjustHandles="1" noChangeArrowheads="1" noChangeShapeType="1" noTextEdit="1"/>
              </p:cNvSpPr>
              <p:nvPr/>
            </p:nvSpPr>
            <p:spPr>
              <a:xfrm>
                <a:off x="7061200" y="2905864"/>
                <a:ext cx="2665612" cy="783804"/>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7EEDBBE0-CEF3-D15C-7018-E3E4F9B07F13}"/>
                  </a:ext>
                </a:extLst>
              </p:cNvPr>
              <p:cNvSpPr txBox="1"/>
              <p:nvPr/>
            </p:nvSpPr>
            <p:spPr>
              <a:xfrm>
                <a:off x="2045858" y="3683087"/>
                <a:ext cx="4244727" cy="7838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400" i="1" smtClean="0">
                          <a:latin typeface="Cambria Math" panose="02040503050406030204" pitchFamily="18" charset="0"/>
                        </a:rPr>
                        <m:t>Q</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1</m:t>
                          </m:r>
                        </m:num>
                        <m:den>
                          <m:r>
                            <a:rPr lang="es-BO" sz="2400" b="0" i="1" smtClean="0">
                              <a:latin typeface="Cambria Math" panose="02040503050406030204" pitchFamily="18" charset="0"/>
                            </a:rPr>
                            <m:t>𝑅</m:t>
                          </m:r>
                        </m:den>
                      </m:f>
                      <m:r>
                        <a:rPr lang="es-BO" sz="2400" b="0" i="1" smtClean="0">
                          <a:latin typeface="Cambria Math" panose="02040503050406030204" pitchFamily="18" charset="0"/>
                        </a:rPr>
                        <m:t>𝐻</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r>
                        <a:rPr lang="es-BO" sz="2400" b="0" i="1" smtClean="0">
                          <a:latin typeface="Cambria Math" panose="02040503050406030204" pitchFamily="18" charset="0"/>
                        </a:rPr>
                        <m:t>𝐶𝑠</m:t>
                      </m:r>
                      <m:r>
                        <a:rPr lang="es-BO" sz="2400" b="0" i="1" smtClean="0">
                          <a:latin typeface="Cambria Math" panose="02040503050406030204" pitchFamily="18" charset="0"/>
                        </a:rPr>
                        <m:t>∗</m:t>
                      </m:r>
                      <m:r>
                        <a:rPr lang="es-BO" sz="2400" b="0" i="1" smtClean="0">
                          <a:latin typeface="Cambria Math" panose="02040503050406030204" pitchFamily="18" charset="0"/>
                        </a:rPr>
                        <m:t>𝐻</m:t>
                      </m:r>
                      <m:r>
                        <a:rPr lang="es-BO" sz="2400" b="0" i="1" smtClean="0">
                          <a:latin typeface="Cambria Math" panose="02040503050406030204" pitchFamily="18" charset="0"/>
                        </a:rPr>
                        <m:t>(</m:t>
                      </m:r>
                      <m:r>
                        <a:rPr lang="es-BO" sz="2400" b="0" i="1" smtClean="0">
                          <a:latin typeface="Cambria Math" panose="02040503050406030204" pitchFamily="18" charset="0"/>
                        </a:rPr>
                        <m:t>𝑠</m:t>
                      </m:r>
                      <m:r>
                        <a:rPr lang="es-BO" sz="2400" b="0" i="1" smtClean="0">
                          <a:latin typeface="Cambria Math" panose="02040503050406030204" pitchFamily="18" charset="0"/>
                        </a:rPr>
                        <m:t>)</m:t>
                      </m:r>
                    </m:oMath>
                  </m:oMathPara>
                </a14:m>
                <a:endParaRPr lang="es-BO" sz="2400" b="0" dirty="0"/>
              </a:p>
            </p:txBody>
          </p:sp>
        </mc:Choice>
        <mc:Fallback xmlns="">
          <p:sp>
            <p:nvSpPr>
              <p:cNvPr id="15" name="CuadroTexto 14">
                <a:extLst>
                  <a:ext uri="{FF2B5EF4-FFF2-40B4-BE49-F238E27FC236}">
                    <a16:creationId xmlns:a16="http://schemas.microsoft.com/office/drawing/2014/main" id="{7EEDBBE0-CEF3-D15C-7018-E3E4F9B07F13}"/>
                  </a:ext>
                </a:extLst>
              </p:cNvPr>
              <p:cNvSpPr txBox="1">
                <a:spLocks noRot="1" noChangeAspect="1" noMove="1" noResize="1" noEditPoints="1" noAdjustHandles="1" noChangeArrowheads="1" noChangeShapeType="1" noTextEdit="1"/>
              </p:cNvSpPr>
              <p:nvPr/>
            </p:nvSpPr>
            <p:spPr>
              <a:xfrm>
                <a:off x="2045858" y="3683087"/>
                <a:ext cx="4244727" cy="783804"/>
              </a:xfrm>
              <a:prstGeom prst="rect">
                <a:avLst/>
              </a:prstGeom>
              <a:blipFill>
                <a:blip r:embed="rId5"/>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28AF8EF-5983-5482-D372-3A2F2EE71689}"/>
                  </a:ext>
                </a:extLst>
              </p:cNvPr>
              <p:cNvSpPr txBox="1"/>
              <p:nvPr/>
            </p:nvSpPr>
            <p:spPr>
              <a:xfrm>
                <a:off x="7174614" y="3748259"/>
                <a:ext cx="3577476" cy="17520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BO" sz="2400" i="1" smtClean="0">
                              <a:latin typeface="Cambria Math" panose="02040503050406030204" pitchFamily="18" charset="0"/>
                            </a:rPr>
                          </m:ctrlPr>
                        </m:sSubPr>
                        <m:e>
                          <m:r>
                            <a:rPr lang="es-BO" sz="2400" i="1">
                              <a:latin typeface="Cambria Math" panose="02040503050406030204" pitchFamily="18" charset="0"/>
                            </a:rPr>
                            <m:t>𝑄</m:t>
                          </m:r>
                        </m:e>
                        <m:sub>
                          <m:r>
                            <a:rPr lang="es-BO" sz="2400" i="1">
                              <a:latin typeface="Cambria Math" panose="02040503050406030204" pitchFamily="18" charset="0"/>
                            </a:rPr>
                            <m:t>𝐶</m:t>
                          </m:r>
                        </m:sub>
                      </m:sSub>
                      <m:d>
                        <m:dPr>
                          <m:ctrlPr>
                            <a:rPr lang="es-BO" sz="2400" i="1">
                              <a:latin typeface="Cambria Math" panose="02040503050406030204" pitchFamily="18" charset="0"/>
                            </a:rPr>
                          </m:ctrlPr>
                        </m:dPr>
                        <m:e>
                          <m:r>
                            <a:rPr lang="es-BO" sz="2400" i="1">
                              <a:latin typeface="Cambria Math" panose="02040503050406030204" pitchFamily="18" charset="0"/>
                            </a:rPr>
                            <m:t>𝑠</m:t>
                          </m:r>
                        </m:e>
                      </m:d>
                      <m:r>
                        <a:rPr lang="es-BO" sz="2400" b="0" i="1" smtClean="0">
                          <a:latin typeface="Cambria Math" panose="02040503050406030204" pitchFamily="18" charset="0"/>
                        </a:rPr>
                        <m:t>=</m:t>
                      </m:r>
                      <m:d>
                        <m:dPr>
                          <m:ctrlPr>
                            <a:rPr lang="es-BO" sz="2400" b="0" i="1" smtClean="0">
                              <a:latin typeface="Cambria Math" panose="02040503050406030204" pitchFamily="18" charset="0"/>
                            </a:rPr>
                          </m:ctrlPr>
                        </m:dPr>
                        <m:e>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1</m:t>
                              </m:r>
                            </m:num>
                            <m:den>
                              <m:r>
                                <a:rPr lang="es-BO" sz="2400" b="0" i="1" smtClean="0">
                                  <a:latin typeface="Cambria Math" panose="02040503050406030204" pitchFamily="18" charset="0"/>
                                </a:rPr>
                                <m:t>𝑅</m:t>
                              </m:r>
                            </m:den>
                          </m:f>
                          <m:r>
                            <a:rPr lang="es-BO" sz="2400" b="0" i="1" smtClean="0">
                              <a:latin typeface="Cambria Math" panose="02040503050406030204" pitchFamily="18" charset="0"/>
                            </a:rPr>
                            <m:t>+</m:t>
                          </m:r>
                          <m:r>
                            <a:rPr lang="es-BO" sz="2400" b="0" i="1" smtClean="0">
                              <a:latin typeface="Cambria Math" panose="02040503050406030204" pitchFamily="18" charset="0"/>
                            </a:rPr>
                            <m:t>𝐶𝑠</m:t>
                          </m:r>
                        </m:e>
                      </m:d>
                      <m:r>
                        <a:rPr lang="es-BO" sz="2400" b="0" i="1" smtClean="0">
                          <a:latin typeface="Cambria Math" panose="02040503050406030204" pitchFamily="18" charset="0"/>
                        </a:rPr>
                        <m:t>∗</m:t>
                      </m:r>
                      <m:r>
                        <a:rPr lang="es-BO" sz="2400" b="0" i="1" smtClean="0">
                          <a:latin typeface="Cambria Math" panose="02040503050406030204" pitchFamily="18" charset="0"/>
                        </a:rPr>
                        <m:t>𝐻</m:t>
                      </m:r>
                      <m:d>
                        <m:dPr>
                          <m:ctrlPr>
                            <a:rPr lang="es-BO" sz="2400" i="1">
                              <a:latin typeface="Cambria Math" panose="02040503050406030204" pitchFamily="18" charset="0"/>
                            </a:rPr>
                          </m:ctrlPr>
                        </m:dPr>
                        <m:e>
                          <m:r>
                            <a:rPr lang="es-BO" sz="2400" i="1">
                              <a:latin typeface="Cambria Math" panose="02040503050406030204" pitchFamily="18" charset="0"/>
                            </a:rPr>
                            <m:t>𝑠</m:t>
                          </m:r>
                        </m:e>
                      </m:d>
                    </m:oMath>
                  </m:oMathPara>
                </a14:m>
                <a:endParaRPr lang="es-BO" sz="2400" b="0" dirty="0"/>
              </a:p>
              <a:p>
                <a:pPr/>
                <a14:m>
                  <m:oMathPara xmlns:m="http://schemas.openxmlformats.org/officeDocument/2006/math">
                    <m:oMathParaPr>
                      <m:jc m:val="centerGroup"/>
                    </m:oMathParaPr>
                    <m:oMath xmlns:m="http://schemas.openxmlformats.org/officeDocument/2006/math">
                      <m:r>
                        <a:rPr lang="es-BO" sz="2400" b="0" i="1" smtClean="0">
                          <a:latin typeface="Cambria Math" panose="02040503050406030204" pitchFamily="18" charset="0"/>
                        </a:rPr>
                        <m:t>𝑄</m:t>
                      </m:r>
                      <m:d>
                        <m:dPr>
                          <m:ctrlPr>
                            <a:rPr lang="es-BO" sz="2400" i="1">
                              <a:latin typeface="Cambria Math" panose="02040503050406030204" pitchFamily="18" charset="0"/>
                            </a:rPr>
                          </m:ctrlPr>
                        </m:dPr>
                        <m:e>
                          <m:r>
                            <a:rPr lang="es-BO" sz="2400" i="1">
                              <a:latin typeface="Cambria Math" panose="02040503050406030204" pitchFamily="18" charset="0"/>
                            </a:rPr>
                            <m:t>𝑠</m:t>
                          </m:r>
                        </m:e>
                      </m:d>
                      <m:r>
                        <a:rPr lang="es-BO" sz="2400" b="0" i="1" smtClean="0">
                          <a:latin typeface="Cambria Math" panose="02040503050406030204" pitchFamily="18" charset="0"/>
                        </a:rPr>
                        <m:t>=</m:t>
                      </m:r>
                      <m:d>
                        <m:dPr>
                          <m:ctrlPr>
                            <a:rPr lang="es-BO" sz="2400" b="0" i="1" smtClean="0">
                              <a:latin typeface="Cambria Math" panose="02040503050406030204" pitchFamily="18" charset="0"/>
                            </a:rPr>
                          </m:ctrlPr>
                        </m:dPr>
                        <m:e>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1+</m:t>
                              </m:r>
                              <m:r>
                                <a:rPr lang="es-BO" sz="2400" b="0" i="1" smtClean="0">
                                  <a:latin typeface="Cambria Math" panose="02040503050406030204" pitchFamily="18" charset="0"/>
                                </a:rPr>
                                <m:t>𝑅𝐶𝑠</m:t>
                              </m:r>
                            </m:num>
                            <m:den>
                              <m:r>
                                <a:rPr lang="es-BO" sz="2400" b="0" i="1" smtClean="0">
                                  <a:latin typeface="Cambria Math" panose="02040503050406030204" pitchFamily="18" charset="0"/>
                                </a:rPr>
                                <m:t>𝑅</m:t>
                              </m:r>
                            </m:den>
                          </m:f>
                        </m:e>
                      </m:d>
                      <m:r>
                        <a:rPr lang="es-BO" sz="2400" b="0" i="1" smtClean="0">
                          <a:latin typeface="Cambria Math" panose="02040503050406030204" pitchFamily="18" charset="0"/>
                        </a:rPr>
                        <m:t>∗</m:t>
                      </m:r>
                      <m:r>
                        <a:rPr lang="es-BO" sz="2400" b="0" i="1" smtClean="0">
                          <a:latin typeface="Cambria Math" panose="02040503050406030204" pitchFamily="18" charset="0"/>
                        </a:rPr>
                        <m:t>𝐻</m:t>
                      </m:r>
                      <m:d>
                        <m:dPr>
                          <m:ctrlPr>
                            <a:rPr lang="es-BO" sz="2400" i="1">
                              <a:latin typeface="Cambria Math" panose="02040503050406030204" pitchFamily="18" charset="0"/>
                            </a:rPr>
                          </m:ctrlPr>
                        </m:dPr>
                        <m:e>
                          <m:r>
                            <a:rPr lang="es-BO" sz="2400" i="1">
                              <a:latin typeface="Cambria Math" panose="02040503050406030204" pitchFamily="18" charset="0"/>
                            </a:rPr>
                            <m:t>𝑠</m:t>
                          </m:r>
                        </m:e>
                      </m:d>
                    </m:oMath>
                  </m:oMathPara>
                </a14:m>
                <a:endParaRPr lang="es-BO" sz="2400" b="0" dirty="0"/>
              </a:p>
            </p:txBody>
          </p:sp>
        </mc:Choice>
        <mc:Fallback xmlns="">
          <p:sp>
            <p:nvSpPr>
              <p:cNvPr id="16" name="CuadroTexto 15">
                <a:extLst>
                  <a:ext uri="{FF2B5EF4-FFF2-40B4-BE49-F238E27FC236}">
                    <a16:creationId xmlns:a16="http://schemas.microsoft.com/office/drawing/2014/main" id="{F28AF8EF-5983-5482-D372-3A2F2EE71689}"/>
                  </a:ext>
                </a:extLst>
              </p:cNvPr>
              <p:cNvSpPr txBox="1">
                <a:spLocks noRot="1" noChangeAspect="1" noMove="1" noResize="1" noEditPoints="1" noAdjustHandles="1" noChangeArrowheads="1" noChangeShapeType="1" noTextEdit="1"/>
              </p:cNvSpPr>
              <p:nvPr/>
            </p:nvSpPr>
            <p:spPr>
              <a:xfrm>
                <a:off x="7174614" y="3748259"/>
                <a:ext cx="3577476" cy="1752018"/>
              </a:xfrm>
              <a:prstGeom prst="rect">
                <a:avLst/>
              </a:prstGeom>
              <a:blipFill>
                <a:blip r:embed="rId6"/>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042EF9-EB11-25A0-017B-544639909AA3}"/>
                  </a:ext>
                </a:extLst>
              </p:cNvPr>
              <p:cNvSpPr txBox="1"/>
              <p:nvPr/>
            </p:nvSpPr>
            <p:spPr>
              <a:xfrm>
                <a:off x="2473745" y="5857484"/>
                <a:ext cx="4904956" cy="778739"/>
              </a:xfrm>
              <a:prstGeom prst="rect">
                <a:avLst/>
              </a:prstGeom>
              <a:noFill/>
            </p:spPr>
            <p:txBody>
              <a:bodyPr wrap="square">
                <a:spAutoFit/>
              </a:bodyPr>
              <a:lstStyle/>
              <a:p>
                <a14:m>
                  <m:oMath xmlns:m="http://schemas.openxmlformats.org/officeDocument/2006/math">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𝐻</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num>
                      <m:den>
                        <m:r>
                          <a:rPr lang="es-BO" sz="2800" b="0" i="1" smtClean="0">
                            <a:latin typeface="Cambria Math" panose="02040503050406030204" pitchFamily="18" charset="0"/>
                          </a:rPr>
                          <m:t>𝑄</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den>
                    </m:f>
                    <m:r>
                      <a:rPr lang="es-BO" sz="2800" b="0" i="1" smtClean="0">
                        <a:latin typeface="Cambria Math" panose="02040503050406030204" pitchFamily="18" charset="0"/>
                      </a:rPr>
                      <m:t>=</m:t>
                    </m:r>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𝑅</m:t>
                        </m:r>
                      </m:num>
                      <m:den>
                        <m:r>
                          <a:rPr lang="es-BO" sz="2800" b="0" i="1" smtClean="0">
                            <a:latin typeface="Cambria Math" panose="02040503050406030204" pitchFamily="18" charset="0"/>
                          </a:rPr>
                          <m:t>1+</m:t>
                        </m:r>
                        <m:r>
                          <a:rPr lang="es-BO" sz="2800" b="0" i="1" smtClean="0">
                            <a:latin typeface="Cambria Math" panose="02040503050406030204" pitchFamily="18" charset="0"/>
                          </a:rPr>
                          <m:t>𝑅𝐶𝑠</m:t>
                        </m:r>
                      </m:den>
                    </m:f>
                    <m:r>
                      <a:rPr lang="es-BO" sz="2800" b="0" i="1" smtClean="0">
                        <a:latin typeface="Cambria Math" panose="02040503050406030204" pitchFamily="18" charset="0"/>
                      </a:rPr>
                      <m:t>→</m:t>
                    </m:r>
                    <m:r>
                      <a:rPr lang="es-BO" sz="2800" b="0" i="1" smtClean="0">
                        <a:latin typeface="Cambria Math" panose="02040503050406030204" pitchFamily="18" charset="0"/>
                      </a:rPr>
                      <m:t>𝐺</m:t>
                    </m:r>
                    <m:d>
                      <m:dPr>
                        <m:ctrlPr>
                          <a:rPr lang="es-BO" sz="2800" b="0" i="1" smtClean="0">
                            <a:latin typeface="Cambria Math" panose="02040503050406030204" pitchFamily="18" charset="0"/>
                          </a:rPr>
                        </m:ctrlPr>
                      </m:dPr>
                      <m:e>
                        <m:r>
                          <a:rPr lang="es-BO" sz="2800" b="0" i="1" smtClean="0">
                            <a:latin typeface="Cambria Math" panose="02040503050406030204" pitchFamily="18" charset="0"/>
                          </a:rPr>
                          <m:t>𝑠</m:t>
                        </m:r>
                      </m:e>
                    </m:d>
                    <m:r>
                      <a:rPr lang="es-BO" sz="2800" b="0" i="1" smtClean="0">
                        <a:latin typeface="Cambria Math" panose="02040503050406030204" pitchFamily="18" charset="0"/>
                      </a:rPr>
                      <m:t>=</m:t>
                    </m:r>
                    <m:f>
                      <m:fPr>
                        <m:ctrlPr>
                          <a:rPr lang="es-BO" sz="2800" b="0" i="1" smtClean="0">
                            <a:latin typeface="Cambria Math" panose="02040503050406030204" pitchFamily="18" charset="0"/>
                          </a:rPr>
                        </m:ctrlPr>
                      </m:fPr>
                      <m:num>
                        <m:r>
                          <a:rPr lang="es-BO" sz="2800" b="0" i="1" smtClean="0">
                            <a:latin typeface="Cambria Math" panose="02040503050406030204" pitchFamily="18" charset="0"/>
                          </a:rPr>
                          <m:t>𝑅</m:t>
                        </m:r>
                      </m:num>
                      <m:den>
                        <m:r>
                          <a:rPr lang="es-BO" sz="2800" b="0" i="1" smtClean="0">
                            <a:latin typeface="Cambria Math" panose="02040503050406030204" pitchFamily="18" charset="0"/>
                          </a:rPr>
                          <m:t>1+</m:t>
                        </m:r>
                        <m:r>
                          <a:rPr lang="es-BO" sz="2800" b="0" i="1" smtClean="0">
                            <a:latin typeface="Cambria Math" panose="02040503050406030204" pitchFamily="18" charset="0"/>
                          </a:rPr>
                          <m:t>𝑅𝐶𝑠</m:t>
                        </m:r>
                      </m:den>
                    </m:f>
                    <m:r>
                      <a:rPr lang="es-BO" sz="2800" b="0" i="1" smtClean="0">
                        <a:latin typeface="Cambria Math" panose="02040503050406030204" pitchFamily="18" charset="0"/>
                      </a:rPr>
                      <m:t>→</m:t>
                    </m:r>
                  </m:oMath>
                </a14:m>
                <a:r>
                  <a:rPr lang="es-BO" sz="2800" dirty="0"/>
                  <a:t> </a:t>
                </a:r>
                <a:endParaRPr lang="es-BO" sz="2400" dirty="0"/>
              </a:p>
            </p:txBody>
          </p:sp>
        </mc:Choice>
        <mc:Fallback xmlns="">
          <p:sp>
            <p:nvSpPr>
              <p:cNvPr id="19" name="CuadroTexto 18">
                <a:extLst>
                  <a:ext uri="{FF2B5EF4-FFF2-40B4-BE49-F238E27FC236}">
                    <a16:creationId xmlns:a16="http://schemas.microsoft.com/office/drawing/2014/main" id="{A0042EF9-EB11-25A0-017B-544639909AA3}"/>
                  </a:ext>
                </a:extLst>
              </p:cNvPr>
              <p:cNvSpPr txBox="1">
                <a:spLocks noRot="1" noChangeAspect="1" noMove="1" noResize="1" noEditPoints="1" noAdjustHandles="1" noChangeArrowheads="1" noChangeShapeType="1" noTextEdit="1"/>
              </p:cNvSpPr>
              <p:nvPr/>
            </p:nvSpPr>
            <p:spPr>
              <a:xfrm>
                <a:off x="2473745" y="5857484"/>
                <a:ext cx="4904956" cy="778739"/>
              </a:xfrm>
              <a:prstGeom prst="rect">
                <a:avLst/>
              </a:prstGeom>
              <a:blipFill>
                <a:blip r:embed="rId7"/>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C1BBC671-3BFC-B6DE-AD8C-49F2EE764EBB}"/>
                  </a:ext>
                </a:extLst>
              </p:cNvPr>
              <p:cNvSpPr txBox="1"/>
              <p:nvPr/>
            </p:nvSpPr>
            <p:spPr>
              <a:xfrm>
                <a:off x="7520428" y="5846263"/>
                <a:ext cx="2385571" cy="78996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BO" sz="2400" b="0" i="1" smtClean="0">
                          <a:latin typeface="Cambria Math" panose="02040503050406030204" pitchFamily="18" charset="0"/>
                        </a:rPr>
                        <m:t>𝐺</m:t>
                      </m:r>
                      <m:d>
                        <m:dPr>
                          <m:ctrlPr>
                            <a:rPr lang="es-BO" sz="2400" b="0" i="1" smtClean="0">
                              <a:latin typeface="Cambria Math" panose="02040503050406030204" pitchFamily="18" charset="0"/>
                            </a:rPr>
                          </m:ctrlPr>
                        </m:dPr>
                        <m:e>
                          <m:r>
                            <a:rPr lang="es-BO" sz="2400" b="0" i="1" smtClean="0">
                              <a:latin typeface="Cambria Math" panose="02040503050406030204" pitchFamily="18" charset="0"/>
                            </a:rPr>
                            <m:t>𝑠</m:t>
                          </m:r>
                        </m:e>
                      </m:d>
                      <m:r>
                        <a:rPr lang="es-BO" sz="2400" b="0" i="1" smtClean="0">
                          <a:latin typeface="Cambria Math" panose="02040503050406030204" pitchFamily="18" charset="0"/>
                        </a:rPr>
                        <m:t>=</m:t>
                      </m:r>
                      <m:f>
                        <m:fPr>
                          <m:ctrlPr>
                            <a:rPr lang="es-BO" sz="2400" b="0" i="1" smtClean="0">
                              <a:latin typeface="Cambria Math" panose="02040503050406030204" pitchFamily="18" charset="0"/>
                            </a:rPr>
                          </m:ctrlPr>
                        </m:fPr>
                        <m:num>
                          <m:r>
                            <a:rPr lang="es-BO" sz="2400" b="0" i="1" smtClean="0">
                              <a:latin typeface="Cambria Math" panose="02040503050406030204" pitchFamily="18" charset="0"/>
                            </a:rPr>
                            <m:t>𝑅</m:t>
                          </m:r>
                        </m:num>
                        <m:den>
                          <m:r>
                            <a:rPr lang="es-BO" sz="2400" b="0" i="1" smtClean="0">
                              <a:latin typeface="Cambria Math" panose="02040503050406030204" pitchFamily="18" charset="0"/>
                            </a:rPr>
                            <m:t>1+</m:t>
                          </m:r>
                          <m:r>
                            <a:rPr lang="es-BO" sz="2400" b="0" i="1" smtClean="0">
                              <a:latin typeface="Cambria Math" panose="02040503050406030204" pitchFamily="18" charset="0"/>
                              <a:ea typeface="Cambria Math" panose="02040503050406030204" pitchFamily="18" charset="0"/>
                            </a:rPr>
                            <m:t>𝜏</m:t>
                          </m:r>
                          <m:r>
                            <a:rPr lang="es-BO" sz="2400" b="0" i="1" smtClean="0">
                              <a:latin typeface="Cambria Math" panose="02040503050406030204" pitchFamily="18" charset="0"/>
                            </a:rPr>
                            <m:t>𝑠</m:t>
                          </m:r>
                        </m:den>
                      </m:f>
                    </m:oMath>
                  </m:oMathPara>
                </a14:m>
                <a:endParaRPr lang="es-BO" sz="2400" dirty="0"/>
              </a:p>
            </p:txBody>
          </p:sp>
        </mc:Choice>
        <mc:Fallback xmlns="">
          <p:sp>
            <p:nvSpPr>
              <p:cNvPr id="21" name="CuadroTexto 20">
                <a:extLst>
                  <a:ext uri="{FF2B5EF4-FFF2-40B4-BE49-F238E27FC236}">
                    <a16:creationId xmlns:a16="http://schemas.microsoft.com/office/drawing/2014/main" id="{C1BBC671-3BFC-B6DE-AD8C-49F2EE764EBB}"/>
                  </a:ext>
                </a:extLst>
              </p:cNvPr>
              <p:cNvSpPr txBox="1">
                <a:spLocks noRot="1" noChangeAspect="1" noMove="1" noResize="1" noEditPoints="1" noAdjustHandles="1" noChangeArrowheads="1" noChangeShapeType="1" noTextEdit="1"/>
              </p:cNvSpPr>
              <p:nvPr/>
            </p:nvSpPr>
            <p:spPr>
              <a:xfrm>
                <a:off x="7520428" y="5846263"/>
                <a:ext cx="2385571" cy="789960"/>
              </a:xfrm>
              <a:prstGeom prst="rect">
                <a:avLst/>
              </a:prstGeom>
              <a:blipFill>
                <a:blip r:embed="rId8"/>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7776499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90057" y="686533"/>
            <a:ext cx="9991594" cy="731489"/>
          </a:xfrm>
        </p:spPr>
        <p:txBody>
          <a:bodyPr>
            <a:normAutofit fontScale="90000"/>
          </a:bodyPr>
          <a:lstStyle/>
          <a:p>
            <a:r>
              <a:rPr lang="es-BO" b="1" dirty="0">
                <a:solidFill>
                  <a:srgbClr val="0070C0"/>
                </a:solidFill>
                <a:latin typeface="Californian FB" panose="0207040306080B030204" pitchFamily="18" charset="0"/>
              </a:rPr>
              <a:t>Datos</a:t>
            </a:r>
          </a:p>
        </p:txBody>
      </p:sp>
      <p:sp>
        <p:nvSpPr>
          <p:cNvPr id="10" name="Marcador de contenido 2"/>
          <p:cNvSpPr txBox="1">
            <a:spLocks/>
          </p:cNvSpPr>
          <p:nvPr/>
        </p:nvSpPr>
        <p:spPr>
          <a:xfrm>
            <a:off x="2090057" y="1527826"/>
            <a:ext cx="9409178" cy="817306"/>
          </a:xfrm>
          <a:prstGeom prst="rect">
            <a:avLst/>
          </a:prstGeom>
        </p:spPr>
        <p:txBody>
          <a:bodyPr vert="horz" lIns="91440" tIns="45720" rIns="91440" bIns="45720" rtlCol="0">
            <a:normAutofit fontScale="70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dirty="0"/>
              <a:t>Reemplazando:</a:t>
            </a:r>
          </a:p>
          <a:p>
            <a:pPr algn="l"/>
            <a:r>
              <a:rPr lang="en-US" sz="4000" dirty="0" err="1"/>
              <a:t>Capacitancia</a:t>
            </a:r>
            <a:r>
              <a:rPr lang="en-US" sz="4000" dirty="0"/>
              <a:t>                           </a:t>
            </a:r>
            <a:r>
              <a:rPr lang="en-US" sz="4000" dirty="0" err="1"/>
              <a:t>Restricción</a:t>
            </a:r>
            <a:endParaRPr lang="es-BO" sz="4000" dirty="0"/>
          </a:p>
          <a:p>
            <a:pPr marL="342900" indent="-342900" algn="just">
              <a:buFontTx/>
              <a:buChar char="-"/>
            </a:pPr>
            <a:endParaRPr lang="es-BO" dirty="0"/>
          </a:p>
        </p:txBody>
      </p:sp>
      <mc:AlternateContent xmlns:mc="http://schemas.openxmlformats.org/markup-compatibility/2006" xmlns:a14="http://schemas.microsoft.com/office/drawing/2010/main">
        <mc:Choice Requires="a14">
          <p:sp>
            <p:nvSpPr>
              <p:cNvPr id="5" name="CuadroTexto 4"/>
              <p:cNvSpPr txBox="1"/>
              <p:nvPr/>
            </p:nvSpPr>
            <p:spPr>
              <a:xfrm>
                <a:off x="2090057" y="2533391"/>
                <a:ext cx="314945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s-BO" sz="2400" b="0" i="1" smtClean="0">
                          <a:latin typeface="Cambria Math" panose="02040503050406030204" pitchFamily="18" charset="0"/>
                        </a:rPr>
                        <m:t>𝐶</m:t>
                      </m:r>
                      <m:r>
                        <a:rPr lang="en-US" sz="2400" b="0" i="1" smtClean="0">
                          <a:latin typeface="Cambria Math" panose="02040503050406030204" pitchFamily="18" charset="0"/>
                        </a:rPr>
                        <m:t>=39,8 </m:t>
                      </m:r>
                      <m:r>
                        <a:rPr lang="en-US" sz="2400" b="0" i="1" smtClean="0">
                          <a:latin typeface="Cambria Math" panose="02040503050406030204" pitchFamily="18" charset="0"/>
                        </a:rPr>
                        <m:t>𝑥</m:t>
                      </m:r>
                      <m:r>
                        <a:rPr lang="en-US" sz="2400" b="0" i="1" smtClean="0">
                          <a:latin typeface="Cambria Math" panose="02040503050406030204" pitchFamily="18" charset="0"/>
                        </a:rPr>
                        <m:t> 39,8 </m:t>
                      </m:r>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𝑐𝑚</m:t>
                              </m:r>
                            </m:e>
                            <m:sup>
                              <m:r>
                                <a:rPr lang="en-US" sz="2400" b="0" i="1" smtClean="0">
                                  <a:latin typeface="Cambria Math" panose="02040503050406030204" pitchFamily="18" charset="0"/>
                                </a:rPr>
                                <m:t>2</m:t>
                              </m:r>
                            </m:sup>
                          </m:sSup>
                        </m:e>
                      </m:d>
                    </m:oMath>
                  </m:oMathPara>
                </a14:m>
                <a:endParaRPr lang="en-US" sz="2400" b="0" dirty="0"/>
              </a:p>
            </p:txBody>
          </p:sp>
        </mc:Choice>
        <mc:Fallback xmlns="">
          <p:sp>
            <p:nvSpPr>
              <p:cNvPr id="5" name="CuadroTexto 4"/>
              <p:cNvSpPr txBox="1">
                <a:spLocks noRot="1" noChangeAspect="1" noMove="1" noResize="1" noEditPoints="1" noAdjustHandles="1" noChangeArrowheads="1" noChangeShapeType="1" noTextEdit="1"/>
              </p:cNvSpPr>
              <p:nvPr/>
            </p:nvSpPr>
            <p:spPr>
              <a:xfrm>
                <a:off x="2090057" y="2533391"/>
                <a:ext cx="3149452" cy="461665"/>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3" name="CuadroTexto 12"/>
              <p:cNvSpPr txBox="1"/>
              <p:nvPr/>
            </p:nvSpPr>
            <p:spPr>
              <a:xfrm>
                <a:off x="7414117" y="2367468"/>
                <a:ext cx="3286092" cy="11823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𝑅</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h</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𝑠</m:t>
                              </m:r>
                            </m:sub>
                          </m:sSub>
                        </m:den>
                      </m:f>
                      <m:r>
                        <a:rPr lang="en-US" sz="2400" i="1">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25[</m:t>
                          </m:r>
                          <m:r>
                            <a:rPr lang="en-US" sz="2400" b="0" i="1" smtClean="0">
                              <a:latin typeface="Cambria Math" panose="02040503050406030204" pitchFamily="18" charset="0"/>
                            </a:rPr>
                            <m:t>𝑐𝑚</m:t>
                          </m:r>
                          <m:r>
                            <a:rPr lang="en-US" sz="2400" b="0" i="1" smtClean="0">
                              <a:latin typeface="Cambria Math" panose="02040503050406030204" pitchFamily="18" charset="0"/>
                            </a:rPr>
                            <m:t>]</m:t>
                          </m:r>
                        </m:num>
                        <m:den>
                          <m:r>
                            <a:rPr lang="en-US" sz="2400" b="0" i="1" smtClean="0">
                              <a:latin typeface="Cambria Math" panose="02040503050406030204" pitchFamily="18" charset="0"/>
                            </a:rPr>
                            <m:t>25</m:t>
                          </m:r>
                          <m:r>
                            <a:rPr lang="es-BO" sz="2400" b="0" i="1" smtClean="0">
                              <a:latin typeface="Cambria Math" panose="02040503050406030204" pitchFamily="18" charset="0"/>
                            </a:rPr>
                            <m:t>9</m:t>
                          </m:r>
                          <m:r>
                            <a:rPr lang="en-US" sz="2400" b="0" i="1" smtClean="0">
                              <a:latin typeface="Cambria Math" panose="02040503050406030204" pitchFamily="18" charset="0"/>
                            </a:rPr>
                            <m:t>.</m:t>
                          </m:r>
                          <m:r>
                            <a:rPr lang="es-BO" sz="2400" b="0" i="1" smtClean="0">
                              <a:latin typeface="Cambria Math" panose="02040503050406030204" pitchFamily="18" charset="0"/>
                            </a:rPr>
                            <m:t>62</m:t>
                          </m:r>
                          <m:d>
                            <m:dPr>
                              <m:begChr m:val="["/>
                              <m:endChr m:val="]"/>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𝑐𝑚</m:t>
                                      </m:r>
                                    </m:e>
                                    <m:sup>
                                      <m:r>
                                        <a:rPr lang="en-US" sz="2400" i="1">
                                          <a:latin typeface="Cambria Math" panose="02040503050406030204" pitchFamily="18" charset="0"/>
                                        </a:rPr>
                                        <m:t>3</m:t>
                                      </m:r>
                                    </m:sup>
                                  </m:sSup>
                                </m:num>
                                <m:den>
                                  <m:r>
                                    <a:rPr lang="en-US" sz="2400" i="1">
                                      <a:latin typeface="Cambria Math" panose="02040503050406030204" pitchFamily="18" charset="0"/>
                                    </a:rPr>
                                    <m:t>𝑠</m:t>
                                  </m:r>
                                </m:den>
                              </m:f>
                            </m:e>
                          </m:d>
                        </m:den>
                      </m:f>
                    </m:oMath>
                  </m:oMathPara>
                </a14:m>
                <a:endParaRPr lang="en-US" sz="2400" i="1" dirty="0">
                  <a:latin typeface="Cambria Math" panose="02040503050406030204" pitchFamily="18" charset="0"/>
                </a:endParaRPr>
              </a:p>
            </p:txBody>
          </p:sp>
        </mc:Choice>
        <mc:Fallback xmlns="">
          <p:sp>
            <p:nvSpPr>
              <p:cNvPr id="13" name="CuadroTexto 12"/>
              <p:cNvSpPr txBox="1">
                <a:spLocks noRot="1" noChangeAspect="1" noMove="1" noResize="1" noEditPoints="1" noAdjustHandles="1" noChangeArrowheads="1" noChangeShapeType="1" noTextEdit="1"/>
              </p:cNvSpPr>
              <p:nvPr/>
            </p:nvSpPr>
            <p:spPr>
              <a:xfrm>
                <a:off x="7414117" y="2367468"/>
                <a:ext cx="3286092" cy="1182311"/>
              </a:xfrm>
              <a:prstGeom prst="rect">
                <a:avLst/>
              </a:prstGeom>
              <a:blipFill>
                <a:blip r:embed="rId3"/>
                <a:stretch>
                  <a:fillRect/>
                </a:stretch>
              </a:blipFill>
            </p:spPr>
            <p:txBody>
              <a:bodyPr/>
              <a:lstStyle/>
              <a:p>
                <a:r>
                  <a:rPr lang="es-BO">
                    <a:noFill/>
                  </a:rPr>
                  <a:t> </a:t>
                </a:r>
              </a:p>
            </p:txBody>
          </p:sp>
        </mc:Fallback>
      </mc:AlternateContent>
      <p:sp>
        <p:nvSpPr>
          <p:cNvPr id="14" name="Marcador de contenido 2"/>
          <p:cNvSpPr txBox="1">
            <a:spLocks/>
          </p:cNvSpPr>
          <p:nvPr/>
        </p:nvSpPr>
        <p:spPr>
          <a:xfrm>
            <a:off x="2272493" y="4575870"/>
            <a:ext cx="10283247" cy="81730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4000" dirty="0"/>
              <a:t>Función de transferencia</a:t>
            </a:r>
            <a:endParaRPr lang="es-BO" sz="4000" dirty="0"/>
          </a:p>
          <a:p>
            <a:pPr marL="342900" indent="-342900" algn="just">
              <a:buFontTx/>
              <a:buChar char="-"/>
            </a:pPr>
            <a:endParaRPr lang="es-BO" dirty="0"/>
          </a:p>
        </p:txBody>
      </p:sp>
      <mc:AlternateContent xmlns:mc="http://schemas.openxmlformats.org/markup-compatibility/2006" xmlns:a14="http://schemas.microsoft.com/office/drawing/2010/main">
        <mc:Choice Requires="a14">
          <p:sp>
            <p:nvSpPr>
              <p:cNvPr id="7" name="CuadroTexto 6"/>
              <p:cNvSpPr txBox="1"/>
              <p:nvPr/>
            </p:nvSpPr>
            <p:spPr>
              <a:xfrm>
                <a:off x="4907974" y="5393176"/>
                <a:ext cx="3328668" cy="98943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BO" sz="2800" b="1" i="1" smtClean="0">
                              <a:latin typeface="Cambria Math" panose="02040503050406030204" pitchFamily="18" charset="0"/>
                            </a:rPr>
                          </m:ctrlPr>
                        </m:fPr>
                        <m:num>
                          <m:r>
                            <a:rPr lang="en-US" sz="2800" b="1" i="1" smtClean="0">
                              <a:latin typeface="Cambria Math" panose="02040503050406030204" pitchFamily="18" charset="0"/>
                            </a:rPr>
                            <m:t>𝑯</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num>
                        <m:den>
                          <m:r>
                            <a:rPr lang="en-US" sz="2800" b="1" i="1" smtClean="0">
                              <a:latin typeface="Cambria Math" panose="02040503050406030204" pitchFamily="18" charset="0"/>
                            </a:rPr>
                            <m:t>𝑸</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den>
                      </m:f>
                      <m:r>
                        <a:rPr lang="en-US" sz="2800" b="1" i="1" smtClean="0">
                          <a:latin typeface="Cambria Math" panose="02040503050406030204" pitchFamily="18" charset="0"/>
                        </a:rPr>
                        <m:t>=</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𝟎</m:t>
                          </m:r>
                          <m:r>
                            <a:rPr lang="en-US" sz="2800" b="1" i="1" smtClean="0">
                              <a:latin typeface="Cambria Math" panose="02040503050406030204" pitchFamily="18" charset="0"/>
                            </a:rPr>
                            <m:t>,</m:t>
                          </m:r>
                          <m:r>
                            <a:rPr lang="en-US" sz="2800" b="1" i="1" smtClean="0">
                              <a:latin typeface="Cambria Math" panose="02040503050406030204" pitchFamily="18" charset="0"/>
                            </a:rPr>
                            <m:t>𝟎𝟗𝟔𝟐𝟗</m:t>
                          </m:r>
                        </m:num>
                        <m:den>
                          <m:r>
                            <a:rPr lang="en-US" sz="2800" b="1" i="1" smtClean="0">
                              <a:latin typeface="Cambria Math" panose="02040503050406030204" pitchFamily="18" charset="0"/>
                            </a:rPr>
                            <m:t>𝟏𝟓</m:t>
                          </m:r>
                          <m:r>
                            <a:rPr lang="es-BO" sz="2800" b="1" i="1" smtClean="0">
                              <a:latin typeface="Cambria Math" panose="02040503050406030204" pitchFamily="18" charset="0"/>
                            </a:rPr>
                            <m:t>𝟐</m:t>
                          </m:r>
                          <m:r>
                            <a:rPr lang="es-BO" sz="2800" b="1" i="1" smtClean="0">
                              <a:latin typeface="Cambria Math" panose="02040503050406030204" pitchFamily="18" charset="0"/>
                            </a:rPr>
                            <m:t>,</m:t>
                          </m:r>
                          <m:r>
                            <a:rPr lang="es-BO" sz="2800" b="1" i="1" smtClean="0">
                              <a:latin typeface="Cambria Math" panose="02040503050406030204" pitchFamily="18" charset="0"/>
                            </a:rPr>
                            <m:t>𝟓</m:t>
                          </m:r>
                          <m:r>
                            <a:rPr lang="en-US" sz="2800" b="1" i="1" smtClean="0">
                              <a:latin typeface="Cambria Math" panose="02040503050406030204" pitchFamily="18" charset="0"/>
                            </a:rPr>
                            <m:t>𝒔</m:t>
                          </m:r>
                          <m:r>
                            <a:rPr lang="en-US" sz="2800" b="1" i="1" smtClean="0">
                              <a:latin typeface="Cambria Math" panose="02040503050406030204" pitchFamily="18" charset="0"/>
                            </a:rPr>
                            <m:t>+</m:t>
                          </m:r>
                          <m:r>
                            <a:rPr lang="en-US" sz="2800" b="1" i="1" smtClean="0">
                              <a:latin typeface="Cambria Math" panose="02040503050406030204" pitchFamily="18" charset="0"/>
                            </a:rPr>
                            <m:t>𝟏</m:t>
                          </m:r>
                        </m:den>
                      </m:f>
                    </m:oMath>
                  </m:oMathPara>
                </a14:m>
                <a:endParaRPr lang="es-BO" b="1" dirty="0"/>
              </a:p>
            </p:txBody>
          </p:sp>
        </mc:Choice>
        <mc:Fallback xmlns="">
          <p:sp>
            <p:nvSpPr>
              <p:cNvPr id="7" name="CuadroTexto 6"/>
              <p:cNvSpPr txBox="1">
                <a:spLocks noRot="1" noChangeAspect="1" noMove="1" noResize="1" noEditPoints="1" noAdjustHandles="1" noChangeArrowheads="1" noChangeShapeType="1" noTextEdit="1"/>
              </p:cNvSpPr>
              <p:nvPr/>
            </p:nvSpPr>
            <p:spPr>
              <a:xfrm>
                <a:off x="4907974" y="5393176"/>
                <a:ext cx="3328668" cy="989438"/>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0E1D3027-23BC-76A7-8822-D4896A00CC7D}"/>
                  </a:ext>
                </a:extLst>
              </p:cNvPr>
              <p:cNvSpPr txBox="1"/>
              <p:nvPr/>
            </p:nvSpPr>
            <p:spPr>
              <a:xfrm>
                <a:off x="2532619" y="3167390"/>
                <a:ext cx="2765425" cy="52322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s-BO" sz="2800" i="1" smtClean="0">
                          <a:latin typeface="Cambria Math" panose="02040503050406030204" pitchFamily="18" charset="0"/>
                        </a:rPr>
                        <m:t>𝐶</m:t>
                      </m:r>
                      <m:r>
                        <a:rPr lang="en-US" sz="2800" i="1">
                          <a:latin typeface="Cambria Math" panose="02040503050406030204" pitchFamily="18" charset="0"/>
                        </a:rPr>
                        <m:t>=</m:t>
                      </m:r>
                      <m:r>
                        <a:rPr lang="en-US" sz="2800" b="0" i="1" smtClean="0">
                          <a:latin typeface="Cambria Math" panose="02040503050406030204" pitchFamily="18" charset="0"/>
                        </a:rPr>
                        <m:t>1584</m:t>
                      </m:r>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𝑐𝑚</m:t>
                          </m:r>
                        </m:e>
                        <m:sup>
                          <m:r>
                            <a:rPr lang="en-US" sz="2800" i="1">
                              <a:latin typeface="Cambria Math" panose="02040503050406030204" pitchFamily="18" charset="0"/>
                            </a:rPr>
                            <m:t>2</m:t>
                          </m:r>
                        </m:sup>
                      </m:sSup>
                      <m:r>
                        <a:rPr lang="en-US" sz="2800" i="1">
                          <a:latin typeface="Cambria Math" panose="02040503050406030204" pitchFamily="18" charset="0"/>
                        </a:rPr>
                        <m:t>]</m:t>
                      </m:r>
                    </m:oMath>
                  </m:oMathPara>
                </a14:m>
                <a:endParaRPr lang="es-BO" sz="2800" dirty="0"/>
              </a:p>
            </p:txBody>
          </p:sp>
        </mc:Choice>
        <mc:Fallback xmlns="">
          <p:sp>
            <p:nvSpPr>
              <p:cNvPr id="4" name="CuadroTexto 3">
                <a:extLst>
                  <a:ext uri="{FF2B5EF4-FFF2-40B4-BE49-F238E27FC236}">
                    <a16:creationId xmlns:a16="http://schemas.microsoft.com/office/drawing/2014/main" id="{0E1D3027-23BC-76A7-8822-D4896A00CC7D}"/>
                  </a:ext>
                </a:extLst>
              </p:cNvPr>
              <p:cNvSpPr txBox="1">
                <a:spLocks noRot="1" noChangeAspect="1" noMove="1" noResize="1" noEditPoints="1" noAdjustHandles="1" noChangeArrowheads="1" noChangeShapeType="1" noTextEdit="1"/>
              </p:cNvSpPr>
              <p:nvPr/>
            </p:nvSpPr>
            <p:spPr>
              <a:xfrm>
                <a:off x="2532619" y="3167390"/>
                <a:ext cx="2765425" cy="523220"/>
              </a:xfrm>
              <a:prstGeom prst="rect">
                <a:avLst/>
              </a:prstGeom>
              <a:blipFill>
                <a:blip r:embed="rId5"/>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2D28FF41-1E77-26FE-F13D-4EA0218219F6}"/>
                  </a:ext>
                </a:extLst>
              </p:cNvPr>
              <p:cNvSpPr txBox="1"/>
              <p:nvPr/>
            </p:nvSpPr>
            <p:spPr>
              <a:xfrm>
                <a:off x="7562936" y="3604812"/>
                <a:ext cx="3137273" cy="83022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𝑅</m:t>
                      </m:r>
                      <m:r>
                        <a:rPr lang="en-US" sz="2800" i="1">
                          <a:latin typeface="Cambria Math" panose="02040503050406030204" pitchFamily="18" charset="0"/>
                        </a:rPr>
                        <m:t>=</m:t>
                      </m:r>
                      <m:r>
                        <a:rPr lang="en-US" sz="2800" b="0" i="1" smtClean="0">
                          <a:latin typeface="Cambria Math" panose="02040503050406030204" pitchFamily="18" charset="0"/>
                        </a:rPr>
                        <m:t>0.09</m:t>
                      </m:r>
                      <m:r>
                        <a:rPr lang="es-BO" sz="2800" b="0" i="1" smtClean="0">
                          <a:latin typeface="Cambria Math" panose="02040503050406030204" pitchFamily="18" charset="0"/>
                        </a:rPr>
                        <m:t>629</m:t>
                      </m:r>
                      <m:d>
                        <m:dPr>
                          <m:begChr m:val="["/>
                          <m:endChr m:val="]"/>
                          <m:ctrlPr>
                            <a:rPr lang="en-US" sz="2800" i="1">
                              <a:latin typeface="Cambria Math" panose="02040503050406030204" pitchFamily="18" charset="0"/>
                            </a:rPr>
                          </m:ctrlPr>
                        </m:dPr>
                        <m:e>
                          <m:f>
                            <m:fPr>
                              <m:ctrlPr>
                                <a:rPr lang="en-US" sz="2800" i="1" smtClean="0">
                                  <a:latin typeface="Cambria Math" panose="02040503050406030204" pitchFamily="18" charset="0"/>
                                </a:rPr>
                              </m:ctrlPr>
                            </m:fPr>
                            <m:num>
                              <m:r>
                                <a:rPr lang="en-US" sz="2800" b="0" i="1" smtClean="0">
                                  <a:latin typeface="Cambria Math" panose="02040503050406030204" pitchFamily="18" charset="0"/>
                                </a:rPr>
                                <m:t>𝑠</m:t>
                              </m:r>
                            </m:num>
                            <m:den>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𝑐𝑚</m:t>
                                  </m:r>
                                </m:e>
                                <m:sup>
                                  <m:r>
                                    <a:rPr lang="en-US" sz="2800" b="0" i="1" smtClean="0">
                                      <a:latin typeface="Cambria Math" panose="02040503050406030204" pitchFamily="18" charset="0"/>
                                    </a:rPr>
                                    <m:t>2</m:t>
                                  </m:r>
                                </m:sup>
                              </m:sSup>
                            </m:den>
                          </m:f>
                        </m:e>
                      </m:d>
                    </m:oMath>
                  </m:oMathPara>
                </a14:m>
                <a:endParaRPr lang="es-BO" sz="2800" dirty="0"/>
              </a:p>
            </p:txBody>
          </p:sp>
        </mc:Choice>
        <mc:Fallback xmlns="">
          <p:sp>
            <p:nvSpPr>
              <p:cNvPr id="8" name="CuadroTexto 7">
                <a:extLst>
                  <a:ext uri="{FF2B5EF4-FFF2-40B4-BE49-F238E27FC236}">
                    <a16:creationId xmlns:a16="http://schemas.microsoft.com/office/drawing/2014/main" id="{2D28FF41-1E77-26FE-F13D-4EA0218219F6}"/>
                  </a:ext>
                </a:extLst>
              </p:cNvPr>
              <p:cNvSpPr txBox="1">
                <a:spLocks noRot="1" noChangeAspect="1" noMove="1" noResize="1" noEditPoints="1" noAdjustHandles="1" noChangeArrowheads="1" noChangeShapeType="1" noTextEdit="1"/>
              </p:cNvSpPr>
              <p:nvPr/>
            </p:nvSpPr>
            <p:spPr>
              <a:xfrm>
                <a:off x="7562936" y="3604812"/>
                <a:ext cx="3137273" cy="830227"/>
              </a:xfrm>
              <a:prstGeom prst="rect">
                <a:avLst/>
              </a:prstGeom>
              <a:blipFill>
                <a:blip r:embed="rId6"/>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1245187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19311" y="896895"/>
            <a:ext cx="10325685" cy="731489"/>
          </a:xfrm>
        </p:spPr>
        <p:txBody>
          <a:bodyPr>
            <a:noAutofit/>
          </a:bodyPr>
          <a:lstStyle/>
          <a:p>
            <a:r>
              <a:rPr lang="es-BO" sz="4000" b="1" dirty="0">
                <a:solidFill>
                  <a:srgbClr val="0070C0"/>
                </a:solidFill>
                <a:latin typeface="Californian FB" panose="0207040306080B030204" pitchFamily="18" charset="0"/>
              </a:rPr>
              <a:t>Nivel de un tanque con restricción de descarga</a:t>
            </a:r>
          </a:p>
        </p:txBody>
      </p:sp>
      <p:sp>
        <p:nvSpPr>
          <p:cNvPr id="10" name="Marcador de contenido 2"/>
          <p:cNvSpPr txBox="1">
            <a:spLocks/>
          </p:cNvSpPr>
          <p:nvPr/>
        </p:nvSpPr>
        <p:spPr>
          <a:xfrm>
            <a:off x="1674055" y="1713100"/>
            <a:ext cx="8823098" cy="16913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4000" dirty="0"/>
              <a:t>Retardo de primer orden</a:t>
            </a:r>
          </a:p>
          <a:p>
            <a:pPr marL="342900" indent="-342900" algn="just">
              <a:buFontTx/>
              <a:buChar char="-"/>
            </a:pPr>
            <a:endParaRPr lang="es-BO" dirty="0"/>
          </a:p>
        </p:txBody>
      </p:sp>
      <p:pic>
        <p:nvPicPr>
          <p:cNvPr id="27" name="Imagen 26"/>
          <p:cNvPicPr>
            <a:picLocks noChangeAspect="1"/>
          </p:cNvPicPr>
          <p:nvPr/>
        </p:nvPicPr>
        <p:blipFill>
          <a:blip r:embed="rId2"/>
          <a:stretch>
            <a:fillRect/>
          </a:stretch>
        </p:blipFill>
        <p:spPr>
          <a:xfrm>
            <a:off x="5984052" y="2583383"/>
            <a:ext cx="2665612" cy="930848"/>
          </a:xfrm>
          <a:prstGeom prst="rect">
            <a:avLst/>
          </a:prstGeom>
        </p:spPr>
      </p:pic>
      <p:pic>
        <p:nvPicPr>
          <p:cNvPr id="5" name="Imagen 4"/>
          <p:cNvPicPr>
            <a:picLocks noChangeAspect="1"/>
          </p:cNvPicPr>
          <p:nvPr/>
        </p:nvPicPr>
        <p:blipFill rotWithShape="1">
          <a:blip r:embed="rId3"/>
          <a:srcRect r="8968"/>
          <a:stretch/>
        </p:blipFill>
        <p:spPr>
          <a:xfrm>
            <a:off x="1996163" y="2674406"/>
            <a:ext cx="3987889" cy="3340167"/>
          </a:xfrm>
          <a:prstGeom prst="rect">
            <a:avLst/>
          </a:prstGeom>
        </p:spPr>
      </p:pic>
      <p:sp>
        <p:nvSpPr>
          <p:cNvPr id="13" name="Marcador de contenido 2"/>
          <p:cNvSpPr txBox="1">
            <a:spLocks/>
          </p:cNvSpPr>
          <p:nvPr/>
        </p:nvSpPr>
        <p:spPr>
          <a:xfrm>
            <a:off x="4394174" y="2597582"/>
            <a:ext cx="7571403" cy="171316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just">
              <a:buFontTx/>
              <a:buChar char="-"/>
            </a:pPr>
            <a:endParaRPr lang="es-BO" dirty="0"/>
          </a:p>
        </p:txBody>
      </p:sp>
      <mc:AlternateContent xmlns:mc="http://schemas.openxmlformats.org/markup-compatibility/2006" xmlns:a14="http://schemas.microsoft.com/office/drawing/2010/main">
        <mc:Choice Requires="a14">
          <p:sp>
            <p:nvSpPr>
              <p:cNvPr id="8" name="CuadroTexto 7"/>
              <p:cNvSpPr txBox="1"/>
              <p:nvPr/>
            </p:nvSpPr>
            <p:spPr>
              <a:xfrm>
                <a:off x="8965130" y="2674407"/>
                <a:ext cx="2844047" cy="8252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𝑮</m:t>
                      </m:r>
                      <m:r>
                        <a:rPr lang="en-US" sz="2400" b="1" i="1" smtClean="0">
                          <a:latin typeface="Cambria Math" panose="02040503050406030204" pitchFamily="18" charset="0"/>
                        </a:rPr>
                        <m:t>(</m:t>
                      </m:r>
                      <m:r>
                        <a:rPr lang="en-US" sz="2400" b="1" i="1" smtClean="0">
                          <a:latin typeface="Cambria Math" panose="02040503050406030204" pitchFamily="18" charset="0"/>
                        </a:rPr>
                        <m:t>𝒔</m:t>
                      </m:r>
                      <m:r>
                        <a:rPr lang="en-US" sz="2400" b="1" i="1" smtClean="0">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𝟎</m:t>
                          </m:r>
                          <m:r>
                            <a:rPr lang="en-US" sz="2400" b="1" i="1">
                              <a:latin typeface="Cambria Math" panose="02040503050406030204" pitchFamily="18" charset="0"/>
                            </a:rPr>
                            <m:t>,</m:t>
                          </m:r>
                          <m:r>
                            <a:rPr lang="en-US" sz="2400" b="1" i="1">
                              <a:latin typeface="Cambria Math" panose="02040503050406030204" pitchFamily="18" charset="0"/>
                            </a:rPr>
                            <m:t>𝟎𝟗𝟔𝟐𝟗</m:t>
                          </m:r>
                        </m:num>
                        <m:den>
                          <m:r>
                            <a:rPr lang="en-US" sz="2400" b="1" i="1">
                              <a:latin typeface="Cambria Math" panose="02040503050406030204" pitchFamily="18" charset="0"/>
                            </a:rPr>
                            <m:t>𝟏𝟓</m:t>
                          </m:r>
                          <m:r>
                            <a:rPr lang="es-BO" sz="2400" b="1" i="1">
                              <a:latin typeface="Cambria Math" panose="02040503050406030204" pitchFamily="18" charset="0"/>
                            </a:rPr>
                            <m:t>𝟐</m:t>
                          </m:r>
                          <m:r>
                            <a:rPr lang="es-BO" sz="2400" b="1" i="1">
                              <a:latin typeface="Cambria Math" panose="02040503050406030204" pitchFamily="18" charset="0"/>
                            </a:rPr>
                            <m:t>,</m:t>
                          </m:r>
                          <m:r>
                            <a:rPr lang="es-BO" sz="2400" b="1" i="1">
                              <a:latin typeface="Cambria Math" panose="02040503050406030204" pitchFamily="18" charset="0"/>
                            </a:rPr>
                            <m:t>𝟓</m:t>
                          </m:r>
                          <m:r>
                            <a:rPr lang="en-US" sz="2400" b="1" i="1">
                              <a:latin typeface="Cambria Math" panose="02040503050406030204" pitchFamily="18" charset="0"/>
                            </a:rPr>
                            <m:t>𝒔</m:t>
                          </m:r>
                          <m:r>
                            <a:rPr lang="en-US" sz="2400" b="1" i="1">
                              <a:latin typeface="Cambria Math" panose="02040503050406030204" pitchFamily="18" charset="0"/>
                            </a:rPr>
                            <m:t>+</m:t>
                          </m:r>
                          <m:r>
                            <a:rPr lang="en-US" sz="2400" b="1" i="1">
                              <a:latin typeface="Cambria Math" panose="02040503050406030204" pitchFamily="18" charset="0"/>
                            </a:rPr>
                            <m:t>𝟏</m:t>
                          </m:r>
                        </m:den>
                      </m:f>
                    </m:oMath>
                  </m:oMathPara>
                </a14:m>
                <a:endParaRPr lang="es-BO" b="1" dirty="0"/>
              </a:p>
            </p:txBody>
          </p:sp>
        </mc:Choice>
        <mc:Fallback xmlns="">
          <p:sp>
            <p:nvSpPr>
              <p:cNvPr id="8" name="CuadroTexto 7"/>
              <p:cNvSpPr txBox="1">
                <a:spLocks noRot="1" noChangeAspect="1" noMove="1" noResize="1" noEditPoints="1" noAdjustHandles="1" noChangeArrowheads="1" noChangeShapeType="1" noTextEdit="1"/>
              </p:cNvSpPr>
              <p:nvPr/>
            </p:nvSpPr>
            <p:spPr>
              <a:xfrm>
                <a:off x="8965130" y="2674407"/>
                <a:ext cx="2844047" cy="825291"/>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9" name="CuadroTexto 8"/>
              <p:cNvSpPr txBox="1"/>
              <p:nvPr/>
            </p:nvSpPr>
            <p:spPr>
              <a:xfrm>
                <a:off x="8887197" y="4390303"/>
                <a:ext cx="2844047" cy="82529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latin typeface="Cambria Math" panose="02040503050406030204" pitchFamily="18" charset="0"/>
                        </a:rPr>
                        <m:t>𝑮</m:t>
                      </m:r>
                      <m:r>
                        <a:rPr lang="en-US" sz="2400" b="1" i="1" smtClean="0">
                          <a:latin typeface="Cambria Math" panose="02040503050406030204" pitchFamily="18" charset="0"/>
                        </a:rPr>
                        <m:t>(</m:t>
                      </m:r>
                      <m:r>
                        <a:rPr lang="en-US" sz="2400" b="1" i="1" smtClean="0">
                          <a:latin typeface="Cambria Math" panose="02040503050406030204" pitchFamily="18" charset="0"/>
                        </a:rPr>
                        <m:t>𝒔</m:t>
                      </m:r>
                      <m:r>
                        <a:rPr lang="en-US" sz="2400" b="1" i="1" smtClean="0">
                          <a:latin typeface="Cambria Math" panose="02040503050406030204" pitchFamily="18" charset="0"/>
                        </a:rPr>
                        <m:t>)=</m:t>
                      </m:r>
                      <m:f>
                        <m:fPr>
                          <m:ctrlPr>
                            <a:rPr lang="en-US" sz="2400" b="1" i="1">
                              <a:latin typeface="Cambria Math" panose="02040503050406030204" pitchFamily="18" charset="0"/>
                            </a:rPr>
                          </m:ctrlPr>
                        </m:fPr>
                        <m:num>
                          <m:r>
                            <a:rPr lang="en-US" sz="2400" b="1" i="1">
                              <a:latin typeface="Cambria Math" panose="02040503050406030204" pitchFamily="18" charset="0"/>
                            </a:rPr>
                            <m:t>𝟎</m:t>
                          </m:r>
                          <m:r>
                            <a:rPr lang="en-US" sz="2400" b="1" i="1">
                              <a:latin typeface="Cambria Math" panose="02040503050406030204" pitchFamily="18" charset="0"/>
                            </a:rPr>
                            <m:t>,</m:t>
                          </m:r>
                          <m:r>
                            <a:rPr lang="en-US" sz="2400" b="1" i="1">
                              <a:latin typeface="Cambria Math" panose="02040503050406030204" pitchFamily="18" charset="0"/>
                            </a:rPr>
                            <m:t>𝟎𝟗𝟔𝟐𝟗</m:t>
                          </m:r>
                        </m:num>
                        <m:den>
                          <m:r>
                            <a:rPr lang="en-US" sz="2400" b="1" i="1">
                              <a:latin typeface="Cambria Math" panose="02040503050406030204" pitchFamily="18" charset="0"/>
                            </a:rPr>
                            <m:t>𝟏𝟓</m:t>
                          </m:r>
                          <m:r>
                            <a:rPr lang="es-BO" sz="2400" b="1" i="1">
                              <a:latin typeface="Cambria Math" panose="02040503050406030204" pitchFamily="18" charset="0"/>
                            </a:rPr>
                            <m:t>𝟐</m:t>
                          </m:r>
                          <m:r>
                            <a:rPr lang="es-BO" sz="2400" b="1" i="1">
                              <a:latin typeface="Cambria Math" panose="02040503050406030204" pitchFamily="18" charset="0"/>
                            </a:rPr>
                            <m:t>,</m:t>
                          </m:r>
                          <m:r>
                            <a:rPr lang="es-BO" sz="2400" b="1" i="1">
                              <a:latin typeface="Cambria Math" panose="02040503050406030204" pitchFamily="18" charset="0"/>
                            </a:rPr>
                            <m:t>𝟓</m:t>
                          </m:r>
                          <m:r>
                            <a:rPr lang="en-US" sz="2400" b="1" i="1">
                              <a:latin typeface="Cambria Math" panose="02040503050406030204" pitchFamily="18" charset="0"/>
                            </a:rPr>
                            <m:t>𝒔</m:t>
                          </m:r>
                          <m:r>
                            <a:rPr lang="en-US" sz="2400" b="1" i="1">
                              <a:latin typeface="Cambria Math" panose="02040503050406030204" pitchFamily="18" charset="0"/>
                            </a:rPr>
                            <m:t>+</m:t>
                          </m:r>
                          <m:r>
                            <a:rPr lang="en-US" sz="2400" b="1" i="1">
                              <a:latin typeface="Cambria Math" panose="02040503050406030204" pitchFamily="18" charset="0"/>
                            </a:rPr>
                            <m:t>𝟏</m:t>
                          </m:r>
                        </m:den>
                      </m:f>
                    </m:oMath>
                  </m:oMathPara>
                </a14:m>
                <a:endParaRPr lang="es-BO" b="1" dirty="0"/>
              </a:p>
            </p:txBody>
          </p:sp>
        </mc:Choice>
        <mc:Fallback xmlns="">
          <p:sp>
            <p:nvSpPr>
              <p:cNvPr id="9" name="CuadroTexto 8"/>
              <p:cNvSpPr txBox="1">
                <a:spLocks noRot="1" noChangeAspect="1" noMove="1" noResize="1" noEditPoints="1" noAdjustHandles="1" noChangeArrowheads="1" noChangeShapeType="1" noTextEdit="1"/>
              </p:cNvSpPr>
              <p:nvPr/>
            </p:nvSpPr>
            <p:spPr>
              <a:xfrm>
                <a:off x="8887197" y="4390303"/>
                <a:ext cx="2844047" cy="825291"/>
              </a:xfrm>
              <a:prstGeom prst="rect">
                <a:avLst/>
              </a:prstGeom>
              <a:blipFill>
                <a:blip r:embed="rId5"/>
                <a:stretch>
                  <a:fillRect/>
                </a:stretch>
              </a:blipFill>
            </p:spPr>
            <p:txBody>
              <a:bodyPr/>
              <a:lstStyle/>
              <a:p>
                <a:r>
                  <a:rPr lang="es-BO">
                    <a:noFill/>
                  </a:rPr>
                  <a:t> </a:t>
                </a:r>
              </a:p>
            </p:txBody>
          </p:sp>
        </mc:Fallback>
      </mc:AlternateContent>
      <p:pic>
        <p:nvPicPr>
          <p:cNvPr id="3" name="Imagen 2"/>
          <p:cNvPicPr>
            <a:picLocks noChangeAspect="1"/>
          </p:cNvPicPr>
          <p:nvPr/>
        </p:nvPicPr>
        <p:blipFill>
          <a:blip r:embed="rId6"/>
          <a:stretch>
            <a:fillRect/>
          </a:stretch>
        </p:blipFill>
        <p:spPr>
          <a:xfrm>
            <a:off x="6376922" y="4371988"/>
            <a:ext cx="2419350" cy="895350"/>
          </a:xfrm>
          <a:prstGeom prst="rect">
            <a:avLst/>
          </a:prstGeom>
        </p:spPr>
      </p:pic>
    </p:spTree>
    <p:extLst>
      <p:ext uri="{BB962C8B-B14F-4D97-AF65-F5344CB8AC3E}">
        <p14:creationId xmlns:p14="http://schemas.microsoft.com/office/powerpoint/2010/main" val="1307695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852942" y="859135"/>
            <a:ext cx="11339057" cy="731489"/>
          </a:xfrm>
        </p:spPr>
        <p:txBody>
          <a:bodyPr>
            <a:noAutofit/>
          </a:bodyPr>
          <a:lstStyle/>
          <a:p>
            <a:r>
              <a:rPr lang="es-BO" sz="4400" b="1" dirty="0">
                <a:solidFill>
                  <a:srgbClr val="0070C0"/>
                </a:solidFill>
                <a:latin typeface="Californian FB" panose="0207040306080B030204" pitchFamily="18" charset="0"/>
              </a:rPr>
              <a:t>Nivel de un tanque con restricción de descarga</a:t>
            </a:r>
          </a:p>
        </p:txBody>
      </p:sp>
      <p:sp>
        <p:nvSpPr>
          <p:cNvPr id="10" name="Marcador de contenido 2"/>
          <p:cNvSpPr txBox="1">
            <a:spLocks/>
          </p:cNvSpPr>
          <p:nvPr/>
        </p:nvSpPr>
        <p:spPr>
          <a:xfrm>
            <a:off x="1125415" y="1725626"/>
            <a:ext cx="9359212" cy="16913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s-BO" sz="3200" dirty="0"/>
              <a:t>Retardo de primer orden</a:t>
            </a:r>
          </a:p>
          <a:p>
            <a:pPr marL="342900" indent="-342900" algn="just">
              <a:buFontTx/>
              <a:buChar char="-"/>
            </a:pPr>
            <a:endParaRPr lang="es-BO" dirty="0"/>
          </a:p>
        </p:txBody>
      </p:sp>
      <p:graphicFrame>
        <p:nvGraphicFramePr>
          <p:cNvPr id="11" name="Gráfico 10"/>
          <p:cNvGraphicFramePr>
            <a:graphicFrameLocks/>
          </p:cNvGraphicFramePr>
          <p:nvPr>
            <p:extLst>
              <p:ext uri="{D42A27DB-BD31-4B8C-83A1-F6EECF244321}">
                <p14:modId xmlns:p14="http://schemas.microsoft.com/office/powerpoint/2010/main" val="3563472295"/>
              </p:ext>
            </p:extLst>
          </p:nvPr>
        </p:nvGraphicFramePr>
        <p:xfrm>
          <a:off x="2055340" y="2646088"/>
          <a:ext cx="5222179" cy="3529318"/>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12" name="CuadroTexto 2"/>
              <p:cNvSpPr txBox="1"/>
              <p:nvPr/>
            </p:nvSpPr>
            <p:spPr>
              <a:xfrm>
                <a:off x="7101184" y="3017984"/>
                <a:ext cx="3035476" cy="707438"/>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s-BO" sz="2400" b="0" i="1">
                          <a:latin typeface="Cambria Math" panose="02040503050406030204" pitchFamily="18" charset="0"/>
                        </a:rPr>
                        <m:t>𝑌</m:t>
                      </m:r>
                      <m:d>
                        <m:dPr>
                          <m:ctrlPr>
                            <a:rPr lang="es-BO" sz="2400" b="0" i="1">
                              <a:latin typeface="Cambria Math" panose="02040503050406030204" pitchFamily="18" charset="0"/>
                            </a:rPr>
                          </m:ctrlPr>
                        </m:dPr>
                        <m:e>
                          <m:r>
                            <a:rPr lang="es-BO" sz="2400" b="0" i="1">
                              <a:latin typeface="Cambria Math" panose="02040503050406030204" pitchFamily="18" charset="0"/>
                            </a:rPr>
                            <m:t>𝑠</m:t>
                          </m:r>
                        </m:e>
                      </m:d>
                      <m:r>
                        <a:rPr lang="en-US" sz="2400" b="0" i="1">
                          <a:latin typeface="Cambria Math" panose="02040503050406030204" pitchFamily="18" charset="0"/>
                        </a:rPr>
                        <m:t>= </m:t>
                      </m:r>
                      <m:f>
                        <m:fPr>
                          <m:ctrlPr>
                            <a:rPr lang="en-US" sz="2400" b="0" i="1">
                              <a:latin typeface="Cambria Math" panose="02040503050406030204" pitchFamily="18" charset="0"/>
                            </a:rPr>
                          </m:ctrlPr>
                        </m:fPr>
                        <m:num>
                          <m:r>
                            <a:rPr lang="en-US" sz="2400" b="0" i="1">
                              <a:latin typeface="Cambria Math" panose="02040503050406030204" pitchFamily="18" charset="0"/>
                            </a:rPr>
                            <m:t>𝑘</m:t>
                          </m:r>
                        </m:num>
                        <m:den>
                          <m:r>
                            <a:rPr lang="en-US" sz="2400" b="0" i="1">
                              <a:latin typeface="Cambria Math" panose="02040503050406030204" pitchFamily="18" charset="0"/>
                              <a:ea typeface="Cambria Math" panose="02040503050406030204" pitchFamily="18" charset="0"/>
                            </a:rPr>
                            <m:t>𝜏</m:t>
                          </m:r>
                          <m:r>
                            <a:rPr lang="en-US" sz="2400" b="0" i="1">
                              <a:latin typeface="Cambria Math" panose="02040503050406030204" pitchFamily="18" charset="0"/>
                              <a:ea typeface="Cambria Math" panose="02040503050406030204" pitchFamily="18" charset="0"/>
                            </a:rPr>
                            <m:t>𝑠</m:t>
                          </m:r>
                          <m:r>
                            <a:rPr lang="en-US" sz="2400" b="0" i="1">
                              <a:latin typeface="Cambria Math" panose="02040503050406030204" pitchFamily="18" charset="0"/>
                              <a:ea typeface="Cambria Math" panose="02040503050406030204" pitchFamily="18" charset="0"/>
                            </a:rPr>
                            <m:t>+1</m:t>
                          </m:r>
                        </m:den>
                      </m:f>
                      <m:r>
                        <a:rPr lang="en-US" sz="2400" b="0" i="1">
                          <a:latin typeface="Cambria Math" panose="02040503050406030204" pitchFamily="18" charset="0"/>
                        </a:rPr>
                        <m:t>𝑈</m:t>
                      </m:r>
                      <m:r>
                        <a:rPr lang="en-US" sz="2400" b="0" i="1">
                          <a:latin typeface="Cambria Math" panose="02040503050406030204" pitchFamily="18" charset="0"/>
                        </a:rPr>
                        <m:t>(</m:t>
                      </m:r>
                      <m:r>
                        <a:rPr lang="en-US" sz="2400" b="0" i="1">
                          <a:latin typeface="Cambria Math" panose="02040503050406030204" pitchFamily="18" charset="0"/>
                        </a:rPr>
                        <m:t>𝑠</m:t>
                      </m:r>
                      <m:r>
                        <a:rPr lang="en-US" sz="2400" b="0" i="1">
                          <a:latin typeface="Cambria Math" panose="02040503050406030204" pitchFamily="18" charset="0"/>
                        </a:rPr>
                        <m:t>)</m:t>
                      </m:r>
                    </m:oMath>
                  </m:oMathPara>
                </a14:m>
                <a:endParaRPr lang="es-BO" sz="2400" dirty="0"/>
              </a:p>
            </p:txBody>
          </p:sp>
        </mc:Choice>
        <mc:Fallback xmlns="">
          <p:sp>
            <p:nvSpPr>
              <p:cNvPr id="12" name="CuadroTexto 2"/>
              <p:cNvSpPr txBox="1">
                <a:spLocks noRot="1" noChangeAspect="1" noMove="1" noResize="1" noEditPoints="1" noAdjustHandles="1" noChangeArrowheads="1" noChangeShapeType="1" noTextEdit="1"/>
              </p:cNvSpPr>
              <p:nvPr/>
            </p:nvSpPr>
            <p:spPr>
              <a:xfrm>
                <a:off x="7101184" y="3017984"/>
                <a:ext cx="3035476" cy="707438"/>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4" name="CuadroTexto 4"/>
              <p:cNvSpPr txBox="1"/>
              <p:nvPr/>
            </p:nvSpPr>
            <p:spPr>
              <a:xfrm>
                <a:off x="7328662" y="3788782"/>
                <a:ext cx="3731409" cy="621965"/>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sz="2800" b="0" i="1">
                          <a:latin typeface="Cambria Math" panose="02040503050406030204" pitchFamily="18" charset="0"/>
                        </a:rPr>
                        <m:t>𝑦</m:t>
                      </m:r>
                      <m:d>
                        <m:dPr>
                          <m:ctrlPr>
                            <a:rPr lang="en-US" sz="2800" b="0" i="1">
                              <a:latin typeface="Cambria Math" panose="02040503050406030204" pitchFamily="18" charset="0"/>
                            </a:rPr>
                          </m:ctrlPr>
                        </m:dPr>
                        <m:e>
                          <m:r>
                            <a:rPr lang="en-US" sz="2800" b="0" i="1">
                              <a:latin typeface="Cambria Math" panose="02040503050406030204" pitchFamily="18" charset="0"/>
                            </a:rPr>
                            <m:t>𝑡</m:t>
                          </m:r>
                        </m:e>
                      </m:d>
                      <m:r>
                        <a:rPr lang="en-US" sz="2800" b="0" i="1">
                          <a:latin typeface="Cambria Math" panose="02040503050406030204" pitchFamily="18" charset="0"/>
                        </a:rPr>
                        <m:t>=</m:t>
                      </m:r>
                      <m:r>
                        <a:rPr lang="en-US" sz="2800" b="0" i="1">
                          <a:latin typeface="Cambria Math" panose="02040503050406030204" pitchFamily="18" charset="0"/>
                        </a:rPr>
                        <m:t>𝑘</m:t>
                      </m:r>
                      <m:r>
                        <a:rPr lang="en-US" sz="2800" b="0" i="1">
                          <a:latin typeface="Cambria Math" panose="02040503050406030204" pitchFamily="18" charset="0"/>
                        </a:rPr>
                        <m:t>(∆</m:t>
                      </m:r>
                      <m:r>
                        <a:rPr lang="en-US" sz="2800" b="0" i="1">
                          <a:latin typeface="Cambria Math" panose="02040503050406030204" pitchFamily="18" charset="0"/>
                          <a:ea typeface="Cambria Math" panose="02040503050406030204" pitchFamily="18" charset="0"/>
                        </a:rPr>
                        <m:t>𝑢</m:t>
                      </m:r>
                      <m:r>
                        <a:rPr lang="en-US" sz="2800" b="0" i="1">
                          <a:latin typeface="Cambria Math" panose="02040503050406030204" pitchFamily="18" charset="0"/>
                          <a:ea typeface="Cambria Math" panose="02040503050406030204" pitchFamily="18" charset="0"/>
                        </a:rPr>
                        <m:t>)</m:t>
                      </m:r>
                      <m:d>
                        <m:dPr>
                          <m:begChr m:val="["/>
                          <m:endChr m:val="]"/>
                          <m:ctrlPr>
                            <a:rPr lang="en-US" sz="2800" b="0" i="1">
                              <a:latin typeface="Cambria Math" panose="02040503050406030204" pitchFamily="18" charset="0"/>
                              <a:ea typeface="Cambria Math" panose="02040503050406030204" pitchFamily="18" charset="0"/>
                            </a:rPr>
                          </m:ctrlPr>
                        </m:dPr>
                        <m:e>
                          <m:r>
                            <a:rPr lang="en-US" sz="2800" b="0" i="1">
                              <a:latin typeface="Cambria Math" panose="02040503050406030204" pitchFamily="18" charset="0"/>
                              <a:ea typeface="Cambria Math" panose="02040503050406030204" pitchFamily="18" charset="0"/>
                            </a:rPr>
                            <m:t>1−</m:t>
                          </m:r>
                          <m:sSup>
                            <m:sSupPr>
                              <m:ctrlPr>
                                <a:rPr lang="en-US" sz="2800" b="0" i="1">
                                  <a:latin typeface="Cambria Math" panose="02040503050406030204" pitchFamily="18" charset="0"/>
                                  <a:ea typeface="Cambria Math" panose="02040503050406030204" pitchFamily="18" charset="0"/>
                                </a:rPr>
                              </m:ctrlPr>
                            </m:sSupPr>
                            <m:e>
                              <m:r>
                                <a:rPr lang="en-US" sz="2800" b="0" i="1">
                                  <a:latin typeface="Cambria Math" panose="02040503050406030204" pitchFamily="18" charset="0"/>
                                  <a:ea typeface="Cambria Math" panose="02040503050406030204" pitchFamily="18" charset="0"/>
                                </a:rPr>
                                <m:t>𝑒</m:t>
                              </m:r>
                            </m:e>
                            <m:sup>
                              <m:r>
                                <a:rPr lang="en-US" sz="2800" b="0" i="1">
                                  <a:latin typeface="Cambria Math" panose="02040503050406030204" pitchFamily="18" charset="0"/>
                                  <a:ea typeface="Cambria Math" panose="02040503050406030204" pitchFamily="18" charset="0"/>
                                </a:rPr>
                                <m:t>(−</m:t>
                              </m:r>
                              <m:f>
                                <m:fPr>
                                  <m:ctrlPr>
                                    <a:rPr lang="en-US" sz="2800" b="0" i="1">
                                      <a:latin typeface="Cambria Math" panose="02040503050406030204" pitchFamily="18" charset="0"/>
                                      <a:ea typeface="Cambria Math" panose="02040503050406030204" pitchFamily="18" charset="0"/>
                                    </a:rPr>
                                  </m:ctrlPr>
                                </m:fPr>
                                <m:num>
                                  <m:r>
                                    <a:rPr lang="en-US" sz="2800" b="0" i="1">
                                      <a:latin typeface="Cambria Math" panose="02040503050406030204" pitchFamily="18" charset="0"/>
                                      <a:ea typeface="Cambria Math" panose="02040503050406030204" pitchFamily="18" charset="0"/>
                                    </a:rPr>
                                    <m:t>𝑡</m:t>
                                  </m:r>
                                </m:num>
                                <m:den>
                                  <m:r>
                                    <a:rPr lang="en-US" sz="2800" b="0" i="1">
                                      <a:latin typeface="Cambria Math" panose="02040503050406030204" pitchFamily="18" charset="0"/>
                                      <a:ea typeface="Cambria Math" panose="02040503050406030204" pitchFamily="18" charset="0"/>
                                    </a:rPr>
                                    <m:t>𝜏</m:t>
                                  </m:r>
                                </m:den>
                              </m:f>
                              <m:r>
                                <a:rPr lang="en-US" sz="2800" b="0" i="1">
                                  <a:latin typeface="Cambria Math" panose="02040503050406030204" pitchFamily="18" charset="0"/>
                                  <a:ea typeface="Cambria Math" panose="02040503050406030204" pitchFamily="18" charset="0"/>
                                </a:rPr>
                                <m:t>)</m:t>
                              </m:r>
                            </m:sup>
                          </m:sSup>
                        </m:e>
                      </m:d>
                    </m:oMath>
                  </m:oMathPara>
                </a14:m>
                <a:endParaRPr lang="es-BO" sz="1800" dirty="0"/>
              </a:p>
            </p:txBody>
          </p:sp>
        </mc:Choice>
        <mc:Fallback xmlns="">
          <p:sp>
            <p:nvSpPr>
              <p:cNvPr id="14" name="CuadroTexto 4"/>
              <p:cNvSpPr txBox="1">
                <a:spLocks noRot="1" noChangeAspect="1" noMove="1" noResize="1" noEditPoints="1" noAdjustHandles="1" noChangeArrowheads="1" noChangeShapeType="1" noTextEdit="1"/>
              </p:cNvSpPr>
              <p:nvPr/>
            </p:nvSpPr>
            <p:spPr>
              <a:xfrm>
                <a:off x="7328662" y="3788782"/>
                <a:ext cx="3731409" cy="621965"/>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CuadroTexto 6"/>
              <p:cNvSpPr txBox="1"/>
              <p:nvPr/>
            </p:nvSpPr>
            <p:spPr>
              <a:xfrm>
                <a:off x="7328662" y="4649220"/>
                <a:ext cx="4783300" cy="712118"/>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centerGroup"/>
                    </m:oMathParaPr>
                    <m:oMath xmlns:m="http://schemas.openxmlformats.org/officeDocument/2006/math">
                      <m:r>
                        <a:rPr lang="en-US" sz="3200" b="0" i="1">
                          <a:latin typeface="Cambria Math" panose="02040503050406030204" pitchFamily="18" charset="0"/>
                        </a:rPr>
                        <m:t>𝑦</m:t>
                      </m:r>
                      <m:d>
                        <m:dPr>
                          <m:ctrlPr>
                            <a:rPr lang="en-US" sz="3200" b="0" i="1">
                              <a:latin typeface="Cambria Math" panose="02040503050406030204" pitchFamily="18" charset="0"/>
                            </a:rPr>
                          </m:ctrlPr>
                        </m:dPr>
                        <m:e>
                          <m:r>
                            <a:rPr lang="en-US" sz="3200" b="0" i="1">
                              <a:latin typeface="Cambria Math" panose="02040503050406030204" pitchFamily="18" charset="0"/>
                            </a:rPr>
                            <m:t>𝑡</m:t>
                          </m:r>
                        </m:e>
                      </m:d>
                      <m:r>
                        <a:rPr lang="en-US" sz="3200" b="0" i="1">
                          <a:latin typeface="Cambria Math" panose="02040503050406030204" pitchFamily="18" charset="0"/>
                        </a:rPr>
                        <m:t>=</m:t>
                      </m:r>
                      <m:r>
                        <a:rPr lang="es-BO" sz="3200" b="0" i="1">
                          <a:latin typeface="Cambria Math" panose="02040503050406030204" pitchFamily="18" charset="0"/>
                        </a:rPr>
                        <m:t>2,495</m:t>
                      </m:r>
                      <m:d>
                        <m:dPr>
                          <m:begChr m:val="["/>
                          <m:endChr m:val="]"/>
                          <m:ctrlPr>
                            <a:rPr lang="en-US" sz="3200" b="0" i="1">
                              <a:latin typeface="Cambria Math" panose="02040503050406030204" pitchFamily="18" charset="0"/>
                              <a:ea typeface="Cambria Math" panose="02040503050406030204" pitchFamily="18" charset="0"/>
                            </a:rPr>
                          </m:ctrlPr>
                        </m:dPr>
                        <m:e>
                          <m:r>
                            <a:rPr lang="en-US" sz="3200" b="0" i="1">
                              <a:latin typeface="Cambria Math" panose="02040503050406030204" pitchFamily="18" charset="0"/>
                              <a:ea typeface="Cambria Math" panose="02040503050406030204" pitchFamily="18" charset="0"/>
                            </a:rPr>
                            <m:t>1−</m:t>
                          </m:r>
                          <m:sSup>
                            <m:sSupPr>
                              <m:ctrlPr>
                                <a:rPr lang="en-US" sz="3200" b="0" i="1">
                                  <a:latin typeface="Cambria Math" panose="02040503050406030204" pitchFamily="18" charset="0"/>
                                  <a:ea typeface="Cambria Math" panose="02040503050406030204" pitchFamily="18" charset="0"/>
                                </a:rPr>
                              </m:ctrlPr>
                            </m:sSupPr>
                            <m:e>
                              <m:r>
                                <a:rPr lang="en-US" sz="3200" b="0" i="1">
                                  <a:latin typeface="Cambria Math" panose="02040503050406030204" pitchFamily="18" charset="0"/>
                                  <a:ea typeface="Cambria Math" panose="02040503050406030204" pitchFamily="18" charset="0"/>
                                </a:rPr>
                                <m:t>𝑒</m:t>
                              </m:r>
                            </m:e>
                            <m:sup>
                              <m:r>
                                <a:rPr lang="en-US" sz="3200" b="0" i="1">
                                  <a:latin typeface="Cambria Math" panose="02040503050406030204" pitchFamily="18" charset="0"/>
                                  <a:ea typeface="Cambria Math" panose="02040503050406030204" pitchFamily="18" charset="0"/>
                                </a:rPr>
                                <m:t>(−</m:t>
                              </m:r>
                              <m:f>
                                <m:fPr>
                                  <m:ctrlPr>
                                    <a:rPr lang="en-US" sz="3200" b="0" i="1">
                                      <a:latin typeface="Cambria Math" panose="02040503050406030204" pitchFamily="18" charset="0"/>
                                      <a:ea typeface="Cambria Math" panose="02040503050406030204" pitchFamily="18" charset="0"/>
                                    </a:rPr>
                                  </m:ctrlPr>
                                </m:fPr>
                                <m:num>
                                  <m:r>
                                    <a:rPr lang="en-US" sz="3200" b="0" i="1">
                                      <a:latin typeface="Cambria Math" panose="02040503050406030204" pitchFamily="18" charset="0"/>
                                      <a:ea typeface="Cambria Math" panose="02040503050406030204" pitchFamily="18" charset="0"/>
                                    </a:rPr>
                                    <m:t>𝑡</m:t>
                                  </m:r>
                                </m:num>
                                <m:den>
                                  <m:r>
                                    <a:rPr lang="es-BO" sz="3200" b="0" i="1">
                                      <a:latin typeface="Cambria Math" panose="02040503050406030204" pitchFamily="18" charset="0"/>
                                      <a:ea typeface="Cambria Math" panose="02040503050406030204" pitchFamily="18" charset="0"/>
                                    </a:rPr>
                                    <m:t>158</m:t>
                                  </m:r>
                                </m:den>
                              </m:f>
                              <m:r>
                                <a:rPr lang="en-US" sz="3200" b="0" i="1">
                                  <a:latin typeface="Cambria Math" panose="02040503050406030204" pitchFamily="18" charset="0"/>
                                  <a:ea typeface="Cambria Math" panose="02040503050406030204" pitchFamily="18" charset="0"/>
                                </a:rPr>
                                <m:t>)</m:t>
                              </m:r>
                            </m:sup>
                          </m:sSup>
                        </m:e>
                      </m:d>
                    </m:oMath>
                  </m:oMathPara>
                </a14:m>
                <a:endParaRPr lang="es-BO" sz="1050" dirty="0"/>
              </a:p>
            </p:txBody>
          </p:sp>
        </mc:Choice>
        <mc:Fallback xmlns="">
          <p:sp>
            <p:nvSpPr>
              <p:cNvPr id="15" name="CuadroTexto 6"/>
              <p:cNvSpPr txBox="1">
                <a:spLocks noRot="1" noChangeAspect="1" noMove="1" noResize="1" noEditPoints="1" noAdjustHandles="1" noChangeArrowheads="1" noChangeShapeType="1" noTextEdit="1"/>
              </p:cNvSpPr>
              <p:nvPr/>
            </p:nvSpPr>
            <p:spPr>
              <a:xfrm>
                <a:off x="7328662" y="4649220"/>
                <a:ext cx="4783300" cy="712118"/>
              </a:xfrm>
              <a:prstGeom prst="rect">
                <a:avLst/>
              </a:prstGeom>
              <a:blipFill>
                <a:blip r:embed="rId5"/>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790716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p:txBody>
          <a:bodyPr>
            <a:normAutofit/>
          </a:bodyPr>
          <a:lstStyle/>
          <a:p>
            <a:pPr algn="ctr"/>
            <a:r>
              <a:rPr lang="es-BO" sz="6000" b="1" dirty="0"/>
              <a:t>RESPUESTA TEMPORAL DEL SISTEMA</a:t>
            </a:r>
          </a:p>
        </p:txBody>
      </p:sp>
    </p:spTree>
    <p:extLst>
      <p:ext uri="{BB962C8B-B14F-4D97-AF65-F5344CB8AC3E}">
        <p14:creationId xmlns:p14="http://schemas.microsoft.com/office/powerpoint/2010/main" val="3804967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ángulo 1"/>
              <p:cNvSpPr/>
              <p:nvPr/>
            </p:nvSpPr>
            <p:spPr>
              <a:xfrm>
                <a:off x="2715063" y="1383760"/>
                <a:ext cx="8848579" cy="4959499"/>
              </a:xfrm>
              <a:prstGeom prst="rect">
                <a:avLst/>
              </a:prstGeom>
            </p:spPr>
            <p:txBody>
              <a:bodyPr wrap="square">
                <a:sp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𝐹</m:t>
                      </m:r>
                      <m:d>
                        <m:dPr>
                          <m:ctrlPr>
                            <a:rPr lang="en-US" sz="24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4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𝑌</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num>
                        <m:den>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𝑈</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den>
                      </m:f>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4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𝑏</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0</m:t>
                          </m:r>
                        </m:num>
                        <m:den>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𝑎</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0</m:t>
                          </m:r>
                        </m:den>
                      </m:f>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4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num>
                        <m:den>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4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oMath>
                  </m:oMathPara>
                </a14:m>
                <a:endParaRPr lang="es-BO" sz="2400" dirty="0">
                  <a:ea typeface="Calibri" panose="020F0502020204030204" pitchFamily="34" charset="0"/>
                  <a:cs typeface="Times New Roman" panose="02020603050405020304" pitchFamily="18" charset="0"/>
                </a:endParaRPr>
              </a:p>
              <a:p>
                <a:pPr>
                  <a:lnSpc>
                    <a:spcPct val="106000"/>
                  </a:lnSpc>
                  <a:spcAft>
                    <a:spcPts val="800"/>
                  </a:spcAft>
                </a:pPr>
                <a:r>
                  <a:rPr lang="es-BO" sz="2000" dirty="0">
                    <a:ea typeface="Calibri" panose="020F0502020204030204" pitchFamily="34" charset="0"/>
                    <a:cs typeface="Times New Roman" panose="02020603050405020304" pitchFamily="18" charset="0"/>
                  </a:rPr>
                  <a:t>Donde: el sistema tiene un polo en:  </a:t>
                </a:r>
                <a14:m>
                  <m:oMath xmlns:m="http://schemas.openxmlformats.org/officeDocument/2006/math">
                    <m:r>
                      <a:rPr lang="es-BO" sz="2000" b="1"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b="1" i="1">
                        <a:solidFill>
                          <a:srgbClr val="000000"/>
                        </a:solidFill>
                        <a:latin typeface="Cambria Math" panose="02040503050406030204" pitchFamily="18" charset="0"/>
                        <a:ea typeface="Calibri" panose="020F0502020204030204" pitchFamily="34" charset="0"/>
                        <a:cs typeface="Arial" panose="020B0604020202020204" pitchFamily="34" charset="0"/>
                      </a:rPr>
                      <m:t>𝒂</m:t>
                    </m:r>
                    <m:r>
                      <a:rPr lang="es-BO" sz="2000" b="1" i="1">
                        <a:solidFill>
                          <a:srgbClr val="000000"/>
                        </a:solidFill>
                        <a:latin typeface="Cambria Math" panose="02040503050406030204" pitchFamily="18" charset="0"/>
                        <a:ea typeface="Calibri" panose="020F0502020204030204" pitchFamily="34" charset="0"/>
                        <a:cs typeface="Arial" panose="020B0604020202020204" pitchFamily="34" charset="0"/>
                      </a:rPr>
                      <m:t>𝟎</m:t>
                    </m:r>
                  </m:oMath>
                </a14:m>
                <a:endParaRPr lang="en-US" sz="2000" dirty="0">
                  <a:ea typeface="Calibri" panose="020F0502020204030204" pitchFamily="34" charset="0"/>
                  <a:cs typeface="Times New Roman" panose="02020603050405020304" pitchFamily="18" charset="0"/>
                </a:endParaRPr>
              </a:p>
              <a:p>
                <a:pPr>
                  <a:lnSpc>
                    <a:spcPct val="106000"/>
                  </a:lnSpc>
                  <a:spcAft>
                    <a:spcPts val="800"/>
                  </a:spcAft>
                </a:pPr>
                <a:r>
                  <a:rPr lang="es-BO" sz="2000" dirty="0">
                    <a:ea typeface="Calibri" panose="020F0502020204030204" pitchFamily="34" charset="0"/>
                    <a:cs typeface="Times New Roman" panose="02020603050405020304" pitchFamily="18" charset="0"/>
                  </a:rPr>
                  <a:t> </a:t>
                </a:r>
                <a:r>
                  <a:rPr lang="es-BO" sz="2000" b="1" dirty="0">
                    <a:ea typeface="Calibri" panose="020F0502020204030204" pitchFamily="34" charset="0"/>
                    <a:cs typeface="Times New Roman" panose="02020603050405020304" pitchFamily="18" charset="0"/>
                  </a:rPr>
                  <a:t>k: es la ganancia de estado estacionario</a:t>
                </a:r>
                <a:r>
                  <a:rPr lang="es-BO" sz="2000" dirty="0">
                    <a:ea typeface="Calibri" panose="020F0502020204030204" pitchFamily="34" charset="0"/>
                    <a:cs typeface="Times New Roman" panose="02020603050405020304" pitchFamily="18" charset="0"/>
                  </a:rPr>
                  <a:t>,</a:t>
                </a:r>
                <a:r>
                  <a:rPr lang="es-BO" sz="2000" dirty="0">
                    <a:solidFill>
                      <a:srgbClr val="202122"/>
                    </a:solidFill>
                    <a:effectLst/>
                    <a:ea typeface="Calibri" panose="020F0502020204030204" pitchFamily="34" charset="0"/>
                    <a:cs typeface="Times New Roman" panose="02020603050405020304" pitchFamily="18" charset="0"/>
                  </a:rPr>
                  <a:t> la cual entrega el valor que toma la respuesta del sistema para un tiempo que tiende a infinito.</a:t>
                </a:r>
                <a:endParaRPr lang="en-US" sz="2000" dirty="0">
                  <a:ea typeface="Calibri" panose="020F0502020204030204" pitchFamily="34" charset="0"/>
                  <a:cs typeface="Times New Roman" panose="02020603050405020304" pitchFamily="18" charset="0"/>
                </a:endParaRPr>
              </a:p>
              <a:p>
                <a:pPr algn="ctr">
                  <a:lnSpc>
                    <a:spcPct val="106000"/>
                  </a:lnSpc>
                  <a:spcAft>
                    <a:spcPts val="800"/>
                  </a:spcAft>
                </a:pPr>
                <a14:m>
                  <m:oMathPara xmlns:m="http://schemas.openxmlformats.org/officeDocument/2006/math">
                    <m:oMathParaPr>
                      <m:jc m:val="centerGroup"/>
                    </m:oMathParaPr>
                    <m:oMath xmlns:m="http://schemas.openxmlformats.org/officeDocument/2006/math">
                      <m:r>
                        <a:rPr lang="es-BO" sz="2400" b="1" i="1">
                          <a:latin typeface="Cambria Math" panose="02040503050406030204" pitchFamily="18" charset="0"/>
                          <a:ea typeface="Calibri" panose="020F0502020204030204" pitchFamily="34" charset="0"/>
                          <a:cs typeface="Times New Roman" panose="02020603050405020304" pitchFamily="18" charset="0"/>
                        </a:rPr>
                        <m:t>𝒌</m:t>
                      </m:r>
                      <m:r>
                        <a:rPr lang="es-BO" sz="2400" b="1"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b="1"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𝒃</m:t>
                          </m:r>
                          <m:r>
                            <a:rPr lang="es-BO"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𝟎</m:t>
                          </m:r>
                        </m:num>
                        <m:den>
                          <m:r>
                            <a:rPr lang="es-ES_tradnl"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𝒂</m:t>
                          </m:r>
                          <m:r>
                            <a:rPr lang="es-BO"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𝟎</m:t>
                          </m:r>
                        </m:den>
                      </m:f>
                    </m:oMath>
                  </m:oMathPara>
                </a14:m>
                <a:endParaRPr lang="en-US" sz="2400" dirty="0">
                  <a:ea typeface="Calibri" panose="020F0502020204030204" pitchFamily="34" charset="0"/>
                  <a:cs typeface="Times New Roman" panose="02020603050405020304" pitchFamily="18" charset="0"/>
                </a:endParaRPr>
              </a:p>
              <a:p>
                <a:pPr>
                  <a:lnSpc>
                    <a:spcPct val="106000"/>
                  </a:lnSpc>
                  <a:spcAft>
                    <a:spcPts val="800"/>
                  </a:spcAft>
                </a:pPr>
                <a:r>
                  <a:rPr lang="es-BO" sz="2000" b="1" dirty="0">
                    <a:solidFill>
                      <a:srgbClr val="202122"/>
                    </a:solidFill>
                    <a:effectLst/>
                    <a:ea typeface="Calibri" panose="020F0502020204030204" pitchFamily="34" charset="0"/>
                    <a:cs typeface="Times New Roman" panose="02020603050405020304" pitchFamily="18" charset="0"/>
                  </a:rPr>
                  <a:t>La constante </a:t>
                </a:r>
                <a14:m>
                  <m:oMath xmlns:m="http://schemas.openxmlformats.org/officeDocument/2006/math">
                    <m:r>
                      <a:rPr lang="es-ES_tradnl" sz="2000" b="1" i="1">
                        <a:solidFill>
                          <a:srgbClr val="000000"/>
                        </a:solidFill>
                        <a:latin typeface="Cambria Math" panose="02040503050406030204" pitchFamily="18" charset="0"/>
                        <a:ea typeface="Calibri" panose="020F0502020204030204" pitchFamily="34" charset="0"/>
                        <a:cs typeface="Arial" panose="020B0604020202020204" pitchFamily="34" charset="0"/>
                      </a:rPr>
                      <m:t>𝝉</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m:t>
                    </m:r>
                  </m:oMath>
                </a14:m>
                <a:r>
                  <a:rPr lang="es-BO" sz="2000" dirty="0">
                    <a:solidFill>
                      <a:srgbClr val="000000"/>
                    </a:solidFill>
                    <a:ea typeface="Times New Roman" panose="02020603050405020304" pitchFamily="18" charset="0"/>
                    <a:cs typeface="Times New Roman" panose="02020603050405020304" pitchFamily="18" charset="0"/>
                  </a:rPr>
                  <a:t>,</a:t>
                </a:r>
                <a:r>
                  <a:rPr lang="es-BO" sz="2000" dirty="0">
                    <a:solidFill>
                      <a:srgbClr val="202122"/>
                    </a:solidFill>
                    <a:ea typeface="Times New Roman" panose="02020603050405020304" pitchFamily="18" charset="0"/>
                    <a:cs typeface="Times New Roman" panose="02020603050405020304" pitchFamily="18" charset="0"/>
                  </a:rPr>
                  <a:t> </a:t>
                </a:r>
                <a:r>
                  <a:rPr lang="es-BO" sz="2000" dirty="0">
                    <a:solidFill>
                      <a:srgbClr val="202122"/>
                    </a:solidFill>
                    <a:effectLst/>
                    <a:ea typeface="Calibri" panose="020F0502020204030204" pitchFamily="34" charset="0"/>
                    <a:cs typeface="Times New Roman" panose="02020603050405020304" pitchFamily="18" charset="0"/>
                  </a:rPr>
                  <a:t>es la constante de tiempo, la cual  indicara el tiempo en el cual el sistema tiene un 63,21% del valor en estado estacionario.</a:t>
                </a:r>
                <a:endParaRPr lang="en-US" sz="2000" dirty="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BO" sz="2400" i="1">
                          <a:latin typeface="Cambria Math" panose="02040503050406030204" pitchFamily="18" charset="0"/>
                          <a:ea typeface="Calibri" panose="020F0502020204030204" pitchFamily="34" charset="0"/>
                          <a:cs typeface="Times New Roman" panose="02020603050405020304" pitchFamily="18" charset="0"/>
                        </a:rPr>
                        <m:t> </m:t>
                      </m:r>
                      <m:r>
                        <a:rPr lang="es-ES_tradnl"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𝝉</m:t>
                      </m:r>
                      <m:r>
                        <a:rPr lang="es-BO" sz="2400" b="1" i="1">
                          <a:latin typeface="Cambria Math" panose="02040503050406030204" pitchFamily="18" charset="0"/>
                          <a:ea typeface="Calibri" panose="020F0502020204030204" pitchFamily="34" charset="0"/>
                          <a:cs typeface="Times New Roman" panose="02020603050405020304" pitchFamily="18" charset="0"/>
                        </a:rPr>
                        <m:t>=</m:t>
                      </m:r>
                      <m:f>
                        <m:fPr>
                          <m:ctrlPr>
                            <a:rPr lang="en-US" sz="2400" b="1"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𝟏</m:t>
                          </m:r>
                        </m:num>
                        <m:den>
                          <m:r>
                            <a:rPr lang="es-ES_tradnl"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𝒂</m:t>
                          </m:r>
                          <m:r>
                            <a:rPr lang="es-BO" sz="2400" b="1" i="1">
                              <a:solidFill>
                                <a:srgbClr val="000000"/>
                              </a:solidFill>
                              <a:latin typeface="Cambria Math" panose="02040503050406030204" pitchFamily="18" charset="0"/>
                              <a:ea typeface="Calibri" panose="020F0502020204030204" pitchFamily="34" charset="0"/>
                              <a:cs typeface="Arial" panose="020B0604020202020204" pitchFamily="34" charset="0"/>
                            </a:rPr>
                            <m:t>𝟎</m:t>
                          </m:r>
                        </m:den>
                      </m:f>
                    </m:oMath>
                  </m:oMathPara>
                </a14:m>
                <a:endParaRPr lang="en-US" sz="2400" dirty="0">
                  <a:ea typeface="Calibri" panose="020F0502020204030204" pitchFamily="34" charset="0"/>
                  <a:cs typeface="Times New Roman" panose="02020603050405020304" pitchFamily="18" charset="0"/>
                </a:endParaRPr>
              </a:p>
            </p:txBody>
          </p:sp>
        </mc:Choice>
        <mc:Fallback xmlns="">
          <p:sp>
            <p:nvSpPr>
              <p:cNvPr id="2" name="Rectángulo 1"/>
              <p:cNvSpPr>
                <a:spLocks noRot="1" noChangeAspect="1" noMove="1" noResize="1" noEditPoints="1" noAdjustHandles="1" noChangeArrowheads="1" noChangeShapeType="1" noTextEdit="1"/>
              </p:cNvSpPr>
              <p:nvPr/>
            </p:nvSpPr>
            <p:spPr>
              <a:xfrm>
                <a:off x="2715063" y="1383760"/>
                <a:ext cx="8848579" cy="4959499"/>
              </a:xfrm>
              <a:prstGeom prst="rect">
                <a:avLst/>
              </a:prstGeom>
              <a:blipFill>
                <a:blip r:embed="rId2"/>
                <a:stretch>
                  <a:fillRect l="-689" r="-482"/>
                </a:stretch>
              </a:blipFill>
            </p:spPr>
            <p:txBody>
              <a:bodyPr/>
              <a:lstStyle/>
              <a:p>
                <a:r>
                  <a:rPr lang="es-BO">
                    <a:noFill/>
                  </a:rPr>
                  <a:t> </a:t>
                </a:r>
              </a:p>
            </p:txBody>
          </p:sp>
        </mc:Fallback>
      </mc:AlternateContent>
      <p:sp>
        <p:nvSpPr>
          <p:cNvPr id="4" name="CuadroTexto 3">
            <a:extLst>
              <a:ext uri="{FF2B5EF4-FFF2-40B4-BE49-F238E27FC236}">
                <a16:creationId xmlns:a16="http://schemas.microsoft.com/office/drawing/2014/main" id="{CA923A6A-66B4-48CC-9DA5-A059F7E9A6C5}"/>
              </a:ext>
            </a:extLst>
          </p:cNvPr>
          <p:cNvSpPr txBox="1"/>
          <p:nvPr/>
        </p:nvSpPr>
        <p:spPr>
          <a:xfrm>
            <a:off x="2514600" y="648181"/>
            <a:ext cx="6741942" cy="574581"/>
          </a:xfrm>
          <a:prstGeom prst="rect">
            <a:avLst/>
          </a:prstGeom>
          <a:noFill/>
        </p:spPr>
        <p:txBody>
          <a:bodyPr wrap="square">
            <a:spAutoFit/>
          </a:bodyPr>
          <a:lstStyle/>
          <a:p>
            <a:pPr>
              <a:lnSpc>
                <a:spcPct val="106000"/>
              </a:lnSpc>
              <a:spcAft>
                <a:spcPts val="800"/>
              </a:spcAft>
            </a:pPr>
            <a:r>
              <a:rPr lang="es-ES_tradnl" sz="3200" b="1" dirty="0">
                <a:solidFill>
                  <a:srgbClr val="0070C0"/>
                </a:solidFill>
                <a:ea typeface="Calibri" panose="020F0502020204030204" pitchFamily="34" charset="0"/>
                <a:cs typeface="Times New Roman" panose="02020603050405020304" pitchFamily="18" charset="0"/>
              </a:rPr>
              <a:t>Respuesta temporal del sistema:</a:t>
            </a:r>
            <a:endParaRPr lang="en-US" sz="3200" dirty="0">
              <a:solidFill>
                <a:srgbClr val="0070C0"/>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084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F0DF6B4-A6C8-9F0A-C1DD-F91AE37CE868}"/>
                  </a:ext>
                </a:extLst>
              </p:cNvPr>
              <p:cNvSpPr txBox="1"/>
              <p:nvPr/>
            </p:nvSpPr>
            <p:spPr>
              <a:xfrm>
                <a:off x="2743201" y="448875"/>
                <a:ext cx="8159262" cy="3489225"/>
              </a:xfrm>
              <a:prstGeom prst="rect">
                <a:avLst/>
              </a:prstGeom>
              <a:noFill/>
            </p:spPr>
            <p:txBody>
              <a:bodyPr wrap="square">
                <a:spAutoFit/>
              </a:bodyPr>
              <a:lstStyle/>
              <a:p>
                <a:pPr>
                  <a:lnSpc>
                    <a:spcPct val="106000"/>
                  </a:lnSpc>
                  <a:spcAft>
                    <a:spcPts val="800"/>
                  </a:spcAft>
                </a:pPr>
                <a:r>
                  <a:rPr lang="es-ES_tradnl" sz="2800" b="1"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Análisis de la respuesta a un escalón:</a:t>
                </a:r>
              </a:p>
              <a:p>
                <a:pPr>
                  <a:lnSpc>
                    <a:spcPct val="106000"/>
                  </a:lnSpc>
                  <a:spcAft>
                    <a:spcPts val="800"/>
                  </a:spcAft>
                </a:pPr>
                <a:endParaRPr lang="en-US" sz="2800" b="1"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𝑈</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smtClean="0">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   </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25</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𝑎</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𝑏</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𝐴</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𝑏</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𝐴</m:t>
                      </m:r>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𝐵</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7F0DF6B4-A6C8-9F0A-C1DD-F91AE37CE868}"/>
                  </a:ext>
                </a:extLst>
              </p:cNvPr>
              <p:cNvSpPr txBox="1">
                <a:spLocks noRot="1" noChangeAspect="1" noMove="1" noResize="1" noEditPoints="1" noAdjustHandles="1" noChangeArrowheads="1" noChangeShapeType="1" noTextEdit="1"/>
              </p:cNvSpPr>
              <p:nvPr/>
            </p:nvSpPr>
            <p:spPr>
              <a:xfrm>
                <a:off x="2743201" y="448875"/>
                <a:ext cx="8159262" cy="3489225"/>
              </a:xfrm>
              <a:prstGeom prst="rect">
                <a:avLst/>
              </a:prstGeom>
              <a:blipFill>
                <a:blip r:embed="rId2"/>
                <a:stretch>
                  <a:fillRect l="-1495" t="-1748"/>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EC842CC-9503-50B2-843E-AE92EC639651}"/>
                  </a:ext>
                </a:extLst>
              </p:cNvPr>
              <p:cNvSpPr txBox="1"/>
              <p:nvPr/>
            </p:nvSpPr>
            <p:spPr>
              <a:xfrm>
                <a:off x="5022167" y="4106913"/>
                <a:ext cx="3807654" cy="618503"/>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180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𝑡</m:t>
                          </m:r>
                        </m:e>
                      </m:d>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1−</m:t>
                          </m:r>
                          <m:sSup>
                            <m:sSup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sSup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𝑒</m:t>
                              </m:r>
                            </m:e>
                            <m:sup>
                              <m:f>
                                <m:f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𝑡</m:t>
                                  </m:r>
                                </m:num>
                                <m:den>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sup>
                          </m:sSup>
                        </m:e>
                      </m:d>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9EC842CC-9503-50B2-843E-AE92EC639651}"/>
                  </a:ext>
                </a:extLst>
              </p:cNvPr>
              <p:cNvSpPr txBox="1">
                <a:spLocks noRot="1" noChangeAspect="1" noMove="1" noResize="1" noEditPoints="1" noAdjustHandles="1" noChangeArrowheads="1" noChangeShapeType="1" noTextEdit="1"/>
              </p:cNvSpPr>
              <p:nvPr/>
            </p:nvSpPr>
            <p:spPr>
              <a:xfrm>
                <a:off x="5022167" y="4106913"/>
                <a:ext cx="3807654" cy="618503"/>
              </a:xfrm>
              <a:prstGeom prst="rect">
                <a:avLst/>
              </a:prstGeom>
              <a:blipFill>
                <a:blip r:embed="rId3"/>
                <a:stretch>
                  <a:fillRect/>
                </a:stretch>
              </a:blipFill>
              <a:ln w="28575" cap="flat" cmpd="sng" algn="ctr">
                <a:solidFill>
                  <a:schemeClr val="accent5"/>
                </a:solidFill>
                <a:prstDash val="solid"/>
                <a:round/>
                <a:headEnd type="none" w="med" len="med"/>
                <a:tailEnd type="none" w="med" len="med"/>
              </a:ln>
            </p:spPr>
            <p:txBody>
              <a:bodyPr/>
              <a:lstStyle/>
              <a:p>
                <a:r>
                  <a:rPr lang="es-BO">
                    <a:noFill/>
                  </a:rPr>
                  <a:t> </a:t>
                </a:r>
              </a:p>
            </p:txBody>
          </p:sp>
        </mc:Fallback>
      </mc:AlternateContent>
    </p:spTree>
    <p:extLst>
      <p:ext uri="{BB962C8B-B14F-4D97-AF65-F5344CB8AC3E}">
        <p14:creationId xmlns:p14="http://schemas.microsoft.com/office/powerpoint/2010/main" val="2268974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FC43E7E-8A9B-E1C8-C3AA-BFB028F95406}"/>
                  </a:ext>
                </a:extLst>
              </p:cNvPr>
              <p:cNvSpPr txBox="1"/>
              <p:nvPr/>
            </p:nvSpPr>
            <p:spPr>
              <a:xfrm>
                <a:off x="2397642" y="1384114"/>
                <a:ext cx="3454401" cy="618503"/>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180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𝑡</m:t>
                          </m:r>
                        </m:e>
                      </m:d>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1−</m:t>
                          </m:r>
                          <m:sSup>
                            <m:sSup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sSup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𝑒</m:t>
                              </m:r>
                            </m:e>
                            <m:sup>
                              <m:f>
                                <m:f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𝑡</m:t>
                                  </m:r>
                                </m:num>
                                <m:den>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sup>
                          </m:sSup>
                        </m:e>
                      </m:d>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2" name="CuadroTexto 1">
                <a:extLst>
                  <a:ext uri="{FF2B5EF4-FFF2-40B4-BE49-F238E27FC236}">
                    <a16:creationId xmlns:a16="http://schemas.microsoft.com/office/drawing/2014/main" id="{CFC43E7E-8A9B-E1C8-C3AA-BFB028F95406}"/>
                  </a:ext>
                </a:extLst>
              </p:cNvPr>
              <p:cNvSpPr txBox="1">
                <a:spLocks noRot="1" noChangeAspect="1" noMove="1" noResize="1" noEditPoints="1" noAdjustHandles="1" noChangeArrowheads="1" noChangeShapeType="1" noTextEdit="1"/>
              </p:cNvSpPr>
              <p:nvPr/>
            </p:nvSpPr>
            <p:spPr>
              <a:xfrm>
                <a:off x="2397642" y="1384114"/>
                <a:ext cx="3454401" cy="618503"/>
              </a:xfrm>
              <a:prstGeom prst="rect">
                <a:avLst/>
              </a:prstGeom>
              <a:blipFill>
                <a:blip r:embed="rId2"/>
                <a:stretch>
                  <a:fillRect/>
                </a:stretch>
              </a:blipFill>
              <a:ln w="28575" cap="flat" cmpd="sng" algn="ctr">
                <a:solidFill>
                  <a:schemeClr val="accent5"/>
                </a:solidFill>
                <a:prstDash val="solid"/>
                <a:round/>
                <a:headEnd type="none" w="med" len="med"/>
                <a:tailEnd type="none" w="med" len="med"/>
              </a:ln>
            </p:spPr>
            <p:txBody>
              <a:bodyPr/>
              <a:lstStyle/>
              <a:p>
                <a:r>
                  <a:rPr lang="es-BO">
                    <a:noFill/>
                  </a:rPr>
                  <a:t> </a:t>
                </a:r>
              </a:p>
            </p:txBody>
          </p:sp>
        </mc:Fallback>
      </mc:AlternateContent>
      <mc:AlternateContent xmlns:mc="http://schemas.openxmlformats.org/markup-compatibility/2006" xmlns:a14="http://schemas.microsoft.com/office/drawing/2010/main">
        <mc:Choice Requires="a14">
          <p:graphicFrame>
            <p:nvGraphicFramePr>
              <p:cNvPr id="3" name="Tabla 5">
                <a:extLst>
                  <a:ext uri="{FF2B5EF4-FFF2-40B4-BE49-F238E27FC236}">
                    <a16:creationId xmlns:a16="http://schemas.microsoft.com/office/drawing/2014/main" id="{69D116F8-EF09-34F3-E237-4CADB8C5E357}"/>
                  </a:ext>
                </a:extLst>
              </p:cNvPr>
              <p:cNvGraphicFramePr>
                <a:graphicFrameLocks noGrp="1"/>
              </p:cNvGraphicFramePr>
              <p:nvPr/>
            </p:nvGraphicFramePr>
            <p:xfrm>
              <a:off x="2397642" y="2183466"/>
              <a:ext cx="3211005" cy="2346960"/>
            </p:xfrm>
            <a:graphic>
              <a:graphicData uri="http://schemas.openxmlformats.org/drawingml/2006/table">
                <a:tbl>
                  <a:tblPr firstRow="1" bandRow="1">
                    <a:tableStyleId>{5C22544A-7EE6-4342-B048-85BDC9FD1C3A}</a:tableStyleId>
                  </a:tblPr>
                  <a:tblGrid>
                    <a:gridCol w="649848">
                      <a:extLst>
                        <a:ext uri="{9D8B030D-6E8A-4147-A177-3AD203B41FA5}">
                          <a16:colId xmlns:a16="http://schemas.microsoft.com/office/drawing/2014/main" val="129326671"/>
                        </a:ext>
                      </a:extLst>
                    </a:gridCol>
                    <a:gridCol w="2561157">
                      <a:extLst>
                        <a:ext uri="{9D8B030D-6E8A-4147-A177-3AD203B41FA5}">
                          <a16:colId xmlns:a16="http://schemas.microsoft.com/office/drawing/2014/main" val="1793578588"/>
                        </a:ext>
                      </a:extLst>
                    </a:gridCol>
                  </a:tblGrid>
                  <a:tr h="331428">
                    <a:tc>
                      <a:txBody>
                        <a:bodyPr/>
                        <a:lstStyle/>
                        <a:p>
                          <a:pPr algn="ctr"/>
                          <a:r>
                            <a:rPr lang="es-BO" sz="1600" dirty="0"/>
                            <a:t>t</a:t>
                          </a:r>
                        </a:p>
                      </a:txBody>
                      <a:tcPr/>
                    </a:tc>
                    <a:tc>
                      <a:txBody>
                        <a:bodyPr/>
                        <a:lstStyle/>
                        <a:p>
                          <a:pPr algn="ctr"/>
                          <a:r>
                            <a:rPr lang="es-BO" sz="1600" dirty="0"/>
                            <a:t>y(t)</a:t>
                          </a:r>
                        </a:p>
                      </a:txBody>
                      <a:tcPr/>
                    </a:tc>
                    <a:extLst>
                      <a:ext uri="{0D108BD9-81ED-4DB2-BD59-A6C34878D82A}">
                        <a16:rowId xmlns:a16="http://schemas.microsoft.com/office/drawing/2014/main" val="1301273130"/>
                      </a:ext>
                    </a:extLst>
                  </a:tr>
                  <a:tr h="331428">
                    <a:tc>
                      <a:txBody>
                        <a:bodyPr/>
                        <a:lstStyle/>
                        <a:p>
                          <a:pPr algn="ctr"/>
                          <a:r>
                            <a:rPr lang="es-BO" sz="1600" dirty="0"/>
                            <a:t>0</a:t>
                          </a:r>
                        </a:p>
                      </a:txBody>
                      <a:tcPr/>
                    </a:tc>
                    <a:tc>
                      <a:txBody>
                        <a:bodyPr/>
                        <a:lstStyle/>
                        <a:p>
                          <a:pPr algn="ctr"/>
                          <a:r>
                            <a:rPr lang="es-BO" sz="1600" dirty="0"/>
                            <a:t>0</a:t>
                          </a:r>
                        </a:p>
                      </a:txBody>
                      <a:tcPr/>
                    </a:tc>
                    <a:extLst>
                      <a:ext uri="{0D108BD9-81ED-4DB2-BD59-A6C34878D82A}">
                        <a16:rowId xmlns:a16="http://schemas.microsoft.com/office/drawing/2014/main" val="1985280359"/>
                      </a:ext>
                    </a:extLst>
                  </a:tr>
                  <a:tr h="331428">
                    <a:tc>
                      <a:txBody>
                        <a:bodyPr/>
                        <a:lstStyle/>
                        <a:p>
                          <a:pPr/>
                          <a14:m>
                            <m:oMathPara xmlns:m="http://schemas.openxmlformats.org/officeDocument/2006/math">
                              <m:oMathParaPr>
                                <m:jc m:val="centerGroup"/>
                              </m:oMathParaPr>
                              <m:oMath xmlns:m="http://schemas.openxmlformats.org/officeDocument/2006/math">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−1</m:t>
                                        </m:r>
                                      </m:sup>
                                    </m:sSup>
                                  </m:e>
                                </m:d>
                                <m:r>
                                  <a:rPr lang="es-BO" sz="1600" b="0" i="1" smtClean="0">
                                    <a:latin typeface="Cambria Math" panose="02040503050406030204" pitchFamily="18" charset="0"/>
                                  </a:rPr>
                                  <m:t>=0,632</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1508313791"/>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2</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−2</m:t>
                                        </m:r>
                                      </m:sup>
                                    </m:sSup>
                                  </m:e>
                                </m:d>
                                <m:r>
                                  <a:rPr lang="es-BO" sz="1600" b="0" i="1" smtClean="0">
                                    <a:latin typeface="Cambria Math" panose="02040503050406030204" pitchFamily="18" charset="0"/>
                                  </a:rPr>
                                  <m:t>=0,865</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2986247986"/>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3</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−3</m:t>
                                        </m:r>
                                      </m:sup>
                                    </m:sSup>
                                  </m:e>
                                </m:d>
                                <m:r>
                                  <a:rPr lang="es-BO" sz="1600" b="0" i="1" smtClean="0">
                                    <a:latin typeface="Cambria Math" panose="02040503050406030204" pitchFamily="18" charset="0"/>
                                  </a:rPr>
                                  <m:t>=0,95</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275961632"/>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4</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−4</m:t>
                                        </m:r>
                                      </m:sup>
                                    </m:sSup>
                                  </m:e>
                                </m:d>
                                <m:r>
                                  <a:rPr lang="es-BO" sz="1600" b="0" i="1" smtClean="0">
                                    <a:latin typeface="Cambria Math" panose="02040503050406030204" pitchFamily="18" charset="0"/>
                                  </a:rPr>
                                  <m:t>=0,982</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552281017"/>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i="1" smtClean="0">
                                    <a:latin typeface="Cambria Math" panose="02040503050406030204" pitchFamily="18" charset="0"/>
                                    <a:ea typeface="Cambria Math" panose="02040503050406030204" pitchFamily="18" charset="0"/>
                                  </a:rPr>
                                  <m:t>∞</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m:t>
                                        </m:r>
                                        <m:r>
                                          <a:rPr lang="es-BO" sz="1600" b="0" i="1" smtClean="0">
                                            <a:latin typeface="Cambria Math" panose="02040503050406030204" pitchFamily="18" charset="0"/>
                                            <a:ea typeface="Cambria Math" panose="02040503050406030204" pitchFamily="18" charset="0"/>
                                          </a:rPr>
                                          <m:t>∞</m:t>
                                        </m:r>
                                      </m:sup>
                                    </m:sSup>
                                  </m:e>
                                </m:d>
                                <m:r>
                                  <a:rPr lang="es-BO" sz="1600" b="0" i="1" smtClean="0">
                                    <a:latin typeface="Cambria Math" panose="02040503050406030204" pitchFamily="18" charset="0"/>
                                  </a:rPr>
                                  <m:t>=</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3031792668"/>
                      </a:ext>
                    </a:extLst>
                  </a:tr>
                </a:tbl>
              </a:graphicData>
            </a:graphic>
          </p:graphicFrame>
        </mc:Choice>
        <mc:Fallback xmlns="">
          <p:graphicFrame>
            <p:nvGraphicFramePr>
              <p:cNvPr id="3" name="Tabla 5">
                <a:extLst>
                  <a:ext uri="{FF2B5EF4-FFF2-40B4-BE49-F238E27FC236}">
                    <a16:creationId xmlns:a16="http://schemas.microsoft.com/office/drawing/2014/main" id="{69D116F8-EF09-34F3-E237-4CADB8C5E357}"/>
                  </a:ext>
                </a:extLst>
              </p:cNvPr>
              <p:cNvGraphicFramePr>
                <a:graphicFrameLocks noGrp="1"/>
              </p:cNvGraphicFramePr>
              <p:nvPr>
                <p:extLst>
                  <p:ext uri="{D42A27DB-BD31-4B8C-83A1-F6EECF244321}">
                    <p14:modId xmlns:p14="http://schemas.microsoft.com/office/powerpoint/2010/main" val="3647570738"/>
                  </p:ext>
                </p:extLst>
              </p:nvPr>
            </p:nvGraphicFramePr>
            <p:xfrm>
              <a:off x="2397642" y="2183466"/>
              <a:ext cx="3211005" cy="2346960"/>
            </p:xfrm>
            <a:graphic>
              <a:graphicData uri="http://schemas.openxmlformats.org/drawingml/2006/table">
                <a:tbl>
                  <a:tblPr firstRow="1" bandRow="1">
                    <a:tableStyleId>{5C22544A-7EE6-4342-B048-85BDC9FD1C3A}</a:tableStyleId>
                  </a:tblPr>
                  <a:tblGrid>
                    <a:gridCol w="649848">
                      <a:extLst>
                        <a:ext uri="{9D8B030D-6E8A-4147-A177-3AD203B41FA5}">
                          <a16:colId xmlns:a16="http://schemas.microsoft.com/office/drawing/2014/main" val="129326671"/>
                        </a:ext>
                      </a:extLst>
                    </a:gridCol>
                    <a:gridCol w="2561157">
                      <a:extLst>
                        <a:ext uri="{9D8B030D-6E8A-4147-A177-3AD203B41FA5}">
                          <a16:colId xmlns:a16="http://schemas.microsoft.com/office/drawing/2014/main" val="1793578588"/>
                        </a:ext>
                      </a:extLst>
                    </a:gridCol>
                  </a:tblGrid>
                  <a:tr h="335280">
                    <a:tc>
                      <a:txBody>
                        <a:bodyPr/>
                        <a:lstStyle/>
                        <a:p>
                          <a:pPr algn="ctr"/>
                          <a:r>
                            <a:rPr lang="es-BO" sz="1600" dirty="0"/>
                            <a:t>t</a:t>
                          </a:r>
                        </a:p>
                      </a:txBody>
                      <a:tcPr/>
                    </a:tc>
                    <a:tc>
                      <a:txBody>
                        <a:bodyPr/>
                        <a:lstStyle/>
                        <a:p>
                          <a:pPr algn="ctr"/>
                          <a:r>
                            <a:rPr lang="es-BO" sz="1600" dirty="0"/>
                            <a:t>y(t)</a:t>
                          </a:r>
                        </a:p>
                      </a:txBody>
                      <a:tcPr/>
                    </a:tc>
                    <a:extLst>
                      <a:ext uri="{0D108BD9-81ED-4DB2-BD59-A6C34878D82A}">
                        <a16:rowId xmlns:a16="http://schemas.microsoft.com/office/drawing/2014/main" val="1301273130"/>
                      </a:ext>
                    </a:extLst>
                  </a:tr>
                  <a:tr h="335280">
                    <a:tc>
                      <a:txBody>
                        <a:bodyPr/>
                        <a:lstStyle/>
                        <a:p>
                          <a:pPr algn="ctr"/>
                          <a:r>
                            <a:rPr lang="es-BO" sz="1600" dirty="0"/>
                            <a:t>0</a:t>
                          </a:r>
                        </a:p>
                      </a:txBody>
                      <a:tcPr/>
                    </a:tc>
                    <a:tc>
                      <a:txBody>
                        <a:bodyPr/>
                        <a:lstStyle/>
                        <a:p>
                          <a:pPr algn="ctr"/>
                          <a:r>
                            <a:rPr lang="es-BO" sz="1600" dirty="0"/>
                            <a:t>0</a:t>
                          </a:r>
                        </a:p>
                      </a:txBody>
                      <a:tcPr/>
                    </a:tc>
                    <a:extLst>
                      <a:ext uri="{0D108BD9-81ED-4DB2-BD59-A6C34878D82A}">
                        <a16:rowId xmlns:a16="http://schemas.microsoft.com/office/drawing/2014/main" val="1985280359"/>
                      </a:ext>
                    </a:extLst>
                  </a:tr>
                  <a:tr h="335280">
                    <a:tc>
                      <a:txBody>
                        <a:bodyPr/>
                        <a:lstStyle/>
                        <a:p>
                          <a:endParaRPr lang="es-BO"/>
                        </a:p>
                      </a:txBody>
                      <a:tcPr>
                        <a:blipFill>
                          <a:blip r:embed="rId3"/>
                          <a:stretch>
                            <a:fillRect l="-935" t="-205455" r="-397196" b="-405455"/>
                          </a:stretch>
                        </a:blipFill>
                      </a:tcPr>
                    </a:tc>
                    <a:tc>
                      <a:txBody>
                        <a:bodyPr/>
                        <a:lstStyle/>
                        <a:p>
                          <a:endParaRPr lang="es-BO"/>
                        </a:p>
                      </a:txBody>
                      <a:tcPr>
                        <a:blipFill>
                          <a:blip r:embed="rId3"/>
                          <a:stretch>
                            <a:fillRect l="-25653" t="-205455" r="-950" b="-405455"/>
                          </a:stretch>
                        </a:blipFill>
                      </a:tcPr>
                    </a:tc>
                    <a:extLst>
                      <a:ext uri="{0D108BD9-81ED-4DB2-BD59-A6C34878D82A}">
                        <a16:rowId xmlns:a16="http://schemas.microsoft.com/office/drawing/2014/main" val="1508313791"/>
                      </a:ext>
                    </a:extLst>
                  </a:tr>
                  <a:tr h="335280">
                    <a:tc>
                      <a:txBody>
                        <a:bodyPr/>
                        <a:lstStyle/>
                        <a:p>
                          <a:endParaRPr lang="es-BO"/>
                        </a:p>
                      </a:txBody>
                      <a:tcPr>
                        <a:blipFill>
                          <a:blip r:embed="rId3"/>
                          <a:stretch>
                            <a:fillRect l="-935" t="-300000" r="-397196" b="-298214"/>
                          </a:stretch>
                        </a:blipFill>
                      </a:tcPr>
                    </a:tc>
                    <a:tc>
                      <a:txBody>
                        <a:bodyPr/>
                        <a:lstStyle/>
                        <a:p>
                          <a:endParaRPr lang="es-BO"/>
                        </a:p>
                      </a:txBody>
                      <a:tcPr>
                        <a:blipFill>
                          <a:blip r:embed="rId3"/>
                          <a:stretch>
                            <a:fillRect l="-25653" t="-300000" r="-950" b="-298214"/>
                          </a:stretch>
                        </a:blipFill>
                      </a:tcPr>
                    </a:tc>
                    <a:extLst>
                      <a:ext uri="{0D108BD9-81ED-4DB2-BD59-A6C34878D82A}">
                        <a16:rowId xmlns:a16="http://schemas.microsoft.com/office/drawing/2014/main" val="2986247986"/>
                      </a:ext>
                    </a:extLst>
                  </a:tr>
                  <a:tr h="335280">
                    <a:tc>
                      <a:txBody>
                        <a:bodyPr/>
                        <a:lstStyle/>
                        <a:p>
                          <a:endParaRPr lang="es-BO"/>
                        </a:p>
                      </a:txBody>
                      <a:tcPr>
                        <a:blipFill>
                          <a:blip r:embed="rId3"/>
                          <a:stretch>
                            <a:fillRect l="-935" t="-407273" r="-397196" b="-203636"/>
                          </a:stretch>
                        </a:blipFill>
                      </a:tcPr>
                    </a:tc>
                    <a:tc>
                      <a:txBody>
                        <a:bodyPr/>
                        <a:lstStyle/>
                        <a:p>
                          <a:endParaRPr lang="es-BO"/>
                        </a:p>
                      </a:txBody>
                      <a:tcPr>
                        <a:blipFill>
                          <a:blip r:embed="rId3"/>
                          <a:stretch>
                            <a:fillRect l="-25653" t="-407273" r="-950" b="-203636"/>
                          </a:stretch>
                        </a:blipFill>
                      </a:tcPr>
                    </a:tc>
                    <a:extLst>
                      <a:ext uri="{0D108BD9-81ED-4DB2-BD59-A6C34878D82A}">
                        <a16:rowId xmlns:a16="http://schemas.microsoft.com/office/drawing/2014/main" val="275961632"/>
                      </a:ext>
                    </a:extLst>
                  </a:tr>
                  <a:tr h="335280">
                    <a:tc>
                      <a:txBody>
                        <a:bodyPr/>
                        <a:lstStyle/>
                        <a:p>
                          <a:endParaRPr lang="es-BO"/>
                        </a:p>
                      </a:txBody>
                      <a:tcPr>
                        <a:blipFill>
                          <a:blip r:embed="rId3"/>
                          <a:stretch>
                            <a:fillRect l="-935" t="-507273" r="-397196" b="-103636"/>
                          </a:stretch>
                        </a:blipFill>
                      </a:tcPr>
                    </a:tc>
                    <a:tc>
                      <a:txBody>
                        <a:bodyPr/>
                        <a:lstStyle/>
                        <a:p>
                          <a:endParaRPr lang="es-BO"/>
                        </a:p>
                      </a:txBody>
                      <a:tcPr>
                        <a:blipFill>
                          <a:blip r:embed="rId3"/>
                          <a:stretch>
                            <a:fillRect l="-25653" t="-507273" r="-950" b="-103636"/>
                          </a:stretch>
                        </a:blipFill>
                      </a:tcPr>
                    </a:tc>
                    <a:extLst>
                      <a:ext uri="{0D108BD9-81ED-4DB2-BD59-A6C34878D82A}">
                        <a16:rowId xmlns:a16="http://schemas.microsoft.com/office/drawing/2014/main" val="552281017"/>
                      </a:ext>
                    </a:extLst>
                  </a:tr>
                  <a:tr h="335280">
                    <a:tc>
                      <a:txBody>
                        <a:bodyPr/>
                        <a:lstStyle/>
                        <a:p>
                          <a:endParaRPr lang="es-BO"/>
                        </a:p>
                      </a:txBody>
                      <a:tcPr>
                        <a:blipFill>
                          <a:blip r:embed="rId3"/>
                          <a:stretch>
                            <a:fillRect l="-935" t="-607273" r="-397196" b="-3636"/>
                          </a:stretch>
                        </a:blipFill>
                      </a:tcPr>
                    </a:tc>
                    <a:tc>
                      <a:txBody>
                        <a:bodyPr/>
                        <a:lstStyle/>
                        <a:p>
                          <a:endParaRPr lang="es-BO"/>
                        </a:p>
                      </a:txBody>
                      <a:tcPr>
                        <a:blipFill>
                          <a:blip r:embed="rId3"/>
                          <a:stretch>
                            <a:fillRect l="-25653" t="-607273" r="-950" b="-3636"/>
                          </a:stretch>
                        </a:blipFill>
                      </a:tcPr>
                    </a:tc>
                    <a:extLst>
                      <a:ext uri="{0D108BD9-81ED-4DB2-BD59-A6C34878D82A}">
                        <a16:rowId xmlns:a16="http://schemas.microsoft.com/office/drawing/2014/main" val="3031792668"/>
                      </a:ext>
                    </a:extLst>
                  </a:tr>
                </a:tbl>
              </a:graphicData>
            </a:graphic>
          </p:graphicFrame>
        </mc:Fallback>
      </mc:AlternateContent>
      <p:sp>
        <p:nvSpPr>
          <p:cNvPr id="5" name="CuadroTexto 4">
            <a:extLst>
              <a:ext uri="{FF2B5EF4-FFF2-40B4-BE49-F238E27FC236}">
                <a16:creationId xmlns:a16="http://schemas.microsoft.com/office/drawing/2014/main" id="{7CF38C35-8287-C647-2F63-8DE07D7C5488}"/>
              </a:ext>
            </a:extLst>
          </p:cNvPr>
          <p:cNvSpPr txBox="1"/>
          <p:nvPr/>
        </p:nvSpPr>
        <p:spPr>
          <a:xfrm>
            <a:off x="2303860" y="724557"/>
            <a:ext cx="6684389" cy="531043"/>
          </a:xfrm>
          <a:prstGeom prst="rect">
            <a:avLst/>
          </a:prstGeom>
          <a:noFill/>
        </p:spPr>
        <p:txBody>
          <a:bodyPr wrap="square">
            <a:spAutoFit/>
          </a:bodyPr>
          <a:lstStyle/>
          <a:p>
            <a:pPr>
              <a:lnSpc>
                <a:spcPct val="106000"/>
              </a:lnSpc>
              <a:spcAft>
                <a:spcPts val="800"/>
              </a:spcAft>
            </a:pPr>
            <a:r>
              <a:rPr lang="es-ES_tradnl" sz="2800" b="1"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Análisis de la respuesta a un escalón:</a:t>
            </a:r>
          </a:p>
        </p:txBody>
      </p:sp>
      <mc:AlternateContent xmlns:mc="http://schemas.openxmlformats.org/markup-compatibility/2006" xmlns:a14="http://schemas.microsoft.com/office/drawing/2010/main">
        <mc:Choice Requires="a14">
          <p:sp>
            <p:nvSpPr>
              <p:cNvPr id="4" name="Rectángulo 3">
                <a:extLst>
                  <a:ext uri="{FF2B5EF4-FFF2-40B4-BE49-F238E27FC236}">
                    <a16:creationId xmlns:a16="http://schemas.microsoft.com/office/drawing/2014/main" id="{1E8A4B5C-4AEA-3521-8167-3EAD8CA7B9AD}"/>
                  </a:ext>
                </a:extLst>
              </p:cNvPr>
              <p:cNvSpPr/>
              <p:nvPr/>
            </p:nvSpPr>
            <p:spPr>
              <a:xfrm>
                <a:off x="2222475" y="4711275"/>
                <a:ext cx="4340768" cy="1928733"/>
              </a:xfrm>
              <a:prstGeom prst="rect">
                <a:avLst/>
              </a:prstGeom>
            </p:spPr>
            <p:txBody>
              <a:bodyPr wrap="square">
                <a:spAutoFit/>
              </a:bodyPr>
              <a:lstStyle/>
              <a:p>
                <a:pPr>
                  <a:lnSpc>
                    <a:spcPct val="106000"/>
                  </a:lnSpc>
                  <a:spcAft>
                    <a:spcPts val="800"/>
                  </a:spcAft>
                  <a:tabLst>
                    <a:tab pos="753745" algn="l"/>
                  </a:tabLst>
                </a:pPr>
                <a:r>
                  <a:rPr lang="es-BO" sz="2800" b="1" dirty="0">
                    <a:latin typeface="Book Antiqua" panose="02040602050305030304" pitchFamily="18" charset="0"/>
                    <a:ea typeface="Times New Roman" panose="02020603050405020304" pitchFamily="18" charset="0"/>
                    <a:cs typeface="Times New Roman" panose="02020603050405020304" pitchFamily="18" charset="0"/>
                  </a:rPr>
                  <a:t> </a:t>
                </a:r>
                <a:r>
                  <a:rPr lang="es-BO" sz="2400" dirty="0">
                    <a:latin typeface="Book Antiqua" panose="02040602050305030304" pitchFamily="18" charset="0"/>
                    <a:ea typeface="Times New Roman" panose="02020603050405020304" pitchFamily="18" charset="0"/>
                    <a:cs typeface="Times New Roman" panose="02020603050405020304" pitchFamily="18" charset="0"/>
                  </a:rPr>
                  <a:t>Teorema del valor final:</a:t>
                </a:r>
                <a:endParaRPr lang="en-US" sz="24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s-BO" sz="2000" b="0" i="1">
                              <a:latin typeface="Cambria Math" panose="02040503050406030204" pitchFamily="18" charset="0"/>
                              <a:ea typeface="Times New Roman" panose="02020603050405020304" pitchFamily="18" charset="0"/>
                              <a:cs typeface="Times New Roman" panose="02020603050405020304" pitchFamily="18" charset="0"/>
                            </a:rPr>
                            <m:t>𝑦</m:t>
                          </m:r>
                        </m:e>
                        <m:sub>
                          <m:r>
                            <a:rPr lang="es-BO" sz="2000" b="0" i="1">
                              <a:latin typeface="Cambria Math" panose="02040503050406030204" pitchFamily="18" charset="0"/>
                              <a:ea typeface="Times New Roman" panose="02020603050405020304" pitchFamily="18" charset="0"/>
                              <a:cs typeface="Times New Roman" panose="02020603050405020304" pitchFamily="18" charset="0"/>
                            </a:rPr>
                            <m:t>∞</m:t>
                          </m:r>
                        </m:sub>
                      </m:sSub>
                      <m:r>
                        <a:rPr lang="es-BO" sz="2000" b="0"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sz="2000" b="0" i="1">
                                  <a:latin typeface="Cambria Math" panose="02040503050406030204" pitchFamily="18" charset="0"/>
                                  <a:ea typeface="Calibri" panose="020F0502020204030204" pitchFamily="34" charset="0"/>
                                  <a:cs typeface="Times New Roman" panose="02020603050405020304" pitchFamily="18" charset="0"/>
                                </a:rPr>
                                <m:t>𝑙𝑖𝑚</m:t>
                              </m:r>
                            </m:e>
                            <m:lim>
                              <m:r>
                                <a:rPr lang="es-BO" sz="2000" b="0" i="1">
                                  <a:latin typeface="Cambria Math" panose="02040503050406030204" pitchFamily="18" charset="0"/>
                                  <a:ea typeface="Times New Roman" panose="02020603050405020304" pitchFamily="18" charset="0"/>
                                  <a:cs typeface="Times New Roman" panose="02020603050405020304" pitchFamily="18" charset="0"/>
                                </a:rPr>
                                <m:t>𝑠</m:t>
                              </m:r>
                              <m:r>
                                <a:rPr lang="es-BO" sz="2000" b="0" i="1">
                                  <a:latin typeface="Cambria Math" panose="02040503050406030204" pitchFamily="18" charset="0"/>
                                  <a:ea typeface="Times New Roman" panose="02020603050405020304" pitchFamily="18" charset="0"/>
                                  <a:cs typeface="Times New Roman" panose="02020603050405020304" pitchFamily="18" charset="0"/>
                                </a:rPr>
                                <m:t>→0</m:t>
                              </m:r>
                            </m:lim>
                          </m:limLow>
                        </m:fName>
                        <m:e>
                          <m:r>
                            <a:rPr lang="es-BO" sz="2000" b="0" i="1">
                              <a:latin typeface="Cambria Math" panose="02040503050406030204" pitchFamily="18" charset="0"/>
                              <a:ea typeface="Times New Roman" panose="02020603050405020304" pitchFamily="18" charset="0"/>
                              <a:cs typeface="Times New Roman" panose="02020603050405020304" pitchFamily="18" charset="0"/>
                            </a:rPr>
                            <m:t>𝑠</m:t>
                          </m:r>
                          <m:r>
                            <a:rPr lang="es-BO" sz="2000" b="0" i="1">
                              <a:latin typeface="Cambria Math" panose="02040503050406030204" pitchFamily="18" charset="0"/>
                              <a:ea typeface="Times New Roman" panose="02020603050405020304" pitchFamily="18" charset="0"/>
                              <a:cs typeface="Times New Roman" panose="02020603050405020304" pitchFamily="18" charset="0"/>
                            </a:rPr>
                            <m:t>∗</m:t>
                          </m:r>
                          <m:r>
                            <a:rPr lang="es-BO" sz="2000" b="0" i="1">
                              <a:latin typeface="Cambria Math" panose="02040503050406030204" pitchFamily="18" charset="0"/>
                              <a:ea typeface="Times New Roman" panose="02020603050405020304" pitchFamily="18" charset="0"/>
                              <a:cs typeface="Times New Roman" panose="02020603050405020304" pitchFamily="18" charset="0"/>
                            </a:rPr>
                            <m:t>𝐸</m:t>
                          </m:r>
                          <m:d>
                            <m:d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s-BO" sz="2000" b="0" i="1">
                                  <a:latin typeface="Cambria Math" panose="02040503050406030204" pitchFamily="18" charset="0"/>
                                  <a:ea typeface="Times New Roman" panose="02020603050405020304" pitchFamily="18" charset="0"/>
                                  <a:cs typeface="Times New Roman" panose="02020603050405020304" pitchFamily="18" charset="0"/>
                                </a:rPr>
                                <m:t>𝑠</m:t>
                              </m:r>
                            </m:e>
                          </m:d>
                        </m:e>
                      </m:func>
                    </m:oMath>
                  </m:oMathPara>
                </a14:m>
                <a:endParaRPr lang="es-BO" sz="2000" i="1" dirty="0">
                  <a:latin typeface="Cambria Math" panose="02040503050406030204" pitchFamily="18" charset="0"/>
                  <a:ea typeface="Times New Roman" panose="02020603050405020304" pitchFamily="18" charset="0"/>
                  <a:cs typeface="Times New Roman" panose="02020603050405020304" pitchFamily="18" charset="0"/>
                </a:endParaRPr>
              </a:p>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s-BO" sz="2000" b="0" i="1">
                              <a:latin typeface="Cambria Math" panose="02040503050406030204" pitchFamily="18" charset="0"/>
                              <a:ea typeface="Times New Roman" panose="02020603050405020304" pitchFamily="18" charset="0"/>
                              <a:cs typeface="Times New Roman" panose="02020603050405020304" pitchFamily="18" charset="0"/>
                            </a:rPr>
                            <m:t>𝑦</m:t>
                          </m:r>
                        </m:e>
                        <m:sub>
                          <m:r>
                            <a:rPr lang="es-BO" sz="2000" b="0" i="1">
                              <a:latin typeface="Cambria Math" panose="02040503050406030204" pitchFamily="18" charset="0"/>
                              <a:ea typeface="Times New Roman" panose="02020603050405020304" pitchFamily="18" charset="0"/>
                              <a:cs typeface="Times New Roman" panose="02020603050405020304" pitchFamily="18" charset="0"/>
                            </a:rPr>
                            <m:t>∞</m:t>
                          </m:r>
                        </m:sub>
                      </m:sSub>
                      <m:r>
                        <a:rPr lang="es-BO" sz="2000" b="0" i="1">
                          <a:latin typeface="Cambria Math" panose="02040503050406030204" pitchFamily="18" charset="0"/>
                          <a:ea typeface="Times New Roman" panose="02020603050405020304" pitchFamily="18" charset="0"/>
                          <a:cs typeface="Times New Roman" panose="02020603050405020304" pitchFamily="18" charset="0"/>
                        </a:rPr>
                        <m:t>= </m:t>
                      </m:r>
                      <m:r>
                        <a:rPr lang="es-BO" sz="2000" b="0" i="1">
                          <a:latin typeface="Cambria Math" panose="02040503050406030204" pitchFamily="18" charset="0"/>
                          <a:ea typeface="Times New Roman" panose="02020603050405020304" pitchFamily="18" charset="0"/>
                          <a:cs typeface="Times New Roman" panose="02020603050405020304" pitchFamily="18" charset="0"/>
                        </a:rPr>
                        <m:t>𝑠</m:t>
                      </m:r>
                      <m:r>
                        <a:rPr lang="es-BO" sz="2000" b="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fPr>
                        <m:num>
                          <m:r>
                            <a:rPr lang="es-BO" sz="2000" b="0" i="1">
                              <a:latin typeface="Cambria Math" panose="02040503050406030204" pitchFamily="18" charset="0"/>
                              <a:ea typeface="Times New Roman" panose="02020603050405020304" pitchFamily="18" charset="0"/>
                              <a:cs typeface="Times New Roman" panose="02020603050405020304" pitchFamily="18" charset="0"/>
                            </a:rPr>
                            <m:t>1</m:t>
                          </m:r>
                        </m:num>
                        <m:den>
                          <m:r>
                            <a:rPr lang="es-BO" sz="2000" b="0" i="1">
                              <a:latin typeface="Cambria Math" panose="02040503050406030204" pitchFamily="18" charset="0"/>
                              <a:ea typeface="Times New Roman" panose="02020603050405020304" pitchFamily="18" charset="0"/>
                              <a:cs typeface="Times New Roman" panose="02020603050405020304" pitchFamily="18" charset="0"/>
                            </a:rPr>
                            <m:t>𝑠</m:t>
                          </m:r>
                        </m:den>
                      </m:f>
                      <m:r>
                        <a:rPr lang="es-BO" sz="2000" b="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latin typeface="Cambria Math" panose="02040503050406030204" pitchFamily="18" charset="0"/>
                            </a:rPr>
                          </m:ctrlPr>
                        </m:fPr>
                        <m:num>
                          <m:r>
                            <a:rPr lang="en-US" sz="2000" b="0" i="1">
                              <a:latin typeface="Cambria Math" panose="02040503050406030204" pitchFamily="18" charset="0"/>
                            </a:rPr>
                            <m:t>0,09629</m:t>
                          </m:r>
                        </m:num>
                        <m:den>
                          <m:r>
                            <a:rPr lang="en-US" sz="2000" b="0" i="1">
                              <a:latin typeface="Cambria Math" panose="02040503050406030204" pitchFamily="18" charset="0"/>
                            </a:rPr>
                            <m:t>15</m:t>
                          </m:r>
                          <m:r>
                            <a:rPr lang="es-BO" sz="2000" b="0" i="1">
                              <a:latin typeface="Cambria Math" panose="02040503050406030204" pitchFamily="18" charset="0"/>
                            </a:rPr>
                            <m:t>2,5</m:t>
                          </m:r>
                          <m:r>
                            <a:rPr lang="en-US" sz="2000" b="0" i="1">
                              <a:latin typeface="Cambria Math" panose="02040503050406030204" pitchFamily="18" charset="0"/>
                            </a:rPr>
                            <m:t>𝑠</m:t>
                          </m:r>
                          <m:r>
                            <a:rPr lang="en-US" sz="2000" b="0" i="1">
                              <a:latin typeface="Cambria Math" panose="02040503050406030204" pitchFamily="18" charset="0"/>
                            </a:rPr>
                            <m:t>+1</m:t>
                          </m:r>
                        </m:den>
                      </m:f>
                    </m:oMath>
                  </m:oMathPara>
                </a14:m>
                <a:endParaRPr lang="es-BO" sz="2400" i="1"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4" name="Rectángulo 3">
                <a:extLst>
                  <a:ext uri="{FF2B5EF4-FFF2-40B4-BE49-F238E27FC236}">
                    <a16:creationId xmlns:a16="http://schemas.microsoft.com/office/drawing/2014/main" id="{1E8A4B5C-4AEA-3521-8167-3EAD8CA7B9AD}"/>
                  </a:ext>
                </a:extLst>
              </p:cNvPr>
              <p:cNvSpPr>
                <a:spLocks noRot="1" noChangeAspect="1" noMove="1" noResize="1" noEditPoints="1" noAdjustHandles="1" noChangeArrowheads="1" noChangeShapeType="1" noTextEdit="1"/>
              </p:cNvSpPr>
              <p:nvPr/>
            </p:nvSpPr>
            <p:spPr>
              <a:xfrm>
                <a:off x="2222475" y="4711275"/>
                <a:ext cx="4340768" cy="1928733"/>
              </a:xfrm>
              <a:prstGeom prst="rect">
                <a:avLst/>
              </a:prstGeom>
              <a:blipFill>
                <a:blip r:embed="rId4"/>
                <a:stretch>
                  <a:fillRect l="-140"/>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8FA4869-5519-FE05-62EA-8A0B26749300}"/>
                  </a:ext>
                </a:extLst>
              </p:cNvPr>
              <p:cNvSpPr txBox="1"/>
              <p:nvPr/>
            </p:nvSpPr>
            <p:spPr>
              <a:xfrm>
                <a:off x="6563243" y="5974365"/>
                <a:ext cx="2819908" cy="58644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sz="2400" b="1" i="1">
                              <a:latin typeface="Cambria Math" panose="02040503050406030204" pitchFamily="18" charset="0"/>
                              <a:ea typeface="Times New Roman" panose="02020603050405020304" pitchFamily="18" charset="0"/>
                              <a:cs typeface="Times New Roman" panose="02020603050405020304" pitchFamily="18" charset="0"/>
                            </a:rPr>
                            <m:t>𝒚</m:t>
                          </m:r>
                        </m:e>
                        <m:sub>
                          <m:r>
                            <a:rPr lang="es-BO" sz="2400" b="1" i="1">
                              <a:latin typeface="Cambria Math" panose="02040503050406030204" pitchFamily="18" charset="0"/>
                              <a:ea typeface="Times New Roman" panose="02020603050405020304" pitchFamily="18" charset="0"/>
                              <a:cs typeface="Times New Roman" panose="02020603050405020304" pitchFamily="18" charset="0"/>
                            </a:rPr>
                            <m:t>∞</m:t>
                          </m:r>
                        </m:sub>
                      </m:sSub>
                      <m:r>
                        <a:rPr lang="es-BO" sz="2400" i="1">
                          <a:latin typeface="Cambria Math" panose="02040503050406030204" pitchFamily="18" charset="0"/>
                          <a:ea typeface="Calibri" panose="020F0502020204030204" pitchFamily="34" charset="0"/>
                          <a:cs typeface="Times New Roman" panose="02020603050405020304" pitchFamily="18" charset="0"/>
                        </a:rPr>
                        <m:t>=</m:t>
                      </m:r>
                      <m:r>
                        <a:rPr lang="es-BO" sz="2400" b="0" i="1" smtClean="0">
                          <a:latin typeface="Cambria Math" panose="02040503050406030204" pitchFamily="18" charset="0"/>
                          <a:ea typeface="Calibri" panose="020F0502020204030204" pitchFamily="34" charset="0"/>
                          <a:cs typeface="Times New Roman" panose="02020603050405020304" pitchFamily="18" charset="0"/>
                        </a:rPr>
                        <m:t>0</m:t>
                      </m:r>
                      <m:r>
                        <a:rPr lang="es-BO" sz="2400" i="1" smtClean="0">
                          <a:latin typeface="Cambria Math" panose="02040503050406030204" pitchFamily="18" charset="0"/>
                          <a:ea typeface="Calibri" panose="020F0502020204030204" pitchFamily="34" charset="0"/>
                          <a:cs typeface="Times New Roman" panose="02020603050405020304" pitchFamily="18" charset="0"/>
                        </a:rPr>
                        <m:t>.0</m:t>
                      </m:r>
                      <m:r>
                        <a:rPr lang="es-BO" sz="2400" b="0" i="1" smtClean="0">
                          <a:latin typeface="Cambria Math" panose="02040503050406030204" pitchFamily="18" charset="0"/>
                          <a:ea typeface="Calibri" panose="020F0502020204030204" pitchFamily="34" charset="0"/>
                          <a:cs typeface="Times New Roman" panose="02020603050405020304" pitchFamily="18" charset="0"/>
                        </a:rPr>
                        <m:t>9629∗</m:t>
                      </m:r>
                      <m:r>
                        <a:rPr lang="es-BO" sz="2400" b="0" i="1" smtClean="0">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sz="24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6" name="CuadroTexto 5">
                <a:extLst>
                  <a:ext uri="{FF2B5EF4-FFF2-40B4-BE49-F238E27FC236}">
                    <a16:creationId xmlns:a16="http://schemas.microsoft.com/office/drawing/2014/main" id="{08FA4869-5519-FE05-62EA-8A0B26749300}"/>
                  </a:ext>
                </a:extLst>
              </p:cNvPr>
              <p:cNvSpPr txBox="1">
                <a:spLocks noRot="1" noChangeAspect="1" noMove="1" noResize="1" noEditPoints="1" noAdjustHandles="1" noChangeArrowheads="1" noChangeShapeType="1" noTextEdit="1"/>
              </p:cNvSpPr>
              <p:nvPr/>
            </p:nvSpPr>
            <p:spPr>
              <a:xfrm>
                <a:off x="6563243" y="5974365"/>
                <a:ext cx="2819908" cy="586443"/>
              </a:xfrm>
              <a:prstGeom prst="rect">
                <a:avLst/>
              </a:prstGeom>
              <a:blipFill>
                <a:blip r:embed="rId5"/>
                <a:stretch>
                  <a:fillRect/>
                </a:stretch>
              </a:blipFill>
            </p:spPr>
            <p:txBody>
              <a:bodyPr/>
              <a:lstStyle/>
              <a:p>
                <a:r>
                  <a:rPr lang="es-BO">
                    <a:noFill/>
                  </a:rPr>
                  <a:t> </a:t>
                </a:r>
              </a:p>
            </p:txBody>
          </p:sp>
        </mc:Fallback>
      </mc:AlternateContent>
      <p:pic>
        <p:nvPicPr>
          <p:cNvPr id="15" name="Imagen 14">
            <a:extLst>
              <a:ext uri="{FF2B5EF4-FFF2-40B4-BE49-F238E27FC236}">
                <a16:creationId xmlns:a16="http://schemas.microsoft.com/office/drawing/2014/main" id="{D0EAC881-AA6A-FA12-B93A-3E4BDA67197F}"/>
              </a:ext>
            </a:extLst>
          </p:cNvPr>
          <p:cNvPicPr>
            <a:picLocks noChangeAspect="1"/>
          </p:cNvPicPr>
          <p:nvPr/>
        </p:nvPicPr>
        <p:blipFill>
          <a:blip r:embed="rId6"/>
          <a:stretch>
            <a:fillRect/>
          </a:stretch>
        </p:blipFill>
        <p:spPr>
          <a:xfrm>
            <a:off x="6095999" y="1255600"/>
            <a:ext cx="5694331" cy="4535600"/>
          </a:xfrm>
          <a:prstGeom prst="rect">
            <a:avLst/>
          </a:prstGeom>
        </p:spPr>
      </p:pic>
    </p:spTree>
    <p:extLst>
      <p:ext uri="{BB962C8B-B14F-4D97-AF65-F5344CB8AC3E}">
        <p14:creationId xmlns:p14="http://schemas.microsoft.com/office/powerpoint/2010/main" val="131330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a:xfrm>
            <a:off x="2414148" y="2137952"/>
            <a:ext cx="8915399" cy="2262781"/>
          </a:xfrm>
        </p:spPr>
        <p:txBody>
          <a:bodyPr>
            <a:normAutofit fontScale="90000"/>
          </a:bodyPr>
          <a:lstStyle/>
          <a:p>
            <a:pPr algn="ctr"/>
            <a:r>
              <a:rPr lang="es-BO" sz="6000" b="1" dirty="0"/>
              <a:t>RESPUESTA EN FRECUENCIA DEL SISTEMA</a:t>
            </a:r>
          </a:p>
        </p:txBody>
      </p:sp>
    </p:spTree>
    <p:extLst>
      <p:ext uri="{BB962C8B-B14F-4D97-AF65-F5344CB8AC3E}">
        <p14:creationId xmlns:p14="http://schemas.microsoft.com/office/powerpoint/2010/main" val="672248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89983" y="624110"/>
            <a:ext cx="9014630" cy="1280890"/>
          </a:xfrm>
        </p:spPr>
        <p:txBody>
          <a:bodyPr>
            <a:normAutofit/>
          </a:bodyPr>
          <a:lstStyle/>
          <a:p>
            <a:r>
              <a:rPr lang="es-BO" b="1" dirty="0">
                <a:solidFill>
                  <a:srgbClr val="0070C0"/>
                </a:solidFill>
              </a:rPr>
              <a:t>Respuesta en frecuencia</a:t>
            </a:r>
            <a:endParaRPr lang="en-US" b="1" dirty="0">
              <a:solidFill>
                <a:srgbClr val="0070C0"/>
              </a:solidFill>
            </a:endParaRPr>
          </a:p>
        </p:txBody>
      </p:sp>
      <p:sp>
        <p:nvSpPr>
          <p:cNvPr id="3" name="Marcador de contenido 2"/>
          <p:cNvSpPr>
            <a:spLocks noGrp="1"/>
          </p:cNvSpPr>
          <p:nvPr>
            <p:ph idx="1"/>
          </p:nvPr>
        </p:nvSpPr>
        <p:spPr>
          <a:xfrm>
            <a:off x="2489983" y="1414881"/>
            <a:ext cx="9115864" cy="776648"/>
          </a:xfrm>
        </p:spPr>
        <p:txBody>
          <a:bodyPr/>
          <a:lstStyle/>
          <a:p>
            <a:pPr marL="0" indent="0">
              <a:buNone/>
            </a:pPr>
            <a:r>
              <a:rPr lang="es-ES" sz="2000" dirty="0"/>
              <a:t>Describe la respuesta en estado estacionario de un sistema a las entradas sinusoidales de frecuencias variables</a:t>
            </a:r>
            <a:endParaRPr lang="en-US" sz="2000" dirty="0"/>
          </a:p>
          <a:p>
            <a:pPr marL="0" indent="0">
              <a:buNone/>
            </a:pPr>
            <a:endParaRPr lang="en-US" dirty="0"/>
          </a:p>
        </p:txBody>
      </p:sp>
      <p:sp>
        <p:nvSpPr>
          <p:cNvPr id="5" name="Flecha izquierda 4"/>
          <p:cNvSpPr/>
          <p:nvPr/>
        </p:nvSpPr>
        <p:spPr>
          <a:xfrm>
            <a:off x="7733920" y="4479956"/>
            <a:ext cx="2516777" cy="14543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SISTEMA ESTABLE</a:t>
            </a:r>
            <a:endParaRPr lang="en-US" dirty="0"/>
          </a:p>
        </p:txBody>
      </p:sp>
      <p:sp>
        <p:nvSpPr>
          <p:cNvPr id="8" name="Marcador de contenido 2">
            <a:extLst>
              <a:ext uri="{FF2B5EF4-FFF2-40B4-BE49-F238E27FC236}">
                <a16:creationId xmlns:a16="http://schemas.microsoft.com/office/drawing/2014/main" id="{9F9862F8-D693-909B-BA16-FC0106243764}"/>
              </a:ext>
            </a:extLst>
          </p:cNvPr>
          <p:cNvSpPr txBox="1">
            <a:spLocks/>
          </p:cNvSpPr>
          <p:nvPr/>
        </p:nvSpPr>
        <p:spPr>
          <a:xfrm>
            <a:off x="7410737" y="2322315"/>
            <a:ext cx="4210330" cy="4946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s-BO" sz="2000" dirty="0"/>
              <a:t>Función de transferencia:</a:t>
            </a:r>
          </a:p>
          <a:p>
            <a:pPr marL="0" indent="0">
              <a:buFont typeface="Wingdings 3" charset="2"/>
              <a:buNone/>
            </a:pPr>
            <a:endParaRPr lang="es-BO" sz="2000" dirty="0"/>
          </a:p>
          <a:p>
            <a:pPr marL="0" indent="0">
              <a:buFont typeface="Wingdings 3" charset="2"/>
              <a:buNone/>
            </a:pPr>
            <a:endParaRPr lang="es-BO" sz="2000" dirty="0"/>
          </a:p>
          <a:p>
            <a:pPr marL="0" indent="0">
              <a:buFont typeface="Wingdings 3" charset="2"/>
              <a:buNone/>
            </a:pPr>
            <a:endParaRPr lang="en-US" dirty="0"/>
          </a:p>
        </p:txBody>
      </p:sp>
      <mc:AlternateContent xmlns:mc="http://schemas.openxmlformats.org/markup-compatibility/2006" xmlns:a14="http://schemas.microsoft.com/office/drawing/2010/main">
        <mc:Choice Requires="a14">
          <p:sp>
            <p:nvSpPr>
              <p:cNvPr id="15" name="Rectángulo 14">
                <a:extLst>
                  <a:ext uri="{FF2B5EF4-FFF2-40B4-BE49-F238E27FC236}">
                    <a16:creationId xmlns:a16="http://schemas.microsoft.com/office/drawing/2014/main" id="{42C56B0F-8EEA-B1D4-B0BF-143AB5971807}"/>
                  </a:ext>
                </a:extLst>
              </p:cNvPr>
              <p:cNvSpPr/>
              <p:nvPr/>
            </p:nvSpPr>
            <p:spPr>
              <a:xfrm>
                <a:off x="7923086" y="3429000"/>
                <a:ext cx="2516777" cy="82529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_tradnl" sz="2400" b="1" i="1" smtClean="0">
                          <a:latin typeface="Cambria Math" panose="02040503050406030204" pitchFamily="18" charset="0"/>
                          <a:ea typeface="Calibri" panose="020F0502020204030204" pitchFamily="34" charset="0"/>
                          <a:cs typeface="Calibri" panose="020F0502020204030204" pitchFamily="34" charset="0"/>
                        </a:rPr>
                        <m:t>𝒔</m:t>
                      </m:r>
                      <m:r>
                        <a:rPr lang="es-BO" sz="2400" b="1" i="1" smtClean="0">
                          <a:latin typeface="Cambria Math" panose="02040503050406030204" pitchFamily="18" charset="0"/>
                          <a:ea typeface="Calibri" panose="020F0502020204030204" pitchFamily="34" charset="0"/>
                          <a:cs typeface="Calibri" panose="020F0502020204030204" pitchFamily="34" charset="0"/>
                        </a:rPr>
                        <m:t>=−</m:t>
                      </m:r>
                      <m:f>
                        <m:fPr>
                          <m:ctrlPr>
                            <a:rPr lang="es-BO" sz="2400" b="1" i="1" smtClean="0">
                              <a:latin typeface="Cambria Math" panose="02040503050406030204" pitchFamily="18" charset="0"/>
                              <a:ea typeface="Calibri" panose="020F0502020204030204" pitchFamily="34" charset="0"/>
                              <a:cs typeface="Calibri" panose="020F0502020204030204" pitchFamily="34" charset="0"/>
                            </a:rPr>
                          </m:ctrlPr>
                        </m:fPr>
                        <m:num>
                          <m:r>
                            <a:rPr lang="es-ES_tradnl" sz="2400" b="1" i="1">
                              <a:latin typeface="Cambria Math" panose="02040503050406030204" pitchFamily="18" charset="0"/>
                              <a:ea typeface="Calibri" panose="020F0502020204030204" pitchFamily="34" charset="0"/>
                              <a:cs typeface="Calibri" panose="020F0502020204030204" pitchFamily="34" charset="0"/>
                            </a:rPr>
                            <m:t>𝟏</m:t>
                          </m:r>
                        </m:num>
                        <m:den>
                          <m:r>
                            <a:rPr lang="es-BO" sz="2400" b="1" i="1" smtClean="0">
                              <a:latin typeface="Cambria Math" panose="02040503050406030204" pitchFamily="18" charset="0"/>
                              <a:ea typeface="Calibri" panose="020F0502020204030204" pitchFamily="34" charset="0"/>
                              <a:cs typeface="Calibri" panose="020F0502020204030204" pitchFamily="34" charset="0"/>
                            </a:rPr>
                            <m:t>𝟏𝟓𝟐</m:t>
                          </m:r>
                          <m:r>
                            <a:rPr lang="es-BO" sz="2400" b="1" i="1" smtClean="0">
                              <a:latin typeface="Cambria Math" panose="02040503050406030204" pitchFamily="18" charset="0"/>
                              <a:ea typeface="Calibri" panose="020F0502020204030204" pitchFamily="34" charset="0"/>
                              <a:cs typeface="Calibri" panose="020F0502020204030204" pitchFamily="34" charset="0"/>
                            </a:rPr>
                            <m:t>,</m:t>
                          </m:r>
                          <m:r>
                            <a:rPr lang="es-BO" sz="2400" b="1" i="1" smtClean="0">
                              <a:latin typeface="Cambria Math" panose="02040503050406030204" pitchFamily="18" charset="0"/>
                              <a:ea typeface="Calibri" panose="020F0502020204030204" pitchFamily="34" charset="0"/>
                              <a:cs typeface="Calibri" panose="020F0502020204030204" pitchFamily="34" charset="0"/>
                            </a:rPr>
                            <m:t>𝟓</m:t>
                          </m:r>
                        </m:den>
                      </m:f>
                    </m:oMath>
                  </m:oMathPara>
                </a14:m>
                <a:endParaRPr lang="en-US" sz="2400" dirty="0"/>
              </a:p>
            </p:txBody>
          </p:sp>
        </mc:Choice>
        <mc:Fallback xmlns="">
          <p:sp>
            <p:nvSpPr>
              <p:cNvPr id="15" name="Rectángulo 14">
                <a:extLst>
                  <a:ext uri="{FF2B5EF4-FFF2-40B4-BE49-F238E27FC236}">
                    <a16:creationId xmlns:a16="http://schemas.microsoft.com/office/drawing/2014/main" id="{42C56B0F-8EEA-B1D4-B0BF-143AB5971807}"/>
                  </a:ext>
                </a:extLst>
              </p:cNvPr>
              <p:cNvSpPr>
                <a:spLocks noRot="1" noChangeAspect="1" noMove="1" noResize="1" noEditPoints="1" noAdjustHandles="1" noChangeArrowheads="1" noChangeShapeType="1" noTextEdit="1"/>
              </p:cNvSpPr>
              <p:nvPr/>
            </p:nvSpPr>
            <p:spPr>
              <a:xfrm>
                <a:off x="7923086" y="3429000"/>
                <a:ext cx="2516777" cy="825291"/>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6" name="Rectángulo 15">
                <a:extLst>
                  <a:ext uri="{FF2B5EF4-FFF2-40B4-BE49-F238E27FC236}">
                    <a16:creationId xmlns:a16="http://schemas.microsoft.com/office/drawing/2014/main" id="{4C319972-3721-9E74-3CC3-1E20B2063F4C}"/>
                  </a:ext>
                </a:extLst>
              </p:cNvPr>
              <p:cNvSpPr/>
              <p:nvPr/>
            </p:nvSpPr>
            <p:spPr>
              <a:xfrm>
                <a:off x="7581520" y="2764716"/>
                <a:ext cx="3602295" cy="725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G</m:t>
                      </m:r>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s</m:t>
                      </m:r>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0.09629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152.5</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2000" dirty="0"/>
              </a:p>
            </p:txBody>
          </p:sp>
        </mc:Choice>
        <mc:Fallback xmlns="">
          <p:sp>
            <p:nvSpPr>
              <p:cNvPr id="16" name="Rectángulo 15">
                <a:extLst>
                  <a:ext uri="{FF2B5EF4-FFF2-40B4-BE49-F238E27FC236}">
                    <a16:creationId xmlns:a16="http://schemas.microsoft.com/office/drawing/2014/main" id="{4C319972-3721-9E74-3CC3-1E20B2063F4C}"/>
                  </a:ext>
                </a:extLst>
              </p:cNvPr>
              <p:cNvSpPr>
                <a:spLocks noRot="1" noChangeAspect="1" noMove="1" noResize="1" noEditPoints="1" noAdjustHandles="1" noChangeArrowheads="1" noChangeShapeType="1" noTextEdit="1"/>
              </p:cNvSpPr>
              <p:nvPr/>
            </p:nvSpPr>
            <p:spPr>
              <a:xfrm>
                <a:off x="7581520" y="2764716"/>
                <a:ext cx="3602295" cy="725135"/>
              </a:xfrm>
              <a:prstGeom prst="rect">
                <a:avLst/>
              </a:prstGeom>
              <a:blipFill>
                <a:blip r:embed="rId4"/>
                <a:stretch>
                  <a:fillRect/>
                </a:stretch>
              </a:blipFill>
            </p:spPr>
            <p:txBody>
              <a:bodyPr/>
              <a:lstStyle/>
              <a:p>
                <a:r>
                  <a:rPr lang="es-BO">
                    <a:noFill/>
                  </a:rPr>
                  <a:t> </a:t>
                </a:r>
              </a:p>
            </p:txBody>
          </p:sp>
        </mc:Fallback>
      </mc:AlternateContent>
      <p:pic>
        <p:nvPicPr>
          <p:cNvPr id="6" name="Imagen 5">
            <a:extLst>
              <a:ext uri="{FF2B5EF4-FFF2-40B4-BE49-F238E27FC236}">
                <a16:creationId xmlns:a16="http://schemas.microsoft.com/office/drawing/2014/main" id="{DD50B9CE-C73A-E1D1-BE76-88EF01C16301}"/>
              </a:ext>
            </a:extLst>
          </p:cNvPr>
          <p:cNvPicPr>
            <a:picLocks noChangeAspect="1"/>
          </p:cNvPicPr>
          <p:nvPr/>
        </p:nvPicPr>
        <p:blipFill rotWithShape="1">
          <a:blip r:embed="rId5"/>
          <a:srcRect l="3783"/>
          <a:stretch/>
        </p:blipFill>
        <p:spPr>
          <a:xfrm>
            <a:off x="2547017" y="2191528"/>
            <a:ext cx="4863720" cy="3949203"/>
          </a:xfrm>
          <a:prstGeom prst="rect">
            <a:avLst/>
          </a:prstGeom>
        </p:spPr>
      </p:pic>
    </p:spTree>
    <p:extLst>
      <p:ext uri="{BB962C8B-B14F-4D97-AF65-F5344CB8AC3E}">
        <p14:creationId xmlns:p14="http://schemas.microsoft.com/office/powerpoint/2010/main" val="2389304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ángulo 3"/>
              <p:cNvSpPr/>
              <p:nvPr/>
            </p:nvSpPr>
            <p:spPr>
              <a:xfrm>
                <a:off x="1797734" y="1285725"/>
                <a:ext cx="5852160" cy="2222340"/>
              </a:xfrm>
              <a:prstGeom prst="rect">
                <a:avLst/>
              </a:prstGeom>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𝑴𝒂𝒓𝒈𝒆𝒏</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𝒅𝒆</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𝒍𝒂</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𝒈𝒂𝒏𝒂𝒏𝒄𝒊𝒂</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n-US"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ctrlPr>
                        </m:dPr>
                        <m:e>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𝑮𝒑</m:t>
                          </m:r>
                        </m:e>
                      </m:d>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𝒌</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2000" dirty="0">
                  <a:solidFill>
                    <a:srgbClr val="002060"/>
                  </a:solidFill>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i="1">
                              <a:latin typeface="Cambria Math" panose="02040503050406030204" pitchFamily="18" charset="0"/>
                              <a:ea typeface="Calibri" panose="020F0502020204030204" pitchFamily="34" charset="0"/>
                              <a:cs typeface="Times New Roman" panose="02020603050405020304" pitchFamily="18" charset="0"/>
                            </a:rPr>
                            <m:t>0.0</m:t>
                          </m:r>
                          <m:r>
                            <a:rPr lang="es-BO" sz="2400" b="0" i="1" smtClean="0">
                              <a:latin typeface="Cambria Math" panose="02040503050406030204" pitchFamily="18" charset="0"/>
                              <a:ea typeface="Calibri" panose="020F0502020204030204" pitchFamily="34" charset="0"/>
                              <a:cs typeface="Times New Roman" panose="02020603050405020304" pitchFamily="18" charset="0"/>
                            </a:rPr>
                            <m:t>9629</m:t>
                          </m:r>
                        </m:num>
                        <m:den>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i="1">
                              <a:latin typeface="Cambria Math" panose="02040503050406030204" pitchFamily="18" charset="0"/>
                              <a:ea typeface="Calibri" panose="020F0502020204030204" pitchFamily="34" charset="0"/>
                              <a:cs typeface="Times New Roman" panose="02020603050405020304" pitchFamily="18" charset="0"/>
                            </a:rPr>
                            <m:t>15</m:t>
                          </m:r>
                          <m:r>
                            <a:rPr lang="es-BO" sz="2400" b="0" i="1" smtClean="0">
                              <a:latin typeface="Cambria Math" panose="02040503050406030204" pitchFamily="18" charset="0"/>
                              <a:ea typeface="Calibri" panose="020F0502020204030204" pitchFamily="34" charset="0"/>
                              <a:cs typeface="Times New Roman" panose="02020603050405020304" pitchFamily="18" charset="0"/>
                            </a:rPr>
                            <m:t>2.5</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ES_tradnl" sz="2400" i="1">
                              <a:latin typeface="Cambria Math" panose="02040503050406030204" pitchFamily="18" charset="0"/>
                              <a:ea typeface="Calibri" panose="020F0502020204030204" pitchFamily="34" charset="0"/>
                              <a:cs typeface="Times New Roman" panose="02020603050405020304" pitchFamily="18" charset="0"/>
                            </a:rPr>
                            <m:t>𝑠</m:t>
                          </m:r>
                          <m:r>
                            <a:rPr lang="es-BO" sz="2400" i="1">
                              <a:latin typeface="Cambria Math" panose="02040503050406030204" pitchFamily="18" charset="0"/>
                              <a:ea typeface="Calibri" panose="020F0502020204030204" pitchFamily="34" charset="0"/>
                              <a:cs typeface="Times New Roman" panose="02020603050405020304" pitchFamily="18" charset="0"/>
                            </a:rPr>
                            <m:t>+1</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den>
                      </m:f>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b="0" i="1" smtClean="0">
                          <a:latin typeface="Cambria Math" panose="02040503050406030204" pitchFamily="18" charset="0"/>
                          <a:ea typeface="Calibri" panose="020F0502020204030204" pitchFamily="34" charset="0"/>
                          <a:cs typeface="Times New Roman" panose="02020603050405020304" pitchFamily="18" charset="0"/>
                        </a:rPr>
                        <m:t>𝑘</m:t>
                      </m:r>
                    </m:oMath>
                  </m:oMathPara>
                </a14:m>
                <a:endParaRPr lang="en-US" sz="2400"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ES_tradnl" sz="2400" b="1" i="1">
                          <a:latin typeface="Cambria Math" panose="02040503050406030204" pitchFamily="18" charset="0"/>
                          <a:ea typeface="Calibri" panose="020F0502020204030204" pitchFamily="34" charset="0"/>
                          <a:cs typeface="Times New Roman" panose="02020603050405020304" pitchFamily="18" charset="0"/>
                        </a:rPr>
                        <m:t>𝑲</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i="1">
                          <a:latin typeface="Cambria Math" panose="02040503050406030204" pitchFamily="18" charset="0"/>
                          <a:ea typeface="Calibri" panose="020F0502020204030204" pitchFamily="34" charset="0"/>
                          <a:cs typeface="Times New Roman" panose="02020603050405020304" pitchFamily="18" charset="0"/>
                        </a:rPr>
                        <m:t>0.09629</m:t>
                      </m:r>
                    </m:oMath>
                  </m:oMathPara>
                </a14:m>
                <a:endParaRPr lang="en-US" sz="2400"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endParaRPr lang="en-US"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1797734" y="1285725"/>
                <a:ext cx="5852160" cy="2222340"/>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2409697" y="3526783"/>
                <a:ext cx="6096000" cy="2082301"/>
              </a:xfrm>
              <a:prstGeom prst="rect">
                <a:avLst/>
              </a:prstGeom>
            </p:spPr>
            <p:txBody>
              <a:bodyPr>
                <a:spAutoFit/>
              </a:bodyPr>
              <a:lstStyle/>
              <a:p>
                <a:pPr>
                  <a:lnSpc>
                    <a:spcPct val="107000"/>
                  </a:lnSpc>
                  <a:spcAft>
                    <a:spcPts val="800"/>
                  </a:spcAft>
                </a:pPr>
                <a:r>
                  <a:rPr lang="es-BO" sz="2000" b="1" dirty="0">
                    <a:solidFill>
                      <a:srgbClr val="002060"/>
                    </a:solidFill>
                    <a:ea typeface="Calibri" panose="020F0502020204030204" pitchFamily="34" charset="0"/>
                    <a:cs typeface="Times New Roman" panose="02020603050405020304" pitchFamily="18" charset="0"/>
                  </a:rPr>
                  <a:t>M</a:t>
                </a:r>
                <a14:m>
                  <m:oMath xmlns:m="http://schemas.openxmlformats.org/officeDocument/2006/math">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𝒂𝒓𝒈𝒆𝒏</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𝒅𝒆</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𝒇𝒂𝒔𝒆</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&lt;</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𝑮𝒑</m:t>
                    </m:r>
                    <m:r>
                      <a:rPr lang="es-ES_tradnl" sz="2000" b="1" i="1">
                        <a:latin typeface="Cambria Math" panose="02040503050406030204" pitchFamily="18" charset="0"/>
                        <a:ea typeface="Calibri" panose="020F0502020204030204" pitchFamily="34" charset="0"/>
                        <a:cs typeface="Times New Roman" panose="02020603050405020304" pitchFamily="18" charset="0"/>
                      </a:rPr>
                      <m:t>=&lt;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0.09629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152.5</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a14:m>
                <a:endParaRPr lang="es-BO" sz="2000" i="1" dirty="0">
                  <a:latin typeface="Cambria Math" panose="020405030504060302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ea typeface="Calibri" panose="020F0502020204030204" pitchFamily="34" charset="0"/>
                          <a:cs typeface="Times New Roman" panose="02020603050405020304" pitchFamily="18" charset="0"/>
                        </a:rPr>
                        <m:t>&lt;</m:t>
                      </m:r>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r>
                            <a:rPr lang="es-BO" i="1">
                              <a:latin typeface="Cambria Math" panose="02040503050406030204" pitchFamily="18" charset="0"/>
                              <a:ea typeface="Calibri" panose="020F0502020204030204" pitchFamily="34" charset="0"/>
                              <a:cs typeface="Times New Roman" panose="02020603050405020304" pitchFamily="18" charset="0"/>
                            </a:rPr>
                            <m:t>0.09629</m:t>
                          </m:r>
                        </m:num>
                        <m:den>
                          <m:r>
                            <a:rPr lang="es-ES_tradnl" i="1">
                              <a:latin typeface="Cambria Math" panose="02040503050406030204" pitchFamily="18" charset="0"/>
                              <a:ea typeface="Calibri" panose="020F0502020204030204" pitchFamily="34" charset="0"/>
                              <a:cs typeface="Times New Roman" panose="02020603050405020304" pitchFamily="18" charset="0"/>
                            </a:rPr>
                            <m:t>(</m:t>
                          </m:r>
                          <m:r>
                            <a:rPr lang="es-BO" i="1">
                              <a:latin typeface="Cambria Math" panose="02040503050406030204" pitchFamily="18" charset="0"/>
                              <a:ea typeface="Calibri" panose="020F0502020204030204" pitchFamily="34" charset="0"/>
                              <a:cs typeface="Times New Roman" panose="02020603050405020304" pitchFamily="18" charset="0"/>
                            </a:rPr>
                            <m:t>152.5</m:t>
                          </m:r>
                          <m:r>
                            <a:rPr lang="es-ES_tradnl" i="1">
                              <a:latin typeface="Cambria Math" panose="02040503050406030204" pitchFamily="18" charset="0"/>
                              <a:ea typeface="Calibri" panose="020F0502020204030204" pitchFamily="34" charset="0"/>
                              <a:cs typeface="Times New Roman" panose="02020603050405020304" pitchFamily="18" charset="0"/>
                            </a:rPr>
                            <m:t>∗</m:t>
                          </m:r>
                          <m:r>
                            <a:rPr lang="es-BO" b="0" i="1" smtClean="0">
                              <a:latin typeface="Cambria Math" panose="02040503050406030204" pitchFamily="18" charset="0"/>
                              <a:ea typeface="Calibri" panose="020F0502020204030204" pitchFamily="34" charset="0"/>
                              <a:cs typeface="Times New Roman" panose="02020603050405020304" pitchFamily="18" charset="0"/>
                            </a:rPr>
                            <m:t>𝑗𝑤</m:t>
                          </m:r>
                          <m:r>
                            <a:rPr lang="es-BO" i="1">
                              <a:latin typeface="Cambria Math" panose="02040503050406030204" pitchFamily="18" charset="0"/>
                              <a:ea typeface="Calibri" panose="020F0502020204030204" pitchFamily="34" charset="0"/>
                              <a:cs typeface="Times New Roman" panose="02020603050405020304" pitchFamily="18" charset="0"/>
                            </a:rPr>
                            <m:t>+1</m:t>
                          </m:r>
                          <m:r>
                            <a:rPr lang="es-ES_tradnl"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s-ES_tradnl" i="1">
                              <a:latin typeface="Cambria Math" panose="02040503050406030204" pitchFamily="18" charset="0"/>
                              <a:ea typeface="Calibri" panose="020F0502020204030204" pitchFamily="34" charset="0"/>
                              <a:cs typeface="Times New Roman" panose="02020603050405020304" pitchFamily="18" charset="0"/>
                            </a:rPr>
                            <m:t>𝜃</m:t>
                          </m:r>
                        </m:e>
                        <m:sub>
                          <m:r>
                            <a:rPr lang="es-BO" b="0" i="1" smtClean="0">
                              <a:latin typeface="Cambria Math" panose="02040503050406030204" pitchFamily="18" charset="0"/>
                              <a:ea typeface="Calibri" panose="020F0502020204030204" pitchFamily="34" charset="0"/>
                              <a:cs typeface="Times New Roman" panose="02020603050405020304" pitchFamily="18" charset="0"/>
                            </a:rPr>
                            <m:t>𝑝</m:t>
                          </m:r>
                        </m:sub>
                      </m:sSub>
                      <m:r>
                        <a:rPr lang="es-ES_tradnl" i="1">
                          <a:latin typeface="Cambria Math" panose="02040503050406030204" pitchFamily="18" charset="0"/>
                          <a:ea typeface="Calibri" panose="020F0502020204030204" pitchFamily="34" charset="0"/>
                          <a:cs typeface="Times New Roman" panose="020206030504050203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s-ES_tradnl">
                                  <a:latin typeface="Cambria Math" panose="02040503050406030204" pitchFamily="18" charset="0"/>
                                </a:rPr>
                                <m:t>tan</m:t>
                              </m:r>
                            </m:e>
                            <m:sup>
                              <m:r>
                                <a:rPr lang="es-ES_tradnl" i="1">
                                  <a:latin typeface="Cambria Math" panose="02040503050406030204" pitchFamily="18" charset="0"/>
                                </a:rPr>
                                <m:t>−1</m:t>
                              </m:r>
                            </m:sup>
                          </m:sSup>
                        </m:fName>
                        <m:e>
                          <m:r>
                            <a:rPr lang="es-ES_tradnl" i="1">
                              <a:latin typeface="Cambria Math" panose="02040503050406030204" pitchFamily="18" charset="0"/>
                            </a:rPr>
                            <m:t>(</m:t>
                          </m:r>
                          <m:f>
                            <m:fPr>
                              <m:ctrlPr>
                                <a:rPr lang="en-US" i="1">
                                  <a:latin typeface="Cambria Math" panose="02040503050406030204" pitchFamily="18" charset="0"/>
                                </a:rPr>
                              </m:ctrlPr>
                            </m:fPr>
                            <m:num>
                              <m:r>
                                <a:rPr lang="es-BO" b="0" i="1" smtClean="0">
                                  <a:latin typeface="Cambria Math" panose="02040503050406030204" pitchFamily="18" charset="0"/>
                                </a:rPr>
                                <m:t>0</m:t>
                              </m:r>
                            </m:num>
                            <m:den>
                              <m:r>
                                <a:rPr lang="es-BO" b="0" i="1" smtClean="0">
                                  <a:latin typeface="Cambria Math" panose="02040503050406030204" pitchFamily="18" charset="0"/>
                                </a:rPr>
                                <m:t>0.09629</m:t>
                              </m:r>
                            </m:den>
                          </m:f>
                          <m:r>
                            <a:rPr lang="es-ES_tradnl" i="1">
                              <a:latin typeface="Cambria Math" panose="02040503050406030204" pitchFamily="18" charset="0"/>
                            </a:rPr>
                            <m:t>)</m:t>
                          </m:r>
                        </m:e>
                      </m:func>
                      <m:r>
                        <a:rPr lang="es-BO" b="0" i="1" smtClean="0">
                          <a:latin typeface="Cambria Math" panose="02040503050406030204" pitchFamily="18" charset="0"/>
                          <a:ea typeface="Calibri" panose="020F0502020204030204" pitchFamily="34" charset="0"/>
                          <a:cs typeface="Times New Roman" panose="020206030504050203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s-ES_tradnl">
                                  <a:latin typeface="Cambria Math" panose="02040503050406030204" pitchFamily="18" charset="0"/>
                                </a:rPr>
                                <m:t>tan</m:t>
                              </m:r>
                            </m:e>
                            <m:sup>
                              <m:r>
                                <a:rPr lang="es-ES_tradnl" i="1">
                                  <a:latin typeface="Cambria Math" panose="02040503050406030204" pitchFamily="18" charset="0"/>
                                </a:rPr>
                                <m:t>−1</m:t>
                              </m:r>
                            </m:sup>
                          </m:sSup>
                        </m:fName>
                        <m:e>
                          <m:r>
                            <a:rPr lang="es-ES_tradnl" i="1">
                              <a:latin typeface="Cambria Math" panose="02040503050406030204" pitchFamily="18" charset="0"/>
                            </a:rPr>
                            <m:t>(</m:t>
                          </m:r>
                          <m:f>
                            <m:fPr>
                              <m:ctrlPr>
                                <a:rPr lang="en-US" i="1">
                                  <a:latin typeface="Cambria Math" panose="02040503050406030204" pitchFamily="18" charset="0"/>
                                </a:rPr>
                              </m:ctrlPr>
                            </m:fPr>
                            <m:num>
                              <m:r>
                                <a:rPr lang="es-BO" b="0" i="1" smtClean="0">
                                  <a:latin typeface="Cambria Math" panose="02040503050406030204" pitchFamily="18" charset="0"/>
                                </a:rPr>
                                <m:t>152.5∗</m:t>
                              </m:r>
                              <m:r>
                                <a:rPr lang="es-BO" b="0" i="1" smtClean="0">
                                  <a:latin typeface="Cambria Math" panose="02040503050406030204" pitchFamily="18" charset="0"/>
                                </a:rPr>
                                <m:t>𝑤</m:t>
                              </m:r>
                            </m:num>
                            <m:den>
                              <m:r>
                                <a:rPr lang="es-BO" b="0" i="1" smtClean="0">
                                  <a:latin typeface="Cambria Math" panose="02040503050406030204" pitchFamily="18" charset="0"/>
                                </a:rPr>
                                <m:t>1</m:t>
                              </m:r>
                            </m:den>
                          </m:f>
                          <m:r>
                            <a:rPr lang="es-ES_tradnl" i="1">
                              <a:latin typeface="Cambria Math" panose="02040503050406030204" pitchFamily="18" charset="0"/>
                            </a:rPr>
                            <m:t>)</m:t>
                          </m:r>
                        </m:e>
                      </m:func>
                    </m:oMath>
                  </m:oMathPara>
                </a14:m>
                <a:endParaRPr lang="en-US"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2409697" y="3526783"/>
                <a:ext cx="6096000" cy="2082301"/>
              </a:xfrm>
              <a:prstGeom prst="rect">
                <a:avLst/>
              </a:prstGeom>
              <a:blipFill>
                <a:blip r:embed="rId3"/>
                <a:stretch>
                  <a:fillRect l="-1000"/>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8302086" y="3817210"/>
                <a:ext cx="261488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a:rPr lang="en-US" sz="2000" i="1">
                          <a:latin typeface="Cambria Math" panose="02040503050406030204" pitchFamily="18" charset="0"/>
                        </a:rPr>
                        <m:t>𝑐𝑜𝑛</m:t>
                      </m:r>
                      <m:r>
                        <a:rPr lang="en-US" sz="2000" i="0">
                          <a:latin typeface="Cambria Math" panose="02040503050406030204" pitchFamily="18" charset="0"/>
                        </a:rPr>
                        <m:t> </m:t>
                      </m:r>
                      <m:r>
                        <m:rPr>
                          <m:sty m:val="p"/>
                        </m:rPr>
                        <a:rPr lang="el-GR" sz="2000" i="1" smtClean="0">
                          <a:latin typeface="Cambria Math" panose="02040503050406030204" pitchFamily="18" charset="0"/>
                          <a:ea typeface="Cambria Math" panose="02040503050406030204" pitchFamily="18" charset="0"/>
                        </a:rPr>
                        <m:t>ω</m:t>
                      </m:r>
                      <m:r>
                        <a:rPr lang="en-US" sz="2000" i="0">
                          <a:latin typeface="Cambria Math" panose="02040503050406030204" pitchFamily="18" charset="0"/>
                        </a:rPr>
                        <m:t>=</m:t>
                      </m:r>
                      <m:r>
                        <a:rPr lang="es-BO" sz="2000" b="0" i="0" smtClean="0">
                          <a:latin typeface="Cambria Math" panose="02040503050406030204" pitchFamily="18" charset="0"/>
                        </a:rPr>
                        <m:t>6.56∗</m:t>
                      </m:r>
                      <m:sSup>
                        <m:sSupPr>
                          <m:ctrlPr>
                            <a:rPr lang="es-BO" sz="2000" i="1">
                              <a:latin typeface="Cambria Math" panose="02040503050406030204" pitchFamily="18" charset="0"/>
                              <a:cs typeface="Times New Roman" panose="02020603050405020304" pitchFamily="18" charset="0"/>
                            </a:rPr>
                          </m:ctrlPr>
                        </m:sSupPr>
                        <m:e>
                          <m:r>
                            <a:rPr lang="es-BO" sz="2000" i="1">
                              <a:latin typeface="Cambria Math" panose="02040503050406030204" pitchFamily="18" charset="0"/>
                              <a:cs typeface="Times New Roman" panose="02020603050405020304" pitchFamily="18" charset="0"/>
                            </a:rPr>
                            <m:t>10</m:t>
                          </m:r>
                        </m:e>
                        <m:sup>
                          <m:r>
                            <a:rPr lang="es-BO" sz="2000" i="1">
                              <a:latin typeface="Cambria Math" panose="02040503050406030204" pitchFamily="18" charset="0"/>
                              <a:cs typeface="Times New Roman" panose="02020603050405020304" pitchFamily="18" charset="0"/>
                            </a:rPr>
                            <m:t>−</m:t>
                          </m:r>
                          <m:r>
                            <a:rPr lang="es-BO" sz="2000" b="0" i="1" smtClean="0">
                              <a:latin typeface="Cambria Math" panose="02040503050406030204" pitchFamily="18" charset="0"/>
                              <a:cs typeface="Times New Roman" panose="02020603050405020304" pitchFamily="18" charset="0"/>
                            </a:rPr>
                            <m:t>3</m:t>
                          </m:r>
                        </m:sup>
                      </m:sSup>
                    </m:oMath>
                  </m:oMathPara>
                </a14:m>
                <a:endParaRPr lang="en-US" sz="2000" dirty="0"/>
              </a:p>
            </p:txBody>
          </p:sp>
        </mc:Choice>
        <mc:Fallback xmlns="">
          <p:sp>
            <p:nvSpPr>
              <p:cNvPr id="6" name="Rectángulo 5"/>
              <p:cNvSpPr>
                <a:spLocks noRot="1" noChangeAspect="1" noMove="1" noResize="1" noEditPoints="1" noAdjustHandles="1" noChangeArrowheads="1" noChangeShapeType="1" noTextEdit="1"/>
              </p:cNvSpPr>
              <p:nvPr/>
            </p:nvSpPr>
            <p:spPr>
              <a:xfrm>
                <a:off x="8302086" y="3817210"/>
                <a:ext cx="2614883" cy="400110"/>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505697" y="1401239"/>
                <a:ext cx="2865120" cy="1270220"/>
              </a:xfrm>
              <a:prstGeom prst="rect">
                <a:avLst/>
              </a:prstGeom>
            </p:spPr>
            <p:txBody>
              <a:bodyPr wrap="square">
                <a:spAutoFit/>
              </a:bodyPr>
              <a:lstStyle/>
              <a:p>
                <a:pPr>
                  <a:lnSpc>
                    <a:spcPct val="107000"/>
                  </a:lnSpc>
                  <a:spcAft>
                    <a:spcPts val="800"/>
                  </a:spcAft>
                </a:pPr>
                <a:r>
                  <a:rPr lang="es-BO" sz="2000" dirty="0">
                    <a:latin typeface="+mj-lt"/>
                    <a:ea typeface="Calibri" panose="020F0502020204030204" pitchFamily="34" charset="0"/>
                    <a:cs typeface="Times New Roman" panose="02020603050405020304" pitchFamily="18" charset="0"/>
                  </a:rPr>
                  <a:t>En decibelios:</a:t>
                </a:r>
              </a:p>
              <a:p>
                <a:pPr>
                  <a:lnSpc>
                    <a:spcPct val="107000"/>
                  </a:lnSpc>
                  <a:spcAft>
                    <a:spcPts val="800"/>
                  </a:spcAft>
                </a:pPr>
                <a:r>
                  <a:rPr lang="es-ES_tradnl" sz="2000" dirty="0">
                    <a:ea typeface="Calibri" panose="020F0502020204030204" pitchFamily="34" charset="0"/>
                    <a:cs typeface="Times New Roman" panose="02020603050405020304" pitchFamily="18" charset="0"/>
                  </a:rPr>
                  <a:t>dB</a:t>
                </a:r>
                <a14:m>
                  <m:oMath xmlns:m="http://schemas.openxmlformats.org/officeDocument/2006/math">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20</m:t>
                    </m:r>
                    <m:func>
                      <m:funcPr>
                        <m:ctrlPr>
                          <a:rPr lang="es-BO" sz="2000" i="1">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BO" sz="2000">
                            <a:latin typeface="Cambria Math" panose="02040503050406030204" pitchFamily="18" charset="0"/>
                            <a:ea typeface="Calibri" panose="020F0502020204030204" pitchFamily="34" charset="0"/>
                            <a:cs typeface="Times New Roman" panose="02020603050405020304" pitchFamily="18" charset="0"/>
                          </a:rPr>
                          <m:t>log</m:t>
                        </m:r>
                      </m:fName>
                      <m:e>
                        <m:r>
                          <a:rPr lang="es-BO" sz="2000" i="1">
                            <a:latin typeface="Cambria Math" panose="02040503050406030204" pitchFamily="18" charset="0"/>
                            <a:ea typeface="Calibri" panose="020F0502020204030204" pitchFamily="34" charset="0"/>
                            <a:cs typeface="Times New Roman" panose="02020603050405020304" pitchFamily="18" charset="0"/>
                          </a:rPr>
                          <m:t>𝑘</m:t>
                        </m:r>
                      </m:e>
                    </m:func>
                  </m:oMath>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s-ES_tradnl" sz="2000" dirty="0">
                    <a:ea typeface="Calibri" panose="020F0502020204030204" pitchFamily="34" charset="0"/>
                    <a:cs typeface="Times New Roman" panose="02020603050405020304" pitchFamily="18" charset="0"/>
                  </a:rPr>
                  <a:t>dB</a:t>
                </a:r>
                <a14:m>
                  <m:oMath xmlns:m="http://schemas.openxmlformats.org/officeDocument/2006/math">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20</m:t>
                    </m:r>
                    <m:func>
                      <m:funcPr>
                        <m:ctrlPr>
                          <a:rPr lang="es-BO" sz="2000" i="1">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BO" sz="2000">
                            <a:latin typeface="Cambria Math" panose="02040503050406030204" pitchFamily="18" charset="0"/>
                            <a:ea typeface="Calibri" panose="020F0502020204030204" pitchFamily="34" charset="0"/>
                            <a:cs typeface="Times New Roman" panose="02020603050405020304" pitchFamily="18" charset="0"/>
                          </a:rPr>
                          <m:t>log</m:t>
                        </m:r>
                      </m:fName>
                      <m:e>
                        <m:r>
                          <a:rPr lang="es-BO" sz="2000" i="1">
                            <a:latin typeface="Cambria Math" panose="02040503050406030204" pitchFamily="18" charset="0"/>
                            <a:ea typeface="Calibri" panose="020F0502020204030204" pitchFamily="34" charset="0"/>
                            <a:cs typeface="Times New Roman" panose="02020603050405020304" pitchFamily="18" charset="0"/>
                          </a:rPr>
                          <m:t>0.09629</m:t>
                        </m:r>
                      </m:e>
                    </m:func>
                  </m:oMath>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8505697" y="1401239"/>
                <a:ext cx="2865120" cy="1270220"/>
              </a:xfrm>
              <a:prstGeom prst="rect">
                <a:avLst/>
              </a:prstGeom>
              <a:blipFill>
                <a:blip r:embed="rId5"/>
                <a:stretch>
                  <a:fillRect l="-2128" t="-3365" b="-6731"/>
                </a:stretch>
              </a:blipFill>
            </p:spPr>
            <p:txBody>
              <a:bodyPr/>
              <a:lstStyle/>
              <a:p>
                <a:r>
                  <a:rPr lang="es-BO">
                    <a:noFill/>
                  </a:rPr>
                  <a:t> </a:t>
                </a:r>
              </a:p>
            </p:txBody>
          </p:sp>
        </mc:Fallback>
      </mc:AlternateContent>
      <p:sp>
        <p:nvSpPr>
          <p:cNvPr id="8" name="Flecha derecha 7"/>
          <p:cNvSpPr/>
          <p:nvPr/>
        </p:nvSpPr>
        <p:spPr>
          <a:xfrm>
            <a:off x="7033845" y="1820008"/>
            <a:ext cx="1125417" cy="952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p:cNvSpPr/>
          <p:nvPr/>
        </p:nvSpPr>
        <p:spPr>
          <a:xfrm>
            <a:off x="1900897" y="468107"/>
            <a:ext cx="3134769" cy="461665"/>
          </a:xfrm>
          <a:prstGeom prst="rect">
            <a:avLst/>
          </a:prstGeom>
        </p:spPr>
        <p:txBody>
          <a:bodyPr wrap="none">
            <a:spAutoFit/>
          </a:bodyPr>
          <a:lstStyle/>
          <a:p>
            <a:r>
              <a:rPr lang="es-BO" sz="2400" b="1" dirty="0"/>
              <a:t>ANALISIS TEORICO</a:t>
            </a:r>
            <a:endParaRPr lang="en-US" sz="2400" b="1" dirty="0"/>
          </a:p>
        </p:txBody>
      </p:sp>
      <p:sp>
        <p:nvSpPr>
          <p:cNvPr id="3" name="CuadroTexto 2">
            <a:extLst>
              <a:ext uri="{FF2B5EF4-FFF2-40B4-BE49-F238E27FC236}">
                <a16:creationId xmlns:a16="http://schemas.microsoft.com/office/drawing/2014/main" id="{981FEBE6-8B29-4CCE-0E01-00FDF8908E98}"/>
              </a:ext>
            </a:extLst>
          </p:cNvPr>
          <p:cNvSpPr txBox="1"/>
          <p:nvPr/>
        </p:nvSpPr>
        <p:spPr>
          <a:xfrm>
            <a:off x="8616354" y="2715954"/>
            <a:ext cx="1742050" cy="4726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07000"/>
              </a:lnSpc>
              <a:spcAft>
                <a:spcPts val="800"/>
              </a:spcAft>
            </a:pPr>
            <a:r>
              <a:rPr lang="es-BO" sz="2400" b="1" dirty="0">
                <a:latin typeface="Book Antiqua" panose="02040602050305030304" pitchFamily="18" charset="0"/>
                <a:ea typeface="Calibri" panose="020F0502020204030204" pitchFamily="34" charset="0"/>
                <a:cs typeface="Times New Roman" panose="02020603050405020304" pitchFamily="18" charset="0"/>
              </a:rPr>
              <a:t>dB=-20,32</a:t>
            </a:r>
            <a:endParaRPr lang="en-US" sz="2400" b="1" dirty="0">
              <a:latin typeface="Book Antiqua" panose="0204060205030503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F2AF84D-9F22-6821-AFAA-A2B1B9A73B90}"/>
                  </a:ext>
                </a:extLst>
              </p:cNvPr>
              <p:cNvSpPr txBox="1"/>
              <p:nvPr/>
            </p:nvSpPr>
            <p:spPr>
              <a:xfrm>
                <a:off x="4552070" y="5756709"/>
                <a:ext cx="2720926" cy="49475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ea typeface="Calibri" panose="020F0502020204030204" pitchFamily="34" charset="0"/>
                              <a:cs typeface="Times New Roman" panose="02020603050405020304" pitchFamily="18" charset="0"/>
                            </a:rPr>
                          </m:ctrlPr>
                        </m:sSubPr>
                        <m:e>
                          <m:r>
                            <a:rPr lang="es-ES_tradnl" sz="2400" b="1" i="1">
                              <a:latin typeface="Cambria Math" panose="02040503050406030204" pitchFamily="18" charset="0"/>
                              <a:ea typeface="Calibri" panose="020F0502020204030204" pitchFamily="34" charset="0"/>
                              <a:cs typeface="Times New Roman" panose="02020603050405020304" pitchFamily="18" charset="0"/>
                            </a:rPr>
                            <m:t>𝜽</m:t>
                          </m:r>
                        </m:e>
                        <m:sub>
                          <m:r>
                            <a:rPr lang="es-BO" sz="2400" b="1" i="1" smtClean="0">
                              <a:latin typeface="Cambria Math" panose="02040503050406030204" pitchFamily="18" charset="0"/>
                              <a:ea typeface="Calibri" panose="020F0502020204030204" pitchFamily="34" charset="0"/>
                              <a:cs typeface="Times New Roman" panose="02020603050405020304" pitchFamily="18" charset="0"/>
                            </a:rPr>
                            <m:t>𝒑</m:t>
                          </m:r>
                        </m:sub>
                      </m:sSub>
                      <m:r>
                        <a:rPr lang="es-ES_tradnl" sz="2400" b="1" i="1">
                          <a:latin typeface="Cambria Math" panose="02040503050406030204" pitchFamily="18" charset="0"/>
                          <a:ea typeface="Calibri" panose="020F0502020204030204" pitchFamily="34" charset="0"/>
                          <a:cs typeface="Times New Roman" panose="02020603050405020304" pitchFamily="18" charset="0"/>
                        </a:rPr>
                        <m:t>=</m:t>
                      </m:r>
                      <m:r>
                        <a:rPr lang="es-BO" sz="2400" b="1" i="1" smtClean="0">
                          <a:latin typeface="Cambria Math" panose="02040503050406030204" pitchFamily="18" charset="0"/>
                          <a:ea typeface="Calibri" panose="020F0502020204030204" pitchFamily="34" charset="0"/>
                          <a:cs typeface="Times New Roman" panose="02020603050405020304" pitchFamily="18" charset="0"/>
                        </a:rPr>
                        <m:t>−</m:t>
                      </m:r>
                      <m:r>
                        <a:rPr lang="es-BO" sz="2400" b="1" i="1" smtClean="0">
                          <a:latin typeface="Cambria Math" panose="02040503050406030204" pitchFamily="18" charset="0"/>
                          <a:ea typeface="Calibri" panose="020F0502020204030204" pitchFamily="34" charset="0"/>
                          <a:cs typeface="Times New Roman" panose="02020603050405020304" pitchFamily="18" charset="0"/>
                        </a:rPr>
                        <m:t>𝟒𝟓</m:t>
                      </m:r>
                      <m:r>
                        <a:rPr lang="es-ES_tradnl" sz="2400" b="1"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s-BO" sz="2400" b="1" dirty="0"/>
              </a:p>
            </p:txBody>
          </p:sp>
        </mc:Choice>
        <mc:Fallback xmlns="">
          <p:sp>
            <p:nvSpPr>
              <p:cNvPr id="12" name="CuadroTexto 11">
                <a:extLst>
                  <a:ext uri="{FF2B5EF4-FFF2-40B4-BE49-F238E27FC236}">
                    <a16:creationId xmlns:a16="http://schemas.microsoft.com/office/drawing/2014/main" id="{5F2AF84D-9F22-6821-AFAA-A2B1B9A73B90}"/>
                  </a:ext>
                </a:extLst>
              </p:cNvPr>
              <p:cNvSpPr txBox="1">
                <a:spLocks noRot="1" noChangeAspect="1" noMove="1" noResize="1" noEditPoints="1" noAdjustHandles="1" noChangeArrowheads="1" noChangeShapeType="1" noTextEdit="1"/>
              </p:cNvSpPr>
              <p:nvPr/>
            </p:nvSpPr>
            <p:spPr>
              <a:xfrm>
                <a:off x="4552070" y="5756709"/>
                <a:ext cx="2720926" cy="494751"/>
              </a:xfrm>
              <a:prstGeom prst="rect">
                <a:avLst/>
              </a:prstGeom>
              <a:blipFill>
                <a:blip r:embed="rId6"/>
                <a:stretch>
                  <a:fillRect b="-4762"/>
                </a:stretch>
              </a:blipFill>
            </p:spPr>
            <p:txBody>
              <a:bodyPr/>
              <a:lstStyle/>
              <a:p>
                <a:r>
                  <a:rPr lang="es-BO">
                    <a:noFill/>
                  </a:rPr>
                  <a:t> </a:t>
                </a:r>
              </a:p>
            </p:txBody>
          </p:sp>
        </mc:Fallback>
      </mc:AlternateContent>
    </p:spTree>
    <p:extLst>
      <p:ext uri="{BB962C8B-B14F-4D97-AF65-F5344CB8AC3E}">
        <p14:creationId xmlns:p14="http://schemas.microsoft.com/office/powerpoint/2010/main" val="4215235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title"/>
          </p:nvPr>
        </p:nvSpPr>
        <p:spPr/>
        <p:txBody>
          <a:bodyPr>
            <a:normAutofit/>
          </a:bodyPr>
          <a:lstStyle/>
          <a:p>
            <a:pPr algn="ctr"/>
            <a:r>
              <a:rPr lang="es-BO" sz="4800" dirty="0">
                <a:latin typeface="Arial Black" panose="020B0A04020102020204" pitchFamily="34" charset="0"/>
              </a:rPr>
              <a:t>ESTABILIDAD ABSOLUTA</a:t>
            </a:r>
            <a:endParaRPr lang="es-BO" sz="7200" b="1" dirty="0">
              <a:latin typeface="Arial Black" panose="020B0A04020102020204" pitchFamily="34" charset="0"/>
            </a:endParaRPr>
          </a:p>
        </p:txBody>
      </p:sp>
    </p:spTree>
    <p:extLst>
      <p:ext uri="{BB962C8B-B14F-4D97-AF65-F5344CB8AC3E}">
        <p14:creationId xmlns:p14="http://schemas.microsoft.com/office/powerpoint/2010/main" val="3421148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11681" y="624110"/>
            <a:ext cx="9492932" cy="813761"/>
          </a:xfrm>
        </p:spPr>
        <p:txBody>
          <a:bodyPr/>
          <a:lstStyle/>
          <a:p>
            <a:r>
              <a:rPr lang="es-BO" b="1" dirty="0">
                <a:solidFill>
                  <a:srgbClr val="0070C0"/>
                </a:solidFill>
              </a:rPr>
              <a:t>Estabilidad absoluta</a:t>
            </a:r>
            <a:endParaRPr lang="en-US" b="1" dirty="0">
              <a:solidFill>
                <a:srgbClr val="0070C0"/>
              </a:solidFill>
            </a:endParaRPr>
          </a:p>
        </p:txBody>
      </p:sp>
      <p:pic>
        <p:nvPicPr>
          <p:cNvPr id="4" name="Marcador de contenido 3"/>
          <p:cNvPicPr>
            <a:picLocks noGrp="1" noChangeAspect="1"/>
          </p:cNvPicPr>
          <p:nvPr>
            <p:ph idx="1"/>
          </p:nvPr>
        </p:nvPicPr>
        <p:blipFill>
          <a:blip r:embed="rId2"/>
          <a:stretch>
            <a:fillRect/>
          </a:stretch>
        </p:blipFill>
        <p:spPr>
          <a:xfrm>
            <a:off x="1734898" y="1621899"/>
            <a:ext cx="5121757" cy="3932237"/>
          </a:xfrm>
          <a:prstGeom prst="rect">
            <a:avLst/>
          </a:prstGeom>
        </p:spPr>
      </p:pic>
      <p:sp>
        <p:nvSpPr>
          <p:cNvPr id="5" name="Rectángulo 4"/>
          <p:cNvSpPr/>
          <p:nvPr/>
        </p:nvSpPr>
        <p:spPr>
          <a:xfrm>
            <a:off x="6364630" y="1315182"/>
            <a:ext cx="5489749" cy="1397177"/>
          </a:xfrm>
          <a:prstGeom prst="rect">
            <a:avLst/>
          </a:prstGeom>
        </p:spPr>
        <p:txBody>
          <a:bodyPr wrap="square">
            <a:spAutoFit/>
          </a:bodyPr>
          <a:lstStyle/>
          <a:p>
            <a:pPr marL="685800">
              <a:lnSpc>
                <a:spcPct val="107000"/>
              </a:lnSpc>
              <a:spcAft>
                <a:spcPts val="800"/>
              </a:spcAft>
            </a:pPr>
            <a:r>
              <a:rPr lang="es-BO" sz="2000" dirty="0">
                <a:latin typeface="Book Antiqua" panose="02040602050305030304" pitchFamily="18" charset="0"/>
                <a:ea typeface="Times New Roman" panose="02020603050405020304" pitchFamily="18" charset="0"/>
                <a:cs typeface="Times New Roman" panose="02020603050405020304" pitchFamily="18" charset="0"/>
              </a:rPr>
              <a:t>El polo se encuentra en el lado izquierdo, próximo a el origen de coordenadas, lo que indica una respuesta lenta y se encuentra estable.</a:t>
            </a:r>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p:sp>
        <p:nvSpPr>
          <p:cNvPr id="6" name="Rectángulo 5"/>
          <p:cNvSpPr/>
          <p:nvPr/>
        </p:nvSpPr>
        <p:spPr>
          <a:xfrm>
            <a:off x="6364629" y="3588018"/>
            <a:ext cx="5489750" cy="2055819"/>
          </a:xfrm>
          <a:prstGeom prst="rect">
            <a:avLst/>
          </a:prstGeom>
        </p:spPr>
        <p:txBody>
          <a:bodyPr wrap="square">
            <a:spAutoFit/>
          </a:bodyPr>
          <a:lstStyle/>
          <a:p>
            <a:pPr marL="685800">
              <a:lnSpc>
                <a:spcPct val="107000"/>
              </a:lnSpc>
              <a:spcAft>
                <a:spcPts val="0"/>
              </a:spcAft>
            </a:pPr>
            <a:r>
              <a:rPr lang="es-BO" sz="2000" b="1" dirty="0">
                <a:solidFill>
                  <a:srgbClr val="002060"/>
                </a:solidFill>
                <a:latin typeface="Book Antiqua" panose="02040602050305030304" pitchFamily="18" charset="0"/>
                <a:ea typeface="Calibri" panose="020F0502020204030204" pitchFamily="34" charset="0"/>
                <a:cs typeface="Times New Roman" panose="02020603050405020304" pitchFamily="18" charset="0"/>
              </a:rPr>
              <a:t>Análisis de estabilidad según Routh Hurwitz</a:t>
            </a:r>
            <a:endParaRPr lang="en-US" sz="2000" dirty="0">
              <a:solidFill>
                <a:srgbClr val="002060"/>
              </a:solidFill>
              <a:latin typeface="Book Antiqua" panose="02040602050305030304" pitchFamily="18" charset="0"/>
              <a:ea typeface="Calibri" panose="020F0502020204030204" pitchFamily="34" charset="0"/>
              <a:cs typeface="Times New Roman" panose="02020603050405020304" pitchFamily="18" charset="0"/>
            </a:endParaRPr>
          </a:p>
          <a:p>
            <a:pPr marL="685800">
              <a:lnSpc>
                <a:spcPct val="107000"/>
              </a:lnSpc>
              <a:spcAft>
                <a:spcPts val="800"/>
              </a:spcAft>
            </a:pPr>
            <a:r>
              <a:rPr lang="es-BO" sz="2000" dirty="0">
                <a:latin typeface="Book Antiqua" panose="02040602050305030304" pitchFamily="18" charset="0"/>
                <a:ea typeface="Calibri" panose="020F0502020204030204" pitchFamily="34" charset="0"/>
                <a:cs typeface="Times New Roman" panose="02020603050405020304" pitchFamily="18" charset="0"/>
              </a:rPr>
              <a:t>Se cumple la condición necesaria, todos los coeficientes del polinomio característico son positivos, además es un polinomio ordenado y completo.</a:t>
            </a:r>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ángulo 7"/>
              <p:cNvSpPr/>
              <p:nvPr/>
            </p:nvSpPr>
            <p:spPr>
              <a:xfrm>
                <a:off x="6856655" y="2764260"/>
                <a:ext cx="3412761" cy="725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G</m:t>
                      </m:r>
                      <m:d>
                        <m:dPr>
                          <m:ctrlPr>
                            <a:rPr lang="es-BO" sz="2000" b="0" i="1" smtClean="0">
                              <a:latin typeface="Cambria Math" panose="02040503050406030204" pitchFamily="18" charset="0"/>
                              <a:ea typeface="Calibri" panose="020F0502020204030204" pitchFamily="34" charset="0"/>
                              <a:cs typeface="Times New Roman" panose="02020603050405020304" pitchFamily="18" charset="0"/>
                            </a:rPr>
                          </m:ctrlPr>
                        </m:dPr>
                        <m:e>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s</m:t>
                          </m:r>
                        </m:e>
                      </m:d>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0.09629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152.5</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2000" dirty="0"/>
              </a:p>
            </p:txBody>
          </p:sp>
        </mc:Choice>
        <mc:Fallback xmlns="">
          <p:sp>
            <p:nvSpPr>
              <p:cNvPr id="8" name="Rectángulo 7"/>
              <p:cNvSpPr>
                <a:spLocks noRot="1" noChangeAspect="1" noMove="1" noResize="1" noEditPoints="1" noAdjustHandles="1" noChangeArrowheads="1" noChangeShapeType="1" noTextEdit="1"/>
              </p:cNvSpPr>
              <p:nvPr/>
            </p:nvSpPr>
            <p:spPr>
              <a:xfrm>
                <a:off x="6856655" y="2764260"/>
                <a:ext cx="3412761" cy="725135"/>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10003061" y="2900651"/>
                <a:ext cx="17796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BO" b="1" i="0" smtClean="0">
                          <a:latin typeface="Cambria Math" panose="02040503050406030204" pitchFamily="18" charset="0"/>
                        </a:rPr>
                        <m:t>𝐒</m:t>
                      </m:r>
                      <m:r>
                        <a:rPr lang="es-BO" b="1" i="0" smtClean="0">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oMath>
                  </m:oMathPara>
                </a14:m>
                <a:endParaRPr lang="en-US" dirty="0"/>
              </a:p>
            </p:txBody>
          </p:sp>
        </mc:Choice>
        <mc:Fallback xmlns="">
          <p:sp>
            <p:nvSpPr>
              <p:cNvPr id="9" name="Rectángulo 8"/>
              <p:cNvSpPr>
                <a:spLocks noRot="1" noChangeAspect="1" noMove="1" noResize="1" noEditPoints="1" noAdjustHandles="1" noChangeArrowheads="1" noChangeShapeType="1" noTextEdit="1"/>
              </p:cNvSpPr>
              <p:nvPr/>
            </p:nvSpPr>
            <p:spPr>
              <a:xfrm>
                <a:off x="10003061" y="2900651"/>
                <a:ext cx="1779654" cy="369332"/>
              </a:xfrm>
              <a:prstGeom prst="rect">
                <a:avLst/>
              </a:prstGeom>
              <a:blipFill>
                <a:blip r:embed="rId4"/>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21022597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a:xfrm>
            <a:off x="2400080" y="1617447"/>
            <a:ext cx="8915399" cy="2262781"/>
          </a:xfrm>
        </p:spPr>
        <p:txBody>
          <a:bodyPr>
            <a:normAutofit/>
          </a:bodyPr>
          <a:lstStyle/>
          <a:p>
            <a:pPr algn="ctr"/>
            <a:r>
              <a:rPr lang="es-BO" sz="4800" dirty="0">
                <a:latin typeface="Arial Black" panose="020B0A04020102020204" pitchFamily="34" charset="0"/>
              </a:rPr>
              <a:t>ANALISIS EN DISCRETO</a:t>
            </a:r>
            <a:endParaRPr lang="es-BO" sz="7200" b="1" dirty="0">
              <a:latin typeface="Arial Black" panose="020B0A04020102020204" pitchFamily="34" charset="0"/>
            </a:endParaRPr>
          </a:p>
        </p:txBody>
      </p:sp>
    </p:spTree>
    <p:extLst>
      <p:ext uri="{BB962C8B-B14F-4D97-AF65-F5344CB8AC3E}">
        <p14:creationId xmlns:p14="http://schemas.microsoft.com/office/powerpoint/2010/main" val="12578146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91508" y="436854"/>
            <a:ext cx="8777234" cy="883277"/>
          </a:xfrm>
        </p:spPr>
        <p:txBody>
          <a:bodyPr/>
          <a:lstStyle/>
          <a:p>
            <a:r>
              <a:rPr lang="es-BO" b="1" dirty="0">
                <a:solidFill>
                  <a:srgbClr val="0070C0"/>
                </a:solidFill>
              </a:rPr>
              <a:t>Análisis en Discreta</a:t>
            </a:r>
            <a:endParaRPr lang="en-US" b="1" dirty="0">
              <a:solidFill>
                <a:srgbClr val="0070C0"/>
              </a:solidFill>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91507" y="1125416"/>
                <a:ext cx="9638257" cy="4947972"/>
              </a:xfrm>
            </p:spPr>
            <p:txBody>
              <a:bodyPr>
                <a:normAutofit fontScale="92500" lnSpcReduction="10000"/>
              </a:bodyPr>
              <a:lstStyle/>
              <a:p>
                <a:pPr marL="0" indent="0">
                  <a:buNone/>
                </a:pPr>
                <a:r>
                  <a:rPr lang="es-BO" sz="2100" b="1" dirty="0"/>
                  <a:t>Elección de periodo de muestreo:</a:t>
                </a:r>
              </a:p>
              <a:p>
                <a:pPr marL="0" indent="0">
                  <a:buNone/>
                </a:pPr>
                <a:r>
                  <a:rPr lang="es-BO" sz="2100" dirty="0"/>
                  <a:t>Según </a:t>
                </a:r>
                <a:r>
                  <a:rPr lang="es-ES" sz="2100" dirty="0"/>
                  <a:t>el criterio de muestreo de</a:t>
                </a:r>
                <a:r>
                  <a:rPr lang="es-ES" sz="2100" b="1" dirty="0"/>
                  <a:t> Nyquist-Shannon </a:t>
                </a:r>
                <a:r>
                  <a:rPr lang="es-ES" sz="2100" dirty="0"/>
                  <a:t>,el periodo de muestreo mínimo:</a:t>
                </a:r>
              </a:p>
              <a:p>
                <a:pPr marL="0" indent="0">
                  <a:buNone/>
                </a:pPr>
                <a14:m>
                  <m:oMathPara xmlns:m="http://schemas.openxmlformats.org/officeDocument/2006/math">
                    <m:oMathParaPr>
                      <m:jc m:val="centerGroup"/>
                    </m:oMathParaPr>
                    <m:oMath xmlns:m="http://schemas.openxmlformats.org/officeDocument/2006/math">
                      <m:sSub>
                        <m:sSubPr>
                          <m:ctrlPr>
                            <a:rPr lang="es-ES" sz="2100" i="1" smtClean="0">
                              <a:latin typeface="Cambria Math" panose="02040503050406030204" pitchFamily="18" charset="0"/>
                            </a:rPr>
                          </m:ctrlPr>
                        </m:sSubPr>
                        <m:e>
                          <m:r>
                            <a:rPr lang="es-BO" sz="2100" b="0" i="1" smtClean="0">
                              <a:latin typeface="Cambria Math" panose="02040503050406030204" pitchFamily="18" charset="0"/>
                            </a:rPr>
                            <m:t>𝑇</m:t>
                          </m:r>
                        </m:e>
                        <m:sub>
                          <m:r>
                            <a:rPr lang="es-BO" sz="2100" b="0" i="1" smtClean="0">
                              <a:latin typeface="Cambria Math" panose="02040503050406030204" pitchFamily="18" charset="0"/>
                            </a:rPr>
                            <m:t>𝑆</m:t>
                          </m:r>
                        </m:sub>
                      </m:sSub>
                      <m:r>
                        <a:rPr lang="es-BO" sz="2100" b="0" i="1" smtClean="0">
                          <a:latin typeface="Cambria Math" panose="02040503050406030204" pitchFamily="18" charset="0"/>
                        </a:rPr>
                        <m:t>&lt;</m:t>
                      </m:r>
                      <m:f>
                        <m:fPr>
                          <m:ctrlPr>
                            <a:rPr lang="es-BO" sz="2100" b="0" i="1" smtClean="0">
                              <a:latin typeface="Cambria Math" panose="02040503050406030204" pitchFamily="18" charset="0"/>
                            </a:rPr>
                          </m:ctrlPr>
                        </m:fPr>
                        <m:num>
                          <m:r>
                            <a:rPr lang="es-BO" sz="2100" b="0" i="1" smtClean="0">
                              <a:latin typeface="Cambria Math" panose="02040503050406030204" pitchFamily="18" charset="0"/>
                            </a:rPr>
                            <m:t>2∗</m:t>
                          </m:r>
                          <m:r>
                            <a:rPr lang="es-BO" sz="2100" b="0" i="1" smtClean="0">
                              <a:latin typeface="Cambria Math" panose="02040503050406030204" pitchFamily="18" charset="0"/>
                              <a:ea typeface="Cambria Math" panose="02040503050406030204" pitchFamily="18" charset="0"/>
                            </a:rPr>
                            <m:t>𝜋</m:t>
                          </m:r>
                        </m:num>
                        <m:den>
                          <m:sSub>
                            <m:sSubPr>
                              <m:ctrlPr>
                                <a:rPr lang="es-BO" sz="2100" b="0" i="1" smtClean="0">
                                  <a:latin typeface="Cambria Math" panose="02040503050406030204" pitchFamily="18" charset="0"/>
                                </a:rPr>
                              </m:ctrlPr>
                            </m:sSubPr>
                            <m:e>
                              <m:r>
                                <a:rPr lang="es-BO" sz="2100" b="0" i="1" smtClean="0">
                                  <a:latin typeface="Cambria Math" panose="02040503050406030204" pitchFamily="18" charset="0"/>
                                  <a:ea typeface="Cambria Math" panose="02040503050406030204" pitchFamily="18" charset="0"/>
                                </a:rPr>
                                <m:t>𝜔</m:t>
                              </m:r>
                            </m:e>
                            <m:sub>
                              <m:r>
                                <a:rPr lang="es-BO" sz="2100" b="0" i="1" smtClean="0">
                                  <a:latin typeface="Cambria Math" panose="02040503050406030204" pitchFamily="18" charset="0"/>
                                </a:rPr>
                                <m:t>𝐶</m:t>
                              </m:r>
                            </m:sub>
                          </m:sSub>
                        </m:den>
                      </m:f>
                      <m:r>
                        <a:rPr lang="es-BO" sz="2100" b="0" i="1" smtClean="0">
                          <a:latin typeface="Cambria Math" panose="02040503050406030204" pitchFamily="18" charset="0"/>
                        </a:rPr>
                        <m:t>→</m:t>
                      </m:r>
                      <m:sSub>
                        <m:sSubPr>
                          <m:ctrlPr>
                            <a:rPr lang="es-BO" sz="2100" i="1">
                              <a:latin typeface="Cambria Math" panose="02040503050406030204" pitchFamily="18" charset="0"/>
                            </a:rPr>
                          </m:ctrlPr>
                        </m:sSubPr>
                        <m:e>
                          <m:r>
                            <a:rPr lang="es-BO" sz="2100" i="1">
                              <a:latin typeface="Cambria Math" panose="02040503050406030204" pitchFamily="18" charset="0"/>
                              <a:ea typeface="Cambria Math" panose="02040503050406030204" pitchFamily="18" charset="0"/>
                            </a:rPr>
                            <m:t>𝜔</m:t>
                          </m:r>
                        </m:e>
                        <m:sub>
                          <m:r>
                            <a:rPr lang="es-BO" sz="2100" i="1">
                              <a:latin typeface="Cambria Math" panose="02040503050406030204" pitchFamily="18" charset="0"/>
                            </a:rPr>
                            <m:t>𝐶</m:t>
                          </m:r>
                        </m:sub>
                      </m:sSub>
                      <m:r>
                        <a:rPr lang="es-BO" sz="2100" b="0" i="1" smtClean="0">
                          <a:latin typeface="Cambria Math" panose="02040503050406030204" pitchFamily="18" charset="0"/>
                        </a:rPr>
                        <m:t>=</m:t>
                      </m:r>
                      <m:f>
                        <m:fPr>
                          <m:ctrlPr>
                            <a:rPr lang="es-BO" sz="2100" b="0" i="1" smtClean="0">
                              <a:latin typeface="Cambria Math" panose="02040503050406030204" pitchFamily="18" charset="0"/>
                            </a:rPr>
                          </m:ctrlPr>
                        </m:fPr>
                        <m:num>
                          <m:r>
                            <a:rPr lang="es-BO" sz="2100" b="0" i="1" smtClean="0">
                              <a:latin typeface="Cambria Math" panose="02040503050406030204" pitchFamily="18" charset="0"/>
                            </a:rPr>
                            <m:t>1</m:t>
                          </m:r>
                        </m:num>
                        <m:den>
                          <m:r>
                            <a:rPr lang="es-BO" sz="2100" b="0" i="1" smtClean="0">
                              <a:latin typeface="Cambria Math" panose="02040503050406030204" pitchFamily="18" charset="0"/>
                              <a:ea typeface="Cambria Math" panose="02040503050406030204" pitchFamily="18" charset="0"/>
                            </a:rPr>
                            <m:t>𝜏</m:t>
                          </m:r>
                        </m:den>
                      </m:f>
                    </m:oMath>
                  </m:oMathPara>
                </a14:m>
                <a:endParaRPr lang="es-ES" sz="2100" dirty="0"/>
              </a:p>
              <a:p>
                <a:pPr marL="0" indent="0">
                  <a:buNone/>
                </a:pPr>
                <a14:m>
                  <m:oMathPara xmlns:m="http://schemas.openxmlformats.org/officeDocument/2006/math">
                    <m:oMathParaPr>
                      <m:jc m:val="left"/>
                    </m:oMathParaPr>
                    <m:oMath xmlns:m="http://schemas.openxmlformats.org/officeDocument/2006/math">
                      <m:sSub>
                        <m:sSubPr>
                          <m:ctrlPr>
                            <a:rPr lang="es-BO" sz="2100" i="1" smtClean="0">
                              <a:latin typeface="Cambria Math" panose="02040503050406030204" pitchFamily="18" charset="0"/>
                            </a:rPr>
                          </m:ctrlPr>
                        </m:sSubPr>
                        <m:e>
                          <m:r>
                            <a:rPr lang="es-BO" sz="2100" i="1">
                              <a:latin typeface="Cambria Math" panose="02040503050406030204" pitchFamily="18" charset="0"/>
                              <a:ea typeface="Cambria Math" panose="02040503050406030204" pitchFamily="18" charset="0"/>
                            </a:rPr>
                            <m:t>𝜔</m:t>
                          </m:r>
                        </m:e>
                        <m:sub>
                          <m:r>
                            <a:rPr lang="es-BO" sz="2100" i="1">
                              <a:latin typeface="Cambria Math" panose="02040503050406030204" pitchFamily="18" charset="0"/>
                            </a:rPr>
                            <m:t>𝐶</m:t>
                          </m:r>
                        </m:sub>
                      </m:sSub>
                      <m:r>
                        <a:rPr lang="es-BO" sz="2100" b="0" i="1" smtClean="0">
                          <a:latin typeface="Cambria Math" panose="02040503050406030204" pitchFamily="18" charset="0"/>
                        </a:rPr>
                        <m:t>→</m:t>
                      </m:r>
                      <m:r>
                        <a:rPr lang="es-BO" sz="2100" b="0" i="1" smtClean="0">
                          <a:latin typeface="Cambria Math" panose="02040503050406030204" pitchFamily="18" charset="0"/>
                        </a:rPr>
                        <m:t>𝐿𝑎</m:t>
                      </m:r>
                      <m:r>
                        <a:rPr lang="es-BO" sz="2100" b="0" i="1" smtClean="0">
                          <a:latin typeface="Cambria Math" panose="02040503050406030204" pitchFamily="18" charset="0"/>
                        </a:rPr>
                        <m:t> </m:t>
                      </m:r>
                      <m:r>
                        <a:rPr lang="es-BO" sz="2100" b="0" i="1" smtClean="0">
                          <a:latin typeface="Cambria Math" panose="02040503050406030204" pitchFamily="18" charset="0"/>
                        </a:rPr>
                        <m:t>𝑓𝑟𝑒𝑐𝑢𝑒𝑛𝑐𝑖𝑎</m:t>
                      </m:r>
                      <m:r>
                        <a:rPr lang="es-BO" sz="2100" b="0" i="1" smtClean="0">
                          <a:latin typeface="Cambria Math" panose="02040503050406030204" pitchFamily="18" charset="0"/>
                        </a:rPr>
                        <m:t> </m:t>
                      </m:r>
                      <m:r>
                        <a:rPr lang="es-BO" sz="2100" b="0" i="1" smtClean="0">
                          <a:latin typeface="Cambria Math" panose="02040503050406030204" pitchFamily="18" charset="0"/>
                        </a:rPr>
                        <m:t>𝑑𝑒</m:t>
                      </m:r>
                      <m:r>
                        <a:rPr lang="es-BO" sz="2100" b="0" i="1" smtClean="0">
                          <a:latin typeface="Cambria Math" panose="02040503050406030204" pitchFamily="18" charset="0"/>
                        </a:rPr>
                        <m:t> </m:t>
                      </m:r>
                      <m:r>
                        <a:rPr lang="es-BO" sz="2100" b="0" i="1" smtClean="0">
                          <a:latin typeface="Cambria Math" panose="02040503050406030204" pitchFamily="18" charset="0"/>
                        </a:rPr>
                        <m:t>𝑐𝑜𝑟𝑡𝑒</m:t>
                      </m:r>
                    </m:oMath>
                  </m:oMathPara>
                </a14:m>
                <a:endParaRPr lang="es-ES" sz="2100" dirty="0"/>
              </a:p>
              <a:p>
                <a:pPr marL="0" indent="0">
                  <a:buNone/>
                </a:pPr>
                <a14:m>
                  <m:oMathPara xmlns:m="http://schemas.openxmlformats.org/officeDocument/2006/math">
                    <m:oMathParaPr>
                      <m:jc m:val="left"/>
                    </m:oMathParaPr>
                    <m:oMath xmlns:m="http://schemas.openxmlformats.org/officeDocument/2006/math">
                      <m:sSub>
                        <m:sSubPr>
                          <m:ctrlPr>
                            <a:rPr lang="es-ES" sz="2100" i="1" smtClean="0">
                              <a:latin typeface="Cambria Math" panose="02040503050406030204" pitchFamily="18" charset="0"/>
                            </a:rPr>
                          </m:ctrlPr>
                        </m:sSubPr>
                        <m:e>
                          <m:r>
                            <a:rPr lang="es-BO" sz="2100" b="0" i="1" smtClean="0">
                              <a:latin typeface="Cambria Math" panose="02040503050406030204" pitchFamily="18" charset="0"/>
                            </a:rPr>
                            <m:t>𝑇</m:t>
                          </m:r>
                        </m:e>
                        <m:sub>
                          <m:r>
                            <a:rPr lang="es-BO" sz="2100" b="0" i="1" smtClean="0">
                              <a:latin typeface="Cambria Math" panose="02040503050406030204" pitchFamily="18" charset="0"/>
                            </a:rPr>
                            <m:t>𝑆</m:t>
                          </m:r>
                        </m:sub>
                      </m:sSub>
                      <m:r>
                        <a:rPr lang="es-BO" sz="2100" b="0" i="1" smtClean="0">
                          <a:latin typeface="Cambria Math" panose="02040503050406030204" pitchFamily="18" charset="0"/>
                        </a:rPr>
                        <m:t>→</m:t>
                      </m:r>
                      <m:r>
                        <a:rPr lang="es-BO" sz="2100" b="0" i="1" smtClean="0">
                          <a:latin typeface="Cambria Math" panose="02040503050406030204" pitchFamily="18" charset="0"/>
                        </a:rPr>
                        <m:t>𝐸𝑙</m:t>
                      </m:r>
                      <m:r>
                        <a:rPr lang="es-BO" sz="2100" b="0" i="1" smtClean="0">
                          <a:latin typeface="Cambria Math" panose="02040503050406030204" pitchFamily="18" charset="0"/>
                        </a:rPr>
                        <m:t> </m:t>
                      </m:r>
                      <m:r>
                        <a:rPr lang="es-BO" sz="2100" b="0" i="1" smtClean="0">
                          <a:latin typeface="Cambria Math" panose="02040503050406030204" pitchFamily="18" charset="0"/>
                        </a:rPr>
                        <m:t>𝑝𝑒𝑟𝑖𝑜𝑑𝑜</m:t>
                      </m:r>
                      <m:r>
                        <a:rPr lang="es-BO" sz="2100" b="0" i="1" smtClean="0">
                          <a:latin typeface="Cambria Math" panose="02040503050406030204" pitchFamily="18" charset="0"/>
                        </a:rPr>
                        <m:t> </m:t>
                      </m:r>
                      <m:r>
                        <a:rPr lang="es-BO" sz="2100" b="0" i="1" smtClean="0">
                          <a:latin typeface="Cambria Math" panose="02040503050406030204" pitchFamily="18" charset="0"/>
                        </a:rPr>
                        <m:t>𝑑𝑒</m:t>
                      </m:r>
                      <m:r>
                        <a:rPr lang="es-BO" sz="2100" b="0" i="1" smtClean="0">
                          <a:latin typeface="Cambria Math" panose="02040503050406030204" pitchFamily="18" charset="0"/>
                        </a:rPr>
                        <m:t> </m:t>
                      </m:r>
                      <m:r>
                        <a:rPr lang="es-BO" sz="2100" b="0" i="1" smtClean="0">
                          <a:latin typeface="Cambria Math" panose="02040503050406030204" pitchFamily="18" charset="0"/>
                        </a:rPr>
                        <m:t>𝑚𝑢𝑒𝑠𝑡𝑟𝑒𝑜</m:t>
                      </m:r>
                    </m:oMath>
                  </m:oMathPara>
                </a14:m>
                <a:endParaRPr lang="es-ES" sz="2100" dirty="0"/>
              </a:p>
              <a:p>
                <a:r>
                  <a:rPr lang="es-ES" sz="1900" dirty="0"/>
                  <a:t>La frecuencia de corte es el punto en el cual la magnitud de la función de transferencia se reduce en 3 dB respecto a su valor de baja frecuencia.</a:t>
                </a:r>
              </a:p>
              <a:p>
                <a:r>
                  <a:rPr lang="es-ES" sz="1900" dirty="0"/>
                  <a:t>La condición garantiza que se muestree la señal lo suficientemente rápido como para evitar el efecto de </a:t>
                </a:r>
                <a:r>
                  <a:rPr lang="es-ES" sz="1900" dirty="0" err="1"/>
                  <a:t>aliasing</a:t>
                </a:r>
                <a:r>
                  <a:rPr lang="es-ES" sz="1900" dirty="0"/>
                  <a:t>.</a:t>
                </a:r>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ES_tradnl" b="1" i="1">
                              <a:latin typeface="Cambria Math" panose="02040503050406030204" pitchFamily="18" charset="0"/>
                            </a:rPr>
                            <m:t>𝑯</m:t>
                          </m:r>
                          <m:d>
                            <m:dPr>
                              <m:ctrlPr>
                                <a:rPr lang="en-US" b="1" i="1">
                                  <a:latin typeface="Cambria Math" panose="02040503050406030204" pitchFamily="18" charset="0"/>
                                </a:rPr>
                              </m:ctrlPr>
                            </m:dPr>
                            <m:e>
                              <m:r>
                                <a:rPr lang="es-ES_tradnl" b="1" i="1">
                                  <a:latin typeface="Cambria Math" panose="02040503050406030204" pitchFamily="18" charset="0"/>
                                </a:rPr>
                                <m:t>𝒔</m:t>
                              </m:r>
                            </m:e>
                          </m:d>
                        </m:num>
                        <m:den>
                          <m:sSub>
                            <m:sSubPr>
                              <m:ctrlPr>
                                <a:rPr lang="en-US" b="1" i="1">
                                  <a:latin typeface="Cambria Math" panose="02040503050406030204" pitchFamily="18" charset="0"/>
                                </a:rPr>
                              </m:ctrlPr>
                            </m:sSubPr>
                            <m:e>
                              <m:r>
                                <a:rPr lang="es-ES_tradnl" b="1" i="1">
                                  <a:latin typeface="Cambria Math" panose="02040503050406030204" pitchFamily="18" charset="0"/>
                                </a:rPr>
                                <m:t>𝑸</m:t>
                              </m:r>
                            </m:e>
                            <m:sub>
                              <m:r>
                                <a:rPr lang="es-ES_tradnl" b="1" i="1">
                                  <a:latin typeface="Cambria Math" panose="02040503050406030204" pitchFamily="18" charset="0"/>
                                </a:rPr>
                                <m:t>𝒊</m:t>
                              </m:r>
                            </m:sub>
                          </m:sSub>
                          <m:d>
                            <m:dPr>
                              <m:ctrlPr>
                                <a:rPr lang="en-US" b="1" i="1">
                                  <a:latin typeface="Cambria Math" panose="02040503050406030204" pitchFamily="18" charset="0"/>
                                </a:rPr>
                              </m:ctrlPr>
                            </m:dPr>
                            <m:e>
                              <m:r>
                                <a:rPr lang="es-ES_tradnl" b="1" i="1">
                                  <a:latin typeface="Cambria Math" panose="02040503050406030204" pitchFamily="18" charset="0"/>
                                </a:rPr>
                                <m:t>𝒔</m:t>
                              </m:r>
                            </m:e>
                          </m:d>
                        </m:den>
                      </m:f>
                      <m:r>
                        <a:rPr lang="es-ES_tradnl" b="1" i="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ES_tradnl" b="1" i="1">
                              <a:latin typeface="Cambria Math" panose="02040503050406030204" pitchFamily="18" charset="0"/>
                            </a:rPr>
                            <m:t>𝟎𝟗𝟔𝟐𝟗</m:t>
                          </m:r>
                        </m:num>
                        <m:den>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r>
                            <a:rPr lang="es-ES_tradnl" b="1" i="1">
                              <a:latin typeface="Cambria Math" panose="02040503050406030204" pitchFamily="18" charset="0"/>
                            </a:rPr>
                            <m:t>∗</m:t>
                          </m:r>
                          <m:r>
                            <a:rPr lang="es-ES_tradnl" b="1" i="1">
                              <a:latin typeface="Cambria Math" panose="02040503050406030204" pitchFamily="18" charset="0"/>
                            </a:rPr>
                            <m:t>𝒔</m:t>
                          </m:r>
                          <m:r>
                            <a:rPr lang="es-ES_tradnl" b="1" i="1">
                              <a:latin typeface="Cambria Math" panose="02040503050406030204" pitchFamily="18" charset="0"/>
                            </a:rPr>
                            <m:t>+</m:t>
                          </m:r>
                          <m:r>
                            <a:rPr lang="es-ES_tradnl" b="1" i="1">
                              <a:latin typeface="Cambria Math" panose="02040503050406030204" pitchFamily="18" charset="0"/>
                            </a:rPr>
                            <m:t>𝟏</m:t>
                          </m:r>
                        </m:den>
                      </m:f>
                    </m:oMath>
                  </m:oMathPara>
                </a14:m>
                <a:endParaRPr lang="es-BO" b="1" dirty="0"/>
              </a:p>
              <a:p>
                <a:pPr marL="0" indent="0">
                  <a:buNone/>
                </a:pPr>
                <a:r>
                  <a:rPr lang="es-BO" b="1" dirty="0"/>
                  <a:t>					    </a:t>
                </a:r>
                <a14:m>
                  <m:oMath xmlns:m="http://schemas.openxmlformats.org/officeDocument/2006/math">
                    <m:f>
                      <m:fPr>
                        <m:ctrlPr>
                          <a:rPr lang="en-US" sz="2200" b="1" i="1">
                            <a:latin typeface="Cambria Math" panose="02040503050406030204" pitchFamily="18" charset="0"/>
                          </a:rPr>
                        </m:ctrlPr>
                      </m:fPr>
                      <m:num>
                        <m:r>
                          <a:rPr lang="es-ES_tradnl" sz="2200" b="1" i="1">
                            <a:latin typeface="Cambria Math" panose="02040503050406030204" pitchFamily="18" charset="0"/>
                          </a:rPr>
                          <m:t>𝑯</m:t>
                        </m:r>
                        <m:d>
                          <m:dPr>
                            <m:ctrlPr>
                              <a:rPr lang="en-US" sz="2200" b="1" i="1">
                                <a:latin typeface="Cambria Math" panose="02040503050406030204" pitchFamily="18" charset="0"/>
                              </a:rPr>
                            </m:ctrlPr>
                          </m:dPr>
                          <m:e>
                            <m:r>
                              <a:rPr lang="es-ES_tradnl" sz="2200" b="1" i="1">
                                <a:latin typeface="Cambria Math" panose="02040503050406030204" pitchFamily="18" charset="0"/>
                              </a:rPr>
                              <m:t>𝒔</m:t>
                            </m:r>
                          </m:e>
                        </m:d>
                      </m:num>
                      <m:den>
                        <m:sSub>
                          <m:sSubPr>
                            <m:ctrlPr>
                              <a:rPr lang="en-US" sz="2200" b="1" i="1">
                                <a:latin typeface="Cambria Math" panose="02040503050406030204" pitchFamily="18" charset="0"/>
                              </a:rPr>
                            </m:ctrlPr>
                          </m:sSubPr>
                          <m:e>
                            <m:r>
                              <a:rPr lang="es-ES_tradnl" sz="2200" b="1" i="1">
                                <a:latin typeface="Cambria Math" panose="02040503050406030204" pitchFamily="18" charset="0"/>
                              </a:rPr>
                              <m:t>𝑸</m:t>
                            </m:r>
                          </m:e>
                          <m:sub>
                            <m:r>
                              <a:rPr lang="es-ES_tradnl" sz="2200" b="1" i="1">
                                <a:latin typeface="Cambria Math" panose="02040503050406030204" pitchFamily="18" charset="0"/>
                              </a:rPr>
                              <m:t>𝒊</m:t>
                            </m:r>
                          </m:sub>
                        </m:sSub>
                        <m:d>
                          <m:dPr>
                            <m:ctrlPr>
                              <a:rPr lang="en-US" sz="2200" b="1" i="1">
                                <a:latin typeface="Cambria Math" panose="02040503050406030204" pitchFamily="18" charset="0"/>
                              </a:rPr>
                            </m:ctrlPr>
                          </m:dPr>
                          <m:e>
                            <m:r>
                              <a:rPr lang="es-ES_tradnl" sz="2200" b="1" i="1">
                                <a:latin typeface="Cambria Math" panose="02040503050406030204" pitchFamily="18" charset="0"/>
                              </a:rPr>
                              <m:t>𝒔</m:t>
                            </m:r>
                          </m:e>
                        </m:d>
                      </m:den>
                    </m:f>
                    <m:r>
                      <a:rPr lang="es-ES_tradnl" sz="2200" b="1" i="1">
                        <a:latin typeface="Cambria Math" panose="02040503050406030204" pitchFamily="18" charset="0"/>
                      </a:rPr>
                      <m:t>=</m:t>
                    </m:r>
                    <m:f>
                      <m:fPr>
                        <m:ctrlPr>
                          <a:rPr lang="en-US" sz="2200" b="1" i="1">
                            <a:latin typeface="Cambria Math" panose="02040503050406030204" pitchFamily="18" charset="0"/>
                          </a:rPr>
                        </m:ctrlPr>
                      </m:fPr>
                      <m:num>
                        <m:r>
                          <a:rPr lang="es-ES_tradnl" sz="2200" b="1" i="1">
                            <a:latin typeface="Cambria Math" panose="02040503050406030204" pitchFamily="18" charset="0"/>
                          </a:rPr>
                          <m:t>𝟎</m:t>
                        </m:r>
                        <m:r>
                          <a:rPr lang="es-ES_tradnl" sz="2200" b="1" i="1">
                            <a:latin typeface="Cambria Math" panose="02040503050406030204" pitchFamily="18" charset="0"/>
                          </a:rPr>
                          <m:t>.</m:t>
                        </m:r>
                        <m:r>
                          <a:rPr lang="es-BO" sz="2200" b="1" i="1">
                            <a:latin typeface="Cambria Math" panose="02040503050406030204" pitchFamily="18" charset="0"/>
                          </a:rPr>
                          <m:t>𝟎𝟎𝟎𝟔𝟑𝟏𝟒</m:t>
                        </m:r>
                      </m:num>
                      <m:den>
                        <m:r>
                          <a:rPr lang="es-ES_tradnl" sz="2200" b="1" i="1">
                            <a:latin typeface="Cambria Math" panose="02040503050406030204" pitchFamily="18" charset="0"/>
                          </a:rPr>
                          <m:t>𝒔</m:t>
                        </m:r>
                        <m:r>
                          <a:rPr lang="es-ES_tradnl" sz="2200" b="1" i="1">
                            <a:latin typeface="Cambria Math" panose="02040503050406030204" pitchFamily="18" charset="0"/>
                          </a:rPr>
                          <m:t>+</m:t>
                        </m:r>
                        <m:r>
                          <a:rPr lang="es-BO" sz="2200" b="1" i="1">
                            <a:latin typeface="Cambria Math" panose="02040503050406030204" pitchFamily="18" charset="0"/>
                          </a:rPr>
                          <m:t>𝟎</m:t>
                        </m:r>
                        <m:r>
                          <a:rPr lang="es-BO" sz="2200" b="1" i="1">
                            <a:latin typeface="Cambria Math" panose="02040503050406030204" pitchFamily="18" charset="0"/>
                          </a:rPr>
                          <m:t>,</m:t>
                        </m:r>
                        <m:r>
                          <a:rPr lang="es-BO" sz="2200" b="1" i="1">
                            <a:latin typeface="Cambria Math" panose="02040503050406030204" pitchFamily="18" charset="0"/>
                          </a:rPr>
                          <m:t>𝟎𝟎𝟔𝟓𝟓𝟕</m:t>
                        </m:r>
                      </m:den>
                    </m:f>
                  </m:oMath>
                </a14:m>
                <a:endParaRPr lang="es-BO" b="1" dirty="0"/>
              </a:p>
              <a:p>
                <a:pPr marL="0" indent="0">
                  <a:buNone/>
                </a:pPr>
                <a:r>
                  <a:rPr lang="es-BO" b="1" dirty="0"/>
                  <a:t>Transformada Z según tablas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91507" y="1125416"/>
                <a:ext cx="9638257" cy="4947972"/>
              </a:xfrm>
              <a:blipFill>
                <a:blip r:embed="rId2"/>
                <a:stretch>
                  <a:fillRect l="-569" t="-1233" r="-127" b="-617"/>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8767368" y="4776550"/>
                <a:ext cx="2810321" cy="612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𝒘</m:t>
                          </m:r>
                        </m:e>
                        <m:sub>
                          <m:r>
                            <a:rPr lang="es-BO" b="1" i="1" smtClean="0">
                              <a:latin typeface="Cambria Math" panose="02040503050406030204" pitchFamily="18" charset="0"/>
                            </a:rPr>
                            <m:t>𝒄</m:t>
                          </m:r>
                        </m:sub>
                      </m:sSub>
                      <m:r>
                        <a:rPr lang="es-BO" b="1" i="1" smtClean="0">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𝟏</m:t>
                          </m:r>
                        </m:num>
                        <m:den>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den>
                      </m:f>
                      <m:r>
                        <a:rPr lang="es-BO" b="1" i="1" smtClean="0">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oMath>
                  </m:oMathPara>
                </a14:m>
                <a:endParaRPr lang="en-US" dirty="0"/>
              </a:p>
            </p:txBody>
          </p:sp>
        </mc:Choice>
        <mc:Fallback xmlns="">
          <p:sp>
            <p:nvSpPr>
              <p:cNvPr id="6" name="Rectángulo 5"/>
              <p:cNvSpPr>
                <a:spLocks noRot="1" noChangeAspect="1" noMove="1" noResize="1" noEditPoints="1" noAdjustHandles="1" noChangeArrowheads="1" noChangeShapeType="1" noTextEdit="1"/>
              </p:cNvSpPr>
              <p:nvPr/>
            </p:nvSpPr>
            <p:spPr>
              <a:xfrm>
                <a:off x="8767368" y="4776550"/>
                <a:ext cx="2810321" cy="612796"/>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966140" y="5570430"/>
                <a:ext cx="2702150" cy="12134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smtClean="0">
                          <a:latin typeface="Cambria Math" panose="02040503050406030204" pitchFamily="18" charset="0"/>
                        </a:rPr>
                        <m:t>&lt;</m:t>
                      </m:r>
                      <m:f>
                        <m:fPr>
                          <m:ctrlPr>
                            <a:rPr lang="en-US" b="1" i="1">
                              <a:latin typeface="Cambria Math" panose="02040503050406030204" pitchFamily="18" charset="0"/>
                            </a:rPr>
                          </m:ctrlPr>
                        </m:fPr>
                        <m:num>
                          <m:r>
                            <a:rPr lang="es-BO" b="1" i="1" smtClean="0">
                              <a:latin typeface="Cambria Math" panose="02040503050406030204" pitchFamily="18" charset="0"/>
                            </a:rPr>
                            <m:t>𝟐</m:t>
                          </m:r>
                          <m:r>
                            <a:rPr lang="es-BO" b="1" i="1" smtClean="0">
                              <a:latin typeface="Cambria Math" panose="02040503050406030204" pitchFamily="18" charset="0"/>
                            </a:rPr>
                            <m:t>∗</m:t>
                          </m:r>
                          <m:r>
                            <m:rPr>
                              <m:nor/>
                            </m:rPr>
                            <a:rPr lang="el-GR" b="1" dirty="0"/>
                            <m:t>π</m:t>
                          </m:r>
                        </m:num>
                        <m:den>
                          <m:sSub>
                            <m:sSubPr>
                              <m:ctrlPr>
                                <a:rPr lang="es-ES_tradnl" b="1" i="1">
                                  <a:latin typeface="Cambria Math" panose="02040503050406030204" pitchFamily="18" charset="0"/>
                                </a:rPr>
                              </m:ctrlPr>
                            </m:sSubPr>
                            <m:e>
                              <m:r>
                                <a:rPr lang="es-BO" b="1" i="1">
                                  <a:latin typeface="Cambria Math" panose="02040503050406030204" pitchFamily="18" charset="0"/>
                                </a:rPr>
                                <m:t>𝒘</m:t>
                              </m:r>
                            </m:e>
                            <m:sub>
                              <m:r>
                                <a:rPr lang="es-BO" b="1" i="1">
                                  <a:latin typeface="Cambria Math" panose="02040503050406030204" pitchFamily="18" charset="0"/>
                                </a:rPr>
                                <m:t>𝒄</m:t>
                              </m:r>
                            </m:sub>
                          </m:sSub>
                        </m:den>
                      </m:f>
                      <m:r>
                        <a:rPr lang="es-BO" b="1" i="1" smtClean="0">
                          <a:latin typeface="Cambria Math" panose="02040503050406030204" pitchFamily="18" charset="0"/>
                        </a:rPr>
                        <m:t>&lt;</m:t>
                      </m:r>
                      <m:f>
                        <m:fPr>
                          <m:ctrlPr>
                            <a:rPr lang="en-US" b="1" i="1">
                              <a:latin typeface="Cambria Math" panose="02040503050406030204" pitchFamily="18" charset="0"/>
                            </a:rPr>
                          </m:ctrlPr>
                        </m:fPr>
                        <m:num>
                          <m:r>
                            <a:rPr lang="es-BO" b="1" i="1">
                              <a:latin typeface="Cambria Math" panose="02040503050406030204" pitchFamily="18" charset="0"/>
                            </a:rPr>
                            <m:t>𝟐</m:t>
                          </m:r>
                          <m:r>
                            <a:rPr lang="es-BO" b="1" i="1">
                              <a:latin typeface="Cambria Math" panose="02040503050406030204" pitchFamily="18" charset="0"/>
                            </a:rPr>
                            <m:t>∗</m:t>
                          </m:r>
                          <m:r>
                            <m:rPr>
                              <m:nor/>
                            </m:rPr>
                            <a:rPr lang="el-GR" b="1" dirty="0"/>
                            <m:t>π</m:t>
                          </m:r>
                        </m:num>
                        <m:den>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𝟎𝟎𝟔𝟓𝟓𝟕</m:t>
                          </m:r>
                        </m:den>
                      </m:f>
                    </m:oMath>
                  </m:oMathPara>
                </a14:m>
                <a:endParaRPr lang="es-BO" b="1" dirty="0"/>
              </a:p>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smtClean="0">
                          <a:latin typeface="Cambria Math" panose="02040503050406030204" pitchFamily="18" charset="0"/>
                        </a:rPr>
                        <m:t>=</m:t>
                      </m:r>
                      <m:r>
                        <a:rPr lang="es-BO" b="1" i="1" smtClean="0">
                          <a:latin typeface="Cambria Math" panose="02040503050406030204" pitchFamily="18" charset="0"/>
                        </a:rPr>
                        <m:t>𝟗𝟓𝟖</m:t>
                      </m:r>
                      <m:r>
                        <a:rPr lang="es-BO" b="1" i="1" smtClean="0">
                          <a:latin typeface="Cambria Math" panose="02040503050406030204" pitchFamily="18" charset="0"/>
                        </a:rPr>
                        <m:t>,</m:t>
                      </m:r>
                      <m:r>
                        <a:rPr lang="es-BO" b="1" i="1" smtClean="0">
                          <a:latin typeface="Cambria Math" panose="02040503050406030204" pitchFamily="18" charset="0"/>
                        </a:rPr>
                        <m:t>𝟐𝟒</m:t>
                      </m:r>
                    </m:oMath>
                  </m:oMathPara>
                </a14:m>
                <a:endParaRPr lang="es-BO" b="1" dirty="0"/>
              </a:p>
              <a:p>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8966140" y="5570430"/>
                <a:ext cx="2702150" cy="1213409"/>
              </a:xfrm>
              <a:prstGeom prst="rect">
                <a:avLst/>
              </a:prstGeom>
              <a:blipFill>
                <a:blip r:embed="rId4"/>
                <a:stretch>
                  <a:fillRect/>
                </a:stretch>
              </a:blipFill>
            </p:spPr>
            <p:txBody>
              <a:bodyPr/>
              <a:lstStyle/>
              <a:p>
                <a:r>
                  <a:rPr lang="es-BO">
                    <a:noFill/>
                  </a:rPr>
                  <a:t> </a:t>
                </a:r>
              </a:p>
            </p:txBody>
          </p:sp>
        </mc:Fallback>
      </mc:AlternateContent>
      <p:sp>
        <p:nvSpPr>
          <p:cNvPr id="9" name="Llamada de flecha a la izquierda 8"/>
          <p:cNvSpPr/>
          <p:nvPr/>
        </p:nvSpPr>
        <p:spPr>
          <a:xfrm>
            <a:off x="7518399" y="4655201"/>
            <a:ext cx="4267199" cy="1897999"/>
          </a:xfrm>
          <a:prstGeom prst="leftArrowCallout">
            <a:avLst>
              <a:gd name="adj1" fmla="val 21539"/>
              <a:gd name="adj2" fmla="val 24134"/>
              <a:gd name="adj3" fmla="val 44035"/>
              <a:gd name="adj4" fmla="val 71368"/>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2DD83B9-FBFC-BF69-BF48-BBD81B47AF8B}"/>
                  </a:ext>
                </a:extLst>
              </p:cNvPr>
              <p:cNvSpPr txBox="1"/>
              <p:nvPr/>
            </p:nvSpPr>
            <p:spPr>
              <a:xfrm>
                <a:off x="4779199" y="6019774"/>
                <a:ext cx="2873829" cy="625812"/>
              </a:xfrm>
              <a:prstGeom prst="rect">
                <a:avLst/>
              </a:prstGeom>
              <a:ln w="38100">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sSup>
                          <m:sSupPr>
                            <m:ctrlPr>
                              <a:rPr lang="en-US" sz="2400" b="1" i="1">
                                <a:latin typeface="Cambria Math" panose="02040503050406030204" pitchFamily="18" charset="0"/>
                              </a:rPr>
                            </m:ctrlPr>
                          </m:sSupPr>
                          <m:e>
                            <m:r>
                              <a:rPr lang="es-ES_tradnl" sz="2400" b="1" i="1">
                                <a:latin typeface="Cambria Math" panose="02040503050406030204" pitchFamily="18" charset="0"/>
                              </a:rPr>
                              <m:t>𝒆</m:t>
                            </m:r>
                          </m:e>
                          <m:sup>
                            <m:r>
                              <a:rPr lang="es-ES_tradnl" sz="2400" b="1" i="1">
                                <a:latin typeface="Cambria Math" panose="02040503050406030204" pitchFamily="18" charset="0"/>
                              </a:rPr>
                              <m:t>−</m:t>
                            </m:r>
                            <m:r>
                              <a:rPr lang="es-BO" sz="2400" b="1" i="1">
                                <a:latin typeface="Cambria Math" panose="02040503050406030204" pitchFamily="18" charset="0"/>
                              </a:rPr>
                              <m:t>𝟎</m:t>
                            </m:r>
                            <m:r>
                              <a:rPr lang="es-BO" sz="2400" b="1" i="1">
                                <a:latin typeface="Cambria Math" panose="02040503050406030204" pitchFamily="18" charset="0"/>
                              </a:rPr>
                              <m:t>,</m:t>
                            </m:r>
                            <m:r>
                              <a:rPr lang="es-BO" sz="2400" b="1" i="1">
                                <a:latin typeface="Cambria Math" panose="02040503050406030204" pitchFamily="18" charset="0"/>
                              </a:rPr>
                              <m:t>𝟎𝟎𝟔𝟓𝟓𝟕</m:t>
                            </m:r>
                            <m:r>
                              <a:rPr lang="es-BO" sz="2400" b="1" i="1">
                                <a:latin typeface="Cambria Math" panose="02040503050406030204" pitchFamily="18" charset="0"/>
                              </a:rPr>
                              <m:t>∗</m:t>
                            </m:r>
                            <m:r>
                              <a:rPr lang="es-ES_tradnl" sz="2400" b="1" i="1">
                                <a:latin typeface="Cambria Math" panose="02040503050406030204" pitchFamily="18" charset="0"/>
                              </a:rPr>
                              <m:t>𝑻</m:t>
                            </m:r>
                          </m:sup>
                        </m:sSup>
                      </m:den>
                    </m:f>
                  </m:oMath>
                </a14:m>
                <a:r>
                  <a:rPr lang="es-BO" b="1" dirty="0"/>
                  <a:t> </a:t>
                </a:r>
                <a:endParaRPr lang="es-BO" dirty="0"/>
              </a:p>
            </p:txBody>
          </p:sp>
        </mc:Choice>
        <mc:Fallback xmlns="">
          <p:sp>
            <p:nvSpPr>
              <p:cNvPr id="10" name="CuadroTexto 9">
                <a:extLst>
                  <a:ext uri="{FF2B5EF4-FFF2-40B4-BE49-F238E27FC236}">
                    <a16:creationId xmlns:a16="http://schemas.microsoft.com/office/drawing/2014/main" id="{F2DD83B9-FBFC-BF69-BF48-BBD81B47AF8B}"/>
                  </a:ext>
                </a:extLst>
              </p:cNvPr>
              <p:cNvSpPr txBox="1">
                <a:spLocks noRot="1" noChangeAspect="1" noMove="1" noResize="1" noEditPoints="1" noAdjustHandles="1" noChangeArrowheads="1" noChangeShapeType="1" noTextEdit="1"/>
              </p:cNvSpPr>
              <p:nvPr/>
            </p:nvSpPr>
            <p:spPr>
              <a:xfrm>
                <a:off x="4779199" y="6019774"/>
                <a:ext cx="2873829" cy="625812"/>
              </a:xfrm>
              <a:prstGeom prst="rect">
                <a:avLst/>
              </a:prstGeom>
              <a:blipFill>
                <a:blip r:embed="rId5"/>
                <a:stretch>
                  <a:fillRect/>
                </a:stretch>
              </a:blipFill>
              <a:ln w="38100">
                <a:solidFill>
                  <a:schemeClr val="accent2">
                    <a:lumMod val="75000"/>
                  </a:schemeClr>
                </a:solidFill>
              </a:ln>
            </p:spPr>
            <p:txBody>
              <a:bodyPr/>
              <a:lstStyle/>
              <a:p>
                <a:r>
                  <a:rPr lang="es-BO">
                    <a:noFill/>
                  </a:rPr>
                  <a:t> </a:t>
                </a:r>
              </a:p>
            </p:txBody>
          </p:sp>
        </mc:Fallback>
      </mc:AlternateContent>
    </p:spTree>
    <p:extLst>
      <p:ext uri="{BB962C8B-B14F-4D97-AF65-F5344CB8AC3E}">
        <p14:creationId xmlns:p14="http://schemas.microsoft.com/office/powerpoint/2010/main" val="3820741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D5CEF6A-187C-A2B5-6AF1-6A3DEF030125}"/>
              </a:ext>
            </a:extLst>
          </p:cNvPr>
          <p:cNvSpPr>
            <a:spLocks noGrp="1"/>
          </p:cNvSpPr>
          <p:nvPr>
            <p:ph type="title"/>
          </p:nvPr>
        </p:nvSpPr>
        <p:spPr>
          <a:xfrm>
            <a:off x="2592388" y="623888"/>
            <a:ext cx="8912225" cy="1281112"/>
          </a:xfrm>
        </p:spPr>
        <p:txBody>
          <a:bodyPr/>
          <a:lstStyle/>
          <a:p>
            <a:r>
              <a:rPr lang="es-BO" b="1" dirty="0">
                <a:solidFill>
                  <a:srgbClr val="0070C0"/>
                </a:solidFill>
              </a:rPr>
              <a:t>Análisis en Discreta</a:t>
            </a:r>
            <a:endParaRPr lang="en-US" b="1" dirty="0">
              <a:solidFill>
                <a:srgbClr val="0070C0"/>
              </a:solidFill>
            </a:endParaRPr>
          </a:p>
        </p:txBody>
      </p:sp>
      <p:pic>
        <p:nvPicPr>
          <p:cNvPr id="5" name="Imagen 4">
            <a:extLst>
              <a:ext uri="{FF2B5EF4-FFF2-40B4-BE49-F238E27FC236}">
                <a16:creationId xmlns:a16="http://schemas.microsoft.com/office/drawing/2014/main" id="{26470255-FA4E-C726-A872-F538F826C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1154" y="1526022"/>
            <a:ext cx="6048458" cy="4708090"/>
          </a:xfrm>
          <a:prstGeom prst="rect">
            <a:avLst/>
          </a:prstGeom>
        </p:spPr>
      </p:pic>
    </p:spTree>
    <p:extLst>
      <p:ext uri="{BB962C8B-B14F-4D97-AF65-F5344CB8AC3E}">
        <p14:creationId xmlns:p14="http://schemas.microsoft.com/office/powerpoint/2010/main" val="25392106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r>
                  <a:rPr lang="es-BO" dirty="0"/>
                  <a:t>Criterio del tiempo de respuesta : </a:t>
                </a:r>
                <a14:m>
                  <m:oMath xmlns:m="http://schemas.openxmlformats.org/officeDocument/2006/math">
                    <m:sSub>
                      <m:sSubPr>
                        <m:ctrlPr>
                          <a:rPr lang="es-ES_tradnl" b="1" i="1">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a:latin typeface="Cambria Math" panose="02040503050406030204" pitchFamily="18" charset="0"/>
                      </a:rPr>
                      <m:t>=</m:t>
                    </m:r>
                    <m:f>
                      <m:fPr>
                        <m:ctrlPr>
                          <a:rPr lang="en-US" b="1" i="1">
                            <a:latin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𝝉</m:t>
                        </m:r>
                      </m:num>
                      <m:den>
                        <m:r>
                          <a:rPr lang="es-BO" b="1" i="1" smtClean="0">
                            <a:latin typeface="Cambria Math" panose="02040503050406030204" pitchFamily="18" charset="0"/>
                          </a:rPr>
                          <m:t>𝟏𝟎</m:t>
                        </m:r>
                      </m:den>
                    </m:f>
                    <m:r>
                      <a:rPr lang="es-BO" b="1" i="1" smtClean="0">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r>
                          <m:rPr>
                            <m:nor/>
                          </m:rPr>
                          <a:rPr lang="en-US" dirty="0"/>
                          <m:t> </m:t>
                        </m:r>
                      </m:num>
                      <m:den>
                        <m:r>
                          <a:rPr lang="es-BO" b="1" i="1">
                            <a:latin typeface="Cambria Math" panose="02040503050406030204" pitchFamily="18" charset="0"/>
                          </a:rPr>
                          <m:t>𝟏𝟎</m:t>
                        </m:r>
                      </m:den>
                    </m:f>
                    <m:r>
                      <a:rPr lang="es-BO" b="1" i="1" smtClean="0">
                        <a:latin typeface="Cambria Math" panose="02040503050406030204" pitchFamily="18" charset="0"/>
                      </a:rPr>
                      <m:t>=</m:t>
                    </m:r>
                    <m:r>
                      <a:rPr lang="es-BO" b="1" i="1" smtClean="0">
                        <a:latin typeface="Cambria Math" panose="02040503050406030204" pitchFamily="18" charset="0"/>
                      </a:rPr>
                      <m:t>𝟏𝟓</m:t>
                    </m:r>
                    <m:r>
                      <a:rPr lang="es-BO" b="1" i="1" smtClean="0">
                        <a:latin typeface="Cambria Math" panose="02040503050406030204" pitchFamily="18" charset="0"/>
                      </a:rPr>
                      <m:t>.</m:t>
                    </m:r>
                    <m:r>
                      <a:rPr lang="es-BO" b="1" i="1" smtClean="0">
                        <a:latin typeface="Cambria Math" panose="02040503050406030204" pitchFamily="18" charset="0"/>
                      </a:rPr>
                      <m:t>𝟐𝟓</m:t>
                    </m:r>
                  </m:oMath>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424"/>
                </a:stretch>
              </a:blipFill>
            </p:spPr>
            <p:txBody>
              <a:bodyPr/>
              <a:lstStyle/>
              <a:p>
                <a:r>
                  <a:rPr lang="en-US">
                    <a:noFill/>
                  </a:rPr>
                  <a:t> </a:t>
                </a:r>
              </a:p>
            </p:txBody>
          </p:sp>
        </mc:Fallback>
      </mc:AlternateContent>
      <p:pic>
        <p:nvPicPr>
          <p:cNvPr id="4" name="Imagen 3"/>
          <p:cNvPicPr>
            <a:picLocks noChangeAspect="1"/>
          </p:cNvPicPr>
          <p:nvPr/>
        </p:nvPicPr>
        <p:blipFill>
          <a:blip r:embed="rId3"/>
          <a:stretch>
            <a:fillRect/>
          </a:stretch>
        </p:blipFill>
        <p:spPr>
          <a:xfrm>
            <a:off x="2732929" y="2809427"/>
            <a:ext cx="4520897" cy="3569495"/>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7941633" y="2950106"/>
                <a:ext cx="2650084" cy="625812"/>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sSup>
                          <m:sSupPr>
                            <m:ctrlPr>
                              <a:rPr lang="en-US" sz="2400" b="1" i="1">
                                <a:latin typeface="Cambria Math" panose="02040503050406030204" pitchFamily="18" charset="0"/>
                              </a:rPr>
                            </m:ctrlPr>
                          </m:sSupPr>
                          <m:e>
                            <m:r>
                              <a:rPr lang="es-ES_tradnl" sz="2400" b="1" i="1">
                                <a:latin typeface="Cambria Math" panose="02040503050406030204" pitchFamily="18" charset="0"/>
                              </a:rPr>
                              <m:t>𝒆</m:t>
                            </m:r>
                          </m:e>
                          <m:sup>
                            <m:r>
                              <a:rPr lang="es-ES_tradnl" sz="2400" b="1" i="1">
                                <a:latin typeface="Cambria Math" panose="02040503050406030204" pitchFamily="18" charset="0"/>
                              </a:rPr>
                              <m:t>−</m:t>
                            </m:r>
                            <m:r>
                              <a:rPr lang="es-BO" sz="2400" b="1" i="1">
                                <a:latin typeface="Cambria Math" panose="02040503050406030204" pitchFamily="18" charset="0"/>
                              </a:rPr>
                              <m:t>𝟎</m:t>
                            </m:r>
                            <m:r>
                              <a:rPr lang="es-BO" sz="2400" b="1" i="1">
                                <a:latin typeface="Cambria Math" panose="02040503050406030204" pitchFamily="18" charset="0"/>
                              </a:rPr>
                              <m:t>,</m:t>
                            </m:r>
                            <m:r>
                              <a:rPr lang="es-BO" sz="2400" b="1" i="1">
                                <a:latin typeface="Cambria Math" panose="02040503050406030204" pitchFamily="18" charset="0"/>
                              </a:rPr>
                              <m:t>𝟎𝟗𝟗𝟗𝟗</m:t>
                            </m:r>
                          </m:sup>
                        </m:sSup>
                      </m:den>
                    </m:f>
                  </m:oMath>
                </a14:m>
                <a:r>
                  <a:rPr lang="es-BO" sz="2000" b="1" dirty="0"/>
                  <a:t> </a:t>
                </a:r>
                <a:endParaRPr lang="en-US" sz="2000" dirty="0"/>
              </a:p>
            </p:txBody>
          </p:sp>
        </mc:Choice>
        <mc:Fallback xmlns="">
          <p:sp>
            <p:nvSpPr>
              <p:cNvPr id="5" name="Rectángulo 4"/>
              <p:cNvSpPr>
                <a:spLocks noRot="1" noChangeAspect="1" noMove="1" noResize="1" noEditPoints="1" noAdjustHandles="1" noChangeArrowheads="1" noChangeShapeType="1" noTextEdit="1"/>
              </p:cNvSpPr>
              <p:nvPr/>
            </p:nvSpPr>
            <p:spPr>
              <a:xfrm>
                <a:off x="7941633" y="2950106"/>
                <a:ext cx="2650084" cy="625812"/>
              </a:xfrm>
              <a:prstGeom prst="rect">
                <a:avLst/>
              </a:prstGeom>
              <a:blipFill>
                <a:blip r:embed="rId4"/>
                <a:stretch>
                  <a:fillRect/>
                </a:stretch>
              </a:blipFill>
            </p:spPr>
            <p:txBody>
              <a:bodyPr/>
              <a:lstStyle/>
              <a:p>
                <a:r>
                  <a:rPr lang="es-BO">
                    <a:noFill/>
                  </a:rPr>
                  <a:t> </a:t>
                </a:r>
              </a:p>
            </p:txBody>
          </p:sp>
        </mc:Fallback>
      </mc:AlternateContent>
      <p:sp>
        <p:nvSpPr>
          <p:cNvPr id="6" name="Rectángulo redondeado 5"/>
          <p:cNvSpPr/>
          <p:nvPr/>
        </p:nvSpPr>
        <p:spPr>
          <a:xfrm>
            <a:off x="7950906" y="3993737"/>
            <a:ext cx="2753355" cy="838102"/>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ángulo 6"/>
              <p:cNvSpPr/>
              <p:nvPr/>
            </p:nvSpPr>
            <p:spPr>
              <a:xfrm>
                <a:off x="7655677" y="1020264"/>
                <a:ext cx="2615588" cy="6162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r>
                                <a:rPr lang="es-BO" b="1" i="1">
                                  <a:latin typeface="Cambria Math" panose="02040503050406030204" pitchFamily="18" charset="0"/>
                                </a:rPr>
                                <m:t>∗</m:t>
                              </m:r>
                              <m:r>
                                <a:rPr lang="es-ES_tradnl" b="1" i="1">
                                  <a:latin typeface="Cambria Math" panose="02040503050406030204" pitchFamily="18" charset="0"/>
                                </a:rPr>
                                <m:t>𝑻</m:t>
                              </m:r>
                            </m:sup>
                          </m:sSup>
                        </m:den>
                      </m:f>
                    </m:oMath>
                  </m:oMathPara>
                </a14:m>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7655677" y="1020264"/>
                <a:ext cx="2615588" cy="616259"/>
              </a:xfrm>
              <a:prstGeom prst="rect">
                <a:avLst/>
              </a:prstGeom>
              <a:blipFill>
                <a:blip r:embed="rId5"/>
                <a:stretch>
                  <a:fillRect/>
                </a:stretch>
              </a:blipFill>
            </p:spPr>
            <p:txBody>
              <a:bodyPr/>
              <a:lstStyle/>
              <a:p>
                <a:r>
                  <a:rPr lang="en-US">
                    <a:noFill/>
                  </a:rPr>
                  <a:t> </a:t>
                </a:r>
              </a:p>
            </p:txBody>
          </p:sp>
        </mc:Fallback>
      </mc:AlternateContent>
      <p:sp>
        <p:nvSpPr>
          <p:cNvPr id="11" name="Título 1">
            <a:extLst>
              <a:ext uri="{FF2B5EF4-FFF2-40B4-BE49-F238E27FC236}">
                <a16:creationId xmlns:a16="http://schemas.microsoft.com/office/drawing/2014/main" id="{5B7F055E-E922-E876-5FBE-11A40F5D57F7}"/>
              </a:ext>
            </a:extLst>
          </p:cNvPr>
          <p:cNvSpPr>
            <a:spLocks noGrp="1"/>
          </p:cNvSpPr>
          <p:nvPr>
            <p:ph type="title"/>
          </p:nvPr>
        </p:nvSpPr>
        <p:spPr>
          <a:xfrm>
            <a:off x="2592388" y="623888"/>
            <a:ext cx="8912225" cy="1281112"/>
          </a:xfrm>
        </p:spPr>
        <p:txBody>
          <a:bodyPr/>
          <a:lstStyle/>
          <a:p>
            <a:r>
              <a:rPr lang="es-BO" b="1" dirty="0">
                <a:solidFill>
                  <a:srgbClr val="0070C0"/>
                </a:solidFill>
              </a:rPr>
              <a:t>Análisis en Discreta</a:t>
            </a:r>
            <a:endParaRPr lang="en-US" b="1" dirty="0">
              <a:solidFill>
                <a:srgbClr val="0070C0"/>
              </a:solidFill>
            </a:endParaRPr>
          </a:p>
        </p:txBody>
      </p:sp>
      <mc:AlternateContent xmlns:mc="http://schemas.openxmlformats.org/markup-compatibility/2006" xmlns:a14="http://schemas.microsoft.com/office/drawing/2010/main">
        <mc:Choice Requires="a14">
          <p:sp>
            <p:nvSpPr>
              <p:cNvPr id="12" name="Rectángulo 11">
                <a:extLst>
                  <a:ext uri="{FF2B5EF4-FFF2-40B4-BE49-F238E27FC236}">
                    <a16:creationId xmlns:a16="http://schemas.microsoft.com/office/drawing/2014/main" id="{55DDDFC3-5A72-3C6B-CC6B-200EF43D4EEE}"/>
                  </a:ext>
                </a:extLst>
              </p:cNvPr>
              <p:cNvSpPr/>
              <p:nvPr/>
            </p:nvSpPr>
            <p:spPr>
              <a:xfrm>
                <a:off x="7950906" y="4085615"/>
                <a:ext cx="2650084" cy="654346"/>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r>
                          <a:rPr lang="es-BO" sz="2400" b="1" i="1" smtClean="0">
                            <a:latin typeface="Cambria Math" panose="02040503050406030204" pitchFamily="18" charset="0"/>
                          </a:rPr>
                          <m:t>𝟎</m:t>
                        </m:r>
                        <m:r>
                          <a:rPr lang="es-BO" sz="2400" b="1" i="1" smtClean="0">
                            <a:latin typeface="Cambria Math" panose="02040503050406030204" pitchFamily="18" charset="0"/>
                          </a:rPr>
                          <m:t>,</m:t>
                        </m:r>
                        <m:r>
                          <a:rPr lang="es-BO" sz="2400" b="1" i="1" smtClean="0">
                            <a:latin typeface="Cambria Math" panose="02040503050406030204" pitchFamily="18" charset="0"/>
                          </a:rPr>
                          <m:t>𝟗𝟎𝟒𝟖</m:t>
                        </m:r>
                      </m:den>
                    </m:f>
                  </m:oMath>
                </a14:m>
                <a:r>
                  <a:rPr lang="es-BO" sz="2000" b="1" dirty="0"/>
                  <a:t> </a:t>
                </a:r>
                <a:endParaRPr lang="en-US" sz="2000" dirty="0"/>
              </a:p>
            </p:txBody>
          </p:sp>
        </mc:Choice>
        <mc:Fallback xmlns="">
          <p:sp>
            <p:nvSpPr>
              <p:cNvPr id="12" name="Rectángulo 11">
                <a:extLst>
                  <a:ext uri="{FF2B5EF4-FFF2-40B4-BE49-F238E27FC236}">
                    <a16:creationId xmlns:a16="http://schemas.microsoft.com/office/drawing/2014/main" id="{55DDDFC3-5A72-3C6B-CC6B-200EF43D4EEE}"/>
                  </a:ext>
                </a:extLst>
              </p:cNvPr>
              <p:cNvSpPr>
                <a:spLocks noRot="1" noChangeAspect="1" noMove="1" noResize="1" noEditPoints="1" noAdjustHandles="1" noChangeArrowheads="1" noChangeShapeType="1" noTextEdit="1"/>
              </p:cNvSpPr>
              <p:nvPr/>
            </p:nvSpPr>
            <p:spPr>
              <a:xfrm>
                <a:off x="7950906" y="4085615"/>
                <a:ext cx="2650084" cy="654346"/>
              </a:xfrm>
              <a:prstGeom prst="rect">
                <a:avLst/>
              </a:prstGeom>
              <a:blipFill>
                <a:blip r:embed="rId6"/>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8190870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8F41544-71A7-BD3E-CB62-1F05E6D7AF8F}"/>
              </a:ext>
            </a:extLst>
          </p:cNvPr>
          <p:cNvSpPr>
            <a:spLocks noGrp="1"/>
          </p:cNvSpPr>
          <p:nvPr>
            <p:ph type="title"/>
          </p:nvPr>
        </p:nvSpPr>
        <p:spPr>
          <a:xfrm>
            <a:off x="2589212" y="2436123"/>
            <a:ext cx="8915399" cy="1468800"/>
          </a:xfrm>
        </p:spPr>
        <p:txBody>
          <a:bodyPr>
            <a:normAutofit/>
          </a:bodyPr>
          <a:lstStyle/>
          <a:p>
            <a:pPr algn="ctr"/>
            <a:r>
              <a:rPr lang="es-BO" sz="4800" b="1" dirty="0"/>
              <a:t>ESTABILIDAD EN DISCRETO</a:t>
            </a:r>
          </a:p>
        </p:txBody>
      </p:sp>
    </p:spTree>
    <p:extLst>
      <p:ext uri="{BB962C8B-B14F-4D97-AF65-F5344CB8AC3E}">
        <p14:creationId xmlns:p14="http://schemas.microsoft.com/office/powerpoint/2010/main" val="1321542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33989" y="540999"/>
            <a:ext cx="6807200" cy="1371600"/>
          </a:xfrm>
        </p:spPr>
        <p:txBody>
          <a:bodyPr/>
          <a:lstStyle/>
          <a:p>
            <a:r>
              <a:rPr lang="es-BO" b="1" dirty="0">
                <a:solidFill>
                  <a:srgbClr val="0070C0"/>
                </a:solidFill>
              </a:rPr>
              <a:t>Estabilidad en discreta</a:t>
            </a:r>
            <a:endParaRPr lang="en-US" b="1" dirty="0">
              <a:solidFill>
                <a:srgbClr val="0070C0"/>
              </a:solidFill>
            </a:endParaRPr>
          </a:p>
        </p:txBody>
      </p:sp>
      <p:sp>
        <p:nvSpPr>
          <p:cNvPr id="3" name="Marcador de contenido 2"/>
          <p:cNvSpPr>
            <a:spLocks noGrp="1"/>
          </p:cNvSpPr>
          <p:nvPr>
            <p:ph idx="1"/>
          </p:nvPr>
        </p:nvSpPr>
        <p:spPr>
          <a:xfrm>
            <a:off x="873760" y="1564160"/>
            <a:ext cx="10058400" cy="3931920"/>
          </a:xfrm>
        </p:spPr>
        <p:txBody>
          <a:bodyPr/>
          <a:lstStyle/>
          <a:p>
            <a:r>
              <a:rPr lang="es-BO" dirty="0"/>
              <a:t>Error en estado estacionario: </a:t>
            </a:r>
            <a:endParaRPr lang="en-US" dirty="0"/>
          </a:p>
        </p:txBody>
      </p:sp>
      <mc:AlternateContent xmlns:mc="http://schemas.openxmlformats.org/markup-compatibility/2006" xmlns:a14="http://schemas.microsoft.com/office/drawing/2010/main">
        <mc:Choice Requires="a14">
          <p:sp>
            <p:nvSpPr>
              <p:cNvPr id="4" name="Rectángulo 3"/>
              <p:cNvSpPr/>
              <p:nvPr/>
            </p:nvSpPr>
            <p:spPr>
              <a:xfrm>
                <a:off x="4532114" y="1512844"/>
                <a:ext cx="3953005" cy="6619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smtClean="0">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BO" b="1" i="1" smtClean="0">
                                      <a:latin typeface="Cambria Math" panose="02040503050406030204" pitchFamily="18" charset="0"/>
                                      <a:cs typeface="Times New Roman" panose="02020603050405020304" pitchFamily="18" charset="0"/>
                                    </a:rPr>
                                  </m:ctrlPr>
                                </m:sSupPr>
                                <m:e>
                                  <m:r>
                                    <a:rPr lang="es-BO" b="1" i="1" smtClean="0">
                                      <a:latin typeface="Cambria Math" panose="02040503050406030204" pitchFamily="18" charset="0"/>
                                      <a:cs typeface="Times New Roman" panose="02020603050405020304" pitchFamily="18" charset="0"/>
                                    </a:rPr>
                                    <m:t>𝒛</m:t>
                                  </m:r>
                                </m:e>
                                <m:sup>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𝟏</m:t>
                                  </m:r>
                                </m:sup>
                              </m:sSup>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smtClean="0">
                                  <a:latin typeface="Cambria Math" panose="02040503050406030204" pitchFamily="18" charset="0"/>
                                  <a:cs typeface="Times New Roman" panose="02020603050405020304" pitchFamily="18" charset="0"/>
                                </a:rPr>
                              </m:ctrlPr>
                            </m:fPr>
                            <m:num>
                              <m:r>
                                <a:rPr lang="es-BO" b="1" i="1" smtClean="0">
                                  <a:latin typeface="Cambria Math" panose="02040503050406030204" pitchFamily="18" charset="0"/>
                                  <a:cs typeface="Times New Roman" panose="02020603050405020304" pitchFamily="18" charset="0"/>
                                </a:rPr>
                                <m:t>𝟏</m:t>
                              </m:r>
                            </m:num>
                            <m:den>
                              <m:r>
                                <a:rPr lang="es-BO" b="1" i="1" smtClean="0">
                                  <a:latin typeface="Cambria Math" panose="02040503050406030204" pitchFamily="18" charset="0"/>
                                  <a:cs typeface="Times New Roman" panose="02020603050405020304" pitchFamily="18" charset="0"/>
                                </a:rPr>
                                <m:t>𝟏</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𝑮</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𝒛</m:t>
                              </m:r>
                              <m:r>
                                <a:rPr lang="es-BO" b="1" i="1" smtClean="0">
                                  <a:latin typeface="Cambria Math" panose="02040503050406030204" pitchFamily="18" charset="0"/>
                                  <a:cs typeface="Times New Roman" panose="02020603050405020304" pitchFamily="18" charset="0"/>
                                </a:rPr>
                                <m:t>)</m:t>
                              </m:r>
                            </m:den>
                          </m:f>
                        </m:e>
                      </m:func>
                    </m:oMath>
                  </m:oMathPara>
                </a14:m>
                <a:endParaRPr lang="en-US" dirty="0"/>
              </a:p>
            </p:txBody>
          </p:sp>
        </mc:Choice>
        <mc:Fallback xmlns="">
          <p:sp>
            <p:nvSpPr>
              <p:cNvPr id="4" name="Rectángulo 3"/>
              <p:cNvSpPr>
                <a:spLocks noRot="1" noChangeAspect="1" noMove="1" noResize="1" noEditPoints="1" noAdjustHandles="1" noChangeArrowheads="1" noChangeShapeType="1" noTextEdit="1"/>
              </p:cNvSpPr>
              <p:nvPr/>
            </p:nvSpPr>
            <p:spPr>
              <a:xfrm>
                <a:off x="4532114" y="1512844"/>
                <a:ext cx="3953005" cy="661912"/>
              </a:xfrm>
              <a:prstGeom prst="rect">
                <a:avLst/>
              </a:prstGeom>
              <a:blipFill>
                <a:blip r:embed="rId2"/>
                <a:stretch>
                  <a:fillRect/>
                </a:stretch>
              </a:blipFill>
            </p:spPr>
            <p:txBody>
              <a:bodyPr/>
              <a:lstStyle/>
              <a:p>
                <a:r>
                  <a:rPr lang="en-US">
                    <a:noFill/>
                  </a:rPr>
                  <a:t> </a:t>
                </a:r>
              </a:p>
            </p:txBody>
          </p:sp>
        </mc:Fallback>
      </mc:AlternateContent>
      <p:sp>
        <p:nvSpPr>
          <p:cNvPr id="6" name="Rectángulo 5"/>
          <p:cNvSpPr/>
          <p:nvPr/>
        </p:nvSpPr>
        <p:spPr>
          <a:xfrm>
            <a:off x="1066800" y="2571936"/>
            <a:ext cx="2146742" cy="369332"/>
          </a:xfrm>
          <a:prstGeom prst="rect">
            <a:avLst/>
          </a:prstGeom>
        </p:spPr>
        <p:txBody>
          <a:bodyPr wrap="none">
            <a:spAutoFit/>
          </a:bodyPr>
          <a:lstStyle/>
          <a:p>
            <a:r>
              <a:rPr lang="es-BO" dirty="0"/>
              <a:t>Entrada escalón: </a:t>
            </a:r>
            <a:endParaRPr lang="en-US" dirty="0"/>
          </a:p>
        </p:txBody>
      </p:sp>
      <mc:AlternateContent xmlns:mc="http://schemas.openxmlformats.org/markup-compatibility/2006" xmlns:a14="http://schemas.microsoft.com/office/drawing/2010/main">
        <mc:Choice Requires="a14">
          <p:sp>
            <p:nvSpPr>
              <p:cNvPr id="7" name="Rectángulo 6"/>
              <p:cNvSpPr/>
              <p:nvPr/>
            </p:nvSpPr>
            <p:spPr>
              <a:xfrm>
                <a:off x="3062996" y="2519299"/>
                <a:ext cx="1711109" cy="8440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BO" b="1" i="1" smtClean="0">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num>
                        <m:den>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den>
                      </m:f>
                      <m:r>
                        <a:rPr lang="es-BO" b="1" i="1" smtClean="0">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s-BO" b="1" dirty="0">
                  <a:ea typeface="Times New Roman" panose="02020603050405020304" pitchFamily="18" charset="0"/>
                  <a:cs typeface="Times New Roman" panose="02020603050405020304" pitchFamily="18" charset="0"/>
                </a:endParaRPr>
              </a:p>
              <a:p>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3062996" y="2519299"/>
                <a:ext cx="1711109" cy="8440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3289263" y="3315002"/>
                <a:ext cx="5227393" cy="8596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𝟏</m:t>
                              </m:r>
                              <m:r>
                                <a:rPr lang="es-BO" b="1"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BO" b="1" i="1">
                                      <a:latin typeface="Cambria Math" panose="02040503050406030204" pitchFamily="18" charset="0"/>
                                      <a:cs typeface="Times New Roman" panose="02020603050405020304" pitchFamily="18" charset="0"/>
                                    </a:rPr>
                                  </m:ctrlPr>
                                </m:sSupPr>
                                <m:e>
                                  <m:r>
                                    <a:rPr lang="es-BO" b="1" i="1">
                                      <a:latin typeface="Cambria Math" panose="02040503050406030204" pitchFamily="18" charset="0"/>
                                      <a:cs typeface="Times New Roman" panose="02020603050405020304" pitchFamily="18" charset="0"/>
                                    </a:rPr>
                                    <m:t>𝒛</m:t>
                                  </m:r>
                                </m:e>
                                <m:sup>
                                  <m:r>
                                    <a:rPr lang="es-BO" b="1" i="1">
                                      <a:latin typeface="Cambria Math" panose="02040503050406030204" pitchFamily="18" charset="0"/>
                                      <a:cs typeface="Times New Roman" panose="02020603050405020304" pitchFamily="18" charset="0"/>
                                    </a:rPr>
                                    <m:t>−</m:t>
                                  </m:r>
                                  <m:r>
                                    <a:rPr lang="es-BO" b="1" i="1">
                                      <a:latin typeface="Cambria Math" panose="02040503050406030204" pitchFamily="18" charset="0"/>
                                      <a:cs typeface="Times New Roman" panose="02020603050405020304" pitchFamily="18" charset="0"/>
                                    </a:rPr>
                                    <m:t>𝟏</m:t>
                                  </m:r>
                                </m:sup>
                              </m:sSup>
                            </m:e>
                          </m:d>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BO" b="1" i="1">
                                  <a:latin typeface="Cambria Math" panose="02040503050406030204" pitchFamily="18" charset="0"/>
                                  <a:cs typeface="Times New Roman" panose="02020603050405020304" pitchFamily="18" charset="0"/>
                                </a:rPr>
                                <m:t>𝟏</m:t>
                              </m:r>
                            </m:num>
                            <m:den>
                              <m:r>
                                <a:rPr lang="es-BO" b="1" i="1">
                                  <a:latin typeface="Cambria Math" panose="02040503050406030204" pitchFamily="18" charset="0"/>
                                  <a:cs typeface="Times New Roman" panose="02020603050405020304" pitchFamily="18" charset="0"/>
                                </a:rPr>
                                <m:t>𝟏</m:t>
                              </m:r>
                              <m:r>
                                <a:rPr lang="es-BO" b="1" i="1">
                                  <a:latin typeface="Cambria Math" panose="02040503050406030204" pitchFamily="18" charset="0"/>
                                  <a:cs typeface="Times New Roman" panose="020206030504050203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den>
                          </m:f>
                        </m:e>
                      </m:func>
                    </m:oMath>
                  </m:oMathPara>
                </a14:m>
                <a:endParaRPr lang="en-US" dirty="0"/>
              </a:p>
            </p:txBody>
          </p:sp>
        </mc:Choice>
        <mc:Fallback xmlns="">
          <p:sp>
            <p:nvSpPr>
              <p:cNvPr id="8" name="Rectángulo 7"/>
              <p:cNvSpPr>
                <a:spLocks noRot="1" noChangeAspect="1" noMove="1" noResize="1" noEditPoints="1" noAdjustHandles="1" noChangeArrowheads="1" noChangeShapeType="1" noTextEdit="1"/>
              </p:cNvSpPr>
              <p:nvPr/>
            </p:nvSpPr>
            <p:spPr>
              <a:xfrm>
                <a:off x="3289263" y="3315002"/>
                <a:ext cx="5227393" cy="8596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3062996" y="4278786"/>
                <a:ext cx="6136808" cy="7273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s-BO" b="1" i="1">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a:latin typeface="Cambria Math" panose="02040503050406030204" pitchFamily="18" charset="0"/>
                                      <a:ea typeface="Times New Roman" panose="02020603050405020304" pitchFamily="18" charset="0"/>
                                      <a:cs typeface="Times New Roman" panose="02020603050405020304" pitchFamily="18" charset="0"/>
                                    </a:rPr>
                                    <m:t>𝒛</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num>
                                <m:den>
                                  <m:r>
                                    <a:rPr lang="es-BO" b="1" i="1">
                                      <a:latin typeface="Cambria Math" panose="02040503050406030204" pitchFamily="18" charset="0"/>
                                      <a:ea typeface="Times New Roman" panose="02020603050405020304" pitchFamily="18" charset="0"/>
                                      <a:cs typeface="Times New Roman" panose="02020603050405020304" pitchFamily="18" charset="0"/>
                                    </a:rPr>
                                    <m:t>𝒛</m:t>
                                  </m:r>
                                </m:den>
                              </m:f>
                            </m:e>
                          </m:d>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a:latin typeface="Cambria Math" panose="02040503050406030204" pitchFamily="18" charset="0"/>
                                  <a:ea typeface="Times New Roman" panose="02020603050405020304" pitchFamily="18" charset="0"/>
                                  <a:cs typeface="Times New Roman" panose="02020603050405020304" pitchFamily="18" charset="0"/>
                                </a:rPr>
                                <m:t>𝒛</m:t>
                              </m:r>
                            </m:num>
                            <m:den>
                              <m:r>
                                <a:rPr lang="es-BO" b="1" i="1">
                                  <a:latin typeface="Cambria Math" panose="02040503050406030204" pitchFamily="18" charset="0"/>
                                  <a:ea typeface="Times New Roman" panose="02020603050405020304" pitchFamily="18"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den>
                          </m:f>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r>
                                <a:rPr lang="es-BO" b="1" i="1">
                                  <a:latin typeface="Cambria Math" panose="02040503050406030204" pitchFamily="18" charset="0"/>
                                  <a:cs typeface="Times New Roman" panose="02020603050405020304" pitchFamily="18" charset="0"/>
                                </a:rPr>
                                <m:t>+</m:t>
                              </m:r>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den>
                          </m:f>
                        </m:e>
                      </m:func>
                    </m:oMath>
                  </m:oMathPara>
                </a14:m>
                <a:endParaRPr lang="en-US" dirty="0"/>
              </a:p>
            </p:txBody>
          </p:sp>
        </mc:Choice>
        <mc:Fallback xmlns="">
          <p:sp>
            <p:nvSpPr>
              <p:cNvPr id="9" name="Rectángulo 8"/>
              <p:cNvSpPr>
                <a:spLocks noRot="1" noChangeAspect="1" noMove="1" noResize="1" noEditPoints="1" noAdjustHandles="1" noChangeArrowheads="1" noChangeShapeType="1" noTextEdit="1"/>
              </p:cNvSpPr>
              <p:nvPr/>
            </p:nvSpPr>
            <p:spPr>
              <a:xfrm>
                <a:off x="3062996" y="4278786"/>
                <a:ext cx="6136808" cy="7273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5437589" y="2482722"/>
                <a:ext cx="2556341"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oMath>
                  </m:oMathPara>
                </a14:m>
                <a:endParaRPr lang="en-US" dirty="0"/>
              </a:p>
            </p:txBody>
          </p:sp>
        </mc:Choice>
        <mc:Fallback xmlns="">
          <p:sp>
            <p:nvSpPr>
              <p:cNvPr id="10" name="Rectángulo 9"/>
              <p:cNvSpPr>
                <a:spLocks noRot="1" noChangeAspect="1" noMove="1" noResize="1" noEditPoints="1" noAdjustHandles="1" noChangeArrowheads="1" noChangeShapeType="1" noTextEdit="1"/>
              </p:cNvSpPr>
              <p:nvPr/>
            </p:nvSpPr>
            <p:spPr>
              <a:xfrm>
                <a:off x="5437589" y="2482722"/>
                <a:ext cx="2556341"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2910596" y="5023770"/>
                <a:ext cx="3956404" cy="655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f>
                            <m:fPr>
                              <m:ctrlPr>
                                <a:rPr lang="es-BO" b="1" i="1">
                                  <a:latin typeface="Cambria Math" panose="02040503050406030204" pitchFamily="18" charset="0"/>
                                  <a:cs typeface="Times New Roman" panose="02020603050405020304" pitchFamily="18" charset="0"/>
                                </a:rPr>
                              </m:ctrlPr>
                            </m:fPr>
                            <m:num>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BO" b="1" i="1" smtClean="0">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e>
                      </m:func>
                    </m:oMath>
                  </m:oMathPara>
                </a14:m>
                <a:endParaRPr lang="en-US" dirty="0"/>
              </a:p>
            </p:txBody>
          </p:sp>
        </mc:Choice>
        <mc:Fallback xmlns="">
          <p:sp>
            <p:nvSpPr>
              <p:cNvPr id="11" name="Rectángulo 10"/>
              <p:cNvSpPr>
                <a:spLocks noRot="1" noChangeAspect="1" noMove="1" noResize="1" noEditPoints="1" noAdjustHandles="1" noChangeArrowheads="1" noChangeShapeType="1" noTextEdit="1"/>
              </p:cNvSpPr>
              <p:nvPr/>
            </p:nvSpPr>
            <p:spPr>
              <a:xfrm>
                <a:off x="2910596" y="5023770"/>
                <a:ext cx="3956404" cy="65517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2910596" y="5694962"/>
                <a:ext cx="3311996" cy="655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BO" b="1" i="1" smtClean="0">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BO" b="1" i="1">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oMath>
                  </m:oMathPara>
                </a14:m>
                <a:endParaRPr lang="en-US" dirty="0"/>
              </a:p>
            </p:txBody>
          </p:sp>
        </mc:Choice>
        <mc:Fallback xmlns="">
          <p:sp>
            <p:nvSpPr>
              <p:cNvPr id="13" name="Rectángulo 12"/>
              <p:cNvSpPr>
                <a:spLocks noRot="1" noChangeAspect="1" noMove="1" noResize="1" noEditPoints="1" noAdjustHandles="1" noChangeArrowheads="1" noChangeShapeType="1" noTextEdit="1"/>
              </p:cNvSpPr>
              <p:nvPr/>
            </p:nvSpPr>
            <p:spPr>
              <a:xfrm>
                <a:off x="2910596" y="5694962"/>
                <a:ext cx="3311996" cy="65517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7679481" y="5900775"/>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𝟎</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𝟗𝟗𝟑𝟒</m:t>
                      </m:r>
                    </m:oMath>
                  </m:oMathPara>
                </a14:m>
                <a:endParaRPr lang="en-US" dirty="0"/>
              </a:p>
            </p:txBody>
          </p:sp>
        </mc:Choice>
        <mc:Fallback xmlns="">
          <p:sp>
            <p:nvSpPr>
              <p:cNvPr id="14" name="Rectángulo 13"/>
              <p:cNvSpPr>
                <a:spLocks noRot="1" noChangeAspect="1" noMove="1" noResize="1" noEditPoints="1" noAdjustHandles="1" noChangeArrowheads="1" noChangeShapeType="1" noTextEdit="1"/>
              </p:cNvSpPr>
              <p:nvPr/>
            </p:nvSpPr>
            <p:spPr>
              <a:xfrm>
                <a:off x="7679481" y="5900775"/>
                <a:ext cx="1611275" cy="369332"/>
              </a:xfrm>
              <a:prstGeom prst="rect">
                <a:avLst/>
              </a:prstGeom>
              <a:blipFill>
                <a:blip r:embed="rId9"/>
                <a:stretch>
                  <a:fillRect/>
                </a:stretch>
              </a:blipFill>
            </p:spPr>
            <p:txBody>
              <a:bodyPr/>
              <a:lstStyle/>
              <a:p>
                <a:r>
                  <a:rPr lang="en-US">
                    <a:noFill/>
                  </a:rPr>
                  <a:t> </a:t>
                </a:r>
              </a:p>
            </p:txBody>
          </p:sp>
        </mc:Fallback>
      </mc:AlternateContent>
      <p:sp>
        <p:nvSpPr>
          <p:cNvPr id="5" name="Rectángulo: esquinas redondeadas 4">
            <a:extLst>
              <a:ext uri="{FF2B5EF4-FFF2-40B4-BE49-F238E27FC236}">
                <a16:creationId xmlns:a16="http://schemas.microsoft.com/office/drawing/2014/main" id="{A4424D86-3666-D841-2920-2543760C26B0}"/>
              </a:ext>
            </a:extLst>
          </p:cNvPr>
          <p:cNvSpPr/>
          <p:nvPr/>
        </p:nvSpPr>
        <p:spPr>
          <a:xfrm>
            <a:off x="7635939" y="5871747"/>
            <a:ext cx="1783833" cy="449366"/>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BO"/>
          </a:p>
        </p:txBody>
      </p:sp>
      <mc:AlternateContent xmlns:mc="http://schemas.openxmlformats.org/markup-compatibility/2006" xmlns:a14="http://schemas.microsoft.com/office/drawing/2010/main">
        <mc:Choice Requires="a14">
          <p:sp>
            <p:nvSpPr>
              <p:cNvPr id="12" name="Rectángulo 11">
                <a:extLst>
                  <a:ext uri="{FF2B5EF4-FFF2-40B4-BE49-F238E27FC236}">
                    <a16:creationId xmlns:a16="http://schemas.microsoft.com/office/drawing/2014/main" id="{8632A3EC-9633-DA95-2B50-06C496AF66E4}"/>
                  </a:ext>
                </a:extLst>
              </p:cNvPr>
              <p:cNvSpPr/>
              <p:nvPr/>
            </p:nvSpPr>
            <p:spPr>
              <a:xfrm>
                <a:off x="9199804" y="556983"/>
                <a:ext cx="2650084" cy="654346"/>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r>
                          <a:rPr lang="es-BO" sz="2400" b="1" i="1" smtClean="0">
                            <a:latin typeface="Cambria Math" panose="02040503050406030204" pitchFamily="18" charset="0"/>
                          </a:rPr>
                          <m:t>𝟎</m:t>
                        </m:r>
                        <m:r>
                          <a:rPr lang="es-BO" sz="2400" b="1" i="1" smtClean="0">
                            <a:latin typeface="Cambria Math" panose="02040503050406030204" pitchFamily="18" charset="0"/>
                          </a:rPr>
                          <m:t>,</m:t>
                        </m:r>
                        <m:r>
                          <a:rPr lang="es-BO" sz="2400" b="1" i="1" smtClean="0">
                            <a:latin typeface="Cambria Math" panose="02040503050406030204" pitchFamily="18" charset="0"/>
                          </a:rPr>
                          <m:t>𝟗𝟎𝟒𝟖</m:t>
                        </m:r>
                      </m:den>
                    </m:f>
                  </m:oMath>
                </a14:m>
                <a:r>
                  <a:rPr lang="es-BO" sz="2000" b="1" dirty="0"/>
                  <a:t> </a:t>
                </a:r>
                <a:endParaRPr lang="en-US" sz="2000" dirty="0"/>
              </a:p>
            </p:txBody>
          </p:sp>
        </mc:Choice>
        <mc:Fallback xmlns="">
          <p:sp>
            <p:nvSpPr>
              <p:cNvPr id="12" name="Rectángulo 11">
                <a:extLst>
                  <a:ext uri="{FF2B5EF4-FFF2-40B4-BE49-F238E27FC236}">
                    <a16:creationId xmlns:a16="http://schemas.microsoft.com/office/drawing/2014/main" id="{8632A3EC-9633-DA95-2B50-06C496AF66E4}"/>
                  </a:ext>
                </a:extLst>
              </p:cNvPr>
              <p:cNvSpPr>
                <a:spLocks noRot="1" noChangeAspect="1" noMove="1" noResize="1" noEditPoints="1" noAdjustHandles="1" noChangeArrowheads="1" noChangeShapeType="1" noTextEdit="1"/>
              </p:cNvSpPr>
              <p:nvPr/>
            </p:nvSpPr>
            <p:spPr>
              <a:xfrm>
                <a:off x="9199804" y="556983"/>
                <a:ext cx="2650084" cy="654346"/>
              </a:xfrm>
              <a:prstGeom prst="rect">
                <a:avLst/>
              </a:prstGeom>
              <a:blipFill>
                <a:blip r:embed="rId10"/>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Globo: flecha hacia arriba 14">
                <a:extLst>
                  <a:ext uri="{FF2B5EF4-FFF2-40B4-BE49-F238E27FC236}">
                    <a16:creationId xmlns:a16="http://schemas.microsoft.com/office/drawing/2014/main" id="{4C5A3B75-C4BD-72D9-A6BD-8370B7C2FB57}"/>
                  </a:ext>
                </a:extLst>
              </p:cNvPr>
              <p:cNvSpPr/>
              <p:nvPr/>
            </p:nvSpPr>
            <p:spPr>
              <a:xfrm>
                <a:off x="8971363" y="1267582"/>
                <a:ext cx="3106965" cy="2699156"/>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BO" dirty="0"/>
                  <a:t>El sistema es estable, debido que  se encuentra dentro del circulo de radio unidad, según </a:t>
                </a:r>
              </a:p>
              <a:p>
                <a:pPr algn="ctr"/>
                <a14:m>
                  <m:oMathPara xmlns:m="http://schemas.openxmlformats.org/officeDocument/2006/math">
                    <m:oMathParaPr>
                      <m:jc m:val="centerGroup"/>
                    </m:oMathParaPr>
                    <m:oMath xmlns:m="http://schemas.openxmlformats.org/officeDocument/2006/math">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BO" b="1" i="1" smtClean="0">
                              <a:latin typeface="Cambria Math" panose="02040503050406030204" pitchFamily="18" charset="0"/>
                            </a:rPr>
                            <m:t>𝒔𝑻</m:t>
                          </m:r>
                        </m:sup>
                      </m:sSup>
                      <m:r>
                        <a:rPr lang="es-BO" b="1" i="1" smtClean="0">
                          <a:latin typeface="Cambria Math" panose="02040503050406030204" pitchFamily="18" charset="0"/>
                        </a:rPr>
                        <m:t>=</m:t>
                      </m:r>
                      <m:r>
                        <a:rPr lang="es-BO" b="1" i="1" smtClean="0">
                          <a:latin typeface="Cambria Math" panose="02040503050406030204" pitchFamily="18" charset="0"/>
                        </a:rPr>
                        <m:t>𝒁</m:t>
                      </m:r>
                    </m:oMath>
                  </m:oMathPara>
                </a14:m>
                <a:endParaRPr lang="es-BO" dirty="0"/>
              </a:p>
              <a:p>
                <a:pPr algn="ctr"/>
                <a:endParaRPr lang="es-BO" dirty="0"/>
              </a:p>
            </p:txBody>
          </p:sp>
        </mc:Choice>
        <mc:Fallback xmlns="">
          <p:sp>
            <p:nvSpPr>
              <p:cNvPr id="15" name="Globo: flecha hacia arriba 14">
                <a:extLst>
                  <a:ext uri="{FF2B5EF4-FFF2-40B4-BE49-F238E27FC236}">
                    <a16:creationId xmlns:a16="http://schemas.microsoft.com/office/drawing/2014/main" id="{4C5A3B75-C4BD-72D9-A6BD-8370B7C2FB57}"/>
                  </a:ext>
                </a:extLst>
              </p:cNvPr>
              <p:cNvSpPr>
                <a:spLocks noRot="1" noChangeAspect="1" noMove="1" noResize="1" noEditPoints="1" noAdjustHandles="1" noChangeArrowheads="1" noChangeShapeType="1" noTextEdit="1"/>
              </p:cNvSpPr>
              <p:nvPr/>
            </p:nvSpPr>
            <p:spPr>
              <a:xfrm>
                <a:off x="8971363" y="1267582"/>
                <a:ext cx="3106965" cy="2699156"/>
              </a:xfrm>
              <a:prstGeom prst="upArrowCallout">
                <a:avLst/>
              </a:prstGeom>
              <a:blipFill>
                <a:blip r:embed="rId11"/>
                <a:stretch>
                  <a:fillRect l="-1563" r="-2539"/>
                </a:stretch>
              </a:blipFill>
            </p:spPr>
            <p:txBody>
              <a:bodyPr/>
              <a:lstStyle/>
              <a:p>
                <a:r>
                  <a:rPr lang="es-BO">
                    <a:noFill/>
                  </a:rPr>
                  <a:t> </a:t>
                </a:r>
              </a:p>
            </p:txBody>
          </p:sp>
        </mc:Fallback>
      </mc:AlternateContent>
      <p:sp>
        <p:nvSpPr>
          <p:cNvPr id="16" name="Rectángulo: esquinas redondeadas 15">
            <a:extLst>
              <a:ext uri="{FF2B5EF4-FFF2-40B4-BE49-F238E27FC236}">
                <a16:creationId xmlns:a16="http://schemas.microsoft.com/office/drawing/2014/main" id="{6BA169CD-B811-D02E-88FF-C9405AA1F6D9}"/>
              </a:ext>
            </a:extLst>
          </p:cNvPr>
          <p:cNvSpPr/>
          <p:nvPr/>
        </p:nvSpPr>
        <p:spPr>
          <a:xfrm>
            <a:off x="9266094" y="558881"/>
            <a:ext cx="2583794" cy="681476"/>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BO"/>
          </a:p>
        </p:txBody>
      </p:sp>
    </p:spTree>
    <p:extLst>
      <p:ext uri="{BB962C8B-B14F-4D97-AF65-F5344CB8AC3E}">
        <p14:creationId xmlns:p14="http://schemas.microsoft.com/office/powerpoint/2010/main" val="28229588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045F0270-931E-FD94-71C7-2AB82FBFAB8A}"/>
              </a:ext>
            </a:extLst>
          </p:cNvPr>
          <p:cNvSpPr>
            <a:spLocks noGrp="1"/>
          </p:cNvSpPr>
          <p:nvPr>
            <p:ph type="title"/>
          </p:nvPr>
        </p:nvSpPr>
        <p:spPr/>
        <p:txBody>
          <a:bodyPr>
            <a:normAutofit/>
          </a:bodyPr>
          <a:lstStyle/>
          <a:p>
            <a:pPr algn="ctr"/>
            <a:r>
              <a:rPr lang="es-BO" sz="4800" b="1" dirty="0"/>
              <a:t>ANALISIS EXPERIMENTAL</a:t>
            </a:r>
          </a:p>
        </p:txBody>
      </p:sp>
    </p:spTree>
    <p:extLst>
      <p:ext uri="{BB962C8B-B14F-4D97-AF65-F5344CB8AC3E}">
        <p14:creationId xmlns:p14="http://schemas.microsoft.com/office/powerpoint/2010/main" val="391274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D07A47D-C258-B0DE-5AEB-B7F6EB2E9EE9}"/>
              </a:ext>
            </a:extLst>
          </p:cNvPr>
          <p:cNvSpPr>
            <a:spLocks noGrp="1"/>
          </p:cNvSpPr>
          <p:nvPr>
            <p:ph idx="1"/>
          </p:nvPr>
        </p:nvSpPr>
        <p:spPr>
          <a:xfrm>
            <a:off x="2838450" y="1676400"/>
            <a:ext cx="9105900" cy="4234822"/>
          </a:xfrm>
        </p:spPr>
        <p:txBody>
          <a:bodyPr>
            <a:normAutofit/>
          </a:bodyPr>
          <a:lstStyle/>
          <a:p>
            <a:pPr marL="0" indent="0">
              <a:buNone/>
            </a:pPr>
            <a:endParaRPr lang="es-ES" sz="2400" dirty="0"/>
          </a:p>
          <a:p>
            <a:pPr marL="0" indent="0">
              <a:buNone/>
            </a:pPr>
            <a:r>
              <a:rPr lang="es-ES" sz="2800" dirty="0"/>
              <a:t>Para la implementación de datos, se realizo la medición de nivel de flujo en el tiempo para un caudal de entrada constante (el mismo caudal que utilizamos para obtener la función de transferencia teórica).</a:t>
            </a:r>
          </a:p>
          <a:p>
            <a:pPr marL="0" indent="0">
              <a:buNone/>
            </a:pPr>
            <a:r>
              <a:rPr lang="es-ES" sz="2800" dirty="0"/>
              <a:t>La medición de nivel de liquido se realizo cada 10 segundos para obtener resultados óptimos. </a:t>
            </a:r>
            <a:endParaRPr lang="es-BO" sz="2800" dirty="0"/>
          </a:p>
        </p:txBody>
      </p:sp>
      <p:sp>
        <p:nvSpPr>
          <p:cNvPr id="7" name="CuadroTexto 6">
            <a:extLst>
              <a:ext uri="{FF2B5EF4-FFF2-40B4-BE49-F238E27FC236}">
                <a16:creationId xmlns:a16="http://schemas.microsoft.com/office/drawing/2014/main" id="{32BC8160-0C20-6DA3-1D28-5AC52579A7CA}"/>
              </a:ext>
            </a:extLst>
          </p:cNvPr>
          <p:cNvSpPr txBox="1"/>
          <p:nvPr/>
        </p:nvSpPr>
        <p:spPr>
          <a:xfrm>
            <a:off x="2838450" y="666862"/>
            <a:ext cx="8972550" cy="646331"/>
          </a:xfrm>
          <a:prstGeom prst="rect">
            <a:avLst/>
          </a:prstGeom>
          <a:noFill/>
        </p:spPr>
        <p:txBody>
          <a:bodyPr wrap="square">
            <a:spAutoFit/>
          </a:bodyPr>
          <a:lstStyle/>
          <a:p>
            <a:r>
              <a:rPr lang="es-ES" sz="3600" b="1" dirty="0">
                <a:solidFill>
                  <a:srgbClr val="0070C0"/>
                </a:solidFill>
              </a:rPr>
              <a:t>Función de transferencia experimental</a:t>
            </a:r>
          </a:p>
        </p:txBody>
      </p:sp>
    </p:spTree>
    <p:extLst>
      <p:ext uri="{BB962C8B-B14F-4D97-AF65-F5344CB8AC3E}">
        <p14:creationId xmlns:p14="http://schemas.microsoft.com/office/powerpoint/2010/main" val="25814589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a:extLst>
                  <a:ext uri="{FF2B5EF4-FFF2-40B4-BE49-F238E27FC236}">
                    <a16:creationId xmlns:a16="http://schemas.microsoft.com/office/drawing/2014/main" id="{A17FFA4C-DCC9-6D67-04EF-DF6230491EF9}"/>
                  </a:ext>
                </a:extLst>
              </p:cNvPr>
              <p:cNvSpPr>
                <a:spLocks noGrp="1"/>
              </p:cNvSpPr>
              <p:nvPr>
                <p:ph idx="1"/>
              </p:nvPr>
            </p:nvSpPr>
            <p:spPr>
              <a:xfrm>
                <a:off x="2589212" y="2133600"/>
                <a:ext cx="9107488" cy="3777622"/>
              </a:xfrm>
            </p:spPr>
            <p:txBody>
              <a:bodyPr>
                <a:normAutofit/>
              </a:bodyPr>
              <a:lstStyle/>
              <a:p>
                <a:pPr marL="0" indent="0">
                  <a:buNone/>
                </a:pPr>
                <a:r>
                  <a:rPr lang="es-ES" sz="2400" dirty="0"/>
                  <a:t>Entonces con los siguientes datos:</a:t>
                </a:r>
              </a:p>
              <a:p>
                <a:r>
                  <a:rPr lang="es-BO" sz="2400" dirty="0"/>
                  <a:t>Caudal de entrada:    </a:t>
                </a:r>
                <a14:m>
                  <m:oMath xmlns:m="http://schemas.openxmlformats.org/officeDocument/2006/math">
                    <m:sSub>
                      <m:sSubPr>
                        <m:ctrlPr>
                          <a:rPr lang="es-ES" sz="2800" b="0" i="1" smtClean="0">
                            <a:latin typeface="Cambria Math" panose="02040503050406030204" pitchFamily="18" charset="0"/>
                          </a:rPr>
                        </m:ctrlPr>
                      </m:sSubPr>
                      <m:e>
                        <m:r>
                          <a:rPr lang="es-BO" sz="2800" b="0" i="1" smtClean="0">
                            <a:latin typeface="Cambria Math" panose="02040503050406030204" pitchFamily="18" charset="0"/>
                          </a:rPr>
                          <m:t>𝑄</m:t>
                        </m:r>
                      </m:e>
                      <m:sub>
                        <m:r>
                          <a:rPr lang="es-BO" sz="2800" b="0" i="1" smtClean="0">
                            <a:latin typeface="Cambria Math" panose="02040503050406030204" pitchFamily="18" charset="0"/>
                          </a:rPr>
                          <m:t>𝑒</m:t>
                        </m:r>
                      </m:sub>
                    </m:sSub>
                    <m:r>
                      <a:rPr lang="es-BO" sz="2800" b="0" i="1" smtClean="0">
                        <a:latin typeface="Cambria Math" panose="02040503050406030204" pitchFamily="18" charset="0"/>
                      </a:rPr>
                      <m:t>=261</m:t>
                    </m:r>
                    <m:d>
                      <m:dPr>
                        <m:begChr m:val="["/>
                        <m:endChr m:val="]"/>
                        <m:ctrlPr>
                          <a:rPr lang="es-BO" sz="2800" b="0" i="1" smtClean="0">
                            <a:latin typeface="Cambria Math" panose="02040503050406030204" pitchFamily="18" charset="0"/>
                          </a:rPr>
                        </m:ctrlPr>
                      </m:dPr>
                      <m:e>
                        <m:f>
                          <m:fPr>
                            <m:ctrlPr>
                              <a:rPr lang="es-ES" sz="2800" b="0" i="1" smtClean="0">
                                <a:latin typeface="Cambria Math" panose="02040503050406030204" pitchFamily="18" charset="0"/>
                              </a:rPr>
                            </m:ctrlPr>
                          </m:fPr>
                          <m:num>
                            <m:sSup>
                              <m:sSupPr>
                                <m:ctrlPr>
                                  <a:rPr lang="es-ES" sz="2800" i="1" smtClean="0">
                                    <a:latin typeface="Cambria Math" panose="02040503050406030204" pitchFamily="18" charset="0"/>
                                  </a:rPr>
                                </m:ctrlPr>
                              </m:sSupPr>
                              <m:e>
                                <m:r>
                                  <a:rPr lang="es-ES" sz="2800" b="0" i="1" smtClean="0">
                                    <a:latin typeface="Cambria Math" panose="02040503050406030204" pitchFamily="18" charset="0"/>
                                  </a:rPr>
                                  <m:t>𝑐𝑚</m:t>
                                </m:r>
                              </m:e>
                              <m:sup>
                                <m:r>
                                  <a:rPr lang="es-ES" sz="2800" b="0" i="1" smtClean="0">
                                    <a:latin typeface="Cambria Math" panose="02040503050406030204" pitchFamily="18" charset="0"/>
                                  </a:rPr>
                                  <m:t>3</m:t>
                                </m:r>
                              </m:sup>
                            </m:sSup>
                          </m:num>
                          <m:den>
                            <m:r>
                              <a:rPr lang="es-ES" sz="2800" b="0" i="1" smtClean="0">
                                <a:latin typeface="Cambria Math" panose="02040503050406030204" pitchFamily="18" charset="0"/>
                              </a:rPr>
                              <m:t>𝑠</m:t>
                            </m:r>
                          </m:den>
                        </m:f>
                      </m:e>
                    </m:d>
                  </m:oMath>
                </a14:m>
                <a:endParaRPr lang="es-BO" sz="2400" dirty="0"/>
              </a:p>
              <a:p>
                <a:r>
                  <a:rPr lang="es-BO" sz="2400" dirty="0"/>
                  <a:t>Tiempo de medición: </a:t>
                </a:r>
                <a14:m>
                  <m:oMath xmlns:m="http://schemas.openxmlformats.org/officeDocument/2006/math">
                    <m:r>
                      <a:rPr lang="es-BO" sz="2800" b="0" i="1" smtClean="0">
                        <a:latin typeface="Cambria Math" panose="02040503050406030204" pitchFamily="18" charset="0"/>
                      </a:rPr>
                      <m:t>𝑡</m:t>
                    </m:r>
                    <m:r>
                      <a:rPr lang="es-BO" sz="2800" b="0" i="1" smtClean="0">
                        <a:latin typeface="Cambria Math" panose="02040503050406030204" pitchFamily="18" charset="0"/>
                      </a:rPr>
                      <m:t>=10 </m:t>
                    </m:r>
                    <m:r>
                      <a:rPr lang="es-BO" sz="2800" b="0" i="1" smtClean="0">
                        <a:latin typeface="Cambria Math" panose="02040503050406030204" pitchFamily="18" charset="0"/>
                      </a:rPr>
                      <m:t>𝑠</m:t>
                    </m:r>
                  </m:oMath>
                </a14:m>
                <a:endParaRPr lang="es-BO" sz="2800" dirty="0"/>
              </a:p>
              <a:p>
                <a:pPr marL="0" indent="0">
                  <a:buNone/>
                </a:pPr>
                <a:r>
                  <a:rPr lang="es-BO" sz="2400" dirty="0"/>
                  <a:t>Con ello, empezamos a tomar nota de los datos en una tabla Excel.</a:t>
                </a:r>
              </a:p>
              <a:p>
                <a:pPr marL="0" indent="0">
                  <a:buNone/>
                </a:pPr>
                <a:r>
                  <a:rPr lang="es-BO" sz="2400" dirty="0"/>
                  <a:t>Se hizo la acumulación de 256 muestras en aproximadamente 43 min.</a:t>
                </a:r>
              </a:p>
              <a:p>
                <a:pPr marL="0" indent="0">
                  <a:buNone/>
                </a:pPr>
                <a:endParaRPr lang="es-BO" dirty="0"/>
              </a:p>
            </p:txBody>
          </p:sp>
        </mc:Choice>
        <mc:Fallback xmlns="">
          <p:sp>
            <p:nvSpPr>
              <p:cNvPr id="3" name="Marcador de contenido 2">
                <a:extLst>
                  <a:ext uri="{FF2B5EF4-FFF2-40B4-BE49-F238E27FC236}">
                    <a16:creationId xmlns:a16="http://schemas.microsoft.com/office/drawing/2014/main" id="{A17FFA4C-DCC9-6D67-04EF-DF6230491EF9}"/>
                  </a:ext>
                </a:extLst>
              </p:cNvPr>
              <p:cNvSpPr>
                <a:spLocks noGrp="1" noRot="1" noChangeAspect="1" noMove="1" noResize="1" noEditPoints="1" noAdjustHandles="1" noChangeArrowheads="1" noChangeShapeType="1" noTextEdit="1"/>
              </p:cNvSpPr>
              <p:nvPr>
                <p:ph idx="1"/>
              </p:nvPr>
            </p:nvSpPr>
            <p:spPr>
              <a:xfrm>
                <a:off x="2589212" y="2133600"/>
                <a:ext cx="9107488" cy="3777622"/>
              </a:xfrm>
              <a:blipFill>
                <a:blip r:embed="rId2"/>
                <a:stretch>
                  <a:fillRect l="-1071" t="-1290"/>
                </a:stretch>
              </a:blipFill>
            </p:spPr>
            <p:txBody>
              <a:bodyPr/>
              <a:lstStyle/>
              <a:p>
                <a:r>
                  <a:rPr lang="es-BO">
                    <a:noFill/>
                  </a:rPr>
                  <a:t> </a:t>
                </a:r>
              </a:p>
            </p:txBody>
          </p:sp>
        </mc:Fallback>
      </mc:AlternateContent>
      <p:sp>
        <p:nvSpPr>
          <p:cNvPr id="4" name="CuadroTexto 3">
            <a:extLst>
              <a:ext uri="{FF2B5EF4-FFF2-40B4-BE49-F238E27FC236}">
                <a16:creationId xmlns:a16="http://schemas.microsoft.com/office/drawing/2014/main" id="{707B6F7D-789B-F0B5-CB3C-1360BFB520E3}"/>
              </a:ext>
            </a:extLst>
          </p:cNvPr>
          <p:cNvSpPr txBox="1"/>
          <p:nvPr/>
        </p:nvSpPr>
        <p:spPr>
          <a:xfrm>
            <a:off x="2589212" y="724012"/>
            <a:ext cx="9107488" cy="646331"/>
          </a:xfrm>
          <a:prstGeom prst="rect">
            <a:avLst/>
          </a:prstGeom>
          <a:noFill/>
        </p:spPr>
        <p:txBody>
          <a:bodyPr wrap="square">
            <a:spAutoFit/>
          </a:bodyPr>
          <a:lstStyle/>
          <a:p>
            <a:r>
              <a:rPr lang="es-ES" sz="3600" b="1" dirty="0">
                <a:solidFill>
                  <a:srgbClr val="0070C0"/>
                </a:solidFill>
              </a:rPr>
              <a:t>Función de transferencia experimental</a:t>
            </a:r>
          </a:p>
        </p:txBody>
      </p:sp>
    </p:spTree>
    <p:extLst>
      <p:ext uri="{BB962C8B-B14F-4D97-AF65-F5344CB8AC3E}">
        <p14:creationId xmlns:p14="http://schemas.microsoft.com/office/powerpoint/2010/main" val="334476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2D5D3E2D-02FF-E336-C5B8-615124762044}"/>
              </a:ext>
            </a:extLst>
          </p:cNvPr>
          <p:cNvPicPr>
            <a:picLocks noGrp="1" noChangeAspect="1"/>
          </p:cNvPicPr>
          <p:nvPr>
            <p:ph idx="1"/>
          </p:nvPr>
        </p:nvPicPr>
        <p:blipFill>
          <a:blip r:embed="rId2"/>
          <a:stretch>
            <a:fillRect/>
          </a:stretch>
        </p:blipFill>
        <p:spPr>
          <a:xfrm>
            <a:off x="2224012" y="1291411"/>
            <a:ext cx="1757437" cy="5536340"/>
          </a:xfrm>
        </p:spPr>
      </p:pic>
      <p:graphicFrame>
        <p:nvGraphicFramePr>
          <p:cNvPr id="6" name="Gráfico 5">
            <a:extLst>
              <a:ext uri="{FF2B5EF4-FFF2-40B4-BE49-F238E27FC236}">
                <a16:creationId xmlns:a16="http://schemas.microsoft.com/office/drawing/2014/main" id="{111F4479-F987-4338-93B6-DB4D87BF1BA3}"/>
              </a:ext>
            </a:extLst>
          </p:cNvPr>
          <p:cNvGraphicFramePr>
            <a:graphicFrameLocks/>
          </p:cNvGraphicFramePr>
          <p:nvPr>
            <p:extLst>
              <p:ext uri="{D42A27DB-BD31-4B8C-83A1-F6EECF244321}">
                <p14:modId xmlns:p14="http://schemas.microsoft.com/office/powerpoint/2010/main" val="119853262"/>
              </p:ext>
            </p:extLst>
          </p:nvPr>
        </p:nvGraphicFramePr>
        <p:xfrm>
          <a:off x="4424288" y="1633538"/>
          <a:ext cx="7296150" cy="4538662"/>
        </p:xfrm>
        <a:graphic>
          <a:graphicData uri="http://schemas.openxmlformats.org/drawingml/2006/chart">
            <c:chart xmlns:c="http://schemas.openxmlformats.org/drawingml/2006/chart" xmlns:r="http://schemas.openxmlformats.org/officeDocument/2006/relationships" r:id="rId3"/>
          </a:graphicData>
        </a:graphic>
      </p:graphicFrame>
      <p:sp>
        <p:nvSpPr>
          <p:cNvPr id="8" name="CuadroTexto 7">
            <a:extLst>
              <a:ext uri="{FF2B5EF4-FFF2-40B4-BE49-F238E27FC236}">
                <a16:creationId xmlns:a16="http://schemas.microsoft.com/office/drawing/2014/main" id="{7EA618FD-0F93-5B02-DBF2-45E7B8CBE86E}"/>
              </a:ext>
            </a:extLst>
          </p:cNvPr>
          <p:cNvSpPr txBox="1"/>
          <p:nvPr/>
        </p:nvSpPr>
        <p:spPr>
          <a:xfrm>
            <a:off x="1976362" y="829746"/>
            <a:ext cx="9744075" cy="461665"/>
          </a:xfrm>
          <a:prstGeom prst="rect">
            <a:avLst/>
          </a:prstGeom>
          <a:noFill/>
        </p:spPr>
        <p:txBody>
          <a:bodyPr wrap="square">
            <a:spAutoFit/>
          </a:bodyPr>
          <a:lstStyle/>
          <a:p>
            <a:pPr marL="0" indent="0">
              <a:buNone/>
            </a:pPr>
            <a:r>
              <a:rPr lang="es-BO" sz="2400" dirty="0"/>
              <a:t>El la tabla se muestra la respuesta temporal:</a:t>
            </a:r>
          </a:p>
        </p:txBody>
      </p:sp>
    </p:spTree>
    <p:extLst>
      <p:ext uri="{BB962C8B-B14F-4D97-AF65-F5344CB8AC3E}">
        <p14:creationId xmlns:p14="http://schemas.microsoft.com/office/powerpoint/2010/main" val="1373014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12F6C87-9864-90D0-E61E-58F05C28BF1F}"/>
              </a:ext>
            </a:extLst>
          </p:cNvPr>
          <p:cNvSpPr>
            <a:spLocks noGrp="1"/>
          </p:cNvSpPr>
          <p:nvPr>
            <p:ph idx="1"/>
          </p:nvPr>
        </p:nvSpPr>
        <p:spPr/>
        <p:txBody>
          <a:bodyPr/>
          <a:lstStyle/>
          <a:p>
            <a:r>
              <a:rPr lang="es-ES" dirty="0"/>
              <a:t>Con la tabla de datos y con la función “</a:t>
            </a:r>
            <a:r>
              <a:rPr lang="es-ES" dirty="0" err="1"/>
              <a:t>ident</a:t>
            </a:r>
            <a:r>
              <a:rPr lang="es-ES" dirty="0"/>
              <a:t>” en Matlab, es posible obtener la función de transferencia:</a:t>
            </a:r>
          </a:p>
          <a:p>
            <a:endParaRPr lang="es-ES" dirty="0"/>
          </a:p>
          <a:p>
            <a:endParaRPr lang="es-ES" dirty="0"/>
          </a:p>
          <a:p>
            <a:endParaRPr lang="es-ES" dirty="0"/>
          </a:p>
          <a:p>
            <a:endParaRPr lang="es-ES" dirty="0"/>
          </a:p>
          <a:p>
            <a:endParaRPr lang="es-ES" dirty="0"/>
          </a:p>
          <a:p>
            <a:endParaRPr lang="es-ES" dirty="0"/>
          </a:p>
          <a:p>
            <a:r>
              <a:rPr lang="es-ES" dirty="0"/>
              <a:t>Definiremos como entrada al caudal y como salida la altura.</a:t>
            </a:r>
          </a:p>
          <a:p>
            <a:pPr marL="0" indent="0">
              <a:buNone/>
            </a:pPr>
            <a:endParaRPr lang="es-BO" dirty="0"/>
          </a:p>
        </p:txBody>
      </p:sp>
      <p:pic>
        <p:nvPicPr>
          <p:cNvPr id="5" name="Imagen 4">
            <a:extLst>
              <a:ext uri="{FF2B5EF4-FFF2-40B4-BE49-F238E27FC236}">
                <a16:creationId xmlns:a16="http://schemas.microsoft.com/office/drawing/2014/main" id="{9914B305-6A68-D50E-FE83-D30291C05A9C}"/>
              </a:ext>
            </a:extLst>
          </p:cNvPr>
          <p:cNvPicPr>
            <a:picLocks noChangeAspect="1"/>
          </p:cNvPicPr>
          <p:nvPr/>
        </p:nvPicPr>
        <p:blipFill>
          <a:blip r:embed="rId2"/>
          <a:stretch>
            <a:fillRect/>
          </a:stretch>
        </p:blipFill>
        <p:spPr>
          <a:xfrm>
            <a:off x="3912993" y="3053886"/>
            <a:ext cx="6588709" cy="1560820"/>
          </a:xfrm>
          <a:prstGeom prst="rect">
            <a:avLst/>
          </a:prstGeom>
        </p:spPr>
      </p:pic>
    </p:spTree>
    <p:extLst>
      <p:ext uri="{BB962C8B-B14F-4D97-AF65-F5344CB8AC3E}">
        <p14:creationId xmlns:p14="http://schemas.microsoft.com/office/powerpoint/2010/main" val="25505697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718BC615-EFE9-0BA2-61F6-A00125693AF1}"/>
              </a:ext>
            </a:extLst>
          </p:cNvPr>
          <p:cNvPicPr>
            <a:picLocks noGrp="1" noChangeAspect="1"/>
          </p:cNvPicPr>
          <p:nvPr>
            <p:ph idx="1"/>
          </p:nvPr>
        </p:nvPicPr>
        <p:blipFill>
          <a:blip r:embed="rId2"/>
          <a:stretch>
            <a:fillRect/>
          </a:stretch>
        </p:blipFill>
        <p:spPr>
          <a:xfrm>
            <a:off x="1596427" y="1132063"/>
            <a:ext cx="2280037" cy="4351338"/>
          </a:xfrm>
        </p:spPr>
      </p:pic>
      <p:pic>
        <p:nvPicPr>
          <p:cNvPr id="7" name="Imagen 6">
            <a:extLst>
              <a:ext uri="{FF2B5EF4-FFF2-40B4-BE49-F238E27FC236}">
                <a16:creationId xmlns:a16="http://schemas.microsoft.com/office/drawing/2014/main" id="{08231F4C-C9E0-D008-6127-68962C2CBBA0}"/>
              </a:ext>
            </a:extLst>
          </p:cNvPr>
          <p:cNvPicPr>
            <a:picLocks noChangeAspect="1"/>
          </p:cNvPicPr>
          <p:nvPr/>
        </p:nvPicPr>
        <p:blipFill>
          <a:blip r:embed="rId3"/>
          <a:stretch>
            <a:fillRect/>
          </a:stretch>
        </p:blipFill>
        <p:spPr>
          <a:xfrm>
            <a:off x="3976281" y="1881168"/>
            <a:ext cx="4239438" cy="2582295"/>
          </a:xfrm>
          <a:prstGeom prst="rect">
            <a:avLst/>
          </a:prstGeom>
        </p:spPr>
      </p:pic>
      <p:pic>
        <p:nvPicPr>
          <p:cNvPr id="8" name="Marcador de contenido 4">
            <a:extLst>
              <a:ext uri="{FF2B5EF4-FFF2-40B4-BE49-F238E27FC236}">
                <a16:creationId xmlns:a16="http://schemas.microsoft.com/office/drawing/2014/main" id="{B2011E1F-52D5-5ED0-81CF-19C5A9445A95}"/>
              </a:ext>
            </a:extLst>
          </p:cNvPr>
          <p:cNvPicPr>
            <a:picLocks noChangeAspect="1"/>
          </p:cNvPicPr>
          <p:nvPr/>
        </p:nvPicPr>
        <p:blipFill>
          <a:blip r:embed="rId4"/>
          <a:stretch>
            <a:fillRect/>
          </a:stretch>
        </p:blipFill>
        <p:spPr>
          <a:xfrm>
            <a:off x="8215719" y="996646"/>
            <a:ext cx="3546544" cy="4351338"/>
          </a:xfrm>
          <a:prstGeom prst="rect">
            <a:avLst/>
          </a:prstGeom>
        </p:spPr>
      </p:pic>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9ADF3976-DD27-A8D4-B704-51DAF6DCC6A1}"/>
                  </a:ext>
                </a:extLst>
              </p:cNvPr>
              <p:cNvSpPr txBox="1"/>
              <p:nvPr/>
            </p:nvSpPr>
            <p:spPr>
              <a:xfrm>
                <a:off x="7426090" y="5694674"/>
                <a:ext cx="3851509" cy="989438"/>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BO" sz="2800" b="1" i="1" smtClean="0">
                              <a:latin typeface="Cambria Math" panose="02040503050406030204" pitchFamily="18" charset="0"/>
                            </a:rPr>
                          </m:ctrlPr>
                        </m:fPr>
                        <m:num>
                          <m:r>
                            <a:rPr lang="en-US" sz="2800" b="1" i="1" smtClean="0">
                              <a:latin typeface="Cambria Math" panose="02040503050406030204" pitchFamily="18" charset="0"/>
                            </a:rPr>
                            <m:t>𝑯</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num>
                        <m:den>
                          <m:r>
                            <a:rPr lang="en-US" sz="2800" b="1" i="1" smtClean="0">
                              <a:latin typeface="Cambria Math" panose="02040503050406030204" pitchFamily="18" charset="0"/>
                            </a:rPr>
                            <m:t>𝑸</m:t>
                          </m:r>
                          <m:r>
                            <a:rPr lang="en-US" sz="2800" b="1" i="1" smtClean="0">
                              <a:latin typeface="Cambria Math" panose="02040503050406030204" pitchFamily="18" charset="0"/>
                            </a:rPr>
                            <m:t>(</m:t>
                          </m:r>
                          <m:r>
                            <a:rPr lang="en-US" sz="2800" b="1" i="1" smtClean="0">
                              <a:latin typeface="Cambria Math" panose="02040503050406030204" pitchFamily="18" charset="0"/>
                            </a:rPr>
                            <m:t>𝒔</m:t>
                          </m:r>
                          <m:r>
                            <a:rPr lang="en-US" sz="2800" b="1" i="1" smtClean="0">
                              <a:latin typeface="Cambria Math" panose="02040503050406030204" pitchFamily="18" charset="0"/>
                            </a:rPr>
                            <m:t>)</m:t>
                          </m:r>
                        </m:den>
                      </m:f>
                      <m:r>
                        <a:rPr lang="en-US" sz="2800" b="1" i="1" smtClean="0">
                          <a:latin typeface="Cambria Math" panose="02040503050406030204" pitchFamily="18" charset="0"/>
                        </a:rPr>
                        <m:t>=</m:t>
                      </m:r>
                      <m:f>
                        <m:fPr>
                          <m:ctrlPr>
                            <a:rPr lang="en-US" sz="2800" b="1" i="1" smtClean="0">
                              <a:latin typeface="Cambria Math" panose="02040503050406030204" pitchFamily="18" charset="0"/>
                            </a:rPr>
                          </m:ctrlPr>
                        </m:fPr>
                        <m:num>
                          <m:r>
                            <a:rPr lang="en-US" sz="2800" b="1" i="1" smtClean="0">
                              <a:latin typeface="Cambria Math" panose="02040503050406030204" pitchFamily="18" charset="0"/>
                            </a:rPr>
                            <m:t>𝟎</m:t>
                          </m:r>
                          <m:r>
                            <a:rPr lang="en-US" sz="2800" b="1" i="1" smtClean="0">
                              <a:latin typeface="Cambria Math" panose="02040503050406030204" pitchFamily="18" charset="0"/>
                            </a:rPr>
                            <m:t>,</m:t>
                          </m:r>
                          <m:r>
                            <a:rPr lang="es-BO" sz="2800" b="1" i="1" smtClean="0">
                              <a:latin typeface="Cambria Math" panose="02040503050406030204" pitchFamily="18" charset="0"/>
                            </a:rPr>
                            <m:t>𝟎𝟗𝟓𝟔𝟗</m:t>
                          </m:r>
                        </m:num>
                        <m:den>
                          <m:r>
                            <a:rPr lang="es-BO" sz="2800" b="1" i="1" smtClean="0">
                              <a:latin typeface="Cambria Math" panose="02040503050406030204" pitchFamily="18" charset="0"/>
                            </a:rPr>
                            <m:t>𝟑𝟎𝟑</m:t>
                          </m:r>
                          <m:r>
                            <a:rPr lang="en-US" sz="2800" b="1" i="1" smtClean="0">
                              <a:latin typeface="Cambria Math" panose="02040503050406030204" pitchFamily="18" charset="0"/>
                            </a:rPr>
                            <m:t>𝒔</m:t>
                          </m:r>
                          <m:r>
                            <a:rPr lang="en-US" sz="2800" b="1" i="1" smtClean="0">
                              <a:latin typeface="Cambria Math" panose="02040503050406030204" pitchFamily="18" charset="0"/>
                            </a:rPr>
                            <m:t>+</m:t>
                          </m:r>
                          <m:r>
                            <a:rPr lang="en-US" sz="2800" b="1" i="1" smtClean="0">
                              <a:latin typeface="Cambria Math" panose="02040503050406030204" pitchFamily="18" charset="0"/>
                            </a:rPr>
                            <m:t>𝟏</m:t>
                          </m:r>
                        </m:den>
                      </m:f>
                    </m:oMath>
                  </m:oMathPara>
                </a14:m>
                <a:endParaRPr lang="es-BO" b="1" dirty="0"/>
              </a:p>
            </p:txBody>
          </p:sp>
        </mc:Choice>
        <mc:Fallback xmlns="">
          <p:sp>
            <p:nvSpPr>
              <p:cNvPr id="2" name="CuadroTexto 1">
                <a:extLst>
                  <a:ext uri="{FF2B5EF4-FFF2-40B4-BE49-F238E27FC236}">
                    <a16:creationId xmlns:a16="http://schemas.microsoft.com/office/drawing/2014/main" id="{9ADF3976-DD27-A8D4-B704-51DAF6DCC6A1}"/>
                  </a:ext>
                </a:extLst>
              </p:cNvPr>
              <p:cNvSpPr txBox="1">
                <a:spLocks noRot="1" noChangeAspect="1" noMove="1" noResize="1" noEditPoints="1" noAdjustHandles="1" noChangeArrowheads="1" noChangeShapeType="1" noTextEdit="1"/>
              </p:cNvSpPr>
              <p:nvPr/>
            </p:nvSpPr>
            <p:spPr>
              <a:xfrm>
                <a:off x="7426090" y="5694674"/>
                <a:ext cx="3851509" cy="989438"/>
              </a:xfrm>
              <a:prstGeom prst="rect">
                <a:avLst/>
              </a:prstGeom>
              <a:blipFill>
                <a:blip r:embed="rId5"/>
                <a:stretch>
                  <a:fillRect/>
                </a:stretch>
              </a:blipFill>
            </p:spPr>
            <p:txBody>
              <a:bodyPr/>
              <a:lstStyle/>
              <a:p>
                <a:r>
                  <a:rPr lang="es-BO">
                    <a:noFill/>
                  </a:rPr>
                  <a:t> </a:t>
                </a:r>
              </a:p>
            </p:txBody>
          </p:sp>
        </mc:Fallback>
      </mc:AlternateContent>
      <p:sp>
        <p:nvSpPr>
          <p:cNvPr id="3" name="Flecha: a la derecha 2">
            <a:extLst>
              <a:ext uri="{FF2B5EF4-FFF2-40B4-BE49-F238E27FC236}">
                <a16:creationId xmlns:a16="http://schemas.microsoft.com/office/drawing/2014/main" id="{6369FB90-6677-0BFD-8C64-DBCC8A0531E3}"/>
              </a:ext>
            </a:extLst>
          </p:cNvPr>
          <p:cNvSpPr/>
          <p:nvPr/>
        </p:nvSpPr>
        <p:spPr>
          <a:xfrm>
            <a:off x="5669280" y="5753686"/>
            <a:ext cx="1420837" cy="64711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BO"/>
          </a:p>
        </p:txBody>
      </p:sp>
      <p:sp>
        <p:nvSpPr>
          <p:cNvPr id="4" name="CuadroTexto 3">
            <a:extLst>
              <a:ext uri="{FF2B5EF4-FFF2-40B4-BE49-F238E27FC236}">
                <a16:creationId xmlns:a16="http://schemas.microsoft.com/office/drawing/2014/main" id="{4D29DB43-FC20-155E-4D14-73D396A15AE2}"/>
              </a:ext>
            </a:extLst>
          </p:cNvPr>
          <p:cNvSpPr txBox="1"/>
          <p:nvPr/>
        </p:nvSpPr>
        <p:spPr>
          <a:xfrm>
            <a:off x="1948367" y="5866228"/>
            <a:ext cx="3158205" cy="646331"/>
          </a:xfrm>
          <a:prstGeom prst="rect">
            <a:avLst/>
          </a:prstGeom>
          <a:noFill/>
        </p:spPr>
        <p:txBody>
          <a:bodyPr wrap="square" rtlCol="0">
            <a:spAutoFit/>
          </a:bodyPr>
          <a:lstStyle/>
          <a:p>
            <a:r>
              <a:rPr lang="es-BO" dirty="0"/>
              <a:t>Función de transferencia experimental</a:t>
            </a:r>
          </a:p>
        </p:txBody>
      </p:sp>
    </p:spTree>
    <p:extLst>
      <p:ext uri="{BB962C8B-B14F-4D97-AF65-F5344CB8AC3E}">
        <p14:creationId xmlns:p14="http://schemas.microsoft.com/office/powerpoint/2010/main" val="2253226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p:txBody>
          <a:bodyPr>
            <a:normAutofit fontScale="90000"/>
          </a:bodyPr>
          <a:lstStyle/>
          <a:p>
            <a:pPr algn="ctr"/>
            <a:r>
              <a:rPr lang="es-BO" sz="6000" b="1" dirty="0"/>
              <a:t>RESPUESTA TEMPORAL DEL SISTEMA (EXPERIMENTAL)</a:t>
            </a:r>
          </a:p>
        </p:txBody>
      </p:sp>
    </p:spTree>
    <p:extLst>
      <p:ext uri="{BB962C8B-B14F-4D97-AF65-F5344CB8AC3E}">
        <p14:creationId xmlns:p14="http://schemas.microsoft.com/office/powerpoint/2010/main" val="17726942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F0DF6B4-A6C8-9F0A-C1DD-F91AE37CE868}"/>
                  </a:ext>
                </a:extLst>
              </p:cNvPr>
              <p:cNvSpPr txBox="1"/>
              <p:nvPr/>
            </p:nvSpPr>
            <p:spPr>
              <a:xfrm>
                <a:off x="2743201" y="448875"/>
                <a:ext cx="8159262" cy="3489225"/>
              </a:xfrm>
              <a:prstGeom prst="rect">
                <a:avLst/>
              </a:prstGeom>
              <a:noFill/>
            </p:spPr>
            <p:txBody>
              <a:bodyPr wrap="square">
                <a:spAutoFit/>
              </a:bodyPr>
              <a:lstStyle/>
              <a:p>
                <a:pPr>
                  <a:lnSpc>
                    <a:spcPct val="106000"/>
                  </a:lnSpc>
                  <a:spcAft>
                    <a:spcPts val="800"/>
                  </a:spcAft>
                </a:pPr>
                <a:r>
                  <a:rPr lang="es-ES_tradnl" sz="2800" b="1"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Análisis de la respuesta a un escalón:</a:t>
                </a:r>
              </a:p>
              <a:p>
                <a:pPr>
                  <a:lnSpc>
                    <a:spcPct val="106000"/>
                  </a:lnSpc>
                  <a:spcAft>
                    <a:spcPts val="800"/>
                  </a:spcAft>
                </a:pPr>
                <a:endParaRPr lang="en-US" sz="2800" b="1"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𝑈</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smtClean="0">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   </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25</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BO" sz="20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𝑎</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𝑏</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𝐴</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𝑏</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𝐴</m:t>
                      </m:r>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𝐵</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 </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den>
                          </m:f>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m:t>
                          </m:r>
                          <m:f>
                            <m:fPr>
                              <m:ctrlPr>
                                <a:rPr lang="en-US" sz="20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1</m:t>
                              </m:r>
                            </m:num>
                            <m:den>
                              <m:r>
                                <a:rPr lang="es-ES_tradnl" sz="2000" i="1">
                                  <a:solidFill>
                                    <a:srgbClr val="000000"/>
                                  </a:solidFill>
                                  <a:latin typeface="Cambria Math" panose="02040503050406030204" pitchFamily="18" charset="0"/>
                                  <a:ea typeface="Calibri" panose="020F0502020204030204" pitchFamily="34" charset="0"/>
                                  <a:cs typeface="Arial" panose="020B0604020202020204" pitchFamily="34" charset="0"/>
                                </a:rPr>
                                <m:t>𝑠</m:t>
                              </m:r>
                            </m:den>
                          </m:f>
                        </m:e>
                      </m:d>
                    </m:oMath>
                  </m:oMathPara>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3" name="CuadroTexto 2">
                <a:extLst>
                  <a:ext uri="{FF2B5EF4-FFF2-40B4-BE49-F238E27FC236}">
                    <a16:creationId xmlns:a16="http://schemas.microsoft.com/office/drawing/2014/main" id="{7F0DF6B4-A6C8-9F0A-C1DD-F91AE37CE868}"/>
                  </a:ext>
                </a:extLst>
              </p:cNvPr>
              <p:cNvSpPr txBox="1">
                <a:spLocks noRot="1" noChangeAspect="1" noMove="1" noResize="1" noEditPoints="1" noAdjustHandles="1" noChangeArrowheads="1" noChangeShapeType="1" noTextEdit="1"/>
              </p:cNvSpPr>
              <p:nvPr/>
            </p:nvSpPr>
            <p:spPr>
              <a:xfrm>
                <a:off x="2743201" y="448875"/>
                <a:ext cx="8159262" cy="3489225"/>
              </a:xfrm>
              <a:prstGeom prst="rect">
                <a:avLst/>
              </a:prstGeom>
              <a:blipFill>
                <a:blip r:embed="rId2"/>
                <a:stretch>
                  <a:fillRect l="-1495" t="-1748"/>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9EC842CC-9503-50B2-843E-AE92EC639651}"/>
                  </a:ext>
                </a:extLst>
              </p:cNvPr>
              <p:cNvSpPr txBox="1"/>
              <p:nvPr/>
            </p:nvSpPr>
            <p:spPr>
              <a:xfrm>
                <a:off x="5022167" y="4106913"/>
                <a:ext cx="3807654" cy="618503"/>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180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𝑡</m:t>
                          </m:r>
                        </m:e>
                      </m:d>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1−</m:t>
                          </m:r>
                          <m:sSup>
                            <m:sSup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sSup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𝑒</m:t>
                              </m:r>
                            </m:e>
                            <m:sup>
                              <m:f>
                                <m:f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𝑡</m:t>
                                  </m:r>
                                </m:num>
                                <m:den>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sup>
                          </m:sSup>
                        </m:e>
                      </m:d>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4" name="CuadroTexto 3">
                <a:extLst>
                  <a:ext uri="{FF2B5EF4-FFF2-40B4-BE49-F238E27FC236}">
                    <a16:creationId xmlns:a16="http://schemas.microsoft.com/office/drawing/2014/main" id="{9EC842CC-9503-50B2-843E-AE92EC639651}"/>
                  </a:ext>
                </a:extLst>
              </p:cNvPr>
              <p:cNvSpPr txBox="1">
                <a:spLocks noRot="1" noChangeAspect="1" noMove="1" noResize="1" noEditPoints="1" noAdjustHandles="1" noChangeArrowheads="1" noChangeShapeType="1" noTextEdit="1"/>
              </p:cNvSpPr>
              <p:nvPr/>
            </p:nvSpPr>
            <p:spPr>
              <a:xfrm>
                <a:off x="5022167" y="4106913"/>
                <a:ext cx="3807654" cy="618503"/>
              </a:xfrm>
              <a:prstGeom prst="rect">
                <a:avLst/>
              </a:prstGeom>
              <a:blipFill>
                <a:blip r:embed="rId3"/>
                <a:stretch>
                  <a:fillRect/>
                </a:stretch>
              </a:blipFill>
              <a:ln w="28575" cap="flat" cmpd="sng" algn="ctr">
                <a:solidFill>
                  <a:schemeClr val="accent5"/>
                </a:solidFill>
                <a:prstDash val="solid"/>
                <a:round/>
                <a:headEnd type="none" w="med" len="med"/>
                <a:tailEnd type="none" w="med" len="med"/>
              </a:ln>
            </p:spPr>
            <p:txBody>
              <a:bodyPr/>
              <a:lstStyle/>
              <a:p>
                <a:r>
                  <a:rPr lang="es-BO">
                    <a:noFill/>
                  </a:rPr>
                  <a:t> </a:t>
                </a:r>
              </a:p>
            </p:txBody>
          </p:sp>
        </mc:Fallback>
      </mc:AlternateContent>
    </p:spTree>
    <p:extLst>
      <p:ext uri="{BB962C8B-B14F-4D97-AF65-F5344CB8AC3E}">
        <p14:creationId xmlns:p14="http://schemas.microsoft.com/office/powerpoint/2010/main" val="386727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CFC43E7E-8A9B-E1C8-C3AA-BFB028F95406}"/>
                  </a:ext>
                </a:extLst>
              </p:cNvPr>
              <p:cNvSpPr txBox="1"/>
              <p:nvPr/>
            </p:nvSpPr>
            <p:spPr>
              <a:xfrm>
                <a:off x="2397642" y="1384114"/>
                <a:ext cx="3454401" cy="618503"/>
              </a:xfrm>
              <a:prstGeom prst="rect">
                <a:avLst/>
              </a:prstGeom>
              <a:noFill/>
              <a:ln w="2857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s-ES_tradnl" sz="180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𝑦</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𝑡</m:t>
                          </m:r>
                        </m:e>
                      </m:d>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𝐴</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𝐾</m:t>
                      </m:r>
                      <m:r>
                        <a:rPr lang="es-BO" sz="1800" b="0" i="1" smtClean="0">
                          <a:solidFill>
                            <a:srgbClr val="000000"/>
                          </a:solidFill>
                          <a:latin typeface="Cambria Math" panose="02040503050406030204" pitchFamily="18" charset="0"/>
                          <a:ea typeface="Calibri" panose="020F0502020204030204" pitchFamily="34" charset="0"/>
                          <a:cs typeface="Arial" panose="020B0604020202020204" pitchFamily="34" charset="0"/>
                        </a:rPr>
                        <m:t>∗</m:t>
                      </m:r>
                      <m:d>
                        <m:d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d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1−</m:t>
                          </m:r>
                          <m:sSup>
                            <m:sSup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sSupPr>
                            <m:e>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𝑒</m:t>
                              </m:r>
                            </m:e>
                            <m:sup>
                              <m:f>
                                <m:fPr>
                                  <m:ctrlPr>
                                    <a:rPr lang="en-US" sz="1800" i="1">
                                      <a:solidFill>
                                        <a:srgbClr val="000000"/>
                                      </a:solidFill>
                                      <a:latin typeface="Cambria Math" panose="02040503050406030204" pitchFamily="18" charset="0"/>
                                      <a:ea typeface="Calibri" panose="020F0502020204030204" pitchFamily="34" charset="0"/>
                                      <a:cs typeface="Arial" panose="020B0604020202020204" pitchFamily="34" charset="0"/>
                                    </a:rPr>
                                  </m:ctrlPr>
                                </m:fPr>
                                <m:num>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m:t>
                                  </m:r>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𝑡</m:t>
                                  </m:r>
                                </m:num>
                                <m:den>
                                  <m:r>
                                    <a:rPr lang="es-ES_tradnl" sz="1800" i="1">
                                      <a:solidFill>
                                        <a:srgbClr val="000000"/>
                                      </a:solidFill>
                                      <a:latin typeface="Cambria Math" panose="02040503050406030204" pitchFamily="18" charset="0"/>
                                      <a:ea typeface="Calibri" panose="020F0502020204030204" pitchFamily="34" charset="0"/>
                                      <a:cs typeface="Arial" panose="020B0604020202020204" pitchFamily="34" charset="0"/>
                                    </a:rPr>
                                    <m:t>𝜏</m:t>
                                  </m:r>
                                </m:den>
                              </m:f>
                            </m:sup>
                          </m:sSup>
                        </m:e>
                      </m:d>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𝑡</m:t>
                      </m:r>
                      <m:r>
                        <a:rPr lang="es-ES_tradnl" sz="1800" i="1">
                          <a:solidFill>
                            <a:srgbClr val="000000"/>
                          </a:solidFill>
                          <a:latin typeface="Cambria Math" panose="02040503050406030204" pitchFamily="18" charset="0"/>
                          <a:ea typeface="Times New Roman" panose="02020603050405020304" pitchFamily="18" charset="0"/>
                          <a:cs typeface="Times New Roman" panose="02020603050405020304" pitchFamily="18" charset="0"/>
                        </a:rPr>
                        <m:t>≥0</m:t>
                      </m:r>
                    </m:oMath>
                  </m:oMathPara>
                </a14:m>
                <a:endParaRPr lang="en-US" sz="18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2" name="CuadroTexto 1">
                <a:extLst>
                  <a:ext uri="{FF2B5EF4-FFF2-40B4-BE49-F238E27FC236}">
                    <a16:creationId xmlns:a16="http://schemas.microsoft.com/office/drawing/2014/main" id="{CFC43E7E-8A9B-E1C8-C3AA-BFB028F95406}"/>
                  </a:ext>
                </a:extLst>
              </p:cNvPr>
              <p:cNvSpPr txBox="1">
                <a:spLocks noRot="1" noChangeAspect="1" noMove="1" noResize="1" noEditPoints="1" noAdjustHandles="1" noChangeArrowheads="1" noChangeShapeType="1" noTextEdit="1"/>
              </p:cNvSpPr>
              <p:nvPr/>
            </p:nvSpPr>
            <p:spPr>
              <a:xfrm>
                <a:off x="2397642" y="1384114"/>
                <a:ext cx="3454401" cy="618503"/>
              </a:xfrm>
              <a:prstGeom prst="rect">
                <a:avLst/>
              </a:prstGeom>
              <a:blipFill>
                <a:blip r:embed="rId2"/>
                <a:stretch>
                  <a:fillRect/>
                </a:stretch>
              </a:blipFill>
              <a:ln w="28575" cap="flat" cmpd="sng" algn="ctr">
                <a:solidFill>
                  <a:schemeClr val="accent5"/>
                </a:solidFill>
                <a:prstDash val="solid"/>
                <a:round/>
                <a:headEnd type="none" w="med" len="med"/>
                <a:tailEnd type="none" w="med" len="med"/>
              </a:ln>
            </p:spPr>
            <p:txBody>
              <a:bodyPr/>
              <a:lstStyle/>
              <a:p>
                <a:r>
                  <a:rPr lang="es-BO">
                    <a:noFill/>
                  </a:rPr>
                  <a:t> </a:t>
                </a:r>
              </a:p>
            </p:txBody>
          </p:sp>
        </mc:Fallback>
      </mc:AlternateContent>
      <mc:AlternateContent xmlns:mc="http://schemas.openxmlformats.org/markup-compatibility/2006" xmlns:a14="http://schemas.microsoft.com/office/drawing/2010/main">
        <mc:Choice Requires="a14">
          <p:graphicFrame>
            <p:nvGraphicFramePr>
              <p:cNvPr id="3" name="Tabla 5">
                <a:extLst>
                  <a:ext uri="{FF2B5EF4-FFF2-40B4-BE49-F238E27FC236}">
                    <a16:creationId xmlns:a16="http://schemas.microsoft.com/office/drawing/2014/main" id="{69D116F8-EF09-34F3-E237-4CADB8C5E357}"/>
                  </a:ext>
                </a:extLst>
              </p:cNvPr>
              <p:cNvGraphicFramePr>
                <a:graphicFrameLocks noGrp="1"/>
              </p:cNvGraphicFramePr>
              <p:nvPr>
                <p:extLst>
                  <p:ext uri="{D42A27DB-BD31-4B8C-83A1-F6EECF244321}">
                    <p14:modId xmlns:p14="http://schemas.microsoft.com/office/powerpoint/2010/main" val="3647570738"/>
                  </p:ext>
                </p:extLst>
              </p:nvPr>
            </p:nvGraphicFramePr>
            <p:xfrm>
              <a:off x="2397642" y="2183466"/>
              <a:ext cx="3211005" cy="2346960"/>
            </p:xfrm>
            <a:graphic>
              <a:graphicData uri="http://schemas.openxmlformats.org/drawingml/2006/table">
                <a:tbl>
                  <a:tblPr firstRow="1" bandRow="1">
                    <a:tableStyleId>{5C22544A-7EE6-4342-B048-85BDC9FD1C3A}</a:tableStyleId>
                  </a:tblPr>
                  <a:tblGrid>
                    <a:gridCol w="649848">
                      <a:extLst>
                        <a:ext uri="{9D8B030D-6E8A-4147-A177-3AD203B41FA5}">
                          <a16:colId xmlns:a16="http://schemas.microsoft.com/office/drawing/2014/main" val="129326671"/>
                        </a:ext>
                      </a:extLst>
                    </a:gridCol>
                    <a:gridCol w="2561157">
                      <a:extLst>
                        <a:ext uri="{9D8B030D-6E8A-4147-A177-3AD203B41FA5}">
                          <a16:colId xmlns:a16="http://schemas.microsoft.com/office/drawing/2014/main" val="1793578588"/>
                        </a:ext>
                      </a:extLst>
                    </a:gridCol>
                  </a:tblGrid>
                  <a:tr h="331428">
                    <a:tc>
                      <a:txBody>
                        <a:bodyPr/>
                        <a:lstStyle/>
                        <a:p>
                          <a:pPr algn="ctr"/>
                          <a:r>
                            <a:rPr lang="es-BO" sz="1600" dirty="0"/>
                            <a:t>t</a:t>
                          </a:r>
                        </a:p>
                      </a:txBody>
                      <a:tcPr/>
                    </a:tc>
                    <a:tc>
                      <a:txBody>
                        <a:bodyPr/>
                        <a:lstStyle/>
                        <a:p>
                          <a:pPr algn="ctr"/>
                          <a:r>
                            <a:rPr lang="es-BO" sz="1600" dirty="0"/>
                            <a:t>y(t)</a:t>
                          </a:r>
                        </a:p>
                      </a:txBody>
                      <a:tcPr/>
                    </a:tc>
                    <a:extLst>
                      <a:ext uri="{0D108BD9-81ED-4DB2-BD59-A6C34878D82A}">
                        <a16:rowId xmlns:a16="http://schemas.microsoft.com/office/drawing/2014/main" val="1301273130"/>
                      </a:ext>
                    </a:extLst>
                  </a:tr>
                  <a:tr h="331428">
                    <a:tc>
                      <a:txBody>
                        <a:bodyPr/>
                        <a:lstStyle/>
                        <a:p>
                          <a:pPr algn="ctr"/>
                          <a:r>
                            <a:rPr lang="es-BO" sz="1600" dirty="0"/>
                            <a:t>0</a:t>
                          </a:r>
                        </a:p>
                      </a:txBody>
                      <a:tcPr/>
                    </a:tc>
                    <a:tc>
                      <a:txBody>
                        <a:bodyPr/>
                        <a:lstStyle/>
                        <a:p>
                          <a:pPr algn="ctr"/>
                          <a:r>
                            <a:rPr lang="es-BO" sz="1600" dirty="0"/>
                            <a:t>0</a:t>
                          </a:r>
                        </a:p>
                      </a:txBody>
                      <a:tcPr/>
                    </a:tc>
                    <a:extLst>
                      <a:ext uri="{0D108BD9-81ED-4DB2-BD59-A6C34878D82A}">
                        <a16:rowId xmlns:a16="http://schemas.microsoft.com/office/drawing/2014/main" val="1985280359"/>
                      </a:ext>
                    </a:extLst>
                  </a:tr>
                  <a:tr h="331428">
                    <a:tc>
                      <a:txBody>
                        <a:bodyPr/>
                        <a:lstStyle/>
                        <a:p>
                          <a:pPr/>
                          <a14:m>
                            <m:oMathPara xmlns:m="http://schemas.openxmlformats.org/officeDocument/2006/math">
                              <m:oMathParaPr>
                                <m:jc m:val="centerGroup"/>
                              </m:oMathParaPr>
                              <m:oMath xmlns:m="http://schemas.openxmlformats.org/officeDocument/2006/math">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−1</m:t>
                                        </m:r>
                                      </m:sup>
                                    </m:sSup>
                                  </m:e>
                                </m:d>
                                <m:r>
                                  <a:rPr lang="es-BO" sz="1600" b="0" i="1" smtClean="0">
                                    <a:latin typeface="Cambria Math" panose="02040503050406030204" pitchFamily="18" charset="0"/>
                                  </a:rPr>
                                  <m:t>=0,632</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1508313791"/>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2</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−2</m:t>
                                        </m:r>
                                      </m:sup>
                                    </m:sSup>
                                  </m:e>
                                </m:d>
                                <m:r>
                                  <a:rPr lang="es-BO" sz="1600" b="0" i="1" smtClean="0">
                                    <a:latin typeface="Cambria Math" panose="02040503050406030204" pitchFamily="18" charset="0"/>
                                  </a:rPr>
                                  <m:t>=0,865</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2986247986"/>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3</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−3</m:t>
                                        </m:r>
                                      </m:sup>
                                    </m:sSup>
                                  </m:e>
                                </m:d>
                                <m:r>
                                  <a:rPr lang="es-BO" sz="1600" b="0" i="1" smtClean="0">
                                    <a:latin typeface="Cambria Math" panose="02040503050406030204" pitchFamily="18" charset="0"/>
                                  </a:rPr>
                                  <m:t>=0,95</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275961632"/>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ea typeface="Cambria Math" panose="02040503050406030204" pitchFamily="18" charset="0"/>
                                  </a:rPr>
                                  <m:t>4</m:t>
                                </m:r>
                                <m:r>
                                  <a:rPr lang="es-BO" sz="1600" i="1" smtClean="0">
                                    <a:latin typeface="Cambria Math" panose="02040503050406030204" pitchFamily="18" charset="0"/>
                                    <a:ea typeface="Cambria Math" panose="02040503050406030204" pitchFamily="18" charset="0"/>
                                  </a:rPr>
                                  <m:t>𝜏</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−4</m:t>
                                        </m:r>
                                      </m:sup>
                                    </m:sSup>
                                  </m:e>
                                </m:d>
                                <m:r>
                                  <a:rPr lang="es-BO" sz="1600" b="0" i="1" smtClean="0">
                                    <a:latin typeface="Cambria Math" panose="02040503050406030204" pitchFamily="18" charset="0"/>
                                  </a:rPr>
                                  <m:t>=0,982</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552281017"/>
                      </a:ext>
                    </a:extLst>
                  </a:tr>
                  <a:tr h="3314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i="1" smtClean="0">
                                    <a:latin typeface="Cambria Math" panose="02040503050406030204" pitchFamily="18" charset="0"/>
                                    <a:ea typeface="Cambria Math" panose="02040503050406030204" pitchFamily="18" charset="0"/>
                                  </a:rPr>
                                  <m:t>∞</m:t>
                                </m:r>
                              </m:oMath>
                            </m:oMathPara>
                          </a14:m>
                          <a:endParaRPr lang="es-BO" sz="16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BO" sz="1600" b="0" i="1" smtClean="0">
                                    <a:latin typeface="Cambria Math" panose="02040503050406030204" pitchFamily="18" charset="0"/>
                                  </a:rPr>
                                  <m:t>𝐴𝐾</m:t>
                                </m:r>
                                <m:d>
                                  <m:dPr>
                                    <m:ctrlPr>
                                      <a:rPr lang="es-BO" sz="1600" b="0" i="1" smtClean="0">
                                        <a:latin typeface="Cambria Math" panose="02040503050406030204" pitchFamily="18" charset="0"/>
                                      </a:rPr>
                                    </m:ctrlPr>
                                  </m:dPr>
                                  <m:e>
                                    <m:r>
                                      <a:rPr lang="es-BO" sz="1600" b="0" i="1" smtClean="0">
                                        <a:latin typeface="Cambria Math" panose="02040503050406030204" pitchFamily="18" charset="0"/>
                                      </a:rPr>
                                      <m:t>1−</m:t>
                                    </m:r>
                                    <m:sSup>
                                      <m:sSupPr>
                                        <m:ctrlPr>
                                          <a:rPr lang="es-BO" sz="1600" b="0" i="1" smtClean="0">
                                            <a:latin typeface="Cambria Math" panose="02040503050406030204" pitchFamily="18" charset="0"/>
                                          </a:rPr>
                                        </m:ctrlPr>
                                      </m:sSupPr>
                                      <m:e>
                                        <m:r>
                                          <a:rPr lang="es-BO" sz="1600" b="0" i="1" smtClean="0">
                                            <a:latin typeface="Cambria Math" panose="02040503050406030204" pitchFamily="18" charset="0"/>
                                          </a:rPr>
                                          <m:t>𝑒</m:t>
                                        </m:r>
                                      </m:e>
                                      <m:sup>
                                        <m:r>
                                          <a:rPr lang="es-BO" sz="1600" b="0" i="1" smtClean="0">
                                            <a:latin typeface="Cambria Math" panose="02040503050406030204" pitchFamily="18" charset="0"/>
                                          </a:rPr>
                                          <m:t>−</m:t>
                                        </m:r>
                                        <m:r>
                                          <a:rPr lang="es-BO" sz="1600" b="0" i="1" smtClean="0">
                                            <a:latin typeface="Cambria Math" panose="02040503050406030204" pitchFamily="18" charset="0"/>
                                            <a:ea typeface="Cambria Math" panose="02040503050406030204" pitchFamily="18" charset="0"/>
                                          </a:rPr>
                                          <m:t>∞</m:t>
                                        </m:r>
                                      </m:sup>
                                    </m:sSup>
                                  </m:e>
                                </m:d>
                                <m:r>
                                  <a:rPr lang="es-BO" sz="1600" b="0" i="1" smtClean="0">
                                    <a:latin typeface="Cambria Math" panose="02040503050406030204" pitchFamily="18" charset="0"/>
                                  </a:rPr>
                                  <m:t>=</m:t>
                                </m:r>
                                <m:r>
                                  <a:rPr lang="es-BO" sz="1600" b="0" i="1" smtClean="0">
                                    <a:latin typeface="Cambria Math" panose="02040503050406030204" pitchFamily="18" charset="0"/>
                                  </a:rPr>
                                  <m:t>𝐴𝐾</m:t>
                                </m:r>
                              </m:oMath>
                            </m:oMathPara>
                          </a14:m>
                          <a:endParaRPr lang="es-BO" sz="1600" dirty="0"/>
                        </a:p>
                      </a:txBody>
                      <a:tcPr/>
                    </a:tc>
                    <a:extLst>
                      <a:ext uri="{0D108BD9-81ED-4DB2-BD59-A6C34878D82A}">
                        <a16:rowId xmlns:a16="http://schemas.microsoft.com/office/drawing/2014/main" val="3031792668"/>
                      </a:ext>
                    </a:extLst>
                  </a:tr>
                </a:tbl>
              </a:graphicData>
            </a:graphic>
          </p:graphicFrame>
        </mc:Choice>
        <mc:Fallback xmlns="">
          <p:graphicFrame>
            <p:nvGraphicFramePr>
              <p:cNvPr id="3" name="Tabla 5">
                <a:extLst>
                  <a:ext uri="{FF2B5EF4-FFF2-40B4-BE49-F238E27FC236}">
                    <a16:creationId xmlns:a16="http://schemas.microsoft.com/office/drawing/2014/main" id="{69D116F8-EF09-34F3-E237-4CADB8C5E357}"/>
                  </a:ext>
                </a:extLst>
              </p:cNvPr>
              <p:cNvGraphicFramePr>
                <a:graphicFrameLocks noGrp="1"/>
              </p:cNvGraphicFramePr>
              <p:nvPr>
                <p:extLst>
                  <p:ext uri="{D42A27DB-BD31-4B8C-83A1-F6EECF244321}">
                    <p14:modId xmlns:p14="http://schemas.microsoft.com/office/powerpoint/2010/main" val="3647570738"/>
                  </p:ext>
                </p:extLst>
              </p:nvPr>
            </p:nvGraphicFramePr>
            <p:xfrm>
              <a:off x="2397642" y="2183466"/>
              <a:ext cx="3211005" cy="2346960"/>
            </p:xfrm>
            <a:graphic>
              <a:graphicData uri="http://schemas.openxmlformats.org/drawingml/2006/table">
                <a:tbl>
                  <a:tblPr firstRow="1" bandRow="1">
                    <a:tableStyleId>{5C22544A-7EE6-4342-B048-85BDC9FD1C3A}</a:tableStyleId>
                  </a:tblPr>
                  <a:tblGrid>
                    <a:gridCol w="649848">
                      <a:extLst>
                        <a:ext uri="{9D8B030D-6E8A-4147-A177-3AD203B41FA5}">
                          <a16:colId xmlns:a16="http://schemas.microsoft.com/office/drawing/2014/main" val="129326671"/>
                        </a:ext>
                      </a:extLst>
                    </a:gridCol>
                    <a:gridCol w="2561157">
                      <a:extLst>
                        <a:ext uri="{9D8B030D-6E8A-4147-A177-3AD203B41FA5}">
                          <a16:colId xmlns:a16="http://schemas.microsoft.com/office/drawing/2014/main" val="1793578588"/>
                        </a:ext>
                      </a:extLst>
                    </a:gridCol>
                  </a:tblGrid>
                  <a:tr h="335280">
                    <a:tc>
                      <a:txBody>
                        <a:bodyPr/>
                        <a:lstStyle/>
                        <a:p>
                          <a:pPr algn="ctr"/>
                          <a:r>
                            <a:rPr lang="es-BO" sz="1600" dirty="0"/>
                            <a:t>t</a:t>
                          </a:r>
                        </a:p>
                      </a:txBody>
                      <a:tcPr/>
                    </a:tc>
                    <a:tc>
                      <a:txBody>
                        <a:bodyPr/>
                        <a:lstStyle/>
                        <a:p>
                          <a:pPr algn="ctr"/>
                          <a:r>
                            <a:rPr lang="es-BO" sz="1600" dirty="0"/>
                            <a:t>y(t)</a:t>
                          </a:r>
                        </a:p>
                      </a:txBody>
                      <a:tcPr/>
                    </a:tc>
                    <a:extLst>
                      <a:ext uri="{0D108BD9-81ED-4DB2-BD59-A6C34878D82A}">
                        <a16:rowId xmlns:a16="http://schemas.microsoft.com/office/drawing/2014/main" val="1301273130"/>
                      </a:ext>
                    </a:extLst>
                  </a:tr>
                  <a:tr h="335280">
                    <a:tc>
                      <a:txBody>
                        <a:bodyPr/>
                        <a:lstStyle/>
                        <a:p>
                          <a:pPr algn="ctr"/>
                          <a:r>
                            <a:rPr lang="es-BO" sz="1600" dirty="0"/>
                            <a:t>0</a:t>
                          </a:r>
                        </a:p>
                      </a:txBody>
                      <a:tcPr/>
                    </a:tc>
                    <a:tc>
                      <a:txBody>
                        <a:bodyPr/>
                        <a:lstStyle/>
                        <a:p>
                          <a:pPr algn="ctr"/>
                          <a:r>
                            <a:rPr lang="es-BO" sz="1600" dirty="0"/>
                            <a:t>0</a:t>
                          </a:r>
                        </a:p>
                      </a:txBody>
                      <a:tcPr/>
                    </a:tc>
                    <a:extLst>
                      <a:ext uri="{0D108BD9-81ED-4DB2-BD59-A6C34878D82A}">
                        <a16:rowId xmlns:a16="http://schemas.microsoft.com/office/drawing/2014/main" val="1985280359"/>
                      </a:ext>
                    </a:extLst>
                  </a:tr>
                  <a:tr h="335280">
                    <a:tc>
                      <a:txBody>
                        <a:bodyPr/>
                        <a:lstStyle/>
                        <a:p>
                          <a:endParaRPr lang="es-BO"/>
                        </a:p>
                      </a:txBody>
                      <a:tcPr>
                        <a:blipFill>
                          <a:blip r:embed="rId3"/>
                          <a:stretch>
                            <a:fillRect l="-935" t="-205455" r="-397196" b="-405455"/>
                          </a:stretch>
                        </a:blipFill>
                      </a:tcPr>
                    </a:tc>
                    <a:tc>
                      <a:txBody>
                        <a:bodyPr/>
                        <a:lstStyle/>
                        <a:p>
                          <a:endParaRPr lang="es-BO"/>
                        </a:p>
                      </a:txBody>
                      <a:tcPr>
                        <a:blipFill>
                          <a:blip r:embed="rId3"/>
                          <a:stretch>
                            <a:fillRect l="-25653" t="-205455" r="-950" b="-405455"/>
                          </a:stretch>
                        </a:blipFill>
                      </a:tcPr>
                    </a:tc>
                    <a:extLst>
                      <a:ext uri="{0D108BD9-81ED-4DB2-BD59-A6C34878D82A}">
                        <a16:rowId xmlns:a16="http://schemas.microsoft.com/office/drawing/2014/main" val="1508313791"/>
                      </a:ext>
                    </a:extLst>
                  </a:tr>
                  <a:tr h="335280">
                    <a:tc>
                      <a:txBody>
                        <a:bodyPr/>
                        <a:lstStyle/>
                        <a:p>
                          <a:endParaRPr lang="es-BO"/>
                        </a:p>
                      </a:txBody>
                      <a:tcPr>
                        <a:blipFill>
                          <a:blip r:embed="rId3"/>
                          <a:stretch>
                            <a:fillRect l="-935" t="-300000" r="-397196" b="-298214"/>
                          </a:stretch>
                        </a:blipFill>
                      </a:tcPr>
                    </a:tc>
                    <a:tc>
                      <a:txBody>
                        <a:bodyPr/>
                        <a:lstStyle/>
                        <a:p>
                          <a:endParaRPr lang="es-BO"/>
                        </a:p>
                      </a:txBody>
                      <a:tcPr>
                        <a:blipFill>
                          <a:blip r:embed="rId3"/>
                          <a:stretch>
                            <a:fillRect l="-25653" t="-300000" r="-950" b="-298214"/>
                          </a:stretch>
                        </a:blipFill>
                      </a:tcPr>
                    </a:tc>
                    <a:extLst>
                      <a:ext uri="{0D108BD9-81ED-4DB2-BD59-A6C34878D82A}">
                        <a16:rowId xmlns:a16="http://schemas.microsoft.com/office/drawing/2014/main" val="2986247986"/>
                      </a:ext>
                    </a:extLst>
                  </a:tr>
                  <a:tr h="335280">
                    <a:tc>
                      <a:txBody>
                        <a:bodyPr/>
                        <a:lstStyle/>
                        <a:p>
                          <a:endParaRPr lang="es-BO"/>
                        </a:p>
                      </a:txBody>
                      <a:tcPr>
                        <a:blipFill>
                          <a:blip r:embed="rId3"/>
                          <a:stretch>
                            <a:fillRect l="-935" t="-407273" r="-397196" b="-203636"/>
                          </a:stretch>
                        </a:blipFill>
                      </a:tcPr>
                    </a:tc>
                    <a:tc>
                      <a:txBody>
                        <a:bodyPr/>
                        <a:lstStyle/>
                        <a:p>
                          <a:endParaRPr lang="es-BO"/>
                        </a:p>
                      </a:txBody>
                      <a:tcPr>
                        <a:blipFill>
                          <a:blip r:embed="rId3"/>
                          <a:stretch>
                            <a:fillRect l="-25653" t="-407273" r="-950" b="-203636"/>
                          </a:stretch>
                        </a:blipFill>
                      </a:tcPr>
                    </a:tc>
                    <a:extLst>
                      <a:ext uri="{0D108BD9-81ED-4DB2-BD59-A6C34878D82A}">
                        <a16:rowId xmlns:a16="http://schemas.microsoft.com/office/drawing/2014/main" val="275961632"/>
                      </a:ext>
                    </a:extLst>
                  </a:tr>
                  <a:tr h="335280">
                    <a:tc>
                      <a:txBody>
                        <a:bodyPr/>
                        <a:lstStyle/>
                        <a:p>
                          <a:endParaRPr lang="es-BO"/>
                        </a:p>
                      </a:txBody>
                      <a:tcPr>
                        <a:blipFill>
                          <a:blip r:embed="rId3"/>
                          <a:stretch>
                            <a:fillRect l="-935" t="-507273" r="-397196" b="-103636"/>
                          </a:stretch>
                        </a:blipFill>
                      </a:tcPr>
                    </a:tc>
                    <a:tc>
                      <a:txBody>
                        <a:bodyPr/>
                        <a:lstStyle/>
                        <a:p>
                          <a:endParaRPr lang="es-BO"/>
                        </a:p>
                      </a:txBody>
                      <a:tcPr>
                        <a:blipFill>
                          <a:blip r:embed="rId3"/>
                          <a:stretch>
                            <a:fillRect l="-25653" t="-507273" r="-950" b="-103636"/>
                          </a:stretch>
                        </a:blipFill>
                      </a:tcPr>
                    </a:tc>
                    <a:extLst>
                      <a:ext uri="{0D108BD9-81ED-4DB2-BD59-A6C34878D82A}">
                        <a16:rowId xmlns:a16="http://schemas.microsoft.com/office/drawing/2014/main" val="552281017"/>
                      </a:ext>
                    </a:extLst>
                  </a:tr>
                  <a:tr h="335280">
                    <a:tc>
                      <a:txBody>
                        <a:bodyPr/>
                        <a:lstStyle/>
                        <a:p>
                          <a:endParaRPr lang="es-BO"/>
                        </a:p>
                      </a:txBody>
                      <a:tcPr>
                        <a:blipFill>
                          <a:blip r:embed="rId3"/>
                          <a:stretch>
                            <a:fillRect l="-935" t="-607273" r="-397196" b="-3636"/>
                          </a:stretch>
                        </a:blipFill>
                      </a:tcPr>
                    </a:tc>
                    <a:tc>
                      <a:txBody>
                        <a:bodyPr/>
                        <a:lstStyle/>
                        <a:p>
                          <a:endParaRPr lang="es-BO"/>
                        </a:p>
                      </a:txBody>
                      <a:tcPr>
                        <a:blipFill>
                          <a:blip r:embed="rId3"/>
                          <a:stretch>
                            <a:fillRect l="-25653" t="-607273" r="-950" b="-3636"/>
                          </a:stretch>
                        </a:blipFill>
                      </a:tcPr>
                    </a:tc>
                    <a:extLst>
                      <a:ext uri="{0D108BD9-81ED-4DB2-BD59-A6C34878D82A}">
                        <a16:rowId xmlns:a16="http://schemas.microsoft.com/office/drawing/2014/main" val="3031792668"/>
                      </a:ext>
                    </a:extLst>
                  </a:tr>
                </a:tbl>
              </a:graphicData>
            </a:graphic>
          </p:graphicFrame>
        </mc:Fallback>
      </mc:AlternateContent>
      <p:sp>
        <p:nvSpPr>
          <p:cNvPr id="5" name="CuadroTexto 4">
            <a:extLst>
              <a:ext uri="{FF2B5EF4-FFF2-40B4-BE49-F238E27FC236}">
                <a16:creationId xmlns:a16="http://schemas.microsoft.com/office/drawing/2014/main" id="{7CF38C35-8287-C647-2F63-8DE07D7C5488}"/>
              </a:ext>
            </a:extLst>
          </p:cNvPr>
          <p:cNvSpPr txBox="1"/>
          <p:nvPr/>
        </p:nvSpPr>
        <p:spPr>
          <a:xfrm>
            <a:off x="2303860" y="724557"/>
            <a:ext cx="6684389" cy="531043"/>
          </a:xfrm>
          <a:prstGeom prst="rect">
            <a:avLst/>
          </a:prstGeom>
          <a:noFill/>
        </p:spPr>
        <p:txBody>
          <a:bodyPr wrap="square">
            <a:spAutoFit/>
          </a:bodyPr>
          <a:lstStyle/>
          <a:p>
            <a:pPr>
              <a:lnSpc>
                <a:spcPct val="106000"/>
              </a:lnSpc>
              <a:spcAft>
                <a:spcPts val="800"/>
              </a:spcAft>
            </a:pPr>
            <a:r>
              <a:rPr lang="es-ES_tradnl" sz="2800" b="1" dirty="0">
                <a:solidFill>
                  <a:srgbClr val="000000"/>
                </a:solidFill>
                <a:latin typeface="Book Antiqua" panose="02040602050305030304" pitchFamily="18" charset="0"/>
                <a:ea typeface="Times New Roman" panose="02020603050405020304" pitchFamily="18" charset="0"/>
                <a:cs typeface="Times New Roman" panose="02020603050405020304" pitchFamily="18" charset="0"/>
              </a:rPr>
              <a:t>Análisis de la respuesta a un escalón:</a:t>
            </a:r>
          </a:p>
        </p:txBody>
      </p:sp>
      <p:pic>
        <p:nvPicPr>
          <p:cNvPr id="7" name="Imagen 6">
            <a:extLst>
              <a:ext uri="{FF2B5EF4-FFF2-40B4-BE49-F238E27FC236}">
                <a16:creationId xmlns:a16="http://schemas.microsoft.com/office/drawing/2014/main" id="{485AC15A-7D33-26B7-6D3A-914B8A9A5FDC}"/>
              </a:ext>
            </a:extLst>
          </p:cNvPr>
          <p:cNvPicPr>
            <a:picLocks noChangeAspect="1"/>
          </p:cNvPicPr>
          <p:nvPr/>
        </p:nvPicPr>
        <p:blipFill>
          <a:blip r:embed="rId4"/>
          <a:stretch>
            <a:fillRect/>
          </a:stretch>
        </p:blipFill>
        <p:spPr>
          <a:xfrm>
            <a:off x="6096000" y="1255600"/>
            <a:ext cx="5754352" cy="4187722"/>
          </a:xfrm>
          <a:prstGeom prst="rect">
            <a:avLst/>
          </a:prstGeom>
        </p:spPr>
      </p:pic>
      <mc:AlternateContent xmlns:mc="http://schemas.openxmlformats.org/markup-compatibility/2006" xmlns:a14="http://schemas.microsoft.com/office/drawing/2010/main">
        <mc:Choice Requires="a14">
          <p:sp>
            <p:nvSpPr>
              <p:cNvPr id="8" name="Rectángulo 7">
                <a:extLst>
                  <a:ext uri="{FF2B5EF4-FFF2-40B4-BE49-F238E27FC236}">
                    <a16:creationId xmlns:a16="http://schemas.microsoft.com/office/drawing/2014/main" id="{FD472BF1-15B1-F5DB-1004-09F8327EBB73}"/>
                  </a:ext>
                </a:extLst>
              </p:cNvPr>
              <p:cNvSpPr/>
              <p:nvPr/>
            </p:nvSpPr>
            <p:spPr>
              <a:xfrm>
                <a:off x="2303860" y="4712222"/>
                <a:ext cx="4149897" cy="1823897"/>
              </a:xfrm>
              <a:prstGeom prst="rect">
                <a:avLst/>
              </a:prstGeom>
            </p:spPr>
            <p:txBody>
              <a:bodyPr wrap="square">
                <a:spAutoFit/>
              </a:bodyPr>
              <a:lstStyle/>
              <a:p>
                <a:pPr>
                  <a:lnSpc>
                    <a:spcPct val="106000"/>
                  </a:lnSpc>
                  <a:spcAft>
                    <a:spcPts val="800"/>
                  </a:spcAft>
                  <a:tabLst>
                    <a:tab pos="753745" algn="l"/>
                  </a:tabLst>
                </a:pPr>
                <a:r>
                  <a:rPr lang="es-BO" sz="2800" b="1" dirty="0">
                    <a:latin typeface="Book Antiqua" panose="02040602050305030304" pitchFamily="18" charset="0"/>
                    <a:ea typeface="Times New Roman" panose="02020603050405020304" pitchFamily="18" charset="0"/>
                    <a:cs typeface="Times New Roman" panose="02020603050405020304" pitchFamily="18" charset="0"/>
                  </a:rPr>
                  <a:t> </a:t>
                </a:r>
                <a:r>
                  <a:rPr lang="es-BO" sz="2000" b="1" dirty="0">
                    <a:latin typeface="Book Antiqua" panose="02040602050305030304" pitchFamily="18" charset="0"/>
                    <a:ea typeface="Times New Roman" panose="02020603050405020304" pitchFamily="18" charset="0"/>
                    <a:cs typeface="Times New Roman" panose="02020603050405020304" pitchFamily="18" charset="0"/>
                  </a:rPr>
                  <a:t>Teorema del valor final</a:t>
                </a:r>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s-BO" b="0" i="1">
                              <a:latin typeface="Cambria Math" panose="02040503050406030204" pitchFamily="18" charset="0"/>
                              <a:ea typeface="Times New Roman" panose="02020603050405020304" pitchFamily="18" charset="0"/>
                              <a:cs typeface="Times New Roman" panose="02020603050405020304" pitchFamily="18" charset="0"/>
                            </a:rPr>
                            <m:t>𝑦</m:t>
                          </m:r>
                        </m:e>
                        <m:sub>
                          <m:r>
                            <a:rPr lang="es-BO" b="0" i="1">
                              <a:latin typeface="Cambria Math" panose="02040503050406030204" pitchFamily="18" charset="0"/>
                              <a:ea typeface="Times New Roman" panose="02020603050405020304" pitchFamily="18" charset="0"/>
                              <a:cs typeface="Times New Roman" panose="02020603050405020304" pitchFamily="18" charset="0"/>
                            </a:rPr>
                            <m:t>∞</m:t>
                          </m:r>
                        </m:sub>
                      </m:sSub>
                      <m:r>
                        <a:rPr lang="es-BO" b="0"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0" i="1">
                                  <a:latin typeface="Cambria Math" panose="02040503050406030204" pitchFamily="18" charset="0"/>
                                  <a:ea typeface="Calibri" panose="020F0502020204030204" pitchFamily="34" charset="0"/>
                                  <a:cs typeface="Times New Roman" panose="02020603050405020304" pitchFamily="18" charset="0"/>
                                </a:rPr>
                                <m:t>𝑙𝑖𝑚</m:t>
                              </m:r>
                            </m:e>
                            <m:lim>
                              <m:r>
                                <a:rPr lang="es-BO" b="0" i="1">
                                  <a:latin typeface="Cambria Math" panose="02040503050406030204" pitchFamily="18" charset="0"/>
                                  <a:ea typeface="Times New Roman" panose="02020603050405020304" pitchFamily="18" charset="0"/>
                                  <a:cs typeface="Times New Roman" panose="02020603050405020304" pitchFamily="18" charset="0"/>
                                </a:rPr>
                                <m:t>𝑠</m:t>
                              </m:r>
                              <m:r>
                                <a:rPr lang="es-BO" b="0" i="1">
                                  <a:latin typeface="Cambria Math" panose="02040503050406030204" pitchFamily="18" charset="0"/>
                                  <a:ea typeface="Times New Roman" panose="02020603050405020304" pitchFamily="18" charset="0"/>
                                  <a:cs typeface="Times New Roman" panose="02020603050405020304" pitchFamily="18" charset="0"/>
                                </a:rPr>
                                <m:t>→0</m:t>
                              </m:r>
                            </m:lim>
                          </m:limLow>
                        </m:fName>
                        <m:e>
                          <m:r>
                            <a:rPr lang="es-BO" b="0" i="1">
                              <a:latin typeface="Cambria Math" panose="02040503050406030204" pitchFamily="18" charset="0"/>
                              <a:ea typeface="Times New Roman" panose="02020603050405020304" pitchFamily="18" charset="0"/>
                              <a:cs typeface="Times New Roman" panose="02020603050405020304" pitchFamily="18" charset="0"/>
                            </a:rPr>
                            <m:t>𝑠</m:t>
                          </m:r>
                          <m:r>
                            <a:rPr lang="es-BO" b="0" i="1">
                              <a:latin typeface="Cambria Math" panose="02040503050406030204" pitchFamily="18" charset="0"/>
                              <a:ea typeface="Times New Roman" panose="02020603050405020304" pitchFamily="18" charset="0"/>
                              <a:cs typeface="Times New Roman" panose="02020603050405020304" pitchFamily="18" charset="0"/>
                            </a:rPr>
                            <m:t>∗</m:t>
                          </m:r>
                          <m:r>
                            <a:rPr lang="es-BO" b="0" i="1">
                              <a:latin typeface="Cambria Math" panose="02040503050406030204" pitchFamily="18" charset="0"/>
                              <a:ea typeface="Times New Roman" panose="02020603050405020304" pitchFamily="18" charset="0"/>
                              <a:cs typeface="Times New Roman" panose="02020603050405020304" pitchFamily="18" charset="0"/>
                            </a:rPr>
                            <m:t>𝐸</m:t>
                          </m:r>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r>
                                <a:rPr lang="es-BO" b="0" i="1">
                                  <a:latin typeface="Cambria Math" panose="02040503050406030204" pitchFamily="18" charset="0"/>
                                  <a:ea typeface="Times New Roman" panose="02020603050405020304" pitchFamily="18" charset="0"/>
                                  <a:cs typeface="Times New Roman" panose="02020603050405020304" pitchFamily="18" charset="0"/>
                                </a:rPr>
                                <m:t>𝑠</m:t>
                              </m:r>
                            </m:e>
                          </m:d>
                        </m:e>
                      </m:func>
                    </m:oMath>
                  </m:oMathPara>
                </a14:m>
                <a:endParaRPr lang="es-BO" i="1" dirty="0">
                  <a:latin typeface="Cambria Math" panose="02040503050406030204" pitchFamily="18" charset="0"/>
                  <a:ea typeface="Times New Roman" panose="02020603050405020304" pitchFamily="18" charset="0"/>
                  <a:cs typeface="Times New Roman" panose="02020603050405020304" pitchFamily="18" charset="0"/>
                </a:endParaRPr>
              </a:p>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s-BO" b="0" i="1">
                              <a:latin typeface="Cambria Math" panose="02040503050406030204" pitchFamily="18" charset="0"/>
                              <a:ea typeface="Times New Roman" panose="02020603050405020304" pitchFamily="18" charset="0"/>
                              <a:cs typeface="Times New Roman" panose="02020603050405020304" pitchFamily="18" charset="0"/>
                            </a:rPr>
                            <m:t>𝑦</m:t>
                          </m:r>
                        </m:e>
                        <m:sub>
                          <m:r>
                            <a:rPr lang="es-BO" b="0" i="1">
                              <a:latin typeface="Cambria Math" panose="02040503050406030204" pitchFamily="18" charset="0"/>
                              <a:ea typeface="Times New Roman" panose="02020603050405020304" pitchFamily="18" charset="0"/>
                              <a:cs typeface="Times New Roman" panose="02020603050405020304" pitchFamily="18" charset="0"/>
                            </a:rPr>
                            <m:t>∞</m:t>
                          </m:r>
                        </m:sub>
                      </m:sSub>
                      <m:r>
                        <a:rPr lang="es-BO" b="0" i="1">
                          <a:latin typeface="Cambria Math" panose="02040503050406030204" pitchFamily="18" charset="0"/>
                          <a:ea typeface="Times New Roman" panose="02020603050405020304" pitchFamily="18" charset="0"/>
                          <a:cs typeface="Times New Roman" panose="02020603050405020304" pitchFamily="18" charset="0"/>
                        </a:rPr>
                        <m:t>= </m:t>
                      </m:r>
                      <m:r>
                        <a:rPr lang="es-BO" b="0" i="1">
                          <a:latin typeface="Cambria Math" panose="02040503050406030204" pitchFamily="18" charset="0"/>
                          <a:ea typeface="Times New Roman" panose="02020603050405020304" pitchFamily="18" charset="0"/>
                          <a:cs typeface="Times New Roman" panose="02020603050405020304" pitchFamily="18" charset="0"/>
                        </a:rPr>
                        <m:t>𝑠</m:t>
                      </m:r>
                      <m:r>
                        <a:rPr lang="es-BO" b="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a:rPr lang="es-BO" b="0" i="1" smtClean="0">
                              <a:latin typeface="Cambria Math" panose="02040503050406030204" pitchFamily="18" charset="0"/>
                              <a:ea typeface="Times New Roman" panose="02020603050405020304" pitchFamily="18" charset="0"/>
                              <a:cs typeface="Times New Roman" panose="02020603050405020304" pitchFamily="18" charset="0"/>
                            </a:rPr>
                            <m:t>𝐴</m:t>
                          </m:r>
                        </m:num>
                        <m:den>
                          <m:r>
                            <a:rPr lang="es-BO" b="0" i="1">
                              <a:latin typeface="Cambria Math" panose="02040503050406030204" pitchFamily="18" charset="0"/>
                              <a:ea typeface="Times New Roman" panose="02020603050405020304" pitchFamily="18" charset="0"/>
                              <a:cs typeface="Times New Roman" panose="02020603050405020304" pitchFamily="18" charset="0"/>
                            </a:rPr>
                            <m:t>𝑠</m:t>
                          </m:r>
                        </m:den>
                      </m:f>
                      <m:r>
                        <a:rPr lang="es-BO" b="0"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rPr>
                          </m:ctrlPr>
                        </m:fPr>
                        <m:num>
                          <m:r>
                            <a:rPr lang="en-US" b="0" i="1">
                              <a:latin typeface="Cambria Math" panose="02040503050406030204" pitchFamily="18" charset="0"/>
                            </a:rPr>
                            <m:t>0,09</m:t>
                          </m:r>
                          <m:r>
                            <a:rPr lang="es-BO" b="0" i="1" smtClean="0">
                              <a:latin typeface="Cambria Math" panose="02040503050406030204" pitchFamily="18" charset="0"/>
                            </a:rPr>
                            <m:t>569</m:t>
                          </m:r>
                        </m:num>
                        <m:den>
                          <m:r>
                            <a:rPr lang="es-BO" b="0" i="1" smtClean="0">
                              <a:latin typeface="Cambria Math" panose="02040503050406030204" pitchFamily="18" charset="0"/>
                            </a:rPr>
                            <m:t>303</m:t>
                          </m:r>
                          <m:r>
                            <a:rPr lang="en-US" b="0" i="1">
                              <a:latin typeface="Cambria Math" panose="02040503050406030204" pitchFamily="18" charset="0"/>
                            </a:rPr>
                            <m:t>𝑠</m:t>
                          </m:r>
                          <m:r>
                            <a:rPr lang="en-US" b="0" i="1">
                              <a:latin typeface="Cambria Math" panose="02040503050406030204" pitchFamily="18" charset="0"/>
                            </a:rPr>
                            <m:t>+1</m:t>
                          </m:r>
                        </m:den>
                      </m:f>
                    </m:oMath>
                  </m:oMathPara>
                </a14:m>
                <a:endParaRPr lang="es-BO" i="1"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Rectángulo 7">
                <a:extLst>
                  <a:ext uri="{FF2B5EF4-FFF2-40B4-BE49-F238E27FC236}">
                    <a16:creationId xmlns:a16="http://schemas.microsoft.com/office/drawing/2014/main" id="{FD472BF1-15B1-F5DB-1004-09F8327EBB73}"/>
                  </a:ext>
                </a:extLst>
              </p:cNvPr>
              <p:cNvSpPr>
                <a:spLocks noRot="1" noChangeAspect="1" noMove="1" noResize="1" noEditPoints="1" noAdjustHandles="1" noChangeArrowheads="1" noChangeShapeType="1" noTextEdit="1"/>
              </p:cNvSpPr>
              <p:nvPr/>
            </p:nvSpPr>
            <p:spPr>
              <a:xfrm>
                <a:off x="2303860" y="4712222"/>
                <a:ext cx="4149897" cy="1823897"/>
              </a:xfrm>
              <a:prstGeom prst="rect">
                <a:avLst/>
              </a:prstGeom>
              <a:blipFill>
                <a:blip r:embed="rId5"/>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8A7B289C-DF0F-6D52-A3EE-2F2686E6AEEF}"/>
                  </a:ext>
                </a:extLst>
              </p:cNvPr>
              <p:cNvSpPr txBox="1"/>
              <p:nvPr/>
            </p:nvSpPr>
            <p:spPr>
              <a:xfrm>
                <a:off x="6096000" y="5872859"/>
                <a:ext cx="2274652" cy="521168"/>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06000"/>
                  </a:lnSpc>
                  <a:spcAft>
                    <a:spcPts val="800"/>
                  </a:spcAft>
                  <a:tabLst>
                    <a:tab pos="753745" algn="l"/>
                  </a:tabLst>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sz="2000" b="1" i="1">
                              <a:latin typeface="Cambria Math" panose="02040503050406030204" pitchFamily="18" charset="0"/>
                              <a:ea typeface="Times New Roman" panose="02020603050405020304" pitchFamily="18" charset="0"/>
                              <a:cs typeface="Times New Roman" panose="02020603050405020304" pitchFamily="18" charset="0"/>
                            </a:rPr>
                            <m:t>𝒚</m:t>
                          </m:r>
                        </m:e>
                        <m:sub>
                          <m:r>
                            <a:rPr lang="es-BO" sz="2000" b="1" i="1">
                              <a:latin typeface="Cambria Math" panose="02040503050406030204" pitchFamily="18" charset="0"/>
                              <a:ea typeface="Times New Roman" panose="02020603050405020304" pitchFamily="18" charset="0"/>
                              <a:cs typeface="Times New Roman" panose="02020603050405020304" pitchFamily="18" charset="0"/>
                            </a:rPr>
                            <m:t>∞</m:t>
                          </m:r>
                        </m:sub>
                      </m:sSub>
                      <m:r>
                        <a:rPr lang="es-BO" sz="2000" i="1">
                          <a:latin typeface="Cambria Math" panose="02040503050406030204" pitchFamily="18" charset="0"/>
                          <a:ea typeface="Calibri" panose="020F0502020204030204" pitchFamily="34" charset="0"/>
                          <a:cs typeface="Times New Roman" panose="02020603050405020304" pitchFamily="18" charset="0"/>
                        </a:rPr>
                        <m:t>=</m:t>
                      </m:r>
                      <m:r>
                        <a:rPr lang="es-BO" sz="2000" b="0" i="1" smtClean="0">
                          <a:latin typeface="Cambria Math" panose="02040503050406030204" pitchFamily="18" charset="0"/>
                          <a:ea typeface="Calibri" panose="020F0502020204030204" pitchFamily="34" charset="0"/>
                          <a:cs typeface="Times New Roman" panose="02020603050405020304" pitchFamily="18" charset="0"/>
                        </a:rPr>
                        <m:t>0</m:t>
                      </m:r>
                      <m:r>
                        <a:rPr lang="es-BO" sz="2000" i="1" smtClean="0">
                          <a:latin typeface="Cambria Math" panose="02040503050406030204" pitchFamily="18" charset="0"/>
                          <a:ea typeface="Calibri" panose="020F0502020204030204" pitchFamily="34" charset="0"/>
                          <a:cs typeface="Times New Roman" panose="02020603050405020304" pitchFamily="18" charset="0"/>
                        </a:rPr>
                        <m:t>.0</m:t>
                      </m:r>
                      <m:r>
                        <a:rPr lang="es-BO" sz="2000" b="0" i="1" smtClean="0">
                          <a:latin typeface="Cambria Math" panose="02040503050406030204" pitchFamily="18" charset="0"/>
                          <a:ea typeface="Calibri" panose="020F0502020204030204" pitchFamily="34" charset="0"/>
                          <a:cs typeface="Times New Roman" panose="02020603050405020304" pitchFamily="18" charset="0"/>
                        </a:rPr>
                        <m:t>9569∗</m:t>
                      </m:r>
                      <m:r>
                        <a:rPr lang="es-BO" sz="2000" b="0" i="1" smtClean="0">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sz="24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9" name="CuadroTexto 8">
                <a:extLst>
                  <a:ext uri="{FF2B5EF4-FFF2-40B4-BE49-F238E27FC236}">
                    <a16:creationId xmlns:a16="http://schemas.microsoft.com/office/drawing/2014/main" id="{8A7B289C-DF0F-6D52-A3EE-2F2686E6AEEF}"/>
                  </a:ext>
                </a:extLst>
              </p:cNvPr>
              <p:cNvSpPr txBox="1">
                <a:spLocks noRot="1" noChangeAspect="1" noMove="1" noResize="1" noEditPoints="1" noAdjustHandles="1" noChangeArrowheads="1" noChangeShapeType="1" noTextEdit="1"/>
              </p:cNvSpPr>
              <p:nvPr/>
            </p:nvSpPr>
            <p:spPr>
              <a:xfrm>
                <a:off x="6096000" y="5872859"/>
                <a:ext cx="2274652" cy="521168"/>
              </a:xfrm>
              <a:prstGeom prst="rect">
                <a:avLst/>
              </a:prstGeom>
              <a:blipFill>
                <a:blip r:embed="rId6"/>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21872319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7D09E03-0E55-D10B-FD75-F110F4C61375}"/>
              </a:ext>
            </a:extLst>
          </p:cNvPr>
          <p:cNvSpPr txBox="1"/>
          <p:nvPr/>
        </p:nvSpPr>
        <p:spPr>
          <a:xfrm>
            <a:off x="2733774" y="660429"/>
            <a:ext cx="8090945" cy="584775"/>
          </a:xfrm>
          <a:prstGeom prst="rect">
            <a:avLst/>
          </a:prstGeom>
          <a:noFill/>
        </p:spPr>
        <p:txBody>
          <a:bodyPr wrap="square">
            <a:spAutoFit/>
          </a:bodyPr>
          <a:lstStyle/>
          <a:p>
            <a:r>
              <a:rPr lang="es-ES" sz="3200" b="1" dirty="0">
                <a:solidFill>
                  <a:srgbClr val="0070C0"/>
                </a:solidFill>
              </a:rPr>
              <a:t>Respuesta temporal</a:t>
            </a:r>
          </a:p>
        </p:txBody>
      </p:sp>
      <p:pic>
        <p:nvPicPr>
          <p:cNvPr id="6" name="Imagen 5">
            <a:extLst>
              <a:ext uri="{FF2B5EF4-FFF2-40B4-BE49-F238E27FC236}">
                <a16:creationId xmlns:a16="http://schemas.microsoft.com/office/drawing/2014/main" id="{35B16898-A98A-95CF-8D9E-AAC425D217D7}"/>
              </a:ext>
            </a:extLst>
          </p:cNvPr>
          <p:cNvPicPr>
            <a:picLocks noChangeAspect="1"/>
          </p:cNvPicPr>
          <p:nvPr/>
        </p:nvPicPr>
        <p:blipFill>
          <a:blip r:embed="rId2"/>
          <a:stretch>
            <a:fillRect/>
          </a:stretch>
        </p:blipFill>
        <p:spPr>
          <a:xfrm>
            <a:off x="2733776" y="1771419"/>
            <a:ext cx="5172267" cy="4042107"/>
          </a:xfrm>
          <a:prstGeom prst="rect">
            <a:avLst/>
          </a:prstGeom>
        </p:spPr>
      </p:pic>
      <p:pic>
        <p:nvPicPr>
          <p:cNvPr id="10" name="Imagen 9">
            <a:extLst>
              <a:ext uri="{FF2B5EF4-FFF2-40B4-BE49-F238E27FC236}">
                <a16:creationId xmlns:a16="http://schemas.microsoft.com/office/drawing/2014/main" id="{7A5FB8C6-0855-6209-1BB6-48A3B5489E2C}"/>
              </a:ext>
            </a:extLst>
          </p:cNvPr>
          <p:cNvPicPr>
            <a:picLocks noChangeAspect="1"/>
          </p:cNvPicPr>
          <p:nvPr/>
        </p:nvPicPr>
        <p:blipFill>
          <a:blip r:embed="rId3"/>
          <a:stretch>
            <a:fillRect/>
          </a:stretch>
        </p:blipFill>
        <p:spPr>
          <a:xfrm>
            <a:off x="2733775" y="1683698"/>
            <a:ext cx="5172267" cy="4217548"/>
          </a:xfrm>
          <a:prstGeom prst="rect">
            <a:avLst/>
          </a:prstGeom>
        </p:spPr>
      </p:pic>
      <p:pic>
        <p:nvPicPr>
          <p:cNvPr id="12" name="Imagen 11">
            <a:extLst>
              <a:ext uri="{FF2B5EF4-FFF2-40B4-BE49-F238E27FC236}">
                <a16:creationId xmlns:a16="http://schemas.microsoft.com/office/drawing/2014/main" id="{67EF9781-8656-986D-F3CD-9522DEDFC964}"/>
              </a:ext>
            </a:extLst>
          </p:cNvPr>
          <p:cNvPicPr>
            <a:picLocks noChangeAspect="1"/>
          </p:cNvPicPr>
          <p:nvPr/>
        </p:nvPicPr>
        <p:blipFill>
          <a:blip r:embed="rId4"/>
          <a:stretch>
            <a:fillRect/>
          </a:stretch>
        </p:blipFill>
        <p:spPr>
          <a:xfrm>
            <a:off x="8477012" y="1771419"/>
            <a:ext cx="2635488" cy="1663172"/>
          </a:xfrm>
          <a:prstGeom prst="rect">
            <a:avLst/>
          </a:prstGeom>
        </p:spPr>
      </p:pic>
    </p:spTree>
    <p:extLst>
      <p:ext uri="{BB962C8B-B14F-4D97-AF65-F5344CB8AC3E}">
        <p14:creationId xmlns:p14="http://schemas.microsoft.com/office/powerpoint/2010/main" val="406952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a:xfrm>
            <a:off x="2414148" y="2137952"/>
            <a:ext cx="8915399" cy="2262781"/>
          </a:xfrm>
        </p:spPr>
        <p:txBody>
          <a:bodyPr>
            <a:normAutofit fontScale="90000"/>
          </a:bodyPr>
          <a:lstStyle/>
          <a:p>
            <a:pPr algn="ctr"/>
            <a:r>
              <a:rPr lang="es-BO" sz="6000" b="1" dirty="0"/>
              <a:t>RESPUESTA EN FRECUENCIA DEL SISTEMA (EXPERIMENTAL)</a:t>
            </a:r>
          </a:p>
        </p:txBody>
      </p:sp>
    </p:spTree>
    <p:extLst>
      <p:ext uri="{BB962C8B-B14F-4D97-AF65-F5344CB8AC3E}">
        <p14:creationId xmlns:p14="http://schemas.microsoft.com/office/powerpoint/2010/main" val="4109038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489983" y="624110"/>
            <a:ext cx="9014630" cy="1280890"/>
          </a:xfrm>
        </p:spPr>
        <p:txBody>
          <a:bodyPr>
            <a:normAutofit/>
          </a:bodyPr>
          <a:lstStyle/>
          <a:p>
            <a:r>
              <a:rPr lang="es-BO" b="1" dirty="0">
                <a:solidFill>
                  <a:srgbClr val="0070C0"/>
                </a:solidFill>
              </a:rPr>
              <a:t>Respuesta en frecuencia</a:t>
            </a:r>
            <a:endParaRPr lang="en-US" b="1" dirty="0">
              <a:solidFill>
                <a:srgbClr val="0070C0"/>
              </a:solidFill>
            </a:endParaRPr>
          </a:p>
        </p:txBody>
      </p:sp>
      <p:sp>
        <p:nvSpPr>
          <p:cNvPr id="3" name="Marcador de contenido 2"/>
          <p:cNvSpPr>
            <a:spLocks noGrp="1"/>
          </p:cNvSpPr>
          <p:nvPr>
            <p:ph idx="1"/>
          </p:nvPr>
        </p:nvSpPr>
        <p:spPr>
          <a:xfrm>
            <a:off x="2489983" y="1414881"/>
            <a:ext cx="9115864" cy="776648"/>
          </a:xfrm>
        </p:spPr>
        <p:txBody>
          <a:bodyPr/>
          <a:lstStyle/>
          <a:p>
            <a:pPr marL="0" indent="0">
              <a:buNone/>
            </a:pPr>
            <a:r>
              <a:rPr lang="es-ES" sz="2000" dirty="0"/>
              <a:t>Describe la respuesta en estado estacionario de un sistema a las entradas sinusoidales de frecuencias variables</a:t>
            </a:r>
            <a:endParaRPr lang="en-US" sz="2000" dirty="0"/>
          </a:p>
          <a:p>
            <a:pPr marL="0" indent="0">
              <a:buNone/>
            </a:pPr>
            <a:endParaRPr lang="en-US" dirty="0"/>
          </a:p>
        </p:txBody>
      </p:sp>
      <p:sp>
        <p:nvSpPr>
          <p:cNvPr id="5" name="Flecha izquierda 4"/>
          <p:cNvSpPr/>
          <p:nvPr/>
        </p:nvSpPr>
        <p:spPr>
          <a:xfrm>
            <a:off x="7733920" y="4479956"/>
            <a:ext cx="2516777" cy="145433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BO" dirty="0"/>
              <a:t>SISTEMA ESTABLE</a:t>
            </a:r>
            <a:endParaRPr lang="en-US" dirty="0"/>
          </a:p>
        </p:txBody>
      </p:sp>
      <p:sp>
        <p:nvSpPr>
          <p:cNvPr id="8" name="Marcador de contenido 2">
            <a:extLst>
              <a:ext uri="{FF2B5EF4-FFF2-40B4-BE49-F238E27FC236}">
                <a16:creationId xmlns:a16="http://schemas.microsoft.com/office/drawing/2014/main" id="{9F9862F8-D693-909B-BA16-FC0106243764}"/>
              </a:ext>
            </a:extLst>
          </p:cNvPr>
          <p:cNvSpPr txBox="1">
            <a:spLocks/>
          </p:cNvSpPr>
          <p:nvPr/>
        </p:nvSpPr>
        <p:spPr>
          <a:xfrm>
            <a:off x="7410737" y="2322315"/>
            <a:ext cx="4210330" cy="49467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s-BO" sz="2000" dirty="0"/>
              <a:t>Función de transferencia:</a:t>
            </a:r>
          </a:p>
          <a:p>
            <a:pPr marL="0" indent="0">
              <a:buFont typeface="Wingdings 3" charset="2"/>
              <a:buNone/>
            </a:pPr>
            <a:endParaRPr lang="es-BO" sz="2000" dirty="0"/>
          </a:p>
          <a:p>
            <a:pPr marL="0" indent="0">
              <a:buFont typeface="Wingdings 3" charset="2"/>
              <a:buNone/>
            </a:pPr>
            <a:endParaRPr lang="es-BO" sz="2000" dirty="0"/>
          </a:p>
          <a:p>
            <a:pPr marL="0" indent="0">
              <a:buFont typeface="Wingdings 3" charset="2"/>
              <a:buNone/>
            </a:pPr>
            <a:endParaRPr lang="en-US" dirty="0"/>
          </a:p>
        </p:txBody>
      </p:sp>
      <mc:AlternateContent xmlns:mc="http://schemas.openxmlformats.org/markup-compatibility/2006" xmlns:a14="http://schemas.microsoft.com/office/drawing/2010/main">
        <mc:Choice Requires="a14">
          <p:sp>
            <p:nvSpPr>
              <p:cNvPr id="15" name="Rectángulo 14">
                <a:extLst>
                  <a:ext uri="{FF2B5EF4-FFF2-40B4-BE49-F238E27FC236}">
                    <a16:creationId xmlns:a16="http://schemas.microsoft.com/office/drawing/2014/main" id="{42C56B0F-8EEA-B1D4-B0BF-143AB5971807}"/>
                  </a:ext>
                </a:extLst>
              </p:cNvPr>
              <p:cNvSpPr/>
              <p:nvPr/>
            </p:nvSpPr>
            <p:spPr>
              <a:xfrm>
                <a:off x="7923086" y="3429000"/>
                <a:ext cx="2516777" cy="78617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s-ES_tradnl" sz="2400" b="1" i="1" smtClean="0">
                          <a:latin typeface="Cambria Math" panose="02040503050406030204" pitchFamily="18" charset="0"/>
                          <a:ea typeface="Calibri" panose="020F0502020204030204" pitchFamily="34" charset="0"/>
                          <a:cs typeface="Calibri" panose="020F0502020204030204" pitchFamily="34" charset="0"/>
                        </a:rPr>
                        <m:t>𝒔</m:t>
                      </m:r>
                      <m:r>
                        <a:rPr lang="es-BO" sz="2400" b="1" i="1" smtClean="0">
                          <a:latin typeface="Cambria Math" panose="02040503050406030204" pitchFamily="18" charset="0"/>
                          <a:ea typeface="Calibri" panose="020F0502020204030204" pitchFamily="34" charset="0"/>
                          <a:cs typeface="Calibri" panose="020F0502020204030204" pitchFamily="34" charset="0"/>
                        </a:rPr>
                        <m:t>=−</m:t>
                      </m:r>
                      <m:f>
                        <m:fPr>
                          <m:ctrlPr>
                            <a:rPr lang="es-BO" sz="2400" b="1" i="1" smtClean="0">
                              <a:latin typeface="Cambria Math" panose="02040503050406030204" pitchFamily="18" charset="0"/>
                              <a:ea typeface="Calibri" panose="020F0502020204030204" pitchFamily="34" charset="0"/>
                              <a:cs typeface="Calibri" panose="020F0502020204030204" pitchFamily="34" charset="0"/>
                            </a:rPr>
                          </m:ctrlPr>
                        </m:fPr>
                        <m:num>
                          <m:r>
                            <a:rPr lang="es-ES_tradnl" sz="2400" b="1" i="1">
                              <a:latin typeface="Cambria Math" panose="02040503050406030204" pitchFamily="18" charset="0"/>
                              <a:ea typeface="Calibri" panose="020F0502020204030204" pitchFamily="34" charset="0"/>
                              <a:cs typeface="Calibri" panose="020F0502020204030204" pitchFamily="34" charset="0"/>
                            </a:rPr>
                            <m:t>𝟏</m:t>
                          </m:r>
                        </m:num>
                        <m:den>
                          <m:r>
                            <a:rPr lang="es-BO" sz="2400" b="1" i="1" smtClean="0">
                              <a:latin typeface="Cambria Math" panose="02040503050406030204" pitchFamily="18" charset="0"/>
                              <a:ea typeface="Calibri" panose="020F0502020204030204" pitchFamily="34" charset="0"/>
                              <a:cs typeface="Calibri" panose="020F0502020204030204" pitchFamily="34" charset="0"/>
                            </a:rPr>
                            <m:t>𝟑𝟎𝟑</m:t>
                          </m:r>
                        </m:den>
                      </m:f>
                    </m:oMath>
                  </m:oMathPara>
                </a14:m>
                <a:endParaRPr lang="en-US" sz="2400" dirty="0"/>
              </a:p>
            </p:txBody>
          </p:sp>
        </mc:Choice>
        <mc:Fallback xmlns="">
          <p:sp>
            <p:nvSpPr>
              <p:cNvPr id="15" name="Rectángulo 14">
                <a:extLst>
                  <a:ext uri="{FF2B5EF4-FFF2-40B4-BE49-F238E27FC236}">
                    <a16:creationId xmlns:a16="http://schemas.microsoft.com/office/drawing/2014/main" id="{42C56B0F-8EEA-B1D4-B0BF-143AB5971807}"/>
                  </a:ext>
                </a:extLst>
              </p:cNvPr>
              <p:cNvSpPr>
                <a:spLocks noRot="1" noChangeAspect="1" noMove="1" noResize="1" noEditPoints="1" noAdjustHandles="1" noChangeArrowheads="1" noChangeShapeType="1" noTextEdit="1"/>
              </p:cNvSpPr>
              <p:nvPr/>
            </p:nvSpPr>
            <p:spPr>
              <a:xfrm>
                <a:off x="7923086" y="3429000"/>
                <a:ext cx="2516777" cy="786177"/>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6" name="Rectángulo 15">
                <a:extLst>
                  <a:ext uri="{FF2B5EF4-FFF2-40B4-BE49-F238E27FC236}">
                    <a16:creationId xmlns:a16="http://schemas.microsoft.com/office/drawing/2014/main" id="{4C319972-3721-9E74-3CC3-1E20B2063F4C}"/>
                  </a:ext>
                </a:extLst>
              </p:cNvPr>
              <p:cNvSpPr/>
              <p:nvPr/>
            </p:nvSpPr>
            <p:spPr>
              <a:xfrm>
                <a:off x="7581520" y="2764716"/>
                <a:ext cx="3602295" cy="725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G</m:t>
                      </m:r>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s</m:t>
                      </m:r>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m:t>
                          </m:r>
                          <m:r>
                            <a:rPr lang="es-BO" sz="2000" b="0" i="1" smtClean="0">
                              <a:latin typeface="Cambria Math" panose="02040503050406030204" pitchFamily="18" charset="0"/>
                              <a:ea typeface="Calibri" panose="020F0502020204030204" pitchFamily="34" charset="0"/>
                              <a:cs typeface="Times New Roman" panose="02020603050405020304" pitchFamily="18" charset="0"/>
                            </a:rPr>
                            <m:t>569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b="0" i="1" smtClean="0">
                              <a:latin typeface="Cambria Math" panose="02040503050406030204" pitchFamily="18" charset="0"/>
                              <a:ea typeface="Calibri" panose="020F0502020204030204" pitchFamily="34" charset="0"/>
                              <a:cs typeface="Times New Roman" panose="02020603050405020304" pitchFamily="18" charset="0"/>
                            </a:rPr>
                            <m:t>303</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2000" dirty="0"/>
              </a:p>
            </p:txBody>
          </p:sp>
        </mc:Choice>
        <mc:Fallback xmlns="">
          <p:sp>
            <p:nvSpPr>
              <p:cNvPr id="16" name="Rectángulo 15">
                <a:extLst>
                  <a:ext uri="{FF2B5EF4-FFF2-40B4-BE49-F238E27FC236}">
                    <a16:creationId xmlns:a16="http://schemas.microsoft.com/office/drawing/2014/main" id="{4C319972-3721-9E74-3CC3-1E20B2063F4C}"/>
                  </a:ext>
                </a:extLst>
              </p:cNvPr>
              <p:cNvSpPr>
                <a:spLocks noRot="1" noChangeAspect="1" noMove="1" noResize="1" noEditPoints="1" noAdjustHandles="1" noChangeArrowheads="1" noChangeShapeType="1" noTextEdit="1"/>
              </p:cNvSpPr>
              <p:nvPr/>
            </p:nvSpPr>
            <p:spPr>
              <a:xfrm>
                <a:off x="7581520" y="2764716"/>
                <a:ext cx="3602295" cy="725135"/>
              </a:xfrm>
              <a:prstGeom prst="rect">
                <a:avLst/>
              </a:prstGeom>
              <a:blipFill>
                <a:blip r:embed="rId3"/>
                <a:stretch>
                  <a:fillRect/>
                </a:stretch>
              </a:blipFill>
            </p:spPr>
            <p:txBody>
              <a:bodyPr/>
              <a:lstStyle/>
              <a:p>
                <a:r>
                  <a:rPr lang="es-BO">
                    <a:noFill/>
                  </a:rPr>
                  <a:t> </a:t>
                </a:r>
              </a:p>
            </p:txBody>
          </p:sp>
        </mc:Fallback>
      </mc:AlternateContent>
      <p:pic>
        <p:nvPicPr>
          <p:cNvPr id="6" name="Imagen 5">
            <a:extLst>
              <a:ext uri="{FF2B5EF4-FFF2-40B4-BE49-F238E27FC236}">
                <a16:creationId xmlns:a16="http://schemas.microsoft.com/office/drawing/2014/main" id="{C78A9EF8-4509-83FF-FF2B-D944038C3560}"/>
              </a:ext>
            </a:extLst>
          </p:cNvPr>
          <p:cNvPicPr>
            <a:picLocks noChangeAspect="1"/>
          </p:cNvPicPr>
          <p:nvPr/>
        </p:nvPicPr>
        <p:blipFill>
          <a:blip r:embed="rId4"/>
          <a:stretch>
            <a:fillRect/>
          </a:stretch>
        </p:blipFill>
        <p:spPr>
          <a:xfrm>
            <a:off x="2390706" y="2401127"/>
            <a:ext cx="4934639" cy="3858163"/>
          </a:xfrm>
          <a:prstGeom prst="rect">
            <a:avLst/>
          </a:prstGeom>
        </p:spPr>
      </p:pic>
    </p:spTree>
    <p:extLst>
      <p:ext uri="{BB962C8B-B14F-4D97-AF65-F5344CB8AC3E}">
        <p14:creationId xmlns:p14="http://schemas.microsoft.com/office/powerpoint/2010/main" val="26591164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ángulo 3"/>
              <p:cNvSpPr/>
              <p:nvPr/>
            </p:nvSpPr>
            <p:spPr>
              <a:xfrm>
                <a:off x="1797734" y="1285725"/>
                <a:ext cx="5852160" cy="1945148"/>
              </a:xfrm>
              <a:prstGeom prst="rect">
                <a:avLst/>
              </a:prstGeom>
            </p:spPr>
            <p:txBody>
              <a:bodyPr wrap="square">
                <a:sp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𝑴𝒂𝒓𝒈𝒆𝒏</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𝒅𝒆</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𝒍𝒂</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𝒈𝒂𝒏𝒂𝒏𝒄𝒊𝒂</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n-US"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ctrlPr>
                        </m:dPr>
                        <m:e>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𝑮𝒑</m:t>
                          </m:r>
                        </m:e>
                      </m:d>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𝒌</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2000" dirty="0">
                  <a:solidFill>
                    <a:srgbClr val="002060"/>
                  </a:solidFill>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f>
                        <m:fPr>
                          <m:ctrlPr>
                            <a:rPr lang="en-US" sz="2400" i="1">
                              <a:latin typeface="Cambria Math" panose="02040503050406030204" pitchFamily="18" charset="0"/>
                              <a:ea typeface="Calibri" panose="020F0502020204030204" pitchFamily="34" charset="0"/>
                              <a:cs typeface="Times New Roman" panose="02020603050405020304" pitchFamily="18" charset="0"/>
                            </a:rPr>
                          </m:ctrlPr>
                        </m:fPr>
                        <m:num>
                          <m:r>
                            <a:rPr lang="es-BO" sz="2400" i="1">
                              <a:latin typeface="Cambria Math" panose="02040503050406030204" pitchFamily="18" charset="0"/>
                              <a:ea typeface="Calibri" panose="020F0502020204030204" pitchFamily="34" charset="0"/>
                              <a:cs typeface="Times New Roman" panose="02020603050405020304" pitchFamily="18" charset="0"/>
                            </a:rPr>
                            <m:t>0.0</m:t>
                          </m:r>
                          <m:r>
                            <a:rPr lang="es-BO" sz="2400" b="0" i="1" smtClean="0">
                              <a:latin typeface="Cambria Math" panose="02040503050406030204" pitchFamily="18" charset="0"/>
                              <a:ea typeface="Calibri" panose="020F0502020204030204" pitchFamily="34" charset="0"/>
                              <a:cs typeface="Times New Roman" panose="02020603050405020304" pitchFamily="18" charset="0"/>
                            </a:rPr>
                            <m:t>9569</m:t>
                          </m:r>
                        </m:num>
                        <m:den>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i="1" smtClean="0">
                              <a:latin typeface="Cambria Math" panose="02040503050406030204" pitchFamily="18" charset="0"/>
                              <a:ea typeface="Calibri" panose="020F0502020204030204" pitchFamily="34" charset="0"/>
                              <a:cs typeface="Times New Roman" panose="02020603050405020304" pitchFamily="18" charset="0"/>
                            </a:rPr>
                            <m:t>3</m:t>
                          </m:r>
                          <m:r>
                            <a:rPr lang="es-BO" sz="2400" b="0" i="1" smtClean="0">
                              <a:latin typeface="Cambria Math" panose="02040503050406030204" pitchFamily="18" charset="0"/>
                              <a:ea typeface="Calibri" panose="020F0502020204030204" pitchFamily="34" charset="0"/>
                              <a:cs typeface="Times New Roman" panose="02020603050405020304" pitchFamily="18" charset="0"/>
                            </a:rPr>
                            <m:t>03</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ES_tradnl" sz="2400" i="1">
                              <a:latin typeface="Cambria Math" panose="02040503050406030204" pitchFamily="18" charset="0"/>
                              <a:ea typeface="Calibri" panose="020F0502020204030204" pitchFamily="34" charset="0"/>
                              <a:cs typeface="Times New Roman" panose="02020603050405020304" pitchFamily="18" charset="0"/>
                            </a:rPr>
                            <m:t>𝑠</m:t>
                          </m:r>
                          <m:r>
                            <a:rPr lang="es-BO" sz="2400" i="1">
                              <a:latin typeface="Cambria Math" panose="02040503050406030204" pitchFamily="18" charset="0"/>
                              <a:ea typeface="Calibri" panose="020F0502020204030204" pitchFamily="34" charset="0"/>
                              <a:cs typeface="Times New Roman" panose="02020603050405020304" pitchFamily="18" charset="0"/>
                            </a:rPr>
                            <m:t>+1</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den>
                      </m:f>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b="0" i="1" smtClean="0">
                          <a:latin typeface="Cambria Math" panose="02040503050406030204" pitchFamily="18" charset="0"/>
                          <a:ea typeface="Calibri" panose="020F0502020204030204" pitchFamily="34" charset="0"/>
                          <a:cs typeface="Times New Roman" panose="02020603050405020304" pitchFamily="18" charset="0"/>
                        </a:rPr>
                        <m:t>𝑘</m:t>
                      </m:r>
                    </m:oMath>
                  </m:oMathPara>
                </a14:m>
                <a:endParaRPr lang="en-US" sz="2400"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ES_tradnl" sz="2400" b="1" i="1">
                          <a:latin typeface="Cambria Math" panose="02040503050406030204" pitchFamily="18" charset="0"/>
                          <a:ea typeface="Calibri" panose="020F0502020204030204" pitchFamily="34" charset="0"/>
                          <a:cs typeface="Times New Roman" panose="02020603050405020304" pitchFamily="18" charset="0"/>
                        </a:rPr>
                        <m:t>𝑲</m:t>
                      </m:r>
                      <m:r>
                        <a:rPr lang="es-ES_tradnl" sz="2400" i="1">
                          <a:latin typeface="Cambria Math" panose="02040503050406030204" pitchFamily="18" charset="0"/>
                          <a:ea typeface="Calibri" panose="020F0502020204030204" pitchFamily="34" charset="0"/>
                          <a:cs typeface="Times New Roman" panose="02020603050405020304" pitchFamily="18" charset="0"/>
                        </a:rPr>
                        <m:t>=</m:t>
                      </m:r>
                      <m:r>
                        <a:rPr lang="es-BO" sz="2400" i="1">
                          <a:latin typeface="Cambria Math" panose="02040503050406030204" pitchFamily="18" charset="0"/>
                          <a:ea typeface="Calibri" panose="020F0502020204030204" pitchFamily="34" charset="0"/>
                          <a:cs typeface="Times New Roman" panose="02020603050405020304" pitchFamily="18" charset="0"/>
                        </a:rPr>
                        <m:t>0.09</m:t>
                      </m:r>
                      <m:r>
                        <a:rPr lang="es-BO" sz="2400" b="0" i="1" smtClean="0">
                          <a:latin typeface="Cambria Math" panose="02040503050406030204" pitchFamily="18" charset="0"/>
                          <a:ea typeface="Calibri" panose="020F0502020204030204" pitchFamily="34" charset="0"/>
                          <a:cs typeface="Times New Roman" panose="02020603050405020304" pitchFamily="18" charset="0"/>
                        </a:rPr>
                        <m:t>569</m:t>
                      </m:r>
                    </m:oMath>
                  </m:oMathPara>
                </a14:m>
                <a:endParaRPr lang="en-US"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4" name="Rectángulo 3"/>
              <p:cNvSpPr>
                <a:spLocks noRot="1" noChangeAspect="1" noMove="1" noResize="1" noEditPoints="1" noAdjustHandles="1" noChangeArrowheads="1" noChangeShapeType="1" noTextEdit="1"/>
              </p:cNvSpPr>
              <p:nvPr/>
            </p:nvSpPr>
            <p:spPr>
              <a:xfrm>
                <a:off x="1797734" y="1285725"/>
                <a:ext cx="5852160" cy="1945148"/>
              </a:xfrm>
              <a:prstGeom prst="rect">
                <a:avLst/>
              </a:prstGeom>
              <a:blipFill>
                <a:blip r:embed="rId2"/>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5" name="Rectángulo 4"/>
              <p:cNvSpPr/>
              <p:nvPr/>
            </p:nvSpPr>
            <p:spPr>
              <a:xfrm>
                <a:off x="2409697" y="3526783"/>
                <a:ext cx="6096000" cy="2196114"/>
              </a:xfrm>
              <a:prstGeom prst="rect">
                <a:avLst/>
              </a:prstGeom>
            </p:spPr>
            <p:txBody>
              <a:bodyPr>
                <a:spAutoFit/>
              </a:bodyPr>
              <a:lstStyle/>
              <a:p>
                <a:pPr>
                  <a:lnSpc>
                    <a:spcPct val="107000"/>
                  </a:lnSpc>
                  <a:spcAft>
                    <a:spcPts val="800"/>
                  </a:spcAft>
                </a:pPr>
                <a:r>
                  <a:rPr lang="es-BO" sz="2000" b="1" dirty="0">
                    <a:solidFill>
                      <a:srgbClr val="002060"/>
                    </a:solidFill>
                    <a:ea typeface="Calibri" panose="020F0502020204030204" pitchFamily="34" charset="0"/>
                    <a:cs typeface="Times New Roman" panose="02020603050405020304" pitchFamily="18" charset="0"/>
                  </a:rPr>
                  <a:t>M</a:t>
                </a:r>
                <a14:m>
                  <m:oMath xmlns:m="http://schemas.openxmlformats.org/officeDocument/2006/math">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𝒂𝒓𝒈𝒆𝒏</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𝒅𝒆</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𝒇𝒂𝒔𝒆</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BO" sz="2000" b="1" i="1" smtClean="0">
                        <a:solidFill>
                          <a:srgbClr val="002060"/>
                        </a:solidFill>
                        <a:latin typeface="Cambria Math" panose="02040503050406030204" pitchFamily="18" charset="0"/>
                        <a:ea typeface="Calibri" panose="020F0502020204030204" pitchFamily="34" charset="0"/>
                        <a:cs typeface="Times New Roman" panose="02020603050405020304" pitchFamily="18" charset="0"/>
                      </a:rPr>
                      <m:t> </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&lt;</m:t>
                    </m:r>
                    <m:r>
                      <a:rPr lang="es-ES_tradnl" sz="2000" b="1" i="1">
                        <a:solidFill>
                          <a:srgbClr val="002060"/>
                        </a:solidFill>
                        <a:latin typeface="Cambria Math" panose="02040503050406030204" pitchFamily="18" charset="0"/>
                        <a:ea typeface="Calibri" panose="020F0502020204030204" pitchFamily="34" charset="0"/>
                        <a:cs typeface="Times New Roman" panose="02020603050405020304" pitchFamily="18" charset="0"/>
                      </a:rPr>
                      <m:t>𝑮𝒑</m:t>
                    </m:r>
                    <m:r>
                      <a:rPr lang="es-ES_tradnl" sz="2000" b="1" i="1">
                        <a:latin typeface="Cambria Math" panose="02040503050406030204" pitchFamily="18" charset="0"/>
                        <a:ea typeface="Calibri" panose="020F0502020204030204" pitchFamily="34" charset="0"/>
                        <a:cs typeface="Times New Roman" panose="02020603050405020304" pitchFamily="18" charset="0"/>
                      </a:rPr>
                      <m:t>=&lt;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m:t>
                        </m:r>
                        <m:r>
                          <a:rPr lang="es-BO" sz="2000" b="0" i="1" smtClean="0">
                            <a:latin typeface="Cambria Math" panose="02040503050406030204" pitchFamily="18" charset="0"/>
                            <a:ea typeface="Calibri" panose="020F0502020204030204" pitchFamily="34" charset="0"/>
                            <a:cs typeface="Times New Roman" panose="02020603050405020304" pitchFamily="18" charset="0"/>
                          </a:rPr>
                          <m:t>569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b="0" i="1" smtClean="0">
                            <a:latin typeface="Cambria Math" panose="02040503050406030204" pitchFamily="18" charset="0"/>
                            <a:ea typeface="Calibri" panose="020F0502020204030204" pitchFamily="34" charset="0"/>
                            <a:cs typeface="Times New Roman" panose="02020603050405020304" pitchFamily="18" charset="0"/>
                          </a:rPr>
                          <m:t>303</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a14:m>
                <a:endParaRPr lang="es-BO" sz="2000" i="1" dirty="0">
                  <a:latin typeface="Cambria Math" panose="020405030504060302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ea typeface="Calibri" panose="020F0502020204030204" pitchFamily="34" charset="0"/>
                          <a:cs typeface="Times New Roman" panose="02020603050405020304" pitchFamily="18" charset="0"/>
                        </a:rPr>
                        <m:t>&lt;</m:t>
                      </m:r>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r>
                            <a:rPr lang="es-BO" i="1">
                              <a:latin typeface="Cambria Math" panose="02040503050406030204" pitchFamily="18" charset="0"/>
                              <a:ea typeface="Calibri" panose="020F0502020204030204" pitchFamily="34" charset="0"/>
                              <a:cs typeface="Times New Roman" panose="02020603050405020304" pitchFamily="18" charset="0"/>
                            </a:rPr>
                            <m:t>0.09</m:t>
                          </m:r>
                          <m:r>
                            <a:rPr lang="es-BO" b="0" i="1" smtClean="0">
                              <a:latin typeface="Cambria Math" panose="02040503050406030204" pitchFamily="18" charset="0"/>
                              <a:ea typeface="Calibri" panose="020F0502020204030204" pitchFamily="34" charset="0"/>
                              <a:cs typeface="Times New Roman" panose="02020603050405020304" pitchFamily="18" charset="0"/>
                            </a:rPr>
                            <m:t>569</m:t>
                          </m:r>
                        </m:num>
                        <m:den>
                          <m:r>
                            <a:rPr lang="es-ES_tradnl" i="1">
                              <a:latin typeface="Cambria Math" panose="02040503050406030204" pitchFamily="18" charset="0"/>
                              <a:ea typeface="Calibri" panose="020F0502020204030204" pitchFamily="34" charset="0"/>
                              <a:cs typeface="Times New Roman" panose="02020603050405020304" pitchFamily="18" charset="0"/>
                            </a:rPr>
                            <m:t>(</m:t>
                          </m:r>
                          <m:r>
                            <a:rPr lang="es-BO" b="0" i="1" smtClean="0">
                              <a:latin typeface="Cambria Math" panose="02040503050406030204" pitchFamily="18" charset="0"/>
                              <a:ea typeface="Calibri" panose="020F0502020204030204" pitchFamily="34" charset="0"/>
                              <a:cs typeface="Times New Roman" panose="02020603050405020304" pitchFamily="18" charset="0"/>
                            </a:rPr>
                            <m:t>303</m:t>
                          </m:r>
                          <m:r>
                            <a:rPr lang="es-ES_tradnl" i="1">
                              <a:latin typeface="Cambria Math" panose="02040503050406030204" pitchFamily="18" charset="0"/>
                              <a:ea typeface="Calibri" panose="020F0502020204030204" pitchFamily="34" charset="0"/>
                              <a:cs typeface="Times New Roman" panose="02020603050405020304" pitchFamily="18" charset="0"/>
                            </a:rPr>
                            <m:t>∗</m:t>
                          </m:r>
                          <m:r>
                            <a:rPr lang="es-BO" b="0" i="1" smtClean="0">
                              <a:latin typeface="Cambria Math" panose="02040503050406030204" pitchFamily="18" charset="0"/>
                              <a:ea typeface="Calibri" panose="020F0502020204030204" pitchFamily="34" charset="0"/>
                              <a:cs typeface="Times New Roman" panose="02020603050405020304" pitchFamily="18" charset="0"/>
                            </a:rPr>
                            <m:t>𝑗𝑤</m:t>
                          </m:r>
                          <m:r>
                            <a:rPr lang="es-BO" i="1">
                              <a:latin typeface="Cambria Math" panose="02040503050406030204" pitchFamily="18" charset="0"/>
                              <a:ea typeface="Calibri" panose="020F0502020204030204" pitchFamily="34" charset="0"/>
                              <a:cs typeface="Times New Roman" panose="02020603050405020304" pitchFamily="18" charset="0"/>
                            </a:rPr>
                            <m:t>+1</m:t>
                          </m:r>
                          <m:r>
                            <a:rPr lang="es-ES_tradnl"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s-ES_tradnl" i="1">
                              <a:latin typeface="Cambria Math" panose="02040503050406030204" pitchFamily="18" charset="0"/>
                              <a:ea typeface="Calibri" panose="020F0502020204030204" pitchFamily="34" charset="0"/>
                              <a:cs typeface="Times New Roman" panose="02020603050405020304" pitchFamily="18" charset="0"/>
                            </a:rPr>
                            <m:t>𝜃</m:t>
                          </m:r>
                        </m:e>
                        <m:sub>
                          <m:r>
                            <a:rPr lang="es-BO" b="0" i="1" smtClean="0">
                              <a:latin typeface="Cambria Math" panose="02040503050406030204" pitchFamily="18" charset="0"/>
                              <a:ea typeface="Calibri" panose="020F0502020204030204" pitchFamily="34" charset="0"/>
                              <a:cs typeface="Times New Roman" panose="02020603050405020304" pitchFamily="18" charset="0"/>
                            </a:rPr>
                            <m:t>𝑝</m:t>
                          </m:r>
                        </m:sub>
                      </m:sSub>
                      <m:r>
                        <a:rPr lang="es-ES_tradnl" i="1">
                          <a:latin typeface="Cambria Math" panose="02040503050406030204" pitchFamily="18" charset="0"/>
                          <a:ea typeface="Calibri" panose="020F0502020204030204" pitchFamily="34" charset="0"/>
                          <a:cs typeface="Times New Roman" panose="020206030504050203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s-ES_tradnl">
                                  <a:latin typeface="Cambria Math" panose="02040503050406030204" pitchFamily="18" charset="0"/>
                                </a:rPr>
                                <m:t>tan</m:t>
                              </m:r>
                            </m:e>
                            <m:sup>
                              <m:r>
                                <a:rPr lang="es-ES_tradnl" i="1">
                                  <a:latin typeface="Cambria Math" panose="02040503050406030204" pitchFamily="18" charset="0"/>
                                </a:rPr>
                                <m:t>−1</m:t>
                              </m:r>
                            </m:sup>
                          </m:sSup>
                        </m:fName>
                        <m:e>
                          <m:d>
                            <m:dPr>
                              <m:ctrlPr>
                                <a:rPr lang="es-ES_tradnl" i="1">
                                  <a:latin typeface="Cambria Math" panose="02040503050406030204" pitchFamily="18" charset="0"/>
                                </a:rPr>
                              </m:ctrlPr>
                            </m:dPr>
                            <m:e>
                              <m:f>
                                <m:fPr>
                                  <m:ctrlPr>
                                    <a:rPr lang="en-US" i="1">
                                      <a:latin typeface="Cambria Math" panose="02040503050406030204" pitchFamily="18" charset="0"/>
                                    </a:rPr>
                                  </m:ctrlPr>
                                </m:fPr>
                                <m:num>
                                  <m:r>
                                    <a:rPr lang="es-BO" b="0" i="1" smtClean="0">
                                      <a:latin typeface="Cambria Math" panose="02040503050406030204" pitchFamily="18" charset="0"/>
                                    </a:rPr>
                                    <m:t>0</m:t>
                                  </m:r>
                                </m:num>
                                <m:den>
                                  <m:r>
                                    <a:rPr lang="es-BO" b="0" i="1" smtClean="0">
                                      <a:latin typeface="Cambria Math" panose="02040503050406030204" pitchFamily="18" charset="0"/>
                                    </a:rPr>
                                    <m:t>0.09569</m:t>
                                  </m:r>
                                </m:den>
                              </m:f>
                            </m:e>
                          </m:d>
                        </m:e>
                      </m:func>
                      <m:r>
                        <a:rPr lang="es-BO" b="0" i="1" smtClean="0">
                          <a:latin typeface="Cambria Math" panose="02040503050406030204" pitchFamily="18" charset="0"/>
                          <a:ea typeface="Calibri" panose="020F0502020204030204" pitchFamily="34" charset="0"/>
                          <a:cs typeface="Times New Roman" panose="020206030504050203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s-ES_tradnl">
                                  <a:latin typeface="Cambria Math" panose="02040503050406030204" pitchFamily="18" charset="0"/>
                                </a:rPr>
                                <m:t>tan</m:t>
                              </m:r>
                            </m:e>
                            <m:sup>
                              <m:r>
                                <a:rPr lang="es-ES_tradnl" i="1">
                                  <a:latin typeface="Cambria Math" panose="02040503050406030204" pitchFamily="18" charset="0"/>
                                </a:rPr>
                                <m:t>−1</m:t>
                              </m:r>
                            </m:sup>
                          </m:sSup>
                        </m:fName>
                        <m:e>
                          <m:d>
                            <m:dPr>
                              <m:ctrlPr>
                                <a:rPr lang="es-ES_tradnl" i="1">
                                  <a:latin typeface="Cambria Math" panose="02040503050406030204" pitchFamily="18" charset="0"/>
                                </a:rPr>
                              </m:ctrlPr>
                            </m:dPr>
                            <m:e>
                              <m:f>
                                <m:fPr>
                                  <m:ctrlPr>
                                    <a:rPr lang="en-US" i="1">
                                      <a:latin typeface="Cambria Math" panose="02040503050406030204" pitchFamily="18" charset="0"/>
                                    </a:rPr>
                                  </m:ctrlPr>
                                </m:fPr>
                                <m:num>
                                  <m:r>
                                    <a:rPr lang="es-BO" b="0" i="1" smtClean="0">
                                      <a:latin typeface="Cambria Math" panose="02040503050406030204" pitchFamily="18" charset="0"/>
                                    </a:rPr>
                                    <m:t>303∗</m:t>
                                  </m:r>
                                  <m:r>
                                    <a:rPr lang="es-BO" b="0" i="1" smtClean="0">
                                      <a:latin typeface="Cambria Math" panose="02040503050406030204" pitchFamily="18" charset="0"/>
                                    </a:rPr>
                                    <m:t>𝑤</m:t>
                                  </m:r>
                                </m:num>
                                <m:den>
                                  <m:r>
                                    <a:rPr lang="es-BO" b="0" i="1" smtClean="0">
                                      <a:latin typeface="Cambria Math" panose="02040503050406030204" pitchFamily="18" charset="0"/>
                                    </a:rPr>
                                    <m:t>1</m:t>
                                  </m:r>
                                </m:den>
                              </m:f>
                            </m:e>
                          </m:d>
                        </m:e>
                      </m:func>
                    </m:oMath>
                  </m:oMathPara>
                </a14:m>
                <a:endParaRPr lang="en-US"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5" name="Rectángulo 4"/>
              <p:cNvSpPr>
                <a:spLocks noRot="1" noChangeAspect="1" noMove="1" noResize="1" noEditPoints="1" noAdjustHandles="1" noChangeArrowheads="1" noChangeShapeType="1" noTextEdit="1"/>
              </p:cNvSpPr>
              <p:nvPr/>
            </p:nvSpPr>
            <p:spPr>
              <a:xfrm>
                <a:off x="2409697" y="3526783"/>
                <a:ext cx="6096000" cy="2196114"/>
              </a:xfrm>
              <a:prstGeom prst="rect">
                <a:avLst/>
              </a:prstGeom>
              <a:blipFill>
                <a:blip r:embed="rId3"/>
                <a:stretch>
                  <a:fillRect l="-1000"/>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8302086" y="3817210"/>
                <a:ext cx="247221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smtClean="0">
                          <a:latin typeface="Cambria Math" panose="02040503050406030204" pitchFamily="18" charset="0"/>
                        </a:rPr>
                        <m:t>;</m:t>
                      </m:r>
                      <m:r>
                        <a:rPr lang="en-US" sz="2000" i="1">
                          <a:latin typeface="Cambria Math" panose="02040503050406030204" pitchFamily="18" charset="0"/>
                        </a:rPr>
                        <m:t>𝑐𝑜𝑛</m:t>
                      </m:r>
                      <m:r>
                        <a:rPr lang="en-US" sz="2000" i="0">
                          <a:latin typeface="Cambria Math" panose="02040503050406030204" pitchFamily="18" charset="0"/>
                        </a:rPr>
                        <m:t> </m:t>
                      </m:r>
                      <m:r>
                        <m:rPr>
                          <m:sty m:val="p"/>
                        </m:rPr>
                        <a:rPr lang="el-GR" sz="2000" i="1" smtClean="0">
                          <a:latin typeface="Cambria Math" panose="02040503050406030204" pitchFamily="18" charset="0"/>
                          <a:ea typeface="Cambria Math" panose="02040503050406030204" pitchFamily="18" charset="0"/>
                        </a:rPr>
                        <m:t>ω</m:t>
                      </m:r>
                      <m:r>
                        <a:rPr lang="en-US" sz="2000" i="0">
                          <a:latin typeface="Cambria Math" panose="02040503050406030204" pitchFamily="18" charset="0"/>
                        </a:rPr>
                        <m:t>=</m:t>
                      </m:r>
                      <m:r>
                        <a:rPr lang="es-BO" sz="2000" b="0" i="0" smtClean="0">
                          <a:latin typeface="Cambria Math" panose="02040503050406030204" pitchFamily="18" charset="0"/>
                        </a:rPr>
                        <m:t>3,3∗</m:t>
                      </m:r>
                      <m:sSup>
                        <m:sSupPr>
                          <m:ctrlPr>
                            <a:rPr lang="es-BO" sz="2000" i="1">
                              <a:latin typeface="Cambria Math" panose="02040503050406030204" pitchFamily="18" charset="0"/>
                              <a:cs typeface="Times New Roman" panose="02020603050405020304" pitchFamily="18" charset="0"/>
                            </a:rPr>
                          </m:ctrlPr>
                        </m:sSupPr>
                        <m:e>
                          <m:r>
                            <a:rPr lang="es-BO" sz="2000" i="1">
                              <a:latin typeface="Cambria Math" panose="02040503050406030204" pitchFamily="18" charset="0"/>
                              <a:cs typeface="Times New Roman" panose="02020603050405020304" pitchFamily="18" charset="0"/>
                            </a:rPr>
                            <m:t>10</m:t>
                          </m:r>
                        </m:e>
                        <m:sup>
                          <m:r>
                            <a:rPr lang="es-BO" sz="2000" i="1">
                              <a:latin typeface="Cambria Math" panose="02040503050406030204" pitchFamily="18" charset="0"/>
                              <a:cs typeface="Times New Roman" panose="02020603050405020304" pitchFamily="18" charset="0"/>
                            </a:rPr>
                            <m:t>−</m:t>
                          </m:r>
                          <m:r>
                            <a:rPr lang="es-BO" sz="2000" b="0" i="1" smtClean="0">
                              <a:latin typeface="Cambria Math" panose="02040503050406030204" pitchFamily="18" charset="0"/>
                              <a:cs typeface="Times New Roman" panose="02020603050405020304" pitchFamily="18" charset="0"/>
                            </a:rPr>
                            <m:t>3</m:t>
                          </m:r>
                        </m:sup>
                      </m:sSup>
                    </m:oMath>
                  </m:oMathPara>
                </a14:m>
                <a:endParaRPr lang="en-US" sz="2000" dirty="0"/>
              </a:p>
            </p:txBody>
          </p:sp>
        </mc:Choice>
        <mc:Fallback xmlns="">
          <p:sp>
            <p:nvSpPr>
              <p:cNvPr id="6" name="Rectángulo 5"/>
              <p:cNvSpPr>
                <a:spLocks noRot="1" noChangeAspect="1" noMove="1" noResize="1" noEditPoints="1" noAdjustHandles="1" noChangeArrowheads="1" noChangeShapeType="1" noTextEdit="1"/>
              </p:cNvSpPr>
              <p:nvPr/>
            </p:nvSpPr>
            <p:spPr>
              <a:xfrm>
                <a:off x="8302086" y="3817210"/>
                <a:ext cx="2472215" cy="400110"/>
              </a:xfrm>
              <a:prstGeom prst="rect">
                <a:avLst/>
              </a:prstGeom>
              <a:blipFill>
                <a:blip r:embed="rId4"/>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505697" y="1401239"/>
                <a:ext cx="2865120" cy="1270220"/>
              </a:xfrm>
              <a:prstGeom prst="rect">
                <a:avLst/>
              </a:prstGeom>
            </p:spPr>
            <p:txBody>
              <a:bodyPr wrap="square">
                <a:spAutoFit/>
              </a:bodyPr>
              <a:lstStyle/>
              <a:p>
                <a:pPr>
                  <a:lnSpc>
                    <a:spcPct val="107000"/>
                  </a:lnSpc>
                  <a:spcAft>
                    <a:spcPts val="800"/>
                  </a:spcAft>
                </a:pPr>
                <a:r>
                  <a:rPr lang="es-BO" sz="2000" dirty="0">
                    <a:latin typeface="+mj-lt"/>
                    <a:ea typeface="Calibri" panose="020F0502020204030204" pitchFamily="34" charset="0"/>
                    <a:cs typeface="Times New Roman" panose="02020603050405020304" pitchFamily="18" charset="0"/>
                  </a:rPr>
                  <a:t>En decibelios:</a:t>
                </a:r>
              </a:p>
              <a:p>
                <a:pPr>
                  <a:lnSpc>
                    <a:spcPct val="107000"/>
                  </a:lnSpc>
                  <a:spcAft>
                    <a:spcPts val="800"/>
                  </a:spcAft>
                </a:pPr>
                <a:r>
                  <a:rPr lang="es-ES_tradnl" sz="2000" dirty="0">
                    <a:ea typeface="Calibri" panose="020F0502020204030204" pitchFamily="34" charset="0"/>
                    <a:cs typeface="Times New Roman" panose="02020603050405020304" pitchFamily="18" charset="0"/>
                  </a:rPr>
                  <a:t>dB</a:t>
                </a:r>
                <a14:m>
                  <m:oMath xmlns:m="http://schemas.openxmlformats.org/officeDocument/2006/math">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20</m:t>
                    </m:r>
                    <m:func>
                      <m:funcPr>
                        <m:ctrlPr>
                          <a:rPr lang="es-BO" sz="2000" i="1">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BO" sz="2000">
                            <a:latin typeface="Cambria Math" panose="02040503050406030204" pitchFamily="18" charset="0"/>
                            <a:ea typeface="Calibri" panose="020F0502020204030204" pitchFamily="34" charset="0"/>
                            <a:cs typeface="Times New Roman" panose="02020603050405020304" pitchFamily="18" charset="0"/>
                          </a:rPr>
                          <m:t>log</m:t>
                        </m:r>
                      </m:fName>
                      <m:e>
                        <m:r>
                          <a:rPr lang="es-BO" sz="2000" i="1">
                            <a:latin typeface="Cambria Math" panose="02040503050406030204" pitchFamily="18" charset="0"/>
                            <a:ea typeface="Calibri" panose="020F0502020204030204" pitchFamily="34" charset="0"/>
                            <a:cs typeface="Times New Roman" panose="02020603050405020304" pitchFamily="18" charset="0"/>
                          </a:rPr>
                          <m:t>𝑘</m:t>
                        </m:r>
                      </m:e>
                    </m:func>
                  </m:oMath>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a:p>
                <a:pPr>
                  <a:lnSpc>
                    <a:spcPct val="107000"/>
                  </a:lnSpc>
                  <a:spcAft>
                    <a:spcPts val="800"/>
                  </a:spcAft>
                </a:pPr>
                <a:r>
                  <a:rPr lang="es-ES_tradnl" sz="2000" dirty="0">
                    <a:ea typeface="Calibri" panose="020F0502020204030204" pitchFamily="34" charset="0"/>
                    <a:cs typeface="Times New Roman" panose="02020603050405020304" pitchFamily="18" charset="0"/>
                  </a:rPr>
                  <a:t>dB</a:t>
                </a:r>
                <a14:m>
                  <m:oMath xmlns:m="http://schemas.openxmlformats.org/officeDocument/2006/math">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i="1">
                        <a:latin typeface="Cambria Math" panose="02040503050406030204" pitchFamily="18" charset="0"/>
                        <a:ea typeface="Calibri" panose="020F0502020204030204" pitchFamily="34" charset="0"/>
                        <a:cs typeface="Times New Roman" panose="02020603050405020304" pitchFamily="18" charset="0"/>
                      </a:rPr>
                      <m:t>20</m:t>
                    </m:r>
                    <m:func>
                      <m:funcPr>
                        <m:ctrlPr>
                          <a:rPr lang="es-BO" sz="2000" i="1">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BO" sz="2000">
                            <a:latin typeface="Cambria Math" panose="02040503050406030204" pitchFamily="18" charset="0"/>
                            <a:ea typeface="Calibri" panose="020F0502020204030204" pitchFamily="34" charset="0"/>
                            <a:cs typeface="Times New Roman" panose="02020603050405020304" pitchFamily="18" charset="0"/>
                          </a:rPr>
                          <m:t>log</m:t>
                        </m:r>
                      </m:fName>
                      <m:e>
                        <m:r>
                          <a:rPr lang="es-BO" sz="2000" i="1">
                            <a:latin typeface="Cambria Math" panose="02040503050406030204" pitchFamily="18" charset="0"/>
                            <a:ea typeface="Calibri" panose="020F0502020204030204" pitchFamily="34" charset="0"/>
                            <a:cs typeface="Times New Roman" panose="02020603050405020304" pitchFamily="18" charset="0"/>
                          </a:rPr>
                          <m:t>0.09</m:t>
                        </m:r>
                        <m:r>
                          <a:rPr lang="es-BO" sz="2000" b="0" i="1" smtClean="0">
                            <a:latin typeface="Cambria Math" panose="02040503050406030204" pitchFamily="18" charset="0"/>
                            <a:ea typeface="Calibri" panose="020F0502020204030204" pitchFamily="34" charset="0"/>
                            <a:cs typeface="Times New Roman" panose="02020603050405020304" pitchFamily="18" charset="0"/>
                          </a:rPr>
                          <m:t>569</m:t>
                        </m:r>
                      </m:e>
                    </m:func>
                  </m:oMath>
                </a14:m>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Choice>
        <mc:Fallback xmlns="">
          <p:sp>
            <p:nvSpPr>
              <p:cNvPr id="7" name="Rectángulo 6"/>
              <p:cNvSpPr>
                <a:spLocks noRot="1" noChangeAspect="1" noMove="1" noResize="1" noEditPoints="1" noAdjustHandles="1" noChangeArrowheads="1" noChangeShapeType="1" noTextEdit="1"/>
              </p:cNvSpPr>
              <p:nvPr/>
            </p:nvSpPr>
            <p:spPr>
              <a:xfrm>
                <a:off x="8505697" y="1401239"/>
                <a:ext cx="2865120" cy="1270220"/>
              </a:xfrm>
              <a:prstGeom prst="rect">
                <a:avLst/>
              </a:prstGeom>
              <a:blipFill>
                <a:blip r:embed="rId5"/>
                <a:stretch>
                  <a:fillRect l="-2128" t="-3365" b="-6731"/>
                </a:stretch>
              </a:blipFill>
            </p:spPr>
            <p:txBody>
              <a:bodyPr/>
              <a:lstStyle/>
              <a:p>
                <a:r>
                  <a:rPr lang="es-BO">
                    <a:noFill/>
                  </a:rPr>
                  <a:t> </a:t>
                </a:r>
              </a:p>
            </p:txBody>
          </p:sp>
        </mc:Fallback>
      </mc:AlternateContent>
      <p:sp>
        <p:nvSpPr>
          <p:cNvPr id="8" name="Flecha derecha 7"/>
          <p:cNvSpPr/>
          <p:nvPr/>
        </p:nvSpPr>
        <p:spPr>
          <a:xfrm>
            <a:off x="7033845" y="1820008"/>
            <a:ext cx="1125417" cy="952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ángulo 9"/>
          <p:cNvSpPr/>
          <p:nvPr/>
        </p:nvSpPr>
        <p:spPr>
          <a:xfrm>
            <a:off x="1900897" y="468107"/>
            <a:ext cx="3134769" cy="461665"/>
          </a:xfrm>
          <a:prstGeom prst="rect">
            <a:avLst/>
          </a:prstGeom>
        </p:spPr>
        <p:txBody>
          <a:bodyPr wrap="none">
            <a:spAutoFit/>
          </a:bodyPr>
          <a:lstStyle/>
          <a:p>
            <a:r>
              <a:rPr lang="es-BO" sz="2400" b="1" dirty="0"/>
              <a:t>ANALISIS TEORICO</a:t>
            </a:r>
            <a:endParaRPr lang="en-US" sz="2400" b="1" dirty="0"/>
          </a:p>
        </p:txBody>
      </p:sp>
      <p:sp>
        <p:nvSpPr>
          <p:cNvPr id="3" name="CuadroTexto 2">
            <a:extLst>
              <a:ext uri="{FF2B5EF4-FFF2-40B4-BE49-F238E27FC236}">
                <a16:creationId xmlns:a16="http://schemas.microsoft.com/office/drawing/2014/main" id="{981FEBE6-8B29-4CCE-0E01-00FDF8908E98}"/>
              </a:ext>
            </a:extLst>
          </p:cNvPr>
          <p:cNvSpPr txBox="1"/>
          <p:nvPr/>
        </p:nvSpPr>
        <p:spPr>
          <a:xfrm>
            <a:off x="8616354" y="2715954"/>
            <a:ext cx="2046957" cy="471155"/>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07000"/>
              </a:lnSpc>
              <a:spcAft>
                <a:spcPts val="800"/>
              </a:spcAft>
            </a:pPr>
            <a:r>
              <a:rPr lang="es-BO" sz="2400" b="1" dirty="0">
                <a:latin typeface="Book Antiqua" panose="02040602050305030304" pitchFamily="18" charset="0"/>
                <a:ea typeface="Calibri" panose="020F0502020204030204" pitchFamily="34" charset="0"/>
                <a:cs typeface="Times New Roman" panose="02020603050405020304" pitchFamily="18" charset="0"/>
              </a:rPr>
              <a:t>dB=-20,3827</a:t>
            </a:r>
            <a:endParaRPr lang="en-US" sz="2400" b="1" dirty="0">
              <a:latin typeface="Book Antiqua" panose="0204060205030503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5F2AF84D-9F22-6821-AFAA-A2B1B9A73B90}"/>
                  </a:ext>
                </a:extLst>
              </p:cNvPr>
              <p:cNvSpPr txBox="1"/>
              <p:nvPr/>
            </p:nvSpPr>
            <p:spPr>
              <a:xfrm>
                <a:off x="4796515" y="5810464"/>
                <a:ext cx="2237330" cy="494751"/>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400" b="1" i="1" smtClean="0">
                              <a:latin typeface="Cambria Math" panose="02040503050406030204" pitchFamily="18" charset="0"/>
                              <a:ea typeface="Calibri" panose="020F0502020204030204" pitchFamily="34" charset="0"/>
                              <a:cs typeface="Times New Roman" panose="02020603050405020304" pitchFamily="18" charset="0"/>
                            </a:rPr>
                          </m:ctrlPr>
                        </m:sSubPr>
                        <m:e>
                          <m:r>
                            <a:rPr lang="es-ES_tradnl" sz="2400" b="1" i="1">
                              <a:latin typeface="Cambria Math" panose="02040503050406030204" pitchFamily="18" charset="0"/>
                              <a:ea typeface="Calibri" panose="020F0502020204030204" pitchFamily="34" charset="0"/>
                              <a:cs typeface="Times New Roman" panose="02020603050405020304" pitchFamily="18" charset="0"/>
                            </a:rPr>
                            <m:t>𝜽</m:t>
                          </m:r>
                        </m:e>
                        <m:sub>
                          <m:r>
                            <a:rPr lang="es-BO" sz="2400" b="1" i="1" smtClean="0">
                              <a:latin typeface="Cambria Math" panose="02040503050406030204" pitchFamily="18" charset="0"/>
                              <a:ea typeface="Calibri" panose="020F0502020204030204" pitchFamily="34" charset="0"/>
                              <a:cs typeface="Times New Roman" panose="02020603050405020304" pitchFamily="18" charset="0"/>
                            </a:rPr>
                            <m:t>𝒑</m:t>
                          </m:r>
                        </m:sub>
                      </m:sSub>
                      <m:r>
                        <a:rPr lang="es-ES_tradnl" sz="2400" b="1" i="1">
                          <a:latin typeface="Cambria Math" panose="02040503050406030204" pitchFamily="18" charset="0"/>
                          <a:ea typeface="Calibri" panose="020F0502020204030204" pitchFamily="34" charset="0"/>
                          <a:cs typeface="Times New Roman" panose="02020603050405020304" pitchFamily="18" charset="0"/>
                        </a:rPr>
                        <m:t>=</m:t>
                      </m:r>
                      <m:r>
                        <a:rPr lang="es-BO" sz="2400" b="1" i="1" smtClean="0">
                          <a:latin typeface="Cambria Math" panose="02040503050406030204" pitchFamily="18" charset="0"/>
                          <a:ea typeface="Calibri" panose="020F0502020204030204" pitchFamily="34" charset="0"/>
                          <a:cs typeface="Times New Roman" panose="02020603050405020304" pitchFamily="18" charset="0"/>
                        </a:rPr>
                        <m:t>−</m:t>
                      </m:r>
                      <m:r>
                        <a:rPr lang="es-BO" sz="2400" b="1" i="1" smtClean="0">
                          <a:latin typeface="Cambria Math" panose="02040503050406030204" pitchFamily="18" charset="0"/>
                          <a:ea typeface="Calibri" panose="020F0502020204030204" pitchFamily="34" charset="0"/>
                          <a:cs typeface="Times New Roman" panose="02020603050405020304" pitchFamily="18" charset="0"/>
                        </a:rPr>
                        <m:t>𝟒𝟓</m:t>
                      </m:r>
                      <m:r>
                        <a:rPr lang="es-ES_tradnl" sz="2400" b="1" i="1">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s-BO" sz="2400" b="1" dirty="0"/>
              </a:p>
            </p:txBody>
          </p:sp>
        </mc:Choice>
        <mc:Fallback xmlns="">
          <p:sp>
            <p:nvSpPr>
              <p:cNvPr id="12" name="CuadroTexto 11">
                <a:extLst>
                  <a:ext uri="{FF2B5EF4-FFF2-40B4-BE49-F238E27FC236}">
                    <a16:creationId xmlns:a16="http://schemas.microsoft.com/office/drawing/2014/main" id="{5F2AF84D-9F22-6821-AFAA-A2B1B9A73B90}"/>
                  </a:ext>
                </a:extLst>
              </p:cNvPr>
              <p:cNvSpPr txBox="1">
                <a:spLocks noRot="1" noChangeAspect="1" noMove="1" noResize="1" noEditPoints="1" noAdjustHandles="1" noChangeArrowheads="1" noChangeShapeType="1" noTextEdit="1"/>
              </p:cNvSpPr>
              <p:nvPr/>
            </p:nvSpPr>
            <p:spPr>
              <a:xfrm>
                <a:off x="4796515" y="5810464"/>
                <a:ext cx="2237330" cy="494751"/>
              </a:xfrm>
              <a:prstGeom prst="rect">
                <a:avLst/>
              </a:prstGeom>
              <a:blipFill>
                <a:blip r:embed="rId6"/>
                <a:stretch>
                  <a:fillRect b="-6024"/>
                </a:stretch>
              </a:blipFill>
            </p:spPr>
            <p:txBody>
              <a:bodyPr/>
              <a:lstStyle/>
              <a:p>
                <a:r>
                  <a:rPr lang="es-BO">
                    <a:noFill/>
                  </a:rPr>
                  <a:t> </a:t>
                </a:r>
              </a:p>
            </p:txBody>
          </p:sp>
        </mc:Fallback>
      </mc:AlternateContent>
    </p:spTree>
    <p:extLst>
      <p:ext uri="{BB962C8B-B14F-4D97-AF65-F5344CB8AC3E}">
        <p14:creationId xmlns:p14="http://schemas.microsoft.com/office/powerpoint/2010/main" val="3929873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title"/>
          </p:nvPr>
        </p:nvSpPr>
        <p:spPr/>
        <p:txBody>
          <a:bodyPr>
            <a:normAutofit/>
          </a:bodyPr>
          <a:lstStyle/>
          <a:p>
            <a:pPr algn="ctr"/>
            <a:r>
              <a:rPr lang="es-BO" sz="4800" dirty="0">
                <a:latin typeface="Arial Black" panose="020B0A04020102020204" pitchFamily="34" charset="0"/>
              </a:rPr>
              <a:t>ESTABILIDAD ABSOLUTA</a:t>
            </a:r>
            <a:endParaRPr lang="es-BO" sz="7200" b="1" dirty="0">
              <a:latin typeface="Arial Black" panose="020B0A04020102020204" pitchFamily="34" charset="0"/>
            </a:endParaRPr>
          </a:p>
        </p:txBody>
      </p:sp>
    </p:spTree>
    <p:extLst>
      <p:ext uri="{BB962C8B-B14F-4D97-AF65-F5344CB8AC3E}">
        <p14:creationId xmlns:p14="http://schemas.microsoft.com/office/powerpoint/2010/main" val="4909665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11681" y="624110"/>
            <a:ext cx="9492932" cy="813761"/>
          </a:xfrm>
        </p:spPr>
        <p:txBody>
          <a:bodyPr/>
          <a:lstStyle/>
          <a:p>
            <a:r>
              <a:rPr lang="es-BO" b="1" dirty="0">
                <a:solidFill>
                  <a:srgbClr val="0070C0"/>
                </a:solidFill>
              </a:rPr>
              <a:t>Estabilidad absoluta</a:t>
            </a:r>
            <a:endParaRPr lang="en-US" b="1" dirty="0">
              <a:solidFill>
                <a:srgbClr val="0070C0"/>
              </a:solidFill>
            </a:endParaRPr>
          </a:p>
        </p:txBody>
      </p:sp>
      <p:pic>
        <p:nvPicPr>
          <p:cNvPr id="4" name="Marcador de contenido 3"/>
          <p:cNvPicPr>
            <a:picLocks noGrp="1" noChangeAspect="1"/>
          </p:cNvPicPr>
          <p:nvPr>
            <p:ph idx="1"/>
          </p:nvPr>
        </p:nvPicPr>
        <p:blipFill>
          <a:blip r:embed="rId2"/>
          <a:stretch>
            <a:fillRect/>
          </a:stretch>
        </p:blipFill>
        <p:spPr>
          <a:xfrm>
            <a:off x="1734898" y="1621899"/>
            <a:ext cx="5121757" cy="3932237"/>
          </a:xfrm>
          <a:prstGeom prst="rect">
            <a:avLst/>
          </a:prstGeom>
        </p:spPr>
      </p:pic>
      <p:sp>
        <p:nvSpPr>
          <p:cNvPr id="5" name="Rectángulo 4"/>
          <p:cNvSpPr/>
          <p:nvPr/>
        </p:nvSpPr>
        <p:spPr>
          <a:xfrm>
            <a:off x="6364630" y="1315182"/>
            <a:ext cx="5489749" cy="1397177"/>
          </a:xfrm>
          <a:prstGeom prst="rect">
            <a:avLst/>
          </a:prstGeom>
        </p:spPr>
        <p:txBody>
          <a:bodyPr wrap="square">
            <a:spAutoFit/>
          </a:bodyPr>
          <a:lstStyle/>
          <a:p>
            <a:pPr marL="685800">
              <a:lnSpc>
                <a:spcPct val="107000"/>
              </a:lnSpc>
              <a:spcAft>
                <a:spcPts val="800"/>
              </a:spcAft>
            </a:pPr>
            <a:r>
              <a:rPr lang="es-BO" sz="2000" dirty="0">
                <a:latin typeface="Book Antiqua" panose="02040602050305030304" pitchFamily="18" charset="0"/>
                <a:ea typeface="Times New Roman" panose="02020603050405020304" pitchFamily="18" charset="0"/>
                <a:cs typeface="Times New Roman" panose="02020603050405020304" pitchFamily="18" charset="0"/>
              </a:rPr>
              <a:t>El polo se encuentra en el lado izquierdo, próximo a el origen de coordenadas, lo que indica una respuesta lenta y se encuentra estable.</a:t>
            </a:r>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p:sp>
        <p:nvSpPr>
          <p:cNvPr id="6" name="Rectángulo 5"/>
          <p:cNvSpPr/>
          <p:nvPr/>
        </p:nvSpPr>
        <p:spPr>
          <a:xfrm>
            <a:off x="6364629" y="3588018"/>
            <a:ext cx="5489750" cy="2055819"/>
          </a:xfrm>
          <a:prstGeom prst="rect">
            <a:avLst/>
          </a:prstGeom>
        </p:spPr>
        <p:txBody>
          <a:bodyPr wrap="square">
            <a:spAutoFit/>
          </a:bodyPr>
          <a:lstStyle/>
          <a:p>
            <a:pPr marL="685800">
              <a:lnSpc>
                <a:spcPct val="107000"/>
              </a:lnSpc>
              <a:spcAft>
                <a:spcPts val="0"/>
              </a:spcAft>
            </a:pPr>
            <a:r>
              <a:rPr lang="es-BO" sz="2000" b="1" dirty="0">
                <a:solidFill>
                  <a:srgbClr val="002060"/>
                </a:solidFill>
                <a:latin typeface="Book Antiqua" panose="02040602050305030304" pitchFamily="18" charset="0"/>
                <a:ea typeface="Calibri" panose="020F0502020204030204" pitchFamily="34" charset="0"/>
                <a:cs typeface="Times New Roman" panose="02020603050405020304" pitchFamily="18" charset="0"/>
              </a:rPr>
              <a:t>Análisis de estabilidad según Routh Hurwitz</a:t>
            </a:r>
            <a:endParaRPr lang="en-US" sz="2000" dirty="0">
              <a:solidFill>
                <a:srgbClr val="002060"/>
              </a:solidFill>
              <a:latin typeface="Book Antiqua" panose="02040602050305030304" pitchFamily="18" charset="0"/>
              <a:ea typeface="Calibri" panose="020F0502020204030204" pitchFamily="34" charset="0"/>
              <a:cs typeface="Times New Roman" panose="02020603050405020304" pitchFamily="18" charset="0"/>
            </a:endParaRPr>
          </a:p>
          <a:p>
            <a:pPr marL="685800">
              <a:lnSpc>
                <a:spcPct val="107000"/>
              </a:lnSpc>
              <a:spcAft>
                <a:spcPts val="800"/>
              </a:spcAft>
            </a:pPr>
            <a:r>
              <a:rPr lang="es-BO" sz="2000" dirty="0">
                <a:latin typeface="Book Antiqua" panose="02040602050305030304" pitchFamily="18" charset="0"/>
                <a:ea typeface="Calibri" panose="020F0502020204030204" pitchFamily="34" charset="0"/>
                <a:cs typeface="Times New Roman" panose="02020603050405020304" pitchFamily="18" charset="0"/>
              </a:rPr>
              <a:t>Se cumple la condición necesaria, todos los coeficientes del polinomio característico son positivos, además es un polinomio ordenado y completo.</a:t>
            </a:r>
            <a:endParaRPr lang="en-US" sz="2000" dirty="0">
              <a:latin typeface="Book Antiqua" panose="02040602050305030304"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ángulo 7"/>
              <p:cNvSpPr/>
              <p:nvPr/>
            </p:nvSpPr>
            <p:spPr>
              <a:xfrm>
                <a:off x="6856655" y="2764260"/>
                <a:ext cx="3412761" cy="72513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G</m:t>
                      </m:r>
                      <m:d>
                        <m:dPr>
                          <m:ctrlPr>
                            <a:rPr lang="es-BO" sz="2000" b="0" i="1" smtClean="0">
                              <a:latin typeface="Cambria Math" panose="02040503050406030204" pitchFamily="18" charset="0"/>
                              <a:ea typeface="Calibri" panose="020F0502020204030204" pitchFamily="34" charset="0"/>
                              <a:cs typeface="Times New Roman" panose="02020603050405020304" pitchFamily="18" charset="0"/>
                            </a:rPr>
                          </m:ctrlPr>
                        </m:dPr>
                        <m:e>
                          <m:r>
                            <m:rPr>
                              <m:sty m:val="p"/>
                            </m:rPr>
                            <a:rPr lang="es-BO" sz="2000" b="0" i="0" smtClean="0">
                              <a:latin typeface="Cambria Math" panose="02040503050406030204" pitchFamily="18" charset="0"/>
                              <a:ea typeface="Calibri" panose="020F0502020204030204" pitchFamily="34" charset="0"/>
                              <a:cs typeface="Times New Roman" panose="02020603050405020304" pitchFamily="18" charset="0"/>
                            </a:rPr>
                            <m:t>s</m:t>
                          </m:r>
                        </m:e>
                      </m:d>
                      <m:r>
                        <a:rPr lang="es-BO" sz="2000" b="0" i="0" smtClean="0">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latin typeface="Cambria Math" panose="02040503050406030204" pitchFamily="18" charset="0"/>
                              <a:ea typeface="Calibri" panose="020F0502020204030204" pitchFamily="34" charset="0"/>
                              <a:cs typeface="Times New Roman" panose="02020603050405020304" pitchFamily="18" charset="0"/>
                            </a:rPr>
                          </m:ctrlPr>
                        </m:fPr>
                        <m:num>
                          <m:r>
                            <a:rPr lang="es-BO" sz="2000" i="1">
                              <a:latin typeface="Cambria Math" panose="02040503050406030204" pitchFamily="18" charset="0"/>
                              <a:ea typeface="Calibri" panose="020F0502020204030204" pitchFamily="34" charset="0"/>
                              <a:cs typeface="Times New Roman" panose="02020603050405020304" pitchFamily="18" charset="0"/>
                            </a:rPr>
                            <m:t>0.09</m:t>
                          </m:r>
                          <m:r>
                            <a:rPr lang="es-BO" sz="2000" b="0" i="1" smtClean="0">
                              <a:latin typeface="Cambria Math" panose="02040503050406030204" pitchFamily="18" charset="0"/>
                              <a:ea typeface="Calibri" panose="020F0502020204030204" pitchFamily="34" charset="0"/>
                              <a:cs typeface="Times New Roman" panose="02020603050405020304" pitchFamily="18" charset="0"/>
                            </a:rPr>
                            <m:t>569</m:t>
                          </m:r>
                        </m:num>
                        <m:den>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BO" sz="2000" b="0" i="1" smtClean="0">
                              <a:latin typeface="Cambria Math" panose="02040503050406030204" pitchFamily="18" charset="0"/>
                              <a:ea typeface="Calibri" panose="020F0502020204030204" pitchFamily="34" charset="0"/>
                              <a:cs typeface="Times New Roman" panose="02020603050405020304" pitchFamily="18" charset="0"/>
                            </a:rPr>
                            <m:t>303</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r>
                            <a:rPr lang="es-ES_tradnl" sz="2000" i="1">
                              <a:latin typeface="Cambria Math" panose="02040503050406030204" pitchFamily="18" charset="0"/>
                              <a:ea typeface="Calibri" panose="020F0502020204030204" pitchFamily="34" charset="0"/>
                              <a:cs typeface="Times New Roman" panose="02020603050405020304" pitchFamily="18" charset="0"/>
                            </a:rPr>
                            <m:t>𝑠</m:t>
                          </m:r>
                          <m:r>
                            <a:rPr lang="es-BO" sz="2000" i="1">
                              <a:latin typeface="Cambria Math" panose="02040503050406030204" pitchFamily="18" charset="0"/>
                              <a:ea typeface="Calibri" panose="020F0502020204030204" pitchFamily="34" charset="0"/>
                              <a:cs typeface="Times New Roman" panose="02020603050405020304" pitchFamily="18" charset="0"/>
                            </a:rPr>
                            <m:t>+1</m:t>
                          </m:r>
                          <m:r>
                            <a:rPr lang="es-ES_tradnl" sz="2000" i="1">
                              <a:latin typeface="Cambria Math" panose="02040503050406030204" pitchFamily="18" charset="0"/>
                              <a:ea typeface="Calibri" panose="020F0502020204030204" pitchFamily="34" charset="0"/>
                              <a:cs typeface="Times New Roman" panose="02020603050405020304" pitchFamily="18" charset="0"/>
                            </a:rPr>
                            <m:t>)</m:t>
                          </m:r>
                        </m:den>
                      </m:f>
                    </m:oMath>
                  </m:oMathPara>
                </a14:m>
                <a:endParaRPr lang="en-US" sz="2000" dirty="0"/>
              </a:p>
            </p:txBody>
          </p:sp>
        </mc:Choice>
        <mc:Fallback xmlns="">
          <p:sp>
            <p:nvSpPr>
              <p:cNvPr id="8" name="Rectángulo 7"/>
              <p:cNvSpPr>
                <a:spLocks noRot="1" noChangeAspect="1" noMove="1" noResize="1" noEditPoints="1" noAdjustHandles="1" noChangeArrowheads="1" noChangeShapeType="1" noTextEdit="1"/>
              </p:cNvSpPr>
              <p:nvPr/>
            </p:nvSpPr>
            <p:spPr>
              <a:xfrm>
                <a:off x="6856655" y="2764260"/>
                <a:ext cx="3412761" cy="725135"/>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10003061" y="2900651"/>
                <a:ext cx="144783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BO" b="1" i="0" smtClean="0">
                          <a:latin typeface="Cambria Math" panose="02040503050406030204" pitchFamily="18" charset="0"/>
                        </a:rPr>
                        <m:t>𝐒</m:t>
                      </m:r>
                      <m:r>
                        <a:rPr lang="es-BO" b="1" i="0" smtClean="0">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𝟎𝟎𝟑𝟑</m:t>
                      </m:r>
                    </m:oMath>
                  </m:oMathPara>
                </a14:m>
                <a:endParaRPr lang="en-US" dirty="0"/>
              </a:p>
            </p:txBody>
          </p:sp>
        </mc:Choice>
        <mc:Fallback xmlns="">
          <p:sp>
            <p:nvSpPr>
              <p:cNvPr id="9" name="Rectángulo 8"/>
              <p:cNvSpPr>
                <a:spLocks noRot="1" noChangeAspect="1" noMove="1" noResize="1" noEditPoints="1" noAdjustHandles="1" noChangeArrowheads="1" noChangeShapeType="1" noTextEdit="1"/>
              </p:cNvSpPr>
              <p:nvPr/>
            </p:nvSpPr>
            <p:spPr>
              <a:xfrm>
                <a:off x="10003061" y="2900651"/>
                <a:ext cx="1447832" cy="369332"/>
              </a:xfrm>
              <a:prstGeom prst="rect">
                <a:avLst/>
              </a:prstGeom>
              <a:blipFill>
                <a:blip r:embed="rId4"/>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20000962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8025C57-6229-FDBF-C8EC-1B137038C9D0}"/>
              </a:ext>
            </a:extLst>
          </p:cNvPr>
          <p:cNvSpPr>
            <a:spLocks noGrp="1"/>
          </p:cNvSpPr>
          <p:nvPr>
            <p:ph type="ctrTitle"/>
          </p:nvPr>
        </p:nvSpPr>
        <p:spPr>
          <a:xfrm>
            <a:off x="2400080" y="1617447"/>
            <a:ext cx="8915399" cy="2262781"/>
          </a:xfrm>
        </p:spPr>
        <p:txBody>
          <a:bodyPr>
            <a:normAutofit/>
          </a:bodyPr>
          <a:lstStyle/>
          <a:p>
            <a:pPr algn="ctr"/>
            <a:r>
              <a:rPr lang="es-BO" sz="4800" dirty="0">
                <a:latin typeface="Arial Black" panose="020B0A04020102020204" pitchFamily="34" charset="0"/>
              </a:rPr>
              <a:t>ANALISIS EN DISCRETO</a:t>
            </a:r>
            <a:endParaRPr lang="es-BO" sz="7200" b="1" dirty="0">
              <a:latin typeface="Arial Black" panose="020B0A04020102020204" pitchFamily="34" charset="0"/>
            </a:endParaRPr>
          </a:p>
        </p:txBody>
      </p:sp>
    </p:spTree>
    <p:extLst>
      <p:ext uri="{BB962C8B-B14F-4D97-AF65-F5344CB8AC3E}">
        <p14:creationId xmlns:p14="http://schemas.microsoft.com/office/powerpoint/2010/main" val="2964882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91508" y="436854"/>
            <a:ext cx="8777234" cy="883277"/>
          </a:xfrm>
        </p:spPr>
        <p:txBody>
          <a:bodyPr/>
          <a:lstStyle/>
          <a:p>
            <a:r>
              <a:rPr lang="es-BO" b="1" dirty="0">
                <a:solidFill>
                  <a:srgbClr val="0070C0"/>
                </a:solidFill>
              </a:rPr>
              <a:t>Análisis en Discreta</a:t>
            </a:r>
            <a:endParaRPr lang="en-US" b="1" dirty="0">
              <a:solidFill>
                <a:srgbClr val="0070C0"/>
              </a:solidFill>
            </a:endParaRPr>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2391507" y="1125416"/>
                <a:ext cx="9638257" cy="4947972"/>
              </a:xfrm>
            </p:spPr>
            <p:txBody>
              <a:bodyPr>
                <a:normAutofit fontScale="92500" lnSpcReduction="10000"/>
              </a:bodyPr>
              <a:lstStyle/>
              <a:p>
                <a:pPr marL="0" indent="0">
                  <a:buNone/>
                </a:pPr>
                <a:r>
                  <a:rPr lang="es-BO" sz="2100" b="1" dirty="0"/>
                  <a:t>Elección de periodo de muestreo:</a:t>
                </a:r>
              </a:p>
              <a:p>
                <a:pPr marL="0" indent="0">
                  <a:buNone/>
                </a:pPr>
                <a:r>
                  <a:rPr lang="es-BO" sz="2100" dirty="0"/>
                  <a:t>Según </a:t>
                </a:r>
                <a:r>
                  <a:rPr lang="es-ES" sz="2100" dirty="0"/>
                  <a:t>el criterio de muestreo de</a:t>
                </a:r>
                <a:r>
                  <a:rPr lang="es-ES" sz="2100" b="1" dirty="0"/>
                  <a:t> Nyquist-Shannon </a:t>
                </a:r>
                <a:r>
                  <a:rPr lang="es-ES" sz="2100" dirty="0"/>
                  <a:t>,el periodo de muestreo mínimo:</a:t>
                </a:r>
              </a:p>
              <a:p>
                <a:pPr marL="0" indent="0">
                  <a:buNone/>
                </a:pPr>
                <a14:m>
                  <m:oMathPara xmlns:m="http://schemas.openxmlformats.org/officeDocument/2006/math">
                    <m:oMathParaPr>
                      <m:jc m:val="centerGroup"/>
                    </m:oMathParaPr>
                    <m:oMath xmlns:m="http://schemas.openxmlformats.org/officeDocument/2006/math">
                      <m:sSub>
                        <m:sSubPr>
                          <m:ctrlPr>
                            <a:rPr lang="es-ES" sz="2100" i="1" smtClean="0">
                              <a:latin typeface="Cambria Math" panose="02040503050406030204" pitchFamily="18" charset="0"/>
                            </a:rPr>
                          </m:ctrlPr>
                        </m:sSubPr>
                        <m:e>
                          <m:r>
                            <a:rPr lang="es-BO" sz="2100" b="0" i="1" smtClean="0">
                              <a:latin typeface="Cambria Math" panose="02040503050406030204" pitchFamily="18" charset="0"/>
                            </a:rPr>
                            <m:t>𝑇</m:t>
                          </m:r>
                        </m:e>
                        <m:sub>
                          <m:r>
                            <a:rPr lang="es-BO" sz="2100" b="0" i="1" smtClean="0">
                              <a:latin typeface="Cambria Math" panose="02040503050406030204" pitchFamily="18" charset="0"/>
                            </a:rPr>
                            <m:t>𝑆</m:t>
                          </m:r>
                        </m:sub>
                      </m:sSub>
                      <m:r>
                        <a:rPr lang="es-BO" sz="2100" b="0" i="1" smtClean="0">
                          <a:latin typeface="Cambria Math" panose="02040503050406030204" pitchFamily="18" charset="0"/>
                        </a:rPr>
                        <m:t>&lt;</m:t>
                      </m:r>
                      <m:f>
                        <m:fPr>
                          <m:ctrlPr>
                            <a:rPr lang="es-BO" sz="2100" b="0" i="1" smtClean="0">
                              <a:latin typeface="Cambria Math" panose="02040503050406030204" pitchFamily="18" charset="0"/>
                            </a:rPr>
                          </m:ctrlPr>
                        </m:fPr>
                        <m:num>
                          <m:r>
                            <a:rPr lang="es-BO" sz="2100" b="0" i="1" smtClean="0">
                              <a:latin typeface="Cambria Math" panose="02040503050406030204" pitchFamily="18" charset="0"/>
                            </a:rPr>
                            <m:t>2∗</m:t>
                          </m:r>
                          <m:r>
                            <a:rPr lang="es-BO" sz="2100" b="0" i="1" smtClean="0">
                              <a:latin typeface="Cambria Math" panose="02040503050406030204" pitchFamily="18" charset="0"/>
                              <a:ea typeface="Cambria Math" panose="02040503050406030204" pitchFamily="18" charset="0"/>
                            </a:rPr>
                            <m:t>𝜋</m:t>
                          </m:r>
                        </m:num>
                        <m:den>
                          <m:sSub>
                            <m:sSubPr>
                              <m:ctrlPr>
                                <a:rPr lang="es-BO" sz="2100" b="0" i="1" smtClean="0">
                                  <a:latin typeface="Cambria Math" panose="02040503050406030204" pitchFamily="18" charset="0"/>
                                </a:rPr>
                              </m:ctrlPr>
                            </m:sSubPr>
                            <m:e>
                              <m:r>
                                <a:rPr lang="es-BO" sz="2100" b="0" i="1" smtClean="0">
                                  <a:latin typeface="Cambria Math" panose="02040503050406030204" pitchFamily="18" charset="0"/>
                                  <a:ea typeface="Cambria Math" panose="02040503050406030204" pitchFamily="18" charset="0"/>
                                </a:rPr>
                                <m:t>𝜔</m:t>
                              </m:r>
                            </m:e>
                            <m:sub>
                              <m:r>
                                <a:rPr lang="es-BO" sz="2100" b="0" i="1" smtClean="0">
                                  <a:latin typeface="Cambria Math" panose="02040503050406030204" pitchFamily="18" charset="0"/>
                                </a:rPr>
                                <m:t>𝐶</m:t>
                              </m:r>
                            </m:sub>
                          </m:sSub>
                        </m:den>
                      </m:f>
                      <m:r>
                        <a:rPr lang="es-BO" sz="2100" b="0" i="1" smtClean="0">
                          <a:latin typeface="Cambria Math" panose="02040503050406030204" pitchFamily="18" charset="0"/>
                        </a:rPr>
                        <m:t>→</m:t>
                      </m:r>
                      <m:sSub>
                        <m:sSubPr>
                          <m:ctrlPr>
                            <a:rPr lang="es-BO" sz="2100" i="1">
                              <a:latin typeface="Cambria Math" panose="02040503050406030204" pitchFamily="18" charset="0"/>
                            </a:rPr>
                          </m:ctrlPr>
                        </m:sSubPr>
                        <m:e>
                          <m:r>
                            <a:rPr lang="es-BO" sz="2100" i="1">
                              <a:latin typeface="Cambria Math" panose="02040503050406030204" pitchFamily="18" charset="0"/>
                              <a:ea typeface="Cambria Math" panose="02040503050406030204" pitchFamily="18" charset="0"/>
                            </a:rPr>
                            <m:t>𝜔</m:t>
                          </m:r>
                        </m:e>
                        <m:sub>
                          <m:r>
                            <a:rPr lang="es-BO" sz="2100" i="1">
                              <a:latin typeface="Cambria Math" panose="02040503050406030204" pitchFamily="18" charset="0"/>
                            </a:rPr>
                            <m:t>𝐶</m:t>
                          </m:r>
                        </m:sub>
                      </m:sSub>
                      <m:r>
                        <a:rPr lang="es-BO" sz="2100" b="0" i="1" smtClean="0">
                          <a:latin typeface="Cambria Math" panose="02040503050406030204" pitchFamily="18" charset="0"/>
                        </a:rPr>
                        <m:t>=</m:t>
                      </m:r>
                      <m:f>
                        <m:fPr>
                          <m:ctrlPr>
                            <a:rPr lang="es-BO" sz="2100" b="0" i="1" smtClean="0">
                              <a:latin typeface="Cambria Math" panose="02040503050406030204" pitchFamily="18" charset="0"/>
                            </a:rPr>
                          </m:ctrlPr>
                        </m:fPr>
                        <m:num>
                          <m:r>
                            <a:rPr lang="es-BO" sz="2100" b="0" i="1" smtClean="0">
                              <a:latin typeface="Cambria Math" panose="02040503050406030204" pitchFamily="18" charset="0"/>
                            </a:rPr>
                            <m:t>1</m:t>
                          </m:r>
                        </m:num>
                        <m:den>
                          <m:r>
                            <a:rPr lang="es-BO" sz="2100" b="0" i="1" smtClean="0">
                              <a:latin typeface="Cambria Math" panose="02040503050406030204" pitchFamily="18" charset="0"/>
                              <a:ea typeface="Cambria Math" panose="02040503050406030204" pitchFamily="18" charset="0"/>
                            </a:rPr>
                            <m:t>𝜏</m:t>
                          </m:r>
                        </m:den>
                      </m:f>
                    </m:oMath>
                  </m:oMathPara>
                </a14:m>
                <a:endParaRPr lang="es-ES" sz="2100" dirty="0"/>
              </a:p>
              <a:p>
                <a:pPr marL="0" indent="0">
                  <a:buNone/>
                </a:pPr>
                <a14:m>
                  <m:oMathPara xmlns:m="http://schemas.openxmlformats.org/officeDocument/2006/math">
                    <m:oMathParaPr>
                      <m:jc m:val="left"/>
                    </m:oMathParaPr>
                    <m:oMath xmlns:m="http://schemas.openxmlformats.org/officeDocument/2006/math">
                      <m:sSub>
                        <m:sSubPr>
                          <m:ctrlPr>
                            <a:rPr lang="es-BO" sz="2100" i="1" smtClean="0">
                              <a:latin typeface="Cambria Math" panose="02040503050406030204" pitchFamily="18" charset="0"/>
                            </a:rPr>
                          </m:ctrlPr>
                        </m:sSubPr>
                        <m:e>
                          <m:r>
                            <a:rPr lang="es-BO" sz="2100" i="1">
                              <a:latin typeface="Cambria Math" panose="02040503050406030204" pitchFamily="18" charset="0"/>
                              <a:ea typeface="Cambria Math" panose="02040503050406030204" pitchFamily="18" charset="0"/>
                            </a:rPr>
                            <m:t>𝜔</m:t>
                          </m:r>
                        </m:e>
                        <m:sub>
                          <m:r>
                            <a:rPr lang="es-BO" sz="2100" i="1">
                              <a:latin typeface="Cambria Math" panose="02040503050406030204" pitchFamily="18" charset="0"/>
                            </a:rPr>
                            <m:t>𝐶</m:t>
                          </m:r>
                        </m:sub>
                      </m:sSub>
                      <m:r>
                        <a:rPr lang="es-BO" sz="2100" b="0" i="1" smtClean="0">
                          <a:latin typeface="Cambria Math" panose="02040503050406030204" pitchFamily="18" charset="0"/>
                        </a:rPr>
                        <m:t>→</m:t>
                      </m:r>
                      <m:r>
                        <a:rPr lang="es-BO" sz="2100" b="0" i="1" smtClean="0">
                          <a:latin typeface="Cambria Math" panose="02040503050406030204" pitchFamily="18" charset="0"/>
                        </a:rPr>
                        <m:t>𝐿𝑎</m:t>
                      </m:r>
                      <m:r>
                        <a:rPr lang="es-BO" sz="2100" b="0" i="1" smtClean="0">
                          <a:latin typeface="Cambria Math" panose="02040503050406030204" pitchFamily="18" charset="0"/>
                        </a:rPr>
                        <m:t> </m:t>
                      </m:r>
                      <m:r>
                        <a:rPr lang="es-BO" sz="2100" b="0" i="1" smtClean="0">
                          <a:latin typeface="Cambria Math" panose="02040503050406030204" pitchFamily="18" charset="0"/>
                        </a:rPr>
                        <m:t>𝑓𝑟𝑒𝑐𝑢𝑒𝑛𝑐𝑖𝑎</m:t>
                      </m:r>
                      <m:r>
                        <a:rPr lang="es-BO" sz="2100" b="0" i="1" smtClean="0">
                          <a:latin typeface="Cambria Math" panose="02040503050406030204" pitchFamily="18" charset="0"/>
                        </a:rPr>
                        <m:t> </m:t>
                      </m:r>
                      <m:r>
                        <a:rPr lang="es-BO" sz="2100" b="0" i="1" smtClean="0">
                          <a:latin typeface="Cambria Math" panose="02040503050406030204" pitchFamily="18" charset="0"/>
                        </a:rPr>
                        <m:t>𝑑𝑒</m:t>
                      </m:r>
                      <m:r>
                        <a:rPr lang="es-BO" sz="2100" b="0" i="1" smtClean="0">
                          <a:latin typeface="Cambria Math" panose="02040503050406030204" pitchFamily="18" charset="0"/>
                        </a:rPr>
                        <m:t> </m:t>
                      </m:r>
                      <m:r>
                        <a:rPr lang="es-BO" sz="2100" b="0" i="1" smtClean="0">
                          <a:latin typeface="Cambria Math" panose="02040503050406030204" pitchFamily="18" charset="0"/>
                        </a:rPr>
                        <m:t>𝑐𝑜𝑟𝑡𝑒</m:t>
                      </m:r>
                    </m:oMath>
                  </m:oMathPara>
                </a14:m>
                <a:endParaRPr lang="es-ES" sz="2100" dirty="0"/>
              </a:p>
              <a:p>
                <a:pPr marL="0" indent="0">
                  <a:buNone/>
                </a:pPr>
                <a14:m>
                  <m:oMathPara xmlns:m="http://schemas.openxmlformats.org/officeDocument/2006/math">
                    <m:oMathParaPr>
                      <m:jc m:val="left"/>
                    </m:oMathParaPr>
                    <m:oMath xmlns:m="http://schemas.openxmlformats.org/officeDocument/2006/math">
                      <m:sSub>
                        <m:sSubPr>
                          <m:ctrlPr>
                            <a:rPr lang="es-ES" sz="2100" i="1" smtClean="0">
                              <a:latin typeface="Cambria Math" panose="02040503050406030204" pitchFamily="18" charset="0"/>
                            </a:rPr>
                          </m:ctrlPr>
                        </m:sSubPr>
                        <m:e>
                          <m:r>
                            <a:rPr lang="es-BO" sz="2100" b="0" i="1" smtClean="0">
                              <a:latin typeface="Cambria Math" panose="02040503050406030204" pitchFamily="18" charset="0"/>
                            </a:rPr>
                            <m:t>𝑇</m:t>
                          </m:r>
                        </m:e>
                        <m:sub>
                          <m:r>
                            <a:rPr lang="es-BO" sz="2100" b="0" i="1" smtClean="0">
                              <a:latin typeface="Cambria Math" panose="02040503050406030204" pitchFamily="18" charset="0"/>
                            </a:rPr>
                            <m:t>𝑆</m:t>
                          </m:r>
                        </m:sub>
                      </m:sSub>
                      <m:r>
                        <a:rPr lang="es-BO" sz="2100" b="0" i="1" smtClean="0">
                          <a:latin typeface="Cambria Math" panose="02040503050406030204" pitchFamily="18" charset="0"/>
                        </a:rPr>
                        <m:t>→</m:t>
                      </m:r>
                      <m:r>
                        <a:rPr lang="es-BO" sz="2100" b="0" i="1" smtClean="0">
                          <a:latin typeface="Cambria Math" panose="02040503050406030204" pitchFamily="18" charset="0"/>
                        </a:rPr>
                        <m:t>𝐸𝑙</m:t>
                      </m:r>
                      <m:r>
                        <a:rPr lang="es-BO" sz="2100" b="0" i="1" smtClean="0">
                          <a:latin typeface="Cambria Math" panose="02040503050406030204" pitchFamily="18" charset="0"/>
                        </a:rPr>
                        <m:t> </m:t>
                      </m:r>
                      <m:r>
                        <a:rPr lang="es-BO" sz="2100" b="0" i="1" smtClean="0">
                          <a:latin typeface="Cambria Math" panose="02040503050406030204" pitchFamily="18" charset="0"/>
                        </a:rPr>
                        <m:t>𝑝𝑒𝑟𝑖𝑜𝑑𝑜</m:t>
                      </m:r>
                      <m:r>
                        <a:rPr lang="es-BO" sz="2100" b="0" i="1" smtClean="0">
                          <a:latin typeface="Cambria Math" panose="02040503050406030204" pitchFamily="18" charset="0"/>
                        </a:rPr>
                        <m:t> </m:t>
                      </m:r>
                      <m:r>
                        <a:rPr lang="es-BO" sz="2100" b="0" i="1" smtClean="0">
                          <a:latin typeface="Cambria Math" panose="02040503050406030204" pitchFamily="18" charset="0"/>
                        </a:rPr>
                        <m:t>𝑑𝑒</m:t>
                      </m:r>
                      <m:r>
                        <a:rPr lang="es-BO" sz="2100" b="0" i="1" smtClean="0">
                          <a:latin typeface="Cambria Math" panose="02040503050406030204" pitchFamily="18" charset="0"/>
                        </a:rPr>
                        <m:t> </m:t>
                      </m:r>
                      <m:r>
                        <a:rPr lang="es-BO" sz="2100" b="0" i="1" smtClean="0">
                          <a:latin typeface="Cambria Math" panose="02040503050406030204" pitchFamily="18" charset="0"/>
                        </a:rPr>
                        <m:t>𝑚𝑢𝑒𝑠𝑡𝑟𝑒𝑜</m:t>
                      </m:r>
                    </m:oMath>
                  </m:oMathPara>
                </a14:m>
                <a:endParaRPr lang="es-ES" sz="2100" dirty="0"/>
              </a:p>
              <a:p>
                <a:r>
                  <a:rPr lang="es-ES" sz="1900" dirty="0"/>
                  <a:t>La frecuencia de corte es el punto en el cual la magnitud de la función de transferencia se reduce en 3 dB respecto a su valor de baja frecuencia.</a:t>
                </a:r>
              </a:p>
              <a:p>
                <a:r>
                  <a:rPr lang="es-ES" sz="1900" dirty="0"/>
                  <a:t>La condición garantiza que se muestree la señal lo suficientemente rápido como para evitar el efecto de </a:t>
                </a:r>
                <a:r>
                  <a:rPr lang="es-ES" sz="1900" dirty="0" err="1"/>
                  <a:t>aliasing</a:t>
                </a:r>
                <a:r>
                  <a:rPr lang="es-ES" sz="1900" dirty="0"/>
                  <a:t>.</a:t>
                </a:r>
              </a:p>
              <a:p>
                <a:pPr marL="0" indent="0">
                  <a:buNone/>
                </a:pPr>
                <a14:m>
                  <m:oMathPara xmlns:m="http://schemas.openxmlformats.org/officeDocument/2006/math">
                    <m:oMathParaPr>
                      <m:jc m:val="centerGroup"/>
                    </m:oMathParaPr>
                    <m:oMath xmlns:m="http://schemas.openxmlformats.org/officeDocument/2006/math">
                      <m:f>
                        <m:fPr>
                          <m:ctrlPr>
                            <a:rPr lang="en-US" b="1" i="1">
                              <a:latin typeface="Cambria Math" panose="02040503050406030204" pitchFamily="18" charset="0"/>
                            </a:rPr>
                          </m:ctrlPr>
                        </m:fPr>
                        <m:num>
                          <m:r>
                            <a:rPr lang="es-ES_tradnl" b="1" i="1">
                              <a:latin typeface="Cambria Math" panose="02040503050406030204" pitchFamily="18" charset="0"/>
                            </a:rPr>
                            <m:t>𝑯</m:t>
                          </m:r>
                          <m:d>
                            <m:dPr>
                              <m:ctrlPr>
                                <a:rPr lang="en-US" b="1" i="1">
                                  <a:latin typeface="Cambria Math" panose="02040503050406030204" pitchFamily="18" charset="0"/>
                                </a:rPr>
                              </m:ctrlPr>
                            </m:dPr>
                            <m:e>
                              <m:r>
                                <a:rPr lang="es-ES_tradnl" b="1" i="1">
                                  <a:latin typeface="Cambria Math" panose="02040503050406030204" pitchFamily="18" charset="0"/>
                                </a:rPr>
                                <m:t>𝒔</m:t>
                              </m:r>
                            </m:e>
                          </m:d>
                        </m:num>
                        <m:den>
                          <m:sSub>
                            <m:sSubPr>
                              <m:ctrlPr>
                                <a:rPr lang="en-US" b="1" i="1">
                                  <a:latin typeface="Cambria Math" panose="02040503050406030204" pitchFamily="18" charset="0"/>
                                </a:rPr>
                              </m:ctrlPr>
                            </m:sSubPr>
                            <m:e>
                              <m:r>
                                <a:rPr lang="es-ES_tradnl" b="1" i="1">
                                  <a:latin typeface="Cambria Math" panose="02040503050406030204" pitchFamily="18" charset="0"/>
                                </a:rPr>
                                <m:t>𝑸</m:t>
                              </m:r>
                            </m:e>
                            <m:sub>
                              <m:r>
                                <a:rPr lang="es-ES_tradnl" b="1" i="1">
                                  <a:latin typeface="Cambria Math" panose="02040503050406030204" pitchFamily="18" charset="0"/>
                                </a:rPr>
                                <m:t>𝒊</m:t>
                              </m:r>
                            </m:sub>
                          </m:sSub>
                          <m:d>
                            <m:dPr>
                              <m:ctrlPr>
                                <a:rPr lang="en-US" b="1" i="1">
                                  <a:latin typeface="Cambria Math" panose="02040503050406030204" pitchFamily="18" charset="0"/>
                                </a:rPr>
                              </m:ctrlPr>
                            </m:dPr>
                            <m:e>
                              <m:r>
                                <a:rPr lang="es-ES_tradnl" b="1" i="1">
                                  <a:latin typeface="Cambria Math" panose="02040503050406030204" pitchFamily="18" charset="0"/>
                                </a:rPr>
                                <m:t>𝒔</m:t>
                              </m:r>
                            </m:e>
                          </m:d>
                        </m:den>
                      </m:f>
                      <m:r>
                        <a:rPr lang="es-ES_tradnl" b="1" i="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ES_tradnl" b="1" i="1">
                              <a:latin typeface="Cambria Math" panose="02040503050406030204" pitchFamily="18" charset="0"/>
                            </a:rPr>
                            <m:t>𝟎𝟗𝟔𝟐𝟗</m:t>
                          </m:r>
                        </m:num>
                        <m:den>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r>
                            <a:rPr lang="es-ES_tradnl" b="1" i="1">
                              <a:latin typeface="Cambria Math" panose="02040503050406030204" pitchFamily="18" charset="0"/>
                            </a:rPr>
                            <m:t>∗</m:t>
                          </m:r>
                          <m:r>
                            <a:rPr lang="es-ES_tradnl" b="1" i="1">
                              <a:latin typeface="Cambria Math" panose="02040503050406030204" pitchFamily="18" charset="0"/>
                            </a:rPr>
                            <m:t>𝒔</m:t>
                          </m:r>
                          <m:r>
                            <a:rPr lang="es-ES_tradnl" b="1" i="1">
                              <a:latin typeface="Cambria Math" panose="02040503050406030204" pitchFamily="18" charset="0"/>
                            </a:rPr>
                            <m:t>+</m:t>
                          </m:r>
                          <m:r>
                            <a:rPr lang="es-ES_tradnl" b="1" i="1">
                              <a:latin typeface="Cambria Math" panose="02040503050406030204" pitchFamily="18" charset="0"/>
                            </a:rPr>
                            <m:t>𝟏</m:t>
                          </m:r>
                        </m:den>
                      </m:f>
                    </m:oMath>
                  </m:oMathPara>
                </a14:m>
                <a:endParaRPr lang="es-BO" b="1" dirty="0"/>
              </a:p>
              <a:p>
                <a:pPr marL="0" indent="0">
                  <a:buNone/>
                </a:pPr>
                <a:r>
                  <a:rPr lang="es-BO" b="1" dirty="0"/>
                  <a:t>					    </a:t>
                </a:r>
                <a14:m>
                  <m:oMath xmlns:m="http://schemas.openxmlformats.org/officeDocument/2006/math">
                    <m:f>
                      <m:fPr>
                        <m:ctrlPr>
                          <a:rPr lang="en-US" sz="2200" b="1" i="1">
                            <a:latin typeface="Cambria Math" panose="02040503050406030204" pitchFamily="18" charset="0"/>
                          </a:rPr>
                        </m:ctrlPr>
                      </m:fPr>
                      <m:num>
                        <m:r>
                          <a:rPr lang="es-ES_tradnl" sz="2200" b="1" i="1">
                            <a:latin typeface="Cambria Math" panose="02040503050406030204" pitchFamily="18" charset="0"/>
                          </a:rPr>
                          <m:t>𝑯</m:t>
                        </m:r>
                        <m:d>
                          <m:dPr>
                            <m:ctrlPr>
                              <a:rPr lang="en-US" sz="2200" b="1" i="1">
                                <a:latin typeface="Cambria Math" panose="02040503050406030204" pitchFamily="18" charset="0"/>
                              </a:rPr>
                            </m:ctrlPr>
                          </m:dPr>
                          <m:e>
                            <m:r>
                              <a:rPr lang="es-ES_tradnl" sz="2200" b="1" i="1">
                                <a:latin typeface="Cambria Math" panose="02040503050406030204" pitchFamily="18" charset="0"/>
                              </a:rPr>
                              <m:t>𝒔</m:t>
                            </m:r>
                          </m:e>
                        </m:d>
                      </m:num>
                      <m:den>
                        <m:sSub>
                          <m:sSubPr>
                            <m:ctrlPr>
                              <a:rPr lang="en-US" sz="2200" b="1" i="1">
                                <a:latin typeface="Cambria Math" panose="02040503050406030204" pitchFamily="18" charset="0"/>
                              </a:rPr>
                            </m:ctrlPr>
                          </m:sSubPr>
                          <m:e>
                            <m:r>
                              <a:rPr lang="es-ES_tradnl" sz="2200" b="1" i="1">
                                <a:latin typeface="Cambria Math" panose="02040503050406030204" pitchFamily="18" charset="0"/>
                              </a:rPr>
                              <m:t>𝑸</m:t>
                            </m:r>
                          </m:e>
                          <m:sub>
                            <m:r>
                              <a:rPr lang="es-ES_tradnl" sz="2200" b="1" i="1">
                                <a:latin typeface="Cambria Math" panose="02040503050406030204" pitchFamily="18" charset="0"/>
                              </a:rPr>
                              <m:t>𝒊</m:t>
                            </m:r>
                          </m:sub>
                        </m:sSub>
                        <m:d>
                          <m:dPr>
                            <m:ctrlPr>
                              <a:rPr lang="en-US" sz="2200" b="1" i="1">
                                <a:latin typeface="Cambria Math" panose="02040503050406030204" pitchFamily="18" charset="0"/>
                              </a:rPr>
                            </m:ctrlPr>
                          </m:dPr>
                          <m:e>
                            <m:r>
                              <a:rPr lang="es-ES_tradnl" sz="2200" b="1" i="1">
                                <a:latin typeface="Cambria Math" panose="02040503050406030204" pitchFamily="18" charset="0"/>
                              </a:rPr>
                              <m:t>𝒔</m:t>
                            </m:r>
                          </m:e>
                        </m:d>
                      </m:den>
                    </m:f>
                    <m:r>
                      <a:rPr lang="es-ES_tradnl" sz="2200" b="1" i="1">
                        <a:latin typeface="Cambria Math" panose="02040503050406030204" pitchFamily="18" charset="0"/>
                      </a:rPr>
                      <m:t>=</m:t>
                    </m:r>
                    <m:f>
                      <m:fPr>
                        <m:ctrlPr>
                          <a:rPr lang="en-US" sz="2200" b="1" i="1">
                            <a:latin typeface="Cambria Math" panose="02040503050406030204" pitchFamily="18" charset="0"/>
                          </a:rPr>
                        </m:ctrlPr>
                      </m:fPr>
                      <m:num>
                        <m:r>
                          <a:rPr lang="es-ES_tradnl" sz="2200" b="1" i="1">
                            <a:latin typeface="Cambria Math" panose="02040503050406030204" pitchFamily="18" charset="0"/>
                          </a:rPr>
                          <m:t>𝟎</m:t>
                        </m:r>
                        <m:r>
                          <a:rPr lang="es-ES_tradnl" sz="2200" b="1" i="1">
                            <a:latin typeface="Cambria Math" panose="02040503050406030204" pitchFamily="18" charset="0"/>
                          </a:rPr>
                          <m:t>.</m:t>
                        </m:r>
                        <m:r>
                          <a:rPr lang="es-BO" sz="2200" b="1" i="1">
                            <a:latin typeface="Cambria Math" panose="02040503050406030204" pitchFamily="18" charset="0"/>
                          </a:rPr>
                          <m:t>𝟎𝟎𝟎𝟔𝟑𝟏𝟒</m:t>
                        </m:r>
                      </m:num>
                      <m:den>
                        <m:r>
                          <a:rPr lang="es-ES_tradnl" sz="2200" b="1" i="1">
                            <a:latin typeface="Cambria Math" panose="02040503050406030204" pitchFamily="18" charset="0"/>
                          </a:rPr>
                          <m:t>𝒔</m:t>
                        </m:r>
                        <m:r>
                          <a:rPr lang="es-ES_tradnl" sz="2200" b="1" i="1">
                            <a:latin typeface="Cambria Math" panose="02040503050406030204" pitchFamily="18" charset="0"/>
                          </a:rPr>
                          <m:t>+</m:t>
                        </m:r>
                        <m:r>
                          <a:rPr lang="es-BO" sz="2200" b="1" i="1">
                            <a:latin typeface="Cambria Math" panose="02040503050406030204" pitchFamily="18" charset="0"/>
                          </a:rPr>
                          <m:t>𝟎</m:t>
                        </m:r>
                        <m:r>
                          <a:rPr lang="es-BO" sz="2200" b="1" i="1">
                            <a:latin typeface="Cambria Math" panose="02040503050406030204" pitchFamily="18" charset="0"/>
                          </a:rPr>
                          <m:t>,</m:t>
                        </m:r>
                        <m:r>
                          <a:rPr lang="es-BO" sz="2200" b="1" i="1">
                            <a:latin typeface="Cambria Math" panose="02040503050406030204" pitchFamily="18" charset="0"/>
                          </a:rPr>
                          <m:t>𝟎𝟎𝟔𝟓𝟓𝟕</m:t>
                        </m:r>
                      </m:den>
                    </m:f>
                  </m:oMath>
                </a14:m>
                <a:endParaRPr lang="es-BO" b="1" dirty="0"/>
              </a:p>
              <a:p>
                <a:pPr marL="0" indent="0">
                  <a:buNone/>
                </a:pPr>
                <a:r>
                  <a:rPr lang="es-BO" b="1" dirty="0"/>
                  <a:t>Transformada Z según tablas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2391507" y="1125416"/>
                <a:ext cx="9638257" cy="4947972"/>
              </a:xfrm>
              <a:blipFill>
                <a:blip r:embed="rId2"/>
                <a:stretch>
                  <a:fillRect l="-569" t="-1233" r="-127" b="-617"/>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6" name="Rectángulo 5"/>
              <p:cNvSpPr/>
              <p:nvPr/>
            </p:nvSpPr>
            <p:spPr>
              <a:xfrm>
                <a:off x="8767368" y="4776550"/>
                <a:ext cx="2810321" cy="6127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𝒘</m:t>
                          </m:r>
                        </m:e>
                        <m:sub>
                          <m:r>
                            <a:rPr lang="es-BO" b="1" i="1" smtClean="0">
                              <a:latin typeface="Cambria Math" panose="02040503050406030204" pitchFamily="18" charset="0"/>
                            </a:rPr>
                            <m:t>𝒄</m:t>
                          </m:r>
                        </m:sub>
                      </m:sSub>
                      <m:r>
                        <a:rPr lang="es-BO" b="1" i="1" smtClean="0">
                          <a:latin typeface="Cambria Math" panose="02040503050406030204" pitchFamily="18" charset="0"/>
                        </a:rPr>
                        <m:t>=</m:t>
                      </m:r>
                      <m:f>
                        <m:fPr>
                          <m:ctrlPr>
                            <a:rPr lang="en-US" b="1" i="1">
                              <a:latin typeface="Cambria Math" panose="02040503050406030204" pitchFamily="18" charset="0"/>
                            </a:rPr>
                          </m:ctrlPr>
                        </m:fPr>
                        <m:num>
                          <m:r>
                            <a:rPr lang="es-BO" b="1" i="1" smtClean="0">
                              <a:latin typeface="Cambria Math" panose="02040503050406030204" pitchFamily="18" charset="0"/>
                            </a:rPr>
                            <m:t>𝟏</m:t>
                          </m:r>
                        </m:num>
                        <m:den>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den>
                      </m:f>
                      <m:r>
                        <a:rPr lang="es-BO" b="1" i="1" smtClean="0">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oMath>
                  </m:oMathPara>
                </a14:m>
                <a:endParaRPr lang="en-US" dirty="0"/>
              </a:p>
            </p:txBody>
          </p:sp>
        </mc:Choice>
        <mc:Fallback xmlns="">
          <p:sp>
            <p:nvSpPr>
              <p:cNvPr id="6" name="Rectángulo 5"/>
              <p:cNvSpPr>
                <a:spLocks noRot="1" noChangeAspect="1" noMove="1" noResize="1" noEditPoints="1" noAdjustHandles="1" noChangeArrowheads="1" noChangeShapeType="1" noTextEdit="1"/>
              </p:cNvSpPr>
              <p:nvPr/>
            </p:nvSpPr>
            <p:spPr>
              <a:xfrm>
                <a:off x="8767368" y="4776550"/>
                <a:ext cx="2810321" cy="612796"/>
              </a:xfrm>
              <a:prstGeom prst="rect">
                <a:avLst/>
              </a:prstGeom>
              <a:blipFill>
                <a:blip r:embed="rId3"/>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7" name="Rectángulo 6"/>
              <p:cNvSpPr/>
              <p:nvPr/>
            </p:nvSpPr>
            <p:spPr>
              <a:xfrm>
                <a:off x="8966140" y="5570430"/>
                <a:ext cx="2702150" cy="121340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smtClean="0">
                          <a:latin typeface="Cambria Math" panose="02040503050406030204" pitchFamily="18" charset="0"/>
                        </a:rPr>
                        <m:t>&lt;</m:t>
                      </m:r>
                      <m:f>
                        <m:fPr>
                          <m:ctrlPr>
                            <a:rPr lang="en-US" b="1" i="1">
                              <a:latin typeface="Cambria Math" panose="02040503050406030204" pitchFamily="18" charset="0"/>
                            </a:rPr>
                          </m:ctrlPr>
                        </m:fPr>
                        <m:num>
                          <m:r>
                            <a:rPr lang="es-BO" b="1" i="1" smtClean="0">
                              <a:latin typeface="Cambria Math" panose="02040503050406030204" pitchFamily="18" charset="0"/>
                            </a:rPr>
                            <m:t>𝟐</m:t>
                          </m:r>
                          <m:r>
                            <a:rPr lang="es-BO" b="1" i="1" smtClean="0">
                              <a:latin typeface="Cambria Math" panose="02040503050406030204" pitchFamily="18" charset="0"/>
                            </a:rPr>
                            <m:t>∗</m:t>
                          </m:r>
                          <m:r>
                            <m:rPr>
                              <m:nor/>
                            </m:rPr>
                            <a:rPr lang="el-GR" b="1" dirty="0"/>
                            <m:t>π</m:t>
                          </m:r>
                        </m:num>
                        <m:den>
                          <m:sSub>
                            <m:sSubPr>
                              <m:ctrlPr>
                                <a:rPr lang="es-ES_tradnl" b="1" i="1">
                                  <a:latin typeface="Cambria Math" panose="02040503050406030204" pitchFamily="18" charset="0"/>
                                </a:rPr>
                              </m:ctrlPr>
                            </m:sSubPr>
                            <m:e>
                              <m:r>
                                <a:rPr lang="es-BO" b="1" i="1">
                                  <a:latin typeface="Cambria Math" panose="02040503050406030204" pitchFamily="18" charset="0"/>
                                </a:rPr>
                                <m:t>𝒘</m:t>
                              </m:r>
                            </m:e>
                            <m:sub>
                              <m:r>
                                <a:rPr lang="es-BO" b="1" i="1">
                                  <a:latin typeface="Cambria Math" panose="02040503050406030204" pitchFamily="18" charset="0"/>
                                </a:rPr>
                                <m:t>𝒄</m:t>
                              </m:r>
                            </m:sub>
                          </m:sSub>
                        </m:den>
                      </m:f>
                      <m:r>
                        <a:rPr lang="es-BO" b="1" i="1" smtClean="0">
                          <a:latin typeface="Cambria Math" panose="02040503050406030204" pitchFamily="18" charset="0"/>
                        </a:rPr>
                        <m:t>&lt;</m:t>
                      </m:r>
                      <m:f>
                        <m:fPr>
                          <m:ctrlPr>
                            <a:rPr lang="en-US" b="1" i="1">
                              <a:latin typeface="Cambria Math" panose="02040503050406030204" pitchFamily="18" charset="0"/>
                            </a:rPr>
                          </m:ctrlPr>
                        </m:fPr>
                        <m:num>
                          <m:r>
                            <a:rPr lang="es-BO" b="1" i="1">
                              <a:latin typeface="Cambria Math" panose="02040503050406030204" pitchFamily="18" charset="0"/>
                            </a:rPr>
                            <m:t>𝟐</m:t>
                          </m:r>
                          <m:r>
                            <a:rPr lang="es-BO" b="1" i="1">
                              <a:latin typeface="Cambria Math" panose="02040503050406030204" pitchFamily="18" charset="0"/>
                            </a:rPr>
                            <m:t>∗</m:t>
                          </m:r>
                          <m:r>
                            <m:rPr>
                              <m:nor/>
                            </m:rPr>
                            <a:rPr lang="el-GR" b="1" dirty="0"/>
                            <m:t>π</m:t>
                          </m:r>
                        </m:num>
                        <m:den>
                          <m:r>
                            <a:rPr lang="es-BO" b="1" i="1" smtClean="0">
                              <a:latin typeface="Cambria Math" panose="02040503050406030204" pitchFamily="18" charset="0"/>
                            </a:rPr>
                            <m:t>𝟎</m:t>
                          </m:r>
                          <m:r>
                            <a:rPr lang="es-BO" b="1" i="1" smtClean="0">
                              <a:latin typeface="Cambria Math" panose="02040503050406030204" pitchFamily="18" charset="0"/>
                            </a:rPr>
                            <m:t>,</m:t>
                          </m:r>
                          <m:r>
                            <a:rPr lang="es-BO" b="1" i="1" smtClean="0">
                              <a:latin typeface="Cambria Math" panose="02040503050406030204" pitchFamily="18" charset="0"/>
                            </a:rPr>
                            <m:t>𝟎𝟎𝟔𝟓𝟓𝟕</m:t>
                          </m:r>
                        </m:den>
                      </m:f>
                    </m:oMath>
                  </m:oMathPara>
                </a14:m>
                <a:endParaRPr lang="es-BO" b="1" dirty="0"/>
              </a:p>
              <a:p>
                <a:pPr/>
                <a14:m>
                  <m:oMathPara xmlns:m="http://schemas.openxmlformats.org/officeDocument/2006/math">
                    <m:oMathParaPr>
                      <m:jc m:val="centerGroup"/>
                    </m:oMathParaPr>
                    <m:oMath xmlns:m="http://schemas.openxmlformats.org/officeDocument/2006/math">
                      <m:sSub>
                        <m:sSubPr>
                          <m:ctrlPr>
                            <a:rPr lang="es-ES_tradnl" b="1" i="1" smtClean="0">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smtClean="0">
                          <a:latin typeface="Cambria Math" panose="02040503050406030204" pitchFamily="18" charset="0"/>
                        </a:rPr>
                        <m:t>=</m:t>
                      </m:r>
                      <m:r>
                        <a:rPr lang="es-BO" b="1" i="1" smtClean="0">
                          <a:latin typeface="Cambria Math" panose="02040503050406030204" pitchFamily="18" charset="0"/>
                        </a:rPr>
                        <m:t>𝟗𝟓𝟖</m:t>
                      </m:r>
                      <m:r>
                        <a:rPr lang="es-BO" b="1" i="1" smtClean="0">
                          <a:latin typeface="Cambria Math" panose="02040503050406030204" pitchFamily="18" charset="0"/>
                        </a:rPr>
                        <m:t>,</m:t>
                      </m:r>
                      <m:r>
                        <a:rPr lang="es-BO" b="1" i="1" smtClean="0">
                          <a:latin typeface="Cambria Math" panose="02040503050406030204" pitchFamily="18" charset="0"/>
                        </a:rPr>
                        <m:t>𝟐𝟒</m:t>
                      </m:r>
                    </m:oMath>
                  </m:oMathPara>
                </a14:m>
                <a:endParaRPr lang="es-BO" b="1" dirty="0"/>
              </a:p>
              <a:p>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8966140" y="5570430"/>
                <a:ext cx="2702150" cy="1213409"/>
              </a:xfrm>
              <a:prstGeom prst="rect">
                <a:avLst/>
              </a:prstGeom>
              <a:blipFill>
                <a:blip r:embed="rId4"/>
                <a:stretch>
                  <a:fillRect/>
                </a:stretch>
              </a:blipFill>
            </p:spPr>
            <p:txBody>
              <a:bodyPr/>
              <a:lstStyle/>
              <a:p>
                <a:r>
                  <a:rPr lang="es-BO">
                    <a:noFill/>
                  </a:rPr>
                  <a:t> </a:t>
                </a:r>
              </a:p>
            </p:txBody>
          </p:sp>
        </mc:Fallback>
      </mc:AlternateContent>
      <p:sp>
        <p:nvSpPr>
          <p:cNvPr id="9" name="Llamada de flecha a la izquierda 8"/>
          <p:cNvSpPr/>
          <p:nvPr/>
        </p:nvSpPr>
        <p:spPr>
          <a:xfrm>
            <a:off x="7518399" y="4655201"/>
            <a:ext cx="4267199" cy="1897999"/>
          </a:xfrm>
          <a:prstGeom prst="leftArrowCallout">
            <a:avLst>
              <a:gd name="adj1" fmla="val 21539"/>
              <a:gd name="adj2" fmla="val 24134"/>
              <a:gd name="adj3" fmla="val 44035"/>
              <a:gd name="adj4" fmla="val 71368"/>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2DD83B9-FBFC-BF69-BF48-BBD81B47AF8B}"/>
                  </a:ext>
                </a:extLst>
              </p:cNvPr>
              <p:cNvSpPr txBox="1"/>
              <p:nvPr/>
            </p:nvSpPr>
            <p:spPr>
              <a:xfrm>
                <a:off x="4779199" y="6019774"/>
                <a:ext cx="2873829" cy="625812"/>
              </a:xfrm>
              <a:prstGeom prst="rect">
                <a:avLst/>
              </a:prstGeom>
              <a:ln w="38100">
                <a:solidFill>
                  <a:schemeClr val="accent2">
                    <a:lumMod val="75000"/>
                  </a:schemeClr>
                </a:solidFill>
              </a:ln>
            </p:spPr>
            <p:style>
              <a:lnRef idx="2">
                <a:schemeClr val="accent6"/>
              </a:lnRef>
              <a:fillRef idx="1">
                <a:schemeClr val="lt1"/>
              </a:fillRef>
              <a:effectRef idx="0">
                <a:schemeClr val="accent6"/>
              </a:effectRef>
              <a:fontRef idx="minor">
                <a:schemeClr val="dk1"/>
              </a:fontRef>
            </p:style>
            <p:txBody>
              <a:bodyPr wrap="squar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sSup>
                          <m:sSupPr>
                            <m:ctrlPr>
                              <a:rPr lang="en-US" sz="2400" b="1" i="1">
                                <a:latin typeface="Cambria Math" panose="02040503050406030204" pitchFamily="18" charset="0"/>
                              </a:rPr>
                            </m:ctrlPr>
                          </m:sSupPr>
                          <m:e>
                            <m:r>
                              <a:rPr lang="es-ES_tradnl" sz="2400" b="1" i="1">
                                <a:latin typeface="Cambria Math" panose="02040503050406030204" pitchFamily="18" charset="0"/>
                              </a:rPr>
                              <m:t>𝒆</m:t>
                            </m:r>
                          </m:e>
                          <m:sup>
                            <m:r>
                              <a:rPr lang="es-ES_tradnl" sz="2400" b="1" i="1">
                                <a:latin typeface="Cambria Math" panose="02040503050406030204" pitchFamily="18" charset="0"/>
                              </a:rPr>
                              <m:t>−</m:t>
                            </m:r>
                            <m:r>
                              <a:rPr lang="es-BO" sz="2400" b="1" i="1">
                                <a:latin typeface="Cambria Math" panose="02040503050406030204" pitchFamily="18" charset="0"/>
                              </a:rPr>
                              <m:t>𝟎</m:t>
                            </m:r>
                            <m:r>
                              <a:rPr lang="es-BO" sz="2400" b="1" i="1">
                                <a:latin typeface="Cambria Math" panose="02040503050406030204" pitchFamily="18" charset="0"/>
                              </a:rPr>
                              <m:t>,</m:t>
                            </m:r>
                            <m:r>
                              <a:rPr lang="es-BO" sz="2400" b="1" i="1">
                                <a:latin typeface="Cambria Math" panose="02040503050406030204" pitchFamily="18" charset="0"/>
                              </a:rPr>
                              <m:t>𝟎𝟎𝟔𝟓𝟓𝟕</m:t>
                            </m:r>
                            <m:r>
                              <a:rPr lang="es-BO" sz="2400" b="1" i="1">
                                <a:latin typeface="Cambria Math" panose="02040503050406030204" pitchFamily="18" charset="0"/>
                              </a:rPr>
                              <m:t>∗</m:t>
                            </m:r>
                            <m:r>
                              <a:rPr lang="es-ES_tradnl" sz="2400" b="1" i="1">
                                <a:latin typeface="Cambria Math" panose="02040503050406030204" pitchFamily="18" charset="0"/>
                              </a:rPr>
                              <m:t>𝑻</m:t>
                            </m:r>
                          </m:sup>
                        </m:sSup>
                      </m:den>
                    </m:f>
                  </m:oMath>
                </a14:m>
                <a:r>
                  <a:rPr lang="es-BO" b="1" dirty="0"/>
                  <a:t> </a:t>
                </a:r>
                <a:endParaRPr lang="es-BO" dirty="0"/>
              </a:p>
            </p:txBody>
          </p:sp>
        </mc:Choice>
        <mc:Fallback xmlns="">
          <p:sp>
            <p:nvSpPr>
              <p:cNvPr id="10" name="CuadroTexto 9">
                <a:extLst>
                  <a:ext uri="{FF2B5EF4-FFF2-40B4-BE49-F238E27FC236}">
                    <a16:creationId xmlns:a16="http://schemas.microsoft.com/office/drawing/2014/main" id="{F2DD83B9-FBFC-BF69-BF48-BBD81B47AF8B}"/>
                  </a:ext>
                </a:extLst>
              </p:cNvPr>
              <p:cNvSpPr txBox="1">
                <a:spLocks noRot="1" noChangeAspect="1" noMove="1" noResize="1" noEditPoints="1" noAdjustHandles="1" noChangeArrowheads="1" noChangeShapeType="1" noTextEdit="1"/>
              </p:cNvSpPr>
              <p:nvPr/>
            </p:nvSpPr>
            <p:spPr>
              <a:xfrm>
                <a:off x="4779199" y="6019774"/>
                <a:ext cx="2873829" cy="625812"/>
              </a:xfrm>
              <a:prstGeom prst="rect">
                <a:avLst/>
              </a:prstGeom>
              <a:blipFill>
                <a:blip r:embed="rId5"/>
                <a:stretch>
                  <a:fillRect/>
                </a:stretch>
              </a:blipFill>
              <a:ln w="38100">
                <a:solidFill>
                  <a:schemeClr val="accent2">
                    <a:lumMod val="75000"/>
                  </a:schemeClr>
                </a:solidFill>
              </a:ln>
            </p:spPr>
            <p:txBody>
              <a:bodyPr/>
              <a:lstStyle/>
              <a:p>
                <a:r>
                  <a:rPr lang="es-BO">
                    <a:noFill/>
                  </a:rPr>
                  <a:t> </a:t>
                </a:r>
              </a:p>
            </p:txBody>
          </p:sp>
        </mc:Fallback>
      </mc:AlternateContent>
    </p:spTree>
    <p:extLst>
      <p:ext uri="{BB962C8B-B14F-4D97-AF65-F5344CB8AC3E}">
        <p14:creationId xmlns:p14="http://schemas.microsoft.com/office/powerpoint/2010/main" val="21343865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D5CEF6A-187C-A2B5-6AF1-6A3DEF030125}"/>
              </a:ext>
            </a:extLst>
          </p:cNvPr>
          <p:cNvSpPr>
            <a:spLocks noGrp="1"/>
          </p:cNvSpPr>
          <p:nvPr>
            <p:ph type="title"/>
          </p:nvPr>
        </p:nvSpPr>
        <p:spPr>
          <a:xfrm>
            <a:off x="2592388" y="623888"/>
            <a:ext cx="8912225" cy="1281112"/>
          </a:xfrm>
        </p:spPr>
        <p:txBody>
          <a:bodyPr/>
          <a:lstStyle/>
          <a:p>
            <a:r>
              <a:rPr lang="es-BO" b="1" dirty="0">
                <a:solidFill>
                  <a:srgbClr val="0070C0"/>
                </a:solidFill>
              </a:rPr>
              <a:t>Análisis en Discreta</a:t>
            </a:r>
            <a:endParaRPr lang="en-US" b="1" dirty="0">
              <a:solidFill>
                <a:srgbClr val="0070C0"/>
              </a:solidFill>
            </a:endParaRPr>
          </a:p>
        </p:txBody>
      </p:sp>
      <p:pic>
        <p:nvPicPr>
          <p:cNvPr id="5" name="Imagen 4">
            <a:extLst>
              <a:ext uri="{FF2B5EF4-FFF2-40B4-BE49-F238E27FC236}">
                <a16:creationId xmlns:a16="http://schemas.microsoft.com/office/drawing/2014/main" id="{26470255-FA4E-C726-A872-F538F826C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1154" y="1526022"/>
            <a:ext cx="6048458" cy="4708090"/>
          </a:xfrm>
          <a:prstGeom prst="rect">
            <a:avLst/>
          </a:prstGeom>
        </p:spPr>
      </p:pic>
    </p:spTree>
    <p:extLst>
      <p:ext uri="{BB962C8B-B14F-4D97-AF65-F5344CB8AC3E}">
        <p14:creationId xmlns:p14="http://schemas.microsoft.com/office/powerpoint/2010/main" val="8863679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p:txBody>
              <a:bodyPr/>
              <a:lstStyle/>
              <a:p>
                <a:r>
                  <a:rPr lang="es-BO" dirty="0"/>
                  <a:t>Criterio del tiempo de respuesta : </a:t>
                </a:r>
                <a14:m>
                  <m:oMath xmlns:m="http://schemas.openxmlformats.org/officeDocument/2006/math">
                    <m:sSub>
                      <m:sSubPr>
                        <m:ctrlPr>
                          <a:rPr lang="es-ES_tradnl" b="1" i="1">
                            <a:latin typeface="Cambria Math" panose="02040503050406030204" pitchFamily="18" charset="0"/>
                          </a:rPr>
                        </m:ctrlPr>
                      </m:sSubPr>
                      <m:e>
                        <m:r>
                          <a:rPr lang="es-BO" b="1" i="1" smtClean="0">
                            <a:latin typeface="Cambria Math" panose="02040503050406030204" pitchFamily="18" charset="0"/>
                          </a:rPr>
                          <m:t>𝑻</m:t>
                        </m:r>
                      </m:e>
                      <m:sub>
                        <m:r>
                          <a:rPr lang="es-BO" b="1" i="1" smtClean="0">
                            <a:latin typeface="Cambria Math" panose="02040503050406030204" pitchFamily="18" charset="0"/>
                          </a:rPr>
                          <m:t>𝒔</m:t>
                        </m:r>
                      </m:sub>
                    </m:sSub>
                    <m:r>
                      <a:rPr lang="es-BO" b="1" i="1">
                        <a:latin typeface="Cambria Math" panose="02040503050406030204" pitchFamily="18" charset="0"/>
                      </a:rPr>
                      <m:t>=</m:t>
                    </m:r>
                    <m:f>
                      <m:fPr>
                        <m:ctrlPr>
                          <a:rPr lang="en-US" b="1" i="1">
                            <a:latin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𝝉</m:t>
                        </m:r>
                      </m:num>
                      <m:den>
                        <m:r>
                          <a:rPr lang="es-BO" b="1" i="1" smtClean="0">
                            <a:latin typeface="Cambria Math" panose="02040503050406030204" pitchFamily="18" charset="0"/>
                          </a:rPr>
                          <m:t>𝟏𝟎</m:t>
                        </m:r>
                      </m:den>
                    </m:f>
                    <m:r>
                      <a:rPr lang="es-BO" b="1" i="1" smtClean="0">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𝟏𝟓</m:t>
                        </m:r>
                        <m:r>
                          <a:rPr lang="es-BO" b="1" i="1">
                            <a:latin typeface="Cambria Math" panose="02040503050406030204" pitchFamily="18" charset="0"/>
                          </a:rPr>
                          <m:t>𝟐</m:t>
                        </m:r>
                        <m:r>
                          <a:rPr lang="es-BO" b="1" i="1">
                            <a:latin typeface="Cambria Math" panose="02040503050406030204" pitchFamily="18" charset="0"/>
                          </a:rPr>
                          <m:t>.</m:t>
                        </m:r>
                        <m:r>
                          <a:rPr lang="es-BO" b="1" i="1">
                            <a:latin typeface="Cambria Math" panose="02040503050406030204" pitchFamily="18" charset="0"/>
                          </a:rPr>
                          <m:t>𝟓</m:t>
                        </m:r>
                        <m:r>
                          <m:rPr>
                            <m:nor/>
                          </m:rPr>
                          <a:rPr lang="en-US" dirty="0"/>
                          <m:t> </m:t>
                        </m:r>
                      </m:num>
                      <m:den>
                        <m:r>
                          <a:rPr lang="es-BO" b="1" i="1">
                            <a:latin typeface="Cambria Math" panose="02040503050406030204" pitchFamily="18" charset="0"/>
                          </a:rPr>
                          <m:t>𝟏𝟎</m:t>
                        </m:r>
                      </m:den>
                    </m:f>
                    <m:r>
                      <a:rPr lang="es-BO" b="1" i="1" smtClean="0">
                        <a:latin typeface="Cambria Math" panose="02040503050406030204" pitchFamily="18" charset="0"/>
                      </a:rPr>
                      <m:t>=</m:t>
                    </m:r>
                    <m:r>
                      <a:rPr lang="es-BO" b="1" i="1" smtClean="0">
                        <a:latin typeface="Cambria Math" panose="02040503050406030204" pitchFamily="18" charset="0"/>
                      </a:rPr>
                      <m:t>𝟏𝟓</m:t>
                    </m:r>
                    <m:r>
                      <a:rPr lang="es-BO" b="1" i="1" smtClean="0">
                        <a:latin typeface="Cambria Math" panose="02040503050406030204" pitchFamily="18" charset="0"/>
                      </a:rPr>
                      <m:t>.</m:t>
                    </m:r>
                    <m:r>
                      <a:rPr lang="es-BO" b="1" i="1" smtClean="0">
                        <a:latin typeface="Cambria Math" panose="02040503050406030204" pitchFamily="18" charset="0"/>
                      </a:rPr>
                      <m:t>𝟐𝟓</m:t>
                    </m:r>
                  </m:oMath>
                </a14:m>
                <a:endParaRPr lang="en-US"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blipFill>
                <a:blip r:embed="rId2"/>
                <a:stretch>
                  <a:fillRect l="-424"/>
                </a:stretch>
              </a:blipFill>
            </p:spPr>
            <p:txBody>
              <a:bodyPr/>
              <a:lstStyle/>
              <a:p>
                <a:r>
                  <a:rPr lang="en-US">
                    <a:noFill/>
                  </a:rPr>
                  <a:t> </a:t>
                </a:r>
              </a:p>
            </p:txBody>
          </p:sp>
        </mc:Fallback>
      </mc:AlternateContent>
      <p:pic>
        <p:nvPicPr>
          <p:cNvPr id="4" name="Imagen 3"/>
          <p:cNvPicPr>
            <a:picLocks noChangeAspect="1"/>
          </p:cNvPicPr>
          <p:nvPr/>
        </p:nvPicPr>
        <p:blipFill>
          <a:blip r:embed="rId3"/>
          <a:stretch>
            <a:fillRect/>
          </a:stretch>
        </p:blipFill>
        <p:spPr>
          <a:xfrm>
            <a:off x="2732929" y="2809427"/>
            <a:ext cx="4520897" cy="3569495"/>
          </a:xfrm>
          <a:prstGeom prst="rect">
            <a:avLst/>
          </a:prstGeom>
        </p:spPr>
      </p:pic>
      <mc:AlternateContent xmlns:mc="http://schemas.openxmlformats.org/markup-compatibility/2006" xmlns:a14="http://schemas.microsoft.com/office/drawing/2010/main">
        <mc:Choice Requires="a14">
          <p:sp>
            <p:nvSpPr>
              <p:cNvPr id="5" name="Rectángulo 4"/>
              <p:cNvSpPr/>
              <p:nvPr/>
            </p:nvSpPr>
            <p:spPr>
              <a:xfrm>
                <a:off x="7941633" y="2950106"/>
                <a:ext cx="2650084" cy="625812"/>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sSup>
                          <m:sSupPr>
                            <m:ctrlPr>
                              <a:rPr lang="en-US" sz="2400" b="1" i="1">
                                <a:latin typeface="Cambria Math" panose="02040503050406030204" pitchFamily="18" charset="0"/>
                              </a:rPr>
                            </m:ctrlPr>
                          </m:sSupPr>
                          <m:e>
                            <m:r>
                              <a:rPr lang="es-ES_tradnl" sz="2400" b="1" i="1">
                                <a:latin typeface="Cambria Math" panose="02040503050406030204" pitchFamily="18" charset="0"/>
                              </a:rPr>
                              <m:t>𝒆</m:t>
                            </m:r>
                          </m:e>
                          <m:sup>
                            <m:r>
                              <a:rPr lang="es-ES_tradnl" sz="2400" b="1" i="1">
                                <a:latin typeface="Cambria Math" panose="02040503050406030204" pitchFamily="18" charset="0"/>
                              </a:rPr>
                              <m:t>−</m:t>
                            </m:r>
                            <m:r>
                              <a:rPr lang="es-BO" sz="2400" b="1" i="1">
                                <a:latin typeface="Cambria Math" panose="02040503050406030204" pitchFamily="18" charset="0"/>
                              </a:rPr>
                              <m:t>𝟎</m:t>
                            </m:r>
                            <m:r>
                              <a:rPr lang="es-BO" sz="2400" b="1" i="1">
                                <a:latin typeface="Cambria Math" panose="02040503050406030204" pitchFamily="18" charset="0"/>
                              </a:rPr>
                              <m:t>,</m:t>
                            </m:r>
                            <m:r>
                              <a:rPr lang="es-BO" sz="2400" b="1" i="1">
                                <a:latin typeface="Cambria Math" panose="02040503050406030204" pitchFamily="18" charset="0"/>
                              </a:rPr>
                              <m:t>𝟎𝟗𝟗𝟗𝟗</m:t>
                            </m:r>
                          </m:sup>
                        </m:sSup>
                      </m:den>
                    </m:f>
                  </m:oMath>
                </a14:m>
                <a:r>
                  <a:rPr lang="es-BO" sz="2000" b="1" dirty="0"/>
                  <a:t> </a:t>
                </a:r>
                <a:endParaRPr lang="en-US" sz="2000" dirty="0"/>
              </a:p>
            </p:txBody>
          </p:sp>
        </mc:Choice>
        <mc:Fallback xmlns="">
          <p:sp>
            <p:nvSpPr>
              <p:cNvPr id="5" name="Rectángulo 4"/>
              <p:cNvSpPr>
                <a:spLocks noRot="1" noChangeAspect="1" noMove="1" noResize="1" noEditPoints="1" noAdjustHandles="1" noChangeArrowheads="1" noChangeShapeType="1" noTextEdit="1"/>
              </p:cNvSpPr>
              <p:nvPr/>
            </p:nvSpPr>
            <p:spPr>
              <a:xfrm>
                <a:off x="7941633" y="2950106"/>
                <a:ext cx="2650084" cy="625812"/>
              </a:xfrm>
              <a:prstGeom prst="rect">
                <a:avLst/>
              </a:prstGeom>
              <a:blipFill>
                <a:blip r:embed="rId4"/>
                <a:stretch>
                  <a:fillRect/>
                </a:stretch>
              </a:blipFill>
            </p:spPr>
            <p:txBody>
              <a:bodyPr/>
              <a:lstStyle/>
              <a:p>
                <a:r>
                  <a:rPr lang="es-BO">
                    <a:noFill/>
                  </a:rPr>
                  <a:t> </a:t>
                </a:r>
              </a:p>
            </p:txBody>
          </p:sp>
        </mc:Fallback>
      </mc:AlternateContent>
      <p:sp>
        <p:nvSpPr>
          <p:cNvPr id="6" name="Rectángulo redondeado 5"/>
          <p:cNvSpPr/>
          <p:nvPr/>
        </p:nvSpPr>
        <p:spPr>
          <a:xfrm>
            <a:off x="7950906" y="3993737"/>
            <a:ext cx="2753355" cy="838102"/>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ángulo 6"/>
              <p:cNvSpPr/>
              <p:nvPr/>
            </p:nvSpPr>
            <p:spPr>
              <a:xfrm>
                <a:off x="7655677" y="1020264"/>
                <a:ext cx="2615588" cy="6162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𝟎𝟎𝟔𝟓𝟓𝟕</m:t>
                              </m:r>
                              <m:r>
                                <a:rPr lang="es-BO" b="1" i="1">
                                  <a:latin typeface="Cambria Math" panose="02040503050406030204" pitchFamily="18" charset="0"/>
                                </a:rPr>
                                <m:t>∗</m:t>
                              </m:r>
                              <m:r>
                                <a:rPr lang="es-ES_tradnl" b="1" i="1">
                                  <a:latin typeface="Cambria Math" panose="02040503050406030204" pitchFamily="18" charset="0"/>
                                </a:rPr>
                                <m:t>𝑻</m:t>
                              </m:r>
                            </m:sup>
                          </m:sSup>
                        </m:den>
                      </m:f>
                    </m:oMath>
                  </m:oMathPara>
                </a14:m>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7655677" y="1020264"/>
                <a:ext cx="2615588" cy="616259"/>
              </a:xfrm>
              <a:prstGeom prst="rect">
                <a:avLst/>
              </a:prstGeom>
              <a:blipFill>
                <a:blip r:embed="rId5"/>
                <a:stretch>
                  <a:fillRect/>
                </a:stretch>
              </a:blipFill>
            </p:spPr>
            <p:txBody>
              <a:bodyPr/>
              <a:lstStyle/>
              <a:p>
                <a:r>
                  <a:rPr lang="en-US">
                    <a:noFill/>
                  </a:rPr>
                  <a:t> </a:t>
                </a:r>
              </a:p>
            </p:txBody>
          </p:sp>
        </mc:Fallback>
      </mc:AlternateContent>
      <p:sp>
        <p:nvSpPr>
          <p:cNvPr id="11" name="Título 1">
            <a:extLst>
              <a:ext uri="{FF2B5EF4-FFF2-40B4-BE49-F238E27FC236}">
                <a16:creationId xmlns:a16="http://schemas.microsoft.com/office/drawing/2014/main" id="{5B7F055E-E922-E876-5FBE-11A40F5D57F7}"/>
              </a:ext>
            </a:extLst>
          </p:cNvPr>
          <p:cNvSpPr>
            <a:spLocks noGrp="1"/>
          </p:cNvSpPr>
          <p:nvPr>
            <p:ph type="title"/>
          </p:nvPr>
        </p:nvSpPr>
        <p:spPr>
          <a:xfrm>
            <a:off x="2592388" y="623888"/>
            <a:ext cx="8912225" cy="1281112"/>
          </a:xfrm>
        </p:spPr>
        <p:txBody>
          <a:bodyPr/>
          <a:lstStyle/>
          <a:p>
            <a:r>
              <a:rPr lang="es-BO" b="1" dirty="0">
                <a:solidFill>
                  <a:srgbClr val="0070C0"/>
                </a:solidFill>
              </a:rPr>
              <a:t>Análisis en Discreta</a:t>
            </a:r>
            <a:endParaRPr lang="en-US" b="1" dirty="0">
              <a:solidFill>
                <a:srgbClr val="0070C0"/>
              </a:solidFill>
            </a:endParaRPr>
          </a:p>
        </p:txBody>
      </p:sp>
      <mc:AlternateContent xmlns:mc="http://schemas.openxmlformats.org/markup-compatibility/2006" xmlns:a14="http://schemas.microsoft.com/office/drawing/2010/main">
        <mc:Choice Requires="a14">
          <p:sp>
            <p:nvSpPr>
              <p:cNvPr id="12" name="Rectángulo 11">
                <a:extLst>
                  <a:ext uri="{FF2B5EF4-FFF2-40B4-BE49-F238E27FC236}">
                    <a16:creationId xmlns:a16="http://schemas.microsoft.com/office/drawing/2014/main" id="{55DDDFC3-5A72-3C6B-CC6B-200EF43D4EEE}"/>
                  </a:ext>
                </a:extLst>
              </p:cNvPr>
              <p:cNvSpPr/>
              <p:nvPr/>
            </p:nvSpPr>
            <p:spPr>
              <a:xfrm>
                <a:off x="7950906" y="4085615"/>
                <a:ext cx="2650084" cy="654346"/>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r>
                          <a:rPr lang="es-BO" sz="2400" b="1" i="1" smtClean="0">
                            <a:latin typeface="Cambria Math" panose="02040503050406030204" pitchFamily="18" charset="0"/>
                          </a:rPr>
                          <m:t>𝟎</m:t>
                        </m:r>
                        <m:r>
                          <a:rPr lang="es-BO" sz="2400" b="1" i="1" smtClean="0">
                            <a:latin typeface="Cambria Math" panose="02040503050406030204" pitchFamily="18" charset="0"/>
                          </a:rPr>
                          <m:t>,</m:t>
                        </m:r>
                        <m:r>
                          <a:rPr lang="es-BO" sz="2400" b="1" i="1" smtClean="0">
                            <a:latin typeface="Cambria Math" panose="02040503050406030204" pitchFamily="18" charset="0"/>
                          </a:rPr>
                          <m:t>𝟗𝟎𝟒𝟖</m:t>
                        </m:r>
                      </m:den>
                    </m:f>
                  </m:oMath>
                </a14:m>
                <a:r>
                  <a:rPr lang="es-BO" sz="2000" b="1" dirty="0"/>
                  <a:t> </a:t>
                </a:r>
                <a:endParaRPr lang="en-US" sz="2000" dirty="0"/>
              </a:p>
            </p:txBody>
          </p:sp>
        </mc:Choice>
        <mc:Fallback xmlns="">
          <p:sp>
            <p:nvSpPr>
              <p:cNvPr id="12" name="Rectángulo 11">
                <a:extLst>
                  <a:ext uri="{FF2B5EF4-FFF2-40B4-BE49-F238E27FC236}">
                    <a16:creationId xmlns:a16="http://schemas.microsoft.com/office/drawing/2014/main" id="{55DDDFC3-5A72-3C6B-CC6B-200EF43D4EEE}"/>
                  </a:ext>
                </a:extLst>
              </p:cNvPr>
              <p:cNvSpPr>
                <a:spLocks noRot="1" noChangeAspect="1" noMove="1" noResize="1" noEditPoints="1" noAdjustHandles="1" noChangeArrowheads="1" noChangeShapeType="1" noTextEdit="1"/>
              </p:cNvSpPr>
              <p:nvPr/>
            </p:nvSpPr>
            <p:spPr>
              <a:xfrm>
                <a:off x="7950906" y="4085615"/>
                <a:ext cx="2650084" cy="654346"/>
              </a:xfrm>
              <a:prstGeom prst="rect">
                <a:avLst/>
              </a:prstGeom>
              <a:blipFill>
                <a:blip r:embed="rId6"/>
                <a:stretch>
                  <a:fillRect/>
                </a:stretch>
              </a:blipFill>
            </p:spPr>
            <p:txBody>
              <a:bodyPr/>
              <a:lstStyle/>
              <a:p>
                <a:r>
                  <a:rPr lang="es-BO">
                    <a:noFill/>
                  </a:rPr>
                  <a:t> </a:t>
                </a:r>
              </a:p>
            </p:txBody>
          </p:sp>
        </mc:Fallback>
      </mc:AlternateContent>
    </p:spTree>
    <p:extLst>
      <p:ext uri="{BB962C8B-B14F-4D97-AF65-F5344CB8AC3E}">
        <p14:creationId xmlns:p14="http://schemas.microsoft.com/office/powerpoint/2010/main" val="2089010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D8F41544-71A7-BD3E-CB62-1F05E6D7AF8F}"/>
              </a:ext>
            </a:extLst>
          </p:cNvPr>
          <p:cNvSpPr>
            <a:spLocks noGrp="1"/>
          </p:cNvSpPr>
          <p:nvPr>
            <p:ph type="title"/>
          </p:nvPr>
        </p:nvSpPr>
        <p:spPr>
          <a:xfrm>
            <a:off x="2589212" y="2436123"/>
            <a:ext cx="8915399" cy="1468800"/>
          </a:xfrm>
        </p:spPr>
        <p:txBody>
          <a:bodyPr>
            <a:normAutofit/>
          </a:bodyPr>
          <a:lstStyle/>
          <a:p>
            <a:pPr algn="ctr"/>
            <a:r>
              <a:rPr lang="es-BO" sz="4800" b="1" dirty="0"/>
              <a:t>ESTABILIDAD EN DISCRETO</a:t>
            </a:r>
          </a:p>
        </p:txBody>
      </p:sp>
    </p:spTree>
    <p:extLst>
      <p:ext uri="{BB962C8B-B14F-4D97-AF65-F5344CB8AC3E}">
        <p14:creationId xmlns:p14="http://schemas.microsoft.com/office/powerpoint/2010/main" val="124363557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33989" y="540999"/>
            <a:ext cx="6807200" cy="1371600"/>
          </a:xfrm>
        </p:spPr>
        <p:txBody>
          <a:bodyPr/>
          <a:lstStyle/>
          <a:p>
            <a:r>
              <a:rPr lang="es-BO" b="1" dirty="0">
                <a:solidFill>
                  <a:srgbClr val="0070C0"/>
                </a:solidFill>
              </a:rPr>
              <a:t>Estabilidad en discreta</a:t>
            </a:r>
            <a:endParaRPr lang="en-US" b="1" dirty="0">
              <a:solidFill>
                <a:srgbClr val="0070C0"/>
              </a:solidFill>
            </a:endParaRPr>
          </a:p>
        </p:txBody>
      </p:sp>
      <p:sp>
        <p:nvSpPr>
          <p:cNvPr id="3" name="Marcador de contenido 2"/>
          <p:cNvSpPr>
            <a:spLocks noGrp="1"/>
          </p:cNvSpPr>
          <p:nvPr>
            <p:ph idx="1"/>
          </p:nvPr>
        </p:nvSpPr>
        <p:spPr>
          <a:xfrm>
            <a:off x="873760" y="1564160"/>
            <a:ext cx="10058400" cy="3931920"/>
          </a:xfrm>
        </p:spPr>
        <p:txBody>
          <a:bodyPr/>
          <a:lstStyle/>
          <a:p>
            <a:r>
              <a:rPr lang="es-BO" dirty="0"/>
              <a:t>Error en estado estacionario: </a:t>
            </a:r>
            <a:endParaRPr lang="en-US" dirty="0"/>
          </a:p>
        </p:txBody>
      </p:sp>
      <mc:AlternateContent xmlns:mc="http://schemas.openxmlformats.org/markup-compatibility/2006" xmlns:a14="http://schemas.microsoft.com/office/drawing/2010/main">
        <mc:Choice Requires="a14">
          <p:sp>
            <p:nvSpPr>
              <p:cNvPr id="4" name="Rectángulo 3"/>
              <p:cNvSpPr/>
              <p:nvPr/>
            </p:nvSpPr>
            <p:spPr>
              <a:xfrm>
                <a:off x="4532114" y="1512844"/>
                <a:ext cx="3953005" cy="66191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smtClean="0">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smtClean="0">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BO" b="1" i="1" smtClean="0">
                                      <a:latin typeface="Cambria Math" panose="02040503050406030204" pitchFamily="18" charset="0"/>
                                      <a:cs typeface="Times New Roman" panose="02020603050405020304" pitchFamily="18" charset="0"/>
                                    </a:rPr>
                                  </m:ctrlPr>
                                </m:sSupPr>
                                <m:e>
                                  <m:r>
                                    <a:rPr lang="es-BO" b="1" i="1" smtClean="0">
                                      <a:latin typeface="Cambria Math" panose="02040503050406030204" pitchFamily="18" charset="0"/>
                                      <a:cs typeface="Times New Roman" panose="02020603050405020304" pitchFamily="18" charset="0"/>
                                    </a:rPr>
                                    <m:t>𝒛</m:t>
                                  </m:r>
                                </m:e>
                                <m:sup>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𝟏</m:t>
                                  </m:r>
                                </m:sup>
                              </m:sSup>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smtClean="0">
                                  <a:latin typeface="Cambria Math" panose="02040503050406030204" pitchFamily="18" charset="0"/>
                                  <a:cs typeface="Times New Roman" panose="02020603050405020304" pitchFamily="18" charset="0"/>
                                </a:rPr>
                              </m:ctrlPr>
                            </m:fPr>
                            <m:num>
                              <m:r>
                                <a:rPr lang="es-BO" b="1" i="1" smtClean="0">
                                  <a:latin typeface="Cambria Math" panose="02040503050406030204" pitchFamily="18" charset="0"/>
                                  <a:cs typeface="Times New Roman" panose="02020603050405020304" pitchFamily="18" charset="0"/>
                                </a:rPr>
                                <m:t>𝟏</m:t>
                              </m:r>
                            </m:num>
                            <m:den>
                              <m:r>
                                <a:rPr lang="es-BO" b="1" i="1" smtClean="0">
                                  <a:latin typeface="Cambria Math" panose="02040503050406030204" pitchFamily="18" charset="0"/>
                                  <a:cs typeface="Times New Roman" panose="02020603050405020304" pitchFamily="18" charset="0"/>
                                </a:rPr>
                                <m:t>𝟏</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𝑮</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𝒛</m:t>
                              </m:r>
                              <m:r>
                                <a:rPr lang="es-BO" b="1" i="1" smtClean="0">
                                  <a:latin typeface="Cambria Math" panose="02040503050406030204" pitchFamily="18" charset="0"/>
                                  <a:cs typeface="Times New Roman" panose="02020603050405020304" pitchFamily="18" charset="0"/>
                                </a:rPr>
                                <m:t>)</m:t>
                              </m:r>
                            </m:den>
                          </m:f>
                        </m:e>
                      </m:func>
                    </m:oMath>
                  </m:oMathPara>
                </a14:m>
                <a:endParaRPr lang="en-US" dirty="0"/>
              </a:p>
            </p:txBody>
          </p:sp>
        </mc:Choice>
        <mc:Fallback xmlns="">
          <p:sp>
            <p:nvSpPr>
              <p:cNvPr id="4" name="Rectángulo 3"/>
              <p:cNvSpPr>
                <a:spLocks noRot="1" noChangeAspect="1" noMove="1" noResize="1" noEditPoints="1" noAdjustHandles="1" noChangeArrowheads="1" noChangeShapeType="1" noTextEdit="1"/>
              </p:cNvSpPr>
              <p:nvPr/>
            </p:nvSpPr>
            <p:spPr>
              <a:xfrm>
                <a:off x="4532114" y="1512844"/>
                <a:ext cx="3953005" cy="661912"/>
              </a:xfrm>
              <a:prstGeom prst="rect">
                <a:avLst/>
              </a:prstGeom>
              <a:blipFill>
                <a:blip r:embed="rId2"/>
                <a:stretch>
                  <a:fillRect/>
                </a:stretch>
              </a:blipFill>
            </p:spPr>
            <p:txBody>
              <a:bodyPr/>
              <a:lstStyle/>
              <a:p>
                <a:r>
                  <a:rPr lang="en-US">
                    <a:noFill/>
                  </a:rPr>
                  <a:t> </a:t>
                </a:r>
              </a:p>
            </p:txBody>
          </p:sp>
        </mc:Fallback>
      </mc:AlternateContent>
      <p:sp>
        <p:nvSpPr>
          <p:cNvPr id="6" name="Rectángulo 5"/>
          <p:cNvSpPr/>
          <p:nvPr/>
        </p:nvSpPr>
        <p:spPr>
          <a:xfrm>
            <a:off x="1066800" y="2571936"/>
            <a:ext cx="2146742" cy="369332"/>
          </a:xfrm>
          <a:prstGeom prst="rect">
            <a:avLst/>
          </a:prstGeom>
        </p:spPr>
        <p:txBody>
          <a:bodyPr wrap="none">
            <a:spAutoFit/>
          </a:bodyPr>
          <a:lstStyle/>
          <a:p>
            <a:r>
              <a:rPr lang="es-BO" dirty="0"/>
              <a:t>Entrada escalón: </a:t>
            </a:r>
            <a:endParaRPr lang="en-US" dirty="0"/>
          </a:p>
        </p:txBody>
      </p:sp>
      <mc:AlternateContent xmlns:mc="http://schemas.openxmlformats.org/markup-compatibility/2006" xmlns:a14="http://schemas.microsoft.com/office/drawing/2010/main">
        <mc:Choice Requires="a14">
          <p:sp>
            <p:nvSpPr>
              <p:cNvPr id="7" name="Rectángulo 6"/>
              <p:cNvSpPr/>
              <p:nvPr/>
            </p:nvSpPr>
            <p:spPr>
              <a:xfrm>
                <a:off x="3062996" y="2519299"/>
                <a:ext cx="1711109" cy="8440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BO" b="1" i="1" smtClean="0">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smtClean="0">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num>
                        <m:den>
                          <m:r>
                            <a:rPr lang="es-BO" b="1" i="1" smtClean="0">
                              <a:latin typeface="Cambria Math" panose="02040503050406030204" pitchFamily="18" charset="0"/>
                              <a:ea typeface="Times New Roman" panose="02020603050405020304" pitchFamily="18" charset="0"/>
                              <a:cs typeface="Times New Roman" panose="02020603050405020304" pitchFamily="18" charset="0"/>
                            </a:rPr>
                            <m:t>𝒛</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den>
                      </m:f>
                      <m:r>
                        <a:rPr lang="es-BO" b="1" i="1" smtClean="0">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s-BO" b="1" dirty="0">
                  <a:ea typeface="Times New Roman" panose="02020603050405020304" pitchFamily="18" charset="0"/>
                  <a:cs typeface="Times New Roman" panose="02020603050405020304" pitchFamily="18" charset="0"/>
                </a:endParaRPr>
              </a:p>
              <a:p>
                <a:endParaRPr lang="en-US" dirty="0"/>
              </a:p>
            </p:txBody>
          </p:sp>
        </mc:Choice>
        <mc:Fallback xmlns="">
          <p:sp>
            <p:nvSpPr>
              <p:cNvPr id="7" name="Rectángulo 6"/>
              <p:cNvSpPr>
                <a:spLocks noRot="1" noChangeAspect="1" noMove="1" noResize="1" noEditPoints="1" noAdjustHandles="1" noChangeArrowheads="1" noChangeShapeType="1" noTextEdit="1"/>
              </p:cNvSpPr>
              <p:nvPr/>
            </p:nvSpPr>
            <p:spPr>
              <a:xfrm>
                <a:off x="3062996" y="2519299"/>
                <a:ext cx="1711109" cy="8440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ángulo 7"/>
              <p:cNvSpPr/>
              <p:nvPr/>
            </p:nvSpPr>
            <p:spPr>
              <a:xfrm>
                <a:off x="3289263" y="3315002"/>
                <a:ext cx="5227393" cy="85965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𝟏</m:t>
                              </m:r>
                              <m:r>
                                <a:rPr lang="es-BO" b="1"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s-BO" b="1" i="1">
                                      <a:latin typeface="Cambria Math" panose="02040503050406030204" pitchFamily="18" charset="0"/>
                                      <a:cs typeface="Times New Roman" panose="02020603050405020304" pitchFamily="18" charset="0"/>
                                    </a:rPr>
                                  </m:ctrlPr>
                                </m:sSupPr>
                                <m:e>
                                  <m:r>
                                    <a:rPr lang="es-BO" b="1" i="1">
                                      <a:latin typeface="Cambria Math" panose="02040503050406030204" pitchFamily="18" charset="0"/>
                                      <a:cs typeface="Times New Roman" panose="02020603050405020304" pitchFamily="18" charset="0"/>
                                    </a:rPr>
                                    <m:t>𝒛</m:t>
                                  </m:r>
                                </m:e>
                                <m:sup>
                                  <m:r>
                                    <a:rPr lang="es-BO" b="1" i="1">
                                      <a:latin typeface="Cambria Math" panose="02040503050406030204" pitchFamily="18" charset="0"/>
                                      <a:cs typeface="Times New Roman" panose="02020603050405020304" pitchFamily="18" charset="0"/>
                                    </a:rPr>
                                    <m:t>−</m:t>
                                  </m:r>
                                  <m:r>
                                    <a:rPr lang="es-BO" b="1" i="1">
                                      <a:latin typeface="Cambria Math" panose="02040503050406030204" pitchFamily="18" charset="0"/>
                                      <a:cs typeface="Times New Roman" panose="02020603050405020304" pitchFamily="18" charset="0"/>
                                    </a:rPr>
                                    <m:t>𝟏</m:t>
                                  </m:r>
                                </m:sup>
                              </m:sSup>
                            </m:e>
                          </m:d>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𝑼</m:t>
                          </m:r>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r>
                                <a:rPr lang="es-BO" b="1" i="1">
                                  <a:latin typeface="Cambria Math" panose="02040503050406030204" pitchFamily="18" charset="0"/>
                                  <a:ea typeface="Times New Roman" panose="02020603050405020304" pitchFamily="18" charset="0"/>
                                  <a:cs typeface="Times New Roman" panose="02020603050405020304" pitchFamily="18" charset="0"/>
                                </a:rPr>
                                <m:t>𝒛</m:t>
                              </m:r>
                            </m:e>
                          </m:d>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BO" b="1" i="1">
                                  <a:latin typeface="Cambria Math" panose="02040503050406030204" pitchFamily="18" charset="0"/>
                                  <a:cs typeface="Times New Roman" panose="02020603050405020304" pitchFamily="18" charset="0"/>
                                </a:rPr>
                                <m:t>𝟏</m:t>
                              </m:r>
                            </m:num>
                            <m:den>
                              <m:r>
                                <a:rPr lang="es-BO" b="1" i="1">
                                  <a:latin typeface="Cambria Math" panose="02040503050406030204" pitchFamily="18" charset="0"/>
                                  <a:cs typeface="Times New Roman" panose="02020603050405020304" pitchFamily="18" charset="0"/>
                                </a:rPr>
                                <m:t>𝟏</m:t>
                              </m:r>
                              <m:r>
                                <a:rPr lang="es-BO" b="1" i="1">
                                  <a:latin typeface="Cambria Math" panose="02040503050406030204" pitchFamily="18" charset="0"/>
                                  <a:cs typeface="Times New Roman" panose="020206030504050203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den>
                          </m:f>
                        </m:e>
                      </m:func>
                    </m:oMath>
                  </m:oMathPara>
                </a14:m>
                <a:endParaRPr lang="en-US" dirty="0"/>
              </a:p>
            </p:txBody>
          </p:sp>
        </mc:Choice>
        <mc:Fallback xmlns="">
          <p:sp>
            <p:nvSpPr>
              <p:cNvPr id="8" name="Rectángulo 7"/>
              <p:cNvSpPr>
                <a:spLocks noRot="1" noChangeAspect="1" noMove="1" noResize="1" noEditPoints="1" noAdjustHandles="1" noChangeArrowheads="1" noChangeShapeType="1" noTextEdit="1"/>
              </p:cNvSpPr>
              <p:nvPr/>
            </p:nvSpPr>
            <p:spPr>
              <a:xfrm>
                <a:off x="3289263" y="3315002"/>
                <a:ext cx="5227393" cy="85965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ángulo 8"/>
              <p:cNvSpPr/>
              <p:nvPr/>
            </p:nvSpPr>
            <p:spPr>
              <a:xfrm>
                <a:off x="3062996" y="4278786"/>
                <a:ext cx="6136808" cy="7273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d>
                            <m:dPr>
                              <m:ctrlPr>
                                <a:rPr lang="es-BO" b="1" i="1">
                                  <a:latin typeface="Cambria Math" panose="02040503050406030204" pitchFamily="18" charset="0"/>
                                  <a:ea typeface="Times New Roman" panose="02020603050405020304" pitchFamily="18" charset="0"/>
                                  <a:cs typeface="Times New Roman" panose="02020603050405020304" pitchFamily="18" charset="0"/>
                                </a:rPr>
                              </m:ctrlPr>
                            </m:dPr>
                            <m:e>
                              <m:f>
                                <m:fPr>
                                  <m:ctrlPr>
                                    <a:rPr lang="es-BO" b="1" i="1">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a:latin typeface="Cambria Math" panose="02040503050406030204" pitchFamily="18" charset="0"/>
                                      <a:ea typeface="Times New Roman" panose="02020603050405020304" pitchFamily="18" charset="0"/>
                                      <a:cs typeface="Times New Roman" panose="02020603050405020304" pitchFamily="18" charset="0"/>
                                    </a:rPr>
                                    <m:t>𝒛</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ea typeface="Times New Roman" panose="02020603050405020304" pitchFamily="18" charset="0"/>
                                      <a:cs typeface="Times New Roman" panose="02020603050405020304" pitchFamily="18" charset="0"/>
                                    </a:rPr>
                                    <m:t>𝟏</m:t>
                                  </m:r>
                                </m:num>
                                <m:den>
                                  <m:r>
                                    <a:rPr lang="es-BO" b="1" i="1">
                                      <a:latin typeface="Cambria Math" panose="02040503050406030204" pitchFamily="18" charset="0"/>
                                      <a:ea typeface="Times New Roman" panose="02020603050405020304" pitchFamily="18" charset="0"/>
                                      <a:cs typeface="Times New Roman" panose="02020603050405020304" pitchFamily="18" charset="0"/>
                                    </a:rPr>
                                    <m:t>𝒛</m:t>
                                  </m:r>
                                </m:den>
                              </m:f>
                            </m:e>
                          </m:d>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ea typeface="Times New Roman" panose="02020603050405020304" pitchFamily="18" charset="0"/>
                                  <a:cs typeface="Times New Roman" panose="02020603050405020304" pitchFamily="18" charset="0"/>
                                </a:rPr>
                              </m:ctrlPr>
                            </m:fPr>
                            <m:num>
                              <m:r>
                                <a:rPr lang="es-BO" b="1" i="1">
                                  <a:latin typeface="Cambria Math" panose="02040503050406030204" pitchFamily="18" charset="0"/>
                                  <a:ea typeface="Times New Roman" panose="02020603050405020304" pitchFamily="18" charset="0"/>
                                  <a:cs typeface="Times New Roman" panose="02020603050405020304" pitchFamily="18" charset="0"/>
                                </a:rPr>
                                <m:t>𝒛</m:t>
                              </m:r>
                            </m:num>
                            <m:den>
                              <m:r>
                                <a:rPr lang="es-BO" b="1" i="1">
                                  <a:latin typeface="Cambria Math" panose="02040503050406030204" pitchFamily="18" charset="0"/>
                                  <a:ea typeface="Times New Roman" panose="02020603050405020304" pitchFamily="18"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den>
                          </m:f>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r>
                                <a:rPr lang="es-BO" b="1" i="1">
                                  <a:latin typeface="Cambria Math" panose="02040503050406030204" pitchFamily="18" charset="0"/>
                                  <a:cs typeface="Times New Roman" panose="02020603050405020304" pitchFamily="18" charset="0"/>
                                </a:rPr>
                                <m:t>+</m:t>
                              </m:r>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den>
                          </m:f>
                        </m:e>
                      </m:func>
                    </m:oMath>
                  </m:oMathPara>
                </a14:m>
                <a:endParaRPr lang="en-US" dirty="0"/>
              </a:p>
            </p:txBody>
          </p:sp>
        </mc:Choice>
        <mc:Fallback xmlns="">
          <p:sp>
            <p:nvSpPr>
              <p:cNvPr id="9" name="Rectángulo 8"/>
              <p:cNvSpPr>
                <a:spLocks noRot="1" noChangeAspect="1" noMove="1" noResize="1" noEditPoints="1" noAdjustHandles="1" noChangeArrowheads="1" noChangeShapeType="1" noTextEdit="1"/>
              </p:cNvSpPr>
              <p:nvPr/>
            </p:nvSpPr>
            <p:spPr>
              <a:xfrm>
                <a:off x="3062996" y="4278786"/>
                <a:ext cx="6136808" cy="72737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ángulo 9"/>
              <p:cNvSpPr/>
              <p:nvPr/>
            </p:nvSpPr>
            <p:spPr>
              <a:xfrm>
                <a:off x="5437589" y="2482722"/>
                <a:ext cx="2556341" cy="6127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s-ES_tradnl" b="1" i="1">
                          <a:latin typeface="Cambria Math" panose="02040503050406030204" pitchFamily="18" charset="0"/>
                        </a:rPr>
                        <m:t>𝐆</m:t>
                      </m:r>
                      <m:d>
                        <m:dPr>
                          <m:ctrlPr>
                            <a:rPr lang="en-US" b="1" i="1">
                              <a:latin typeface="Cambria Math" panose="02040503050406030204" pitchFamily="18" charset="0"/>
                            </a:rPr>
                          </m:ctrlPr>
                        </m:dPr>
                        <m:e>
                          <m:r>
                            <a:rPr lang="es-ES_tradnl" b="1" i="1">
                              <a:latin typeface="Cambria Math" panose="02040503050406030204" pitchFamily="18" charset="0"/>
                            </a:rPr>
                            <m:t>𝒛</m:t>
                          </m:r>
                        </m:e>
                      </m:d>
                      <m:r>
                        <a:rPr lang="es-ES_tradnl" b="1">
                          <a:latin typeface="Cambria Math" panose="02040503050406030204" pitchFamily="18" charset="0"/>
                        </a:rPr>
                        <m:t>=</m:t>
                      </m:r>
                      <m:f>
                        <m:fPr>
                          <m:ctrlPr>
                            <a:rPr lang="en-US" b="1" i="1">
                              <a:latin typeface="Cambria Math" panose="02040503050406030204" pitchFamily="18" charset="0"/>
                            </a:rPr>
                          </m:ctrlPr>
                        </m:fPr>
                        <m:num>
                          <m:r>
                            <a:rPr lang="es-ES_tradnl" b="1" i="1">
                              <a:latin typeface="Cambria Math" panose="02040503050406030204" pitchFamily="18" charset="0"/>
                            </a:rPr>
                            <m:t>𝟎</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num>
                        <m:den>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oMath>
                  </m:oMathPara>
                </a14:m>
                <a:endParaRPr lang="en-US" dirty="0"/>
              </a:p>
            </p:txBody>
          </p:sp>
        </mc:Choice>
        <mc:Fallback xmlns="">
          <p:sp>
            <p:nvSpPr>
              <p:cNvPr id="10" name="Rectángulo 9"/>
              <p:cNvSpPr>
                <a:spLocks noRot="1" noChangeAspect="1" noMove="1" noResize="1" noEditPoints="1" noAdjustHandles="1" noChangeArrowheads="1" noChangeShapeType="1" noTextEdit="1"/>
              </p:cNvSpPr>
              <p:nvPr/>
            </p:nvSpPr>
            <p:spPr>
              <a:xfrm>
                <a:off x="5437589" y="2482722"/>
                <a:ext cx="2556341" cy="6127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ángulo 10"/>
              <p:cNvSpPr/>
              <p:nvPr/>
            </p:nvSpPr>
            <p:spPr>
              <a:xfrm>
                <a:off x="2910596" y="5023770"/>
                <a:ext cx="3956404" cy="655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unc>
                        <m:funcPr>
                          <m:ctrlPr>
                            <a:rPr lang="en-US" b="1" i="1">
                              <a:latin typeface="Cambria Math" panose="02040503050406030204" pitchFamily="18" charset="0"/>
                              <a:ea typeface="Times New Roman" panose="02020603050405020304" pitchFamily="18" charset="0"/>
                              <a:cs typeface="Times New Roman" panose="02020603050405020304" pitchFamily="18" charset="0"/>
                            </a:rPr>
                          </m:ctrlPr>
                        </m:funcPr>
                        <m:fName>
                          <m:limLow>
                            <m:limLowPr>
                              <m:ctrlPr>
                                <a:rPr lang="en-US" b="1" i="1">
                                  <a:latin typeface="Cambria Math" panose="02040503050406030204" pitchFamily="18" charset="0"/>
                                  <a:ea typeface="Times New Roman" panose="02020603050405020304" pitchFamily="18" charset="0"/>
                                  <a:cs typeface="Times New Roman" panose="02020603050405020304" pitchFamily="18" charset="0"/>
                                </a:rPr>
                              </m:ctrlPr>
                            </m:limLowPr>
                            <m:e>
                              <m:r>
                                <a:rPr lang="es-BO" b="1" i="1">
                                  <a:latin typeface="Cambria Math" panose="02040503050406030204" pitchFamily="18" charset="0"/>
                                  <a:ea typeface="Calibri" panose="020F0502020204030204" pitchFamily="34" charset="0"/>
                                  <a:cs typeface="Times New Roman" panose="02020603050405020304" pitchFamily="18" charset="0"/>
                                </a:rPr>
                                <m:t>𝐥𝐢𝐦</m:t>
                              </m:r>
                            </m:e>
                            <m:lim>
                              <m:r>
                                <a:rPr lang="es-BO" b="1" i="1">
                                  <a:latin typeface="Cambria Math" panose="02040503050406030204" pitchFamily="18" charset="0"/>
                                  <a:ea typeface="Calibri" panose="020F0502020204030204" pitchFamily="34" charset="0"/>
                                  <a:cs typeface="Times New Roman" panose="02020603050405020304" pitchFamily="18" charset="0"/>
                                </a:rPr>
                                <m:t>𝒛</m:t>
                              </m:r>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a:latin typeface="Cambria Math" panose="02040503050406030204" pitchFamily="18" charset="0"/>
                                  <a:ea typeface="Times New Roman" panose="02020603050405020304" pitchFamily="18" charset="0"/>
                                  <a:cs typeface="Times New Roman" panose="02020603050405020304" pitchFamily="18" charset="0"/>
                                </a:rPr>
                                <m:t>𝟏</m:t>
                              </m:r>
                            </m:lim>
                          </m:limLow>
                        </m:fName>
                        <m:e>
                          <m:f>
                            <m:fPr>
                              <m:ctrlPr>
                                <a:rPr lang="es-BO" b="1" i="1">
                                  <a:latin typeface="Cambria Math" panose="02040503050406030204" pitchFamily="18" charset="0"/>
                                  <a:cs typeface="Times New Roman" panose="02020603050405020304" pitchFamily="18" charset="0"/>
                                </a:rPr>
                              </m:ctrlPr>
                            </m:fPr>
                            <m:num>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BO" b="1" i="1" smtClean="0">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BO" b="1" i="1">
                                  <a:latin typeface="Cambria Math" panose="02040503050406030204" pitchFamily="18" charset="0"/>
                                </a:rPr>
                                <m:t>∗</m:t>
                              </m:r>
                              <m:r>
                                <a:rPr lang="es-ES_tradnl" b="1" i="1">
                                  <a:latin typeface="Cambria Math" panose="02040503050406030204" pitchFamily="18" charset="0"/>
                                </a:rPr>
                                <m:t>𝒁</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e>
                      </m:func>
                    </m:oMath>
                  </m:oMathPara>
                </a14:m>
                <a:endParaRPr lang="en-US" dirty="0"/>
              </a:p>
            </p:txBody>
          </p:sp>
        </mc:Choice>
        <mc:Fallback xmlns="">
          <p:sp>
            <p:nvSpPr>
              <p:cNvPr id="11" name="Rectángulo 10"/>
              <p:cNvSpPr>
                <a:spLocks noRot="1" noChangeAspect="1" noMove="1" noResize="1" noEditPoints="1" noAdjustHandles="1" noChangeArrowheads="1" noChangeShapeType="1" noTextEdit="1"/>
              </p:cNvSpPr>
              <p:nvPr/>
            </p:nvSpPr>
            <p:spPr>
              <a:xfrm>
                <a:off x="2910596" y="5023770"/>
                <a:ext cx="3956404" cy="655179"/>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ángulo 12"/>
              <p:cNvSpPr/>
              <p:nvPr/>
            </p:nvSpPr>
            <p:spPr>
              <a:xfrm>
                <a:off x="2910596" y="5694962"/>
                <a:ext cx="3311996" cy="65517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s-BO" b="1" i="1">
                              <a:latin typeface="Cambria Math" panose="02040503050406030204" pitchFamily="18" charset="0"/>
                              <a:cs typeface="Times New Roman" panose="02020603050405020304" pitchFamily="18" charset="0"/>
                            </a:rPr>
                          </m:ctrlPr>
                        </m:fPr>
                        <m:num>
                          <m:r>
                            <a:rPr lang="es-BO" b="1" i="1" smtClean="0">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num>
                        <m:den>
                          <m:r>
                            <a:rPr lang="es-BO" b="1" i="1">
                              <a:latin typeface="Cambria Math" panose="02040503050406030204" pitchFamily="18" charset="0"/>
                              <a:cs typeface="Times New Roman" panose="02020603050405020304" pitchFamily="18" charset="0"/>
                            </a:rPr>
                            <m:t>𝟏</m:t>
                          </m:r>
                          <m:r>
                            <a:rPr lang="es-ES_tradnl" b="1" i="1">
                              <a:latin typeface="Cambria Math" panose="02040503050406030204" pitchFamily="18" charset="0"/>
                            </a:rPr>
                            <m:t>.</m:t>
                          </m:r>
                          <m:r>
                            <a:rPr lang="es-BO" b="1" i="1">
                              <a:latin typeface="Cambria Math" panose="02040503050406030204" pitchFamily="18" charset="0"/>
                            </a:rPr>
                            <m:t>𝟎𝟎𝟎𝟔𝟑𝟏𝟒</m:t>
                          </m:r>
                          <m:r>
                            <a:rPr lang="es-ES_tradnl" b="1" i="1">
                              <a:latin typeface="Cambria Math" panose="02040503050406030204" pitchFamily="18" charset="0"/>
                            </a:rPr>
                            <m:t>−</m:t>
                          </m:r>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ES_tradnl" b="1" i="1">
                                  <a:latin typeface="Cambria Math" panose="02040503050406030204" pitchFamily="18" charset="0"/>
                                </a:rPr>
                                <m:t>−</m:t>
                              </m:r>
                              <m:r>
                                <a:rPr lang="es-BO" b="1" i="1">
                                  <a:latin typeface="Cambria Math" panose="02040503050406030204" pitchFamily="18" charset="0"/>
                                </a:rPr>
                                <m:t>𝟎</m:t>
                              </m:r>
                              <m:r>
                                <a:rPr lang="es-BO" b="1" i="1">
                                  <a:latin typeface="Cambria Math" panose="02040503050406030204" pitchFamily="18" charset="0"/>
                                </a:rPr>
                                <m:t>,</m:t>
                              </m:r>
                              <m:r>
                                <a:rPr lang="es-BO" b="1" i="1">
                                  <a:latin typeface="Cambria Math" panose="02040503050406030204" pitchFamily="18" charset="0"/>
                                </a:rPr>
                                <m:t>𝟎𝟗𝟗𝟗𝟗</m:t>
                              </m:r>
                            </m:sup>
                          </m:sSup>
                        </m:den>
                      </m:f>
                    </m:oMath>
                  </m:oMathPara>
                </a14:m>
                <a:endParaRPr lang="en-US" dirty="0"/>
              </a:p>
            </p:txBody>
          </p:sp>
        </mc:Choice>
        <mc:Fallback xmlns="">
          <p:sp>
            <p:nvSpPr>
              <p:cNvPr id="13" name="Rectángulo 12"/>
              <p:cNvSpPr>
                <a:spLocks noRot="1" noChangeAspect="1" noMove="1" noResize="1" noEditPoints="1" noAdjustHandles="1" noChangeArrowheads="1" noChangeShapeType="1" noTextEdit="1"/>
              </p:cNvSpPr>
              <p:nvPr/>
            </p:nvSpPr>
            <p:spPr>
              <a:xfrm>
                <a:off x="2910596" y="5694962"/>
                <a:ext cx="3311996" cy="655179"/>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ángulo 13"/>
              <p:cNvSpPr/>
              <p:nvPr/>
            </p:nvSpPr>
            <p:spPr>
              <a:xfrm>
                <a:off x="7679481" y="5900775"/>
                <a:ext cx="16112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s-BO" b="1" i="1">
                              <a:latin typeface="Cambria Math" panose="02040503050406030204" pitchFamily="18" charset="0"/>
                              <a:ea typeface="Times New Roman" panose="02020603050405020304" pitchFamily="18" charset="0"/>
                              <a:cs typeface="Times New Roman" panose="02020603050405020304" pitchFamily="18" charset="0"/>
                            </a:rPr>
                            <m:t>𝒆</m:t>
                          </m:r>
                        </m:e>
                        <m:sub>
                          <m:r>
                            <a:rPr lang="es-BO" b="1" i="1">
                              <a:latin typeface="Cambria Math" panose="02040503050406030204" pitchFamily="18" charset="0"/>
                              <a:ea typeface="Cambria Math" panose="02040503050406030204" pitchFamily="18" charset="0"/>
                              <a:cs typeface="Times New Roman" panose="02020603050405020304" pitchFamily="18" charset="0"/>
                            </a:rPr>
                            <m:t>∞</m:t>
                          </m:r>
                        </m:sub>
                      </m:sSub>
                      <m:r>
                        <a:rPr lang="es-BO" b="1" i="1">
                          <a:latin typeface="Cambria Math" panose="02040503050406030204" pitchFamily="18" charset="0"/>
                          <a:ea typeface="Times New Roman" panose="020206030504050203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𝟎</m:t>
                      </m:r>
                      <m:r>
                        <a:rPr lang="es-BO" b="1" i="1" smtClean="0">
                          <a:latin typeface="Cambria Math" panose="02040503050406030204" pitchFamily="18" charset="0"/>
                          <a:cs typeface="Times New Roman" panose="02020603050405020304" pitchFamily="18" charset="0"/>
                        </a:rPr>
                        <m:t>.</m:t>
                      </m:r>
                      <m:r>
                        <a:rPr lang="es-BO" b="1" i="1" smtClean="0">
                          <a:latin typeface="Cambria Math" panose="02040503050406030204" pitchFamily="18" charset="0"/>
                          <a:cs typeface="Times New Roman" panose="02020603050405020304" pitchFamily="18" charset="0"/>
                        </a:rPr>
                        <m:t>𝟗𝟗𝟑𝟒</m:t>
                      </m:r>
                    </m:oMath>
                  </m:oMathPara>
                </a14:m>
                <a:endParaRPr lang="en-US" dirty="0"/>
              </a:p>
            </p:txBody>
          </p:sp>
        </mc:Choice>
        <mc:Fallback xmlns="">
          <p:sp>
            <p:nvSpPr>
              <p:cNvPr id="14" name="Rectángulo 13"/>
              <p:cNvSpPr>
                <a:spLocks noRot="1" noChangeAspect="1" noMove="1" noResize="1" noEditPoints="1" noAdjustHandles="1" noChangeArrowheads="1" noChangeShapeType="1" noTextEdit="1"/>
              </p:cNvSpPr>
              <p:nvPr/>
            </p:nvSpPr>
            <p:spPr>
              <a:xfrm>
                <a:off x="7679481" y="5900775"/>
                <a:ext cx="1611275" cy="369332"/>
              </a:xfrm>
              <a:prstGeom prst="rect">
                <a:avLst/>
              </a:prstGeom>
              <a:blipFill>
                <a:blip r:embed="rId9"/>
                <a:stretch>
                  <a:fillRect/>
                </a:stretch>
              </a:blipFill>
            </p:spPr>
            <p:txBody>
              <a:bodyPr/>
              <a:lstStyle/>
              <a:p>
                <a:r>
                  <a:rPr lang="en-US">
                    <a:noFill/>
                  </a:rPr>
                  <a:t> </a:t>
                </a:r>
              </a:p>
            </p:txBody>
          </p:sp>
        </mc:Fallback>
      </mc:AlternateContent>
      <p:sp>
        <p:nvSpPr>
          <p:cNvPr id="5" name="Rectángulo: esquinas redondeadas 4">
            <a:extLst>
              <a:ext uri="{FF2B5EF4-FFF2-40B4-BE49-F238E27FC236}">
                <a16:creationId xmlns:a16="http://schemas.microsoft.com/office/drawing/2014/main" id="{A4424D86-3666-D841-2920-2543760C26B0}"/>
              </a:ext>
            </a:extLst>
          </p:cNvPr>
          <p:cNvSpPr/>
          <p:nvPr/>
        </p:nvSpPr>
        <p:spPr>
          <a:xfrm>
            <a:off x="7635939" y="5871747"/>
            <a:ext cx="1783833" cy="449366"/>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BO"/>
          </a:p>
        </p:txBody>
      </p:sp>
      <mc:AlternateContent xmlns:mc="http://schemas.openxmlformats.org/markup-compatibility/2006" xmlns:a14="http://schemas.microsoft.com/office/drawing/2010/main">
        <mc:Choice Requires="a14">
          <p:sp>
            <p:nvSpPr>
              <p:cNvPr id="12" name="Rectángulo 11">
                <a:extLst>
                  <a:ext uri="{FF2B5EF4-FFF2-40B4-BE49-F238E27FC236}">
                    <a16:creationId xmlns:a16="http://schemas.microsoft.com/office/drawing/2014/main" id="{8632A3EC-9633-DA95-2B50-06C496AF66E4}"/>
                  </a:ext>
                </a:extLst>
              </p:cNvPr>
              <p:cNvSpPr/>
              <p:nvPr/>
            </p:nvSpPr>
            <p:spPr>
              <a:xfrm>
                <a:off x="9199804" y="556983"/>
                <a:ext cx="2650084" cy="654346"/>
              </a:xfrm>
              <a:prstGeom prst="rect">
                <a:avLst/>
              </a:prstGeom>
            </p:spPr>
            <p:txBody>
              <a:bodyPr wrap="none">
                <a:spAutoFit/>
              </a:bodyPr>
              <a:lstStyle/>
              <a:p>
                <a14:m>
                  <m:oMath xmlns:m="http://schemas.openxmlformats.org/officeDocument/2006/math">
                    <m:r>
                      <a:rPr lang="es-ES_tradnl" sz="2400" b="1" i="1" smtClean="0">
                        <a:latin typeface="Cambria Math" panose="02040503050406030204" pitchFamily="18" charset="0"/>
                      </a:rPr>
                      <m:t>𝐆</m:t>
                    </m:r>
                    <m:d>
                      <m:dPr>
                        <m:ctrlPr>
                          <a:rPr lang="en-US" sz="2400" b="1" i="1">
                            <a:latin typeface="Cambria Math" panose="02040503050406030204" pitchFamily="18" charset="0"/>
                          </a:rPr>
                        </m:ctrlPr>
                      </m:dPr>
                      <m:e>
                        <m:r>
                          <a:rPr lang="es-ES_tradnl" sz="2400" b="1" i="1">
                            <a:latin typeface="Cambria Math" panose="02040503050406030204" pitchFamily="18" charset="0"/>
                          </a:rPr>
                          <m:t>𝒛</m:t>
                        </m:r>
                      </m:e>
                    </m:d>
                    <m:r>
                      <a:rPr lang="es-ES_tradnl" sz="2400" b="1">
                        <a:latin typeface="Cambria Math" panose="02040503050406030204" pitchFamily="18" charset="0"/>
                      </a:rPr>
                      <m:t>=</m:t>
                    </m:r>
                    <m:f>
                      <m:fPr>
                        <m:ctrlPr>
                          <a:rPr lang="en-US" sz="2400" b="1" i="1">
                            <a:latin typeface="Cambria Math" panose="02040503050406030204" pitchFamily="18" charset="0"/>
                          </a:rPr>
                        </m:ctrlPr>
                      </m:fPr>
                      <m:num>
                        <m:r>
                          <a:rPr lang="es-ES_tradnl" sz="2400" b="1" i="1">
                            <a:latin typeface="Cambria Math" panose="02040503050406030204" pitchFamily="18" charset="0"/>
                          </a:rPr>
                          <m:t>𝟎</m:t>
                        </m:r>
                        <m:r>
                          <a:rPr lang="es-ES_tradnl" sz="2400" b="1" i="1">
                            <a:latin typeface="Cambria Math" panose="02040503050406030204" pitchFamily="18" charset="0"/>
                          </a:rPr>
                          <m:t>.</m:t>
                        </m:r>
                        <m:r>
                          <a:rPr lang="es-BO" sz="2400" b="1" i="1">
                            <a:latin typeface="Cambria Math" panose="02040503050406030204" pitchFamily="18" charset="0"/>
                          </a:rPr>
                          <m:t>𝟎𝟎𝟎𝟔𝟑𝟏𝟒</m:t>
                        </m:r>
                        <m:r>
                          <a:rPr lang="es-BO" sz="2400" b="1" i="1">
                            <a:latin typeface="Cambria Math" panose="02040503050406030204" pitchFamily="18" charset="0"/>
                          </a:rPr>
                          <m:t>∗</m:t>
                        </m:r>
                        <m:r>
                          <a:rPr lang="es-ES_tradnl" sz="2400" b="1" i="1">
                            <a:latin typeface="Cambria Math" panose="02040503050406030204" pitchFamily="18" charset="0"/>
                          </a:rPr>
                          <m:t>𝒁</m:t>
                        </m:r>
                      </m:num>
                      <m:den>
                        <m:r>
                          <a:rPr lang="es-ES_tradnl" sz="2400" b="1" i="1">
                            <a:latin typeface="Cambria Math" panose="02040503050406030204" pitchFamily="18" charset="0"/>
                          </a:rPr>
                          <m:t>𝒁</m:t>
                        </m:r>
                        <m:r>
                          <a:rPr lang="es-ES_tradnl" sz="2400" b="1" i="1">
                            <a:latin typeface="Cambria Math" panose="02040503050406030204" pitchFamily="18" charset="0"/>
                          </a:rPr>
                          <m:t>−</m:t>
                        </m:r>
                        <m:r>
                          <a:rPr lang="es-BO" sz="2400" b="1" i="1" smtClean="0">
                            <a:latin typeface="Cambria Math" panose="02040503050406030204" pitchFamily="18" charset="0"/>
                          </a:rPr>
                          <m:t>𝟎</m:t>
                        </m:r>
                        <m:r>
                          <a:rPr lang="es-BO" sz="2400" b="1" i="1" smtClean="0">
                            <a:latin typeface="Cambria Math" panose="02040503050406030204" pitchFamily="18" charset="0"/>
                          </a:rPr>
                          <m:t>,</m:t>
                        </m:r>
                        <m:r>
                          <a:rPr lang="es-BO" sz="2400" b="1" i="1" smtClean="0">
                            <a:latin typeface="Cambria Math" panose="02040503050406030204" pitchFamily="18" charset="0"/>
                          </a:rPr>
                          <m:t>𝟗𝟎𝟒𝟖</m:t>
                        </m:r>
                      </m:den>
                    </m:f>
                  </m:oMath>
                </a14:m>
                <a:r>
                  <a:rPr lang="es-BO" sz="2000" b="1" dirty="0"/>
                  <a:t> </a:t>
                </a:r>
                <a:endParaRPr lang="en-US" sz="2000" dirty="0"/>
              </a:p>
            </p:txBody>
          </p:sp>
        </mc:Choice>
        <mc:Fallback xmlns="">
          <p:sp>
            <p:nvSpPr>
              <p:cNvPr id="12" name="Rectángulo 11">
                <a:extLst>
                  <a:ext uri="{FF2B5EF4-FFF2-40B4-BE49-F238E27FC236}">
                    <a16:creationId xmlns:a16="http://schemas.microsoft.com/office/drawing/2014/main" id="{8632A3EC-9633-DA95-2B50-06C496AF66E4}"/>
                  </a:ext>
                </a:extLst>
              </p:cNvPr>
              <p:cNvSpPr>
                <a:spLocks noRot="1" noChangeAspect="1" noMove="1" noResize="1" noEditPoints="1" noAdjustHandles="1" noChangeArrowheads="1" noChangeShapeType="1" noTextEdit="1"/>
              </p:cNvSpPr>
              <p:nvPr/>
            </p:nvSpPr>
            <p:spPr>
              <a:xfrm>
                <a:off x="9199804" y="556983"/>
                <a:ext cx="2650084" cy="654346"/>
              </a:xfrm>
              <a:prstGeom prst="rect">
                <a:avLst/>
              </a:prstGeom>
              <a:blipFill>
                <a:blip r:embed="rId10"/>
                <a:stretch>
                  <a:fillRect/>
                </a:stretch>
              </a:blipFill>
            </p:spPr>
            <p:txBody>
              <a:bodyPr/>
              <a:lstStyle/>
              <a:p>
                <a:r>
                  <a:rPr lang="es-BO">
                    <a:noFill/>
                  </a:rPr>
                  <a:t> </a:t>
                </a:r>
              </a:p>
            </p:txBody>
          </p:sp>
        </mc:Fallback>
      </mc:AlternateContent>
      <mc:AlternateContent xmlns:mc="http://schemas.openxmlformats.org/markup-compatibility/2006" xmlns:a14="http://schemas.microsoft.com/office/drawing/2010/main">
        <mc:Choice Requires="a14">
          <p:sp>
            <p:nvSpPr>
              <p:cNvPr id="15" name="Globo: flecha hacia arriba 14">
                <a:extLst>
                  <a:ext uri="{FF2B5EF4-FFF2-40B4-BE49-F238E27FC236}">
                    <a16:creationId xmlns:a16="http://schemas.microsoft.com/office/drawing/2014/main" id="{4C5A3B75-C4BD-72D9-A6BD-8370B7C2FB57}"/>
                  </a:ext>
                </a:extLst>
              </p:cNvPr>
              <p:cNvSpPr/>
              <p:nvPr/>
            </p:nvSpPr>
            <p:spPr>
              <a:xfrm>
                <a:off x="8971363" y="1267582"/>
                <a:ext cx="3106965" cy="2699156"/>
              </a:xfrm>
              <a:prstGeom prst="up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BO" dirty="0"/>
                  <a:t>El sistema es estable, debido que  se encuentra dentro del circulo de radio unidad, según </a:t>
                </a:r>
              </a:p>
              <a:p>
                <a:pPr algn="ctr"/>
                <a14:m>
                  <m:oMathPara xmlns:m="http://schemas.openxmlformats.org/officeDocument/2006/math">
                    <m:oMathParaPr>
                      <m:jc m:val="centerGroup"/>
                    </m:oMathParaPr>
                    <m:oMath xmlns:m="http://schemas.openxmlformats.org/officeDocument/2006/math">
                      <m:sSup>
                        <m:sSupPr>
                          <m:ctrlPr>
                            <a:rPr lang="en-US" b="1" i="1">
                              <a:latin typeface="Cambria Math" panose="02040503050406030204" pitchFamily="18" charset="0"/>
                            </a:rPr>
                          </m:ctrlPr>
                        </m:sSupPr>
                        <m:e>
                          <m:r>
                            <a:rPr lang="es-ES_tradnl" b="1" i="1">
                              <a:latin typeface="Cambria Math" panose="02040503050406030204" pitchFamily="18" charset="0"/>
                            </a:rPr>
                            <m:t>𝒆</m:t>
                          </m:r>
                        </m:e>
                        <m:sup>
                          <m:r>
                            <a:rPr lang="es-BO" b="1" i="1" smtClean="0">
                              <a:latin typeface="Cambria Math" panose="02040503050406030204" pitchFamily="18" charset="0"/>
                            </a:rPr>
                            <m:t>𝒔𝑻</m:t>
                          </m:r>
                        </m:sup>
                      </m:sSup>
                      <m:r>
                        <a:rPr lang="es-BO" b="1" i="1" smtClean="0">
                          <a:latin typeface="Cambria Math" panose="02040503050406030204" pitchFamily="18" charset="0"/>
                        </a:rPr>
                        <m:t>=</m:t>
                      </m:r>
                      <m:r>
                        <a:rPr lang="es-BO" b="1" i="1" smtClean="0">
                          <a:latin typeface="Cambria Math" panose="02040503050406030204" pitchFamily="18" charset="0"/>
                        </a:rPr>
                        <m:t>𝒁</m:t>
                      </m:r>
                    </m:oMath>
                  </m:oMathPara>
                </a14:m>
                <a:endParaRPr lang="es-BO" dirty="0"/>
              </a:p>
              <a:p>
                <a:pPr algn="ctr"/>
                <a:endParaRPr lang="es-BO" dirty="0"/>
              </a:p>
            </p:txBody>
          </p:sp>
        </mc:Choice>
        <mc:Fallback xmlns="">
          <p:sp>
            <p:nvSpPr>
              <p:cNvPr id="15" name="Globo: flecha hacia arriba 14">
                <a:extLst>
                  <a:ext uri="{FF2B5EF4-FFF2-40B4-BE49-F238E27FC236}">
                    <a16:creationId xmlns:a16="http://schemas.microsoft.com/office/drawing/2014/main" id="{4C5A3B75-C4BD-72D9-A6BD-8370B7C2FB57}"/>
                  </a:ext>
                </a:extLst>
              </p:cNvPr>
              <p:cNvSpPr>
                <a:spLocks noRot="1" noChangeAspect="1" noMove="1" noResize="1" noEditPoints="1" noAdjustHandles="1" noChangeArrowheads="1" noChangeShapeType="1" noTextEdit="1"/>
              </p:cNvSpPr>
              <p:nvPr/>
            </p:nvSpPr>
            <p:spPr>
              <a:xfrm>
                <a:off x="8971363" y="1267582"/>
                <a:ext cx="3106965" cy="2699156"/>
              </a:xfrm>
              <a:prstGeom prst="upArrowCallout">
                <a:avLst/>
              </a:prstGeom>
              <a:blipFill>
                <a:blip r:embed="rId11"/>
                <a:stretch>
                  <a:fillRect l="-1563" r="-2539"/>
                </a:stretch>
              </a:blipFill>
            </p:spPr>
            <p:txBody>
              <a:bodyPr/>
              <a:lstStyle/>
              <a:p>
                <a:r>
                  <a:rPr lang="es-BO">
                    <a:noFill/>
                  </a:rPr>
                  <a:t> </a:t>
                </a:r>
              </a:p>
            </p:txBody>
          </p:sp>
        </mc:Fallback>
      </mc:AlternateContent>
      <p:sp>
        <p:nvSpPr>
          <p:cNvPr id="16" name="Rectángulo: esquinas redondeadas 15">
            <a:extLst>
              <a:ext uri="{FF2B5EF4-FFF2-40B4-BE49-F238E27FC236}">
                <a16:creationId xmlns:a16="http://schemas.microsoft.com/office/drawing/2014/main" id="{6BA169CD-B811-D02E-88FF-C9405AA1F6D9}"/>
              </a:ext>
            </a:extLst>
          </p:cNvPr>
          <p:cNvSpPr/>
          <p:nvPr/>
        </p:nvSpPr>
        <p:spPr>
          <a:xfrm>
            <a:off x="9266094" y="558881"/>
            <a:ext cx="2583794" cy="681476"/>
          </a:xfrm>
          <a:prstGeom prst="round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s-BO"/>
          </a:p>
        </p:txBody>
      </p:sp>
    </p:spTree>
    <p:extLst>
      <p:ext uri="{BB962C8B-B14F-4D97-AF65-F5344CB8AC3E}">
        <p14:creationId xmlns:p14="http://schemas.microsoft.com/office/powerpoint/2010/main" val="22260517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D8B357-E5BE-C946-9D1D-10B1F4A7884A}"/>
              </a:ext>
            </a:extLst>
          </p:cNvPr>
          <p:cNvSpPr>
            <a:spLocks noGrp="1"/>
          </p:cNvSpPr>
          <p:nvPr>
            <p:ph type="title"/>
          </p:nvPr>
        </p:nvSpPr>
        <p:spPr/>
        <p:txBody>
          <a:bodyPr>
            <a:normAutofit/>
          </a:bodyPr>
          <a:lstStyle/>
          <a:p>
            <a:r>
              <a:rPr lang="es-ES" b="1" dirty="0">
                <a:solidFill>
                  <a:srgbClr val="0070C0"/>
                </a:solidFill>
                <a:latin typeface="Californian FB" panose="0207040306080B030204" pitchFamily="18" charset="0"/>
              </a:rPr>
              <a:t>GRAFICA EN RESPUESTA PASO</a:t>
            </a:r>
            <a:endParaRPr lang="es-BO" b="1" dirty="0"/>
          </a:p>
        </p:txBody>
      </p:sp>
      <p:pic>
        <p:nvPicPr>
          <p:cNvPr id="10" name="Marcador de contenido 9">
            <a:extLst>
              <a:ext uri="{FF2B5EF4-FFF2-40B4-BE49-F238E27FC236}">
                <a16:creationId xmlns:a16="http://schemas.microsoft.com/office/drawing/2014/main" id="{B3BFFEFF-5977-8C5E-5722-D81711B010E9}"/>
              </a:ext>
            </a:extLst>
          </p:cNvPr>
          <p:cNvPicPr>
            <a:picLocks noGrp="1" noChangeAspect="1"/>
          </p:cNvPicPr>
          <p:nvPr>
            <p:ph idx="1"/>
          </p:nvPr>
        </p:nvPicPr>
        <p:blipFill>
          <a:blip r:embed="rId2"/>
          <a:stretch>
            <a:fillRect/>
          </a:stretch>
        </p:blipFill>
        <p:spPr>
          <a:xfrm>
            <a:off x="3114275" y="1332158"/>
            <a:ext cx="6484800" cy="5234719"/>
          </a:xfrm>
          <a:prstGeom prst="rect">
            <a:avLst/>
          </a:prstGeom>
        </p:spPr>
      </p:pic>
    </p:spTree>
    <p:extLst>
      <p:ext uri="{BB962C8B-B14F-4D97-AF65-F5344CB8AC3E}">
        <p14:creationId xmlns:p14="http://schemas.microsoft.com/office/powerpoint/2010/main" val="22246768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578B9-FD48-4E4D-1E3D-9E43A823B577}"/>
              </a:ext>
            </a:extLst>
          </p:cNvPr>
          <p:cNvSpPr>
            <a:spLocks noGrp="1"/>
          </p:cNvSpPr>
          <p:nvPr>
            <p:ph type="title"/>
          </p:nvPr>
        </p:nvSpPr>
        <p:spPr/>
        <p:txBody>
          <a:bodyPr>
            <a:normAutofit/>
          </a:bodyPr>
          <a:lstStyle/>
          <a:p>
            <a:r>
              <a:rPr lang="es-ES" sz="4000" b="1" dirty="0">
                <a:solidFill>
                  <a:srgbClr val="0070C0"/>
                </a:solidFill>
                <a:latin typeface="Californian FB" panose="0207040306080B030204" pitchFamily="18" charset="0"/>
              </a:rPr>
              <a:t>C</a:t>
            </a:r>
            <a:r>
              <a:rPr lang="es-BO" sz="4000" b="1" dirty="0">
                <a:solidFill>
                  <a:srgbClr val="0070C0"/>
                </a:solidFill>
                <a:latin typeface="Californian FB" panose="0207040306080B030204" pitchFamily="18" charset="0"/>
              </a:rPr>
              <a:t>ONCLUSIONES</a:t>
            </a:r>
            <a:endParaRPr lang="es-BO" sz="4000" b="1" dirty="0">
              <a:solidFill>
                <a:srgbClr val="0070C0"/>
              </a:solidFill>
            </a:endParaRPr>
          </a:p>
        </p:txBody>
      </p:sp>
      <p:sp>
        <p:nvSpPr>
          <p:cNvPr id="3" name="Marcador de contenido 2">
            <a:extLst>
              <a:ext uri="{FF2B5EF4-FFF2-40B4-BE49-F238E27FC236}">
                <a16:creationId xmlns:a16="http://schemas.microsoft.com/office/drawing/2014/main" id="{91B5D6D3-C9B7-46EE-48D0-FFF5EACDE259}"/>
              </a:ext>
            </a:extLst>
          </p:cNvPr>
          <p:cNvSpPr>
            <a:spLocks noGrp="1"/>
          </p:cNvSpPr>
          <p:nvPr>
            <p:ph idx="1"/>
          </p:nvPr>
        </p:nvSpPr>
        <p:spPr>
          <a:xfrm>
            <a:off x="2592925" y="1435008"/>
            <a:ext cx="9097328" cy="5099142"/>
          </a:xfrm>
        </p:spPr>
        <p:txBody>
          <a:bodyPr>
            <a:normAutofit/>
          </a:bodyPr>
          <a:lstStyle/>
          <a:p>
            <a:r>
              <a:rPr lang="es-ES" sz="2000" dirty="0"/>
              <a:t>Se pudo obtener la función de transferencia experimental y teórica, dándonos la misma altura de referencia.</a:t>
            </a:r>
          </a:p>
          <a:p>
            <a:r>
              <a:rPr lang="es-ES" sz="2000" dirty="0"/>
              <a:t>Pero se pudo evidenciar que hay una diferencia en el tiempo de subida en ambas funciones, esto es debido a que no estamos considerando las turbulencias que se presentan al momento de cargar el liquido en el tanque.</a:t>
            </a:r>
          </a:p>
          <a:p>
            <a:r>
              <a:rPr lang="es-ES" sz="2000" dirty="0"/>
              <a:t>La respuesta temporal de la planta teórica es equivalente a la respuesta experimental obtenida, sin embargo la influencia de las perturbaciones modifican la respuesta transitoria.</a:t>
            </a:r>
          </a:p>
          <a:p>
            <a:r>
              <a:rPr lang="es-ES" sz="2000" dirty="0"/>
              <a:t>El sistema nivel de liquido presenta una respuesta temporal lenta, para lo cual fueron necesarios muestras relativamente grandes T= 20[s] , pero para mayor precisión se tomaron varias mediciones(T= 10[s] ) para su obtención.</a:t>
            </a:r>
          </a:p>
        </p:txBody>
      </p:sp>
    </p:spTree>
    <p:extLst>
      <p:ext uri="{BB962C8B-B14F-4D97-AF65-F5344CB8AC3E}">
        <p14:creationId xmlns:p14="http://schemas.microsoft.com/office/powerpoint/2010/main" val="2738578672"/>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674</TotalTime>
  <Words>2040</Words>
  <Application>Microsoft Office PowerPoint</Application>
  <PresentationFormat>Panorámica</PresentationFormat>
  <Paragraphs>311</Paragraphs>
  <Slides>51</Slides>
  <Notes>0</Notes>
  <HiddenSlides>0</HiddenSlides>
  <MMClips>0</MMClips>
  <ScaleCrop>false</ScaleCrop>
  <HeadingPairs>
    <vt:vector size="6" baseType="variant">
      <vt:variant>
        <vt:lpstr>Fuentes usadas</vt:lpstr>
      </vt:variant>
      <vt:variant>
        <vt:i4>9</vt:i4>
      </vt:variant>
      <vt:variant>
        <vt:lpstr>Tema</vt:lpstr>
      </vt:variant>
      <vt:variant>
        <vt:i4>1</vt:i4>
      </vt:variant>
      <vt:variant>
        <vt:lpstr>Títulos de diapositiva</vt:lpstr>
      </vt:variant>
      <vt:variant>
        <vt:i4>51</vt:i4>
      </vt:variant>
    </vt:vector>
  </HeadingPairs>
  <TitlesOfParts>
    <vt:vector size="61" baseType="lpstr">
      <vt:lpstr>Arial</vt:lpstr>
      <vt:lpstr>Arial Black</vt:lpstr>
      <vt:lpstr>Blackadder ITC</vt:lpstr>
      <vt:lpstr>Book Antiqua</vt:lpstr>
      <vt:lpstr>Californian FB</vt:lpstr>
      <vt:lpstr>Cambria Math</vt:lpstr>
      <vt:lpstr>Century Gothic</vt:lpstr>
      <vt:lpstr>Wingdings</vt:lpstr>
      <vt:lpstr>Wingdings 3</vt:lpstr>
      <vt:lpstr>Espiral</vt:lpstr>
      <vt:lpstr>CARACTERIZACIÓN Y DESARROLLO DE LA PLANTA</vt:lpstr>
      <vt:lpstr>INDICE</vt:lpstr>
      <vt:lpstr>ANALISIS TEÓRICO</vt:lpstr>
      <vt:lpstr>Nivel de un tanque con restricción de descarga</vt:lpstr>
      <vt:lpstr>Análisis</vt:lpstr>
      <vt:lpstr>Análisis</vt:lpstr>
      <vt:lpstr>Presentación de PowerPoint</vt:lpstr>
      <vt:lpstr>Presentación de PowerPoint</vt:lpstr>
      <vt:lpstr>Presentación de PowerPoint</vt:lpstr>
      <vt:lpstr>Presentación de PowerPoint</vt:lpstr>
      <vt:lpstr>Datos</vt:lpstr>
      <vt:lpstr>Nivel de un tanque con restricción de descarga</vt:lpstr>
      <vt:lpstr>Nivel de un tanque con restricción de descarga</vt:lpstr>
      <vt:lpstr>RESPUESTA TEMPORAL DEL SISTEMA</vt:lpstr>
      <vt:lpstr>Presentación de PowerPoint</vt:lpstr>
      <vt:lpstr>Presentación de PowerPoint</vt:lpstr>
      <vt:lpstr>Presentación de PowerPoint</vt:lpstr>
      <vt:lpstr>RESPUESTA EN FRECUENCIA DEL SISTEMA</vt:lpstr>
      <vt:lpstr>Respuesta en frecuencia</vt:lpstr>
      <vt:lpstr>Presentación de PowerPoint</vt:lpstr>
      <vt:lpstr>ESTABILIDAD ABSOLUTA</vt:lpstr>
      <vt:lpstr>Estabilidad absoluta</vt:lpstr>
      <vt:lpstr>ANALISIS EN DISCRETO</vt:lpstr>
      <vt:lpstr>Análisis en Discreta</vt:lpstr>
      <vt:lpstr>Análisis en Discreta</vt:lpstr>
      <vt:lpstr>Análisis en Discreta</vt:lpstr>
      <vt:lpstr>ESTABILIDAD EN DISCRETO</vt:lpstr>
      <vt:lpstr>Estabilidad en discreta</vt:lpstr>
      <vt:lpstr>ANALISIS EXPERIMENTAL</vt:lpstr>
      <vt:lpstr>Presentación de PowerPoint</vt:lpstr>
      <vt:lpstr>Presentación de PowerPoint</vt:lpstr>
      <vt:lpstr>Presentación de PowerPoint</vt:lpstr>
      <vt:lpstr>Presentación de PowerPoint</vt:lpstr>
      <vt:lpstr>Presentación de PowerPoint</vt:lpstr>
      <vt:lpstr>RESPUESTA TEMPORAL DEL SISTEMA (EXPERIMENTAL)</vt:lpstr>
      <vt:lpstr>Presentación de PowerPoint</vt:lpstr>
      <vt:lpstr>Presentación de PowerPoint</vt:lpstr>
      <vt:lpstr>Presentación de PowerPoint</vt:lpstr>
      <vt:lpstr>RESPUESTA EN FRECUENCIA DEL SISTEMA (EXPERIMENTAL)</vt:lpstr>
      <vt:lpstr>Respuesta en frecuencia</vt:lpstr>
      <vt:lpstr>Presentación de PowerPoint</vt:lpstr>
      <vt:lpstr>ESTABILIDAD ABSOLUTA</vt:lpstr>
      <vt:lpstr>Estabilidad absoluta</vt:lpstr>
      <vt:lpstr>ANALISIS EN DISCRETO</vt:lpstr>
      <vt:lpstr>Análisis en Discreta</vt:lpstr>
      <vt:lpstr>Análisis en Discreta</vt:lpstr>
      <vt:lpstr>Análisis en Discreta</vt:lpstr>
      <vt:lpstr>ESTABILIDAD EN DISCRETO</vt:lpstr>
      <vt:lpstr>Estabilidad en discreta</vt:lpstr>
      <vt:lpstr>GRAFICA EN RESPUESTA PASO</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FUNCION DE TRANSFERENCIA DE PLANTA DE NIVEL</dc:title>
  <dc:creator>LEIDY LAPTOP</dc:creator>
  <cp:lastModifiedBy>Isabel Espino Marca</cp:lastModifiedBy>
  <cp:revision>8</cp:revision>
  <dcterms:created xsi:type="dcterms:W3CDTF">2023-05-31T04:19:04Z</dcterms:created>
  <dcterms:modified xsi:type="dcterms:W3CDTF">2023-06-20T12:09:06Z</dcterms:modified>
</cp:coreProperties>
</file>