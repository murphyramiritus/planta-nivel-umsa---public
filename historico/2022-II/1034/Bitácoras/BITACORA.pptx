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2" roundtripDataSignature="AMtx7mjtcjcimo1hyX7grSB8VaY4QFt/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customschemas.google.com/relationships/presentationmetadata" Target="meta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B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6" name="Shape 16"/>
        <p:cNvGrpSpPr/>
        <p:nvPr/>
      </p:nvGrpSpPr>
      <p:grpSpPr>
        <a:xfrm>
          <a:off x="0" y="0"/>
          <a:ext cx="0" cy="0"/>
          <a:chOff x="0" y="0"/>
          <a:chExt cx="0" cy="0"/>
        </a:xfrm>
      </p:grpSpPr>
      <p:sp>
        <p:nvSpPr>
          <p:cNvPr id="17" name="Google Shape;17;p68"/>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68"/>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6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6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2" name="Shape 22"/>
        <p:cNvGrpSpPr/>
        <p:nvPr/>
      </p:nvGrpSpPr>
      <p:grpSpPr>
        <a:xfrm>
          <a:off x="0" y="0"/>
          <a:ext cx="0" cy="0"/>
          <a:chOff x="0" y="0"/>
          <a:chExt cx="0" cy="0"/>
        </a:xfrm>
      </p:grpSpPr>
      <p:sp>
        <p:nvSpPr>
          <p:cNvPr id="23" name="Google Shape;23;p6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69"/>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6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82"/>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82"/>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1" name="Google Shape;31;p8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8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4" name="Shape 34"/>
        <p:cNvGrpSpPr/>
        <p:nvPr/>
      </p:nvGrpSpPr>
      <p:grpSpPr>
        <a:xfrm>
          <a:off x="0" y="0"/>
          <a:ext cx="0" cy="0"/>
          <a:chOff x="0" y="0"/>
          <a:chExt cx="0" cy="0"/>
        </a:xfrm>
      </p:grpSpPr>
      <p:sp>
        <p:nvSpPr>
          <p:cNvPr id="35" name="Google Shape;35;p8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83"/>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83"/>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8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8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8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1" name="Shape 41"/>
        <p:cNvGrpSpPr/>
        <p:nvPr/>
      </p:nvGrpSpPr>
      <p:grpSpPr>
        <a:xfrm>
          <a:off x="0" y="0"/>
          <a:ext cx="0" cy="0"/>
          <a:chOff x="0" y="0"/>
          <a:chExt cx="0" cy="0"/>
        </a:xfrm>
      </p:grpSpPr>
      <p:sp>
        <p:nvSpPr>
          <p:cNvPr id="42" name="Google Shape;42;p8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84"/>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84"/>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84"/>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84"/>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8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50" name="Shape 50"/>
        <p:cNvGrpSpPr/>
        <p:nvPr/>
      </p:nvGrpSpPr>
      <p:grpSpPr>
        <a:xfrm>
          <a:off x="0" y="0"/>
          <a:ext cx="0" cy="0"/>
          <a:chOff x="0" y="0"/>
          <a:chExt cx="0" cy="0"/>
        </a:xfrm>
      </p:grpSpPr>
      <p:sp>
        <p:nvSpPr>
          <p:cNvPr id="51" name="Google Shape;51;p8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5" name="Shape 55"/>
        <p:cNvGrpSpPr/>
        <p:nvPr/>
      </p:nvGrpSpPr>
      <p:grpSpPr>
        <a:xfrm>
          <a:off x="0" y="0"/>
          <a:ext cx="0" cy="0"/>
          <a:chOff x="0" y="0"/>
          <a:chExt cx="0" cy="0"/>
        </a:xfrm>
      </p:grpSpPr>
      <p:sp>
        <p:nvSpPr>
          <p:cNvPr id="56" name="Google Shape;56;p8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9" name="Shape 59"/>
        <p:cNvGrpSpPr/>
        <p:nvPr/>
      </p:nvGrpSpPr>
      <p:grpSpPr>
        <a:xfrm>
          <a:off x="0" y="0"/>
          <a:ext cx="0" cy="0"/>
          <a:chOff x="0" y="0"/>
          <a:chExt cx="0" cy="0"/>
        </a:xfrm>
      </p:grpSpPr>
      <p:sp>
        <p:nvSpPr>
          <p:cNvPr id="60" name="Google Shape;60;p87"/>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87"/>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2" name="Google Shape;62;p87"/>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3" name="Google Shape;63;p8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6" name="Shape 66"/>
        <p:cNvGrpSpPr/>
        <p:nvPr/>
      </p:nvGrpSpPr>
      <p:grpSpPr>
        <a:xfrm>
          <a:off x="0" y="0"/>
          <a:ext cx="0" cy="0"/>
          <a:chOff x="0" y="0"/>
          <a:chExt cx="0" cy="0"/>
        </a:xfrm>
      </p:grpSpPr>
      <p:sp>
        <p:nvSpPr>
          <p:cNvPr id="67" name="Google Shape;67;p88"/>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88"/>
          <p:cNvSpPr/>
          <p:nvPr>
            <p:ph idx="2" type="pic"/>
          </p:nvPr>
        </p:nvSpPr>
        <p:spPr>
          <a:xfrm>
            <a:off x="2389717" y="612775"/>
            <a:ext cx="7315200" cy="4114800"/>
          </a:xfrm>
          <a:prstGeom prst="rect">
            <a:avLst/>
          </a:prstGeom>
          <a:noFill/>
          <a:ln>
            <a:noFill/>
          </a:ln>
        </p:spPr>
      </p:sp>
      <p:sp>
        <p:nvSpPr>
          <p:cNvPr id="69" name="Google Shape;69;p88"/>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0" name="Google Shape;70;p8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8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3" name="Shape 73"/>
        <p:cNvGrpSpPr/>
        <p:nvPr/>
      </p:nvGrpSpPr>
      <p:grpSpPr>
        <a:xfrm>
          <a:off x="0" y="0"/>
          <a:ext cx="0" cy="0"/>
          <a:chOff x="0" y="0"/>
          <a:chExt cx="0" cy="0"/>
        </a:xfrm>
      </p:grpSpPr>
      <p:sp>
        <p:nvSpPr>
          <p:cNvPr id="74" name="Google Shape;74;p8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89"/>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6" name="Google Shape;76;p8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8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9" name="Shape 79"/>
        <p:cNvGrpSpPr/>
        <p:nvPr/>
      </p:nvGrpSpPr>
      <p:grpSpPr>
        <a:xfrm>
          <a:off x="0" y="0"/>
          <a:ext cx="0" cy="0"/>
          <a:chOff x="0" y="0"/>
          <a:chExt cx="0" cy="0"/>
        </a:xfrm>
      </p:grpSpPr>
      <p:sp>
        <p:nvSpPr>
          <p:cNvPr id="80" name="Google Shape;80;p90"/>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90"/>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9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9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9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92" name="Shape 92"/>
        <p:cNvGrpSpPr/>
        <p:nvPr/>
      </p:nvGrpSpPr>
      <p:grpSpPr>
        <a:xfrm>
          <a:off x="0" y="0"/>
          <a:ext cx="0" cy="0"/>
          <a:chOff x="0" y="0"/>
          <a:chExt cx="0" cy="0"/>
        </a:xfrm>
      </p:grpSpPr>
      <p:sp>
        <p:nvSpPr>
          <p:cNvPr id="93" name="Google Shape;93;p7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7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 name="Google Shape;95;p7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7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7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98" name="Shape 98"/>
        <p:cNvGrpSpPr/>
        <p:nvPr/>
      </p:nvGrpSpPr>
      <p:grpSpPr>
        <a:xfrm>
          <a:off x="0" y="0"/>
          <a:ext cx="0" cy="0"/>
          <a:chOff x="0" y="0"/>
          <a:chExt cx="0" cy="0"/>
        </a:xfrm>
      </p:grpSpPr>
      <p:sp>
        <p:nvSpPr>
          <p:cNvPr id="99" name="Google Shape;99;p72"/>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72"/>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01" name="Google Shape;101;p7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7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7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104" name="Shape 104"/>
        <p:cNvGrpSpPr/>
        <p:nvPr/>
      </p:nvGrpSpPr>
      <p:grpSpPr>
        <a:xfrm>
          <a:off x="0" y="0"/>
          <a:ext cx="0" cy="0"/>
          <a:chOff x="0" y="0"/>
          <a:chExt cx="0" cy="0"/>
        </a:xfrm>
      </p:grpSpPr>
      <p:sp>
        <p:nvSpPr>
          <p:cNvPr id="105" name="Google Shape;105;p73"/>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73"/>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7" name="Google Shape;107;p7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7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7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110" name="Shape 110"/>
        <p:cNvGrpSpPr/>
        <p:nvPr/>
      </p:nvGrpSpPr>
      <p:grpSpPr>
        <a:xfrm>
          <a:off x="0" y="0"/>
          <a:ext cx="0" cy="0"/>
          <a:chOff x="0" y="0"/>
          <a:chExt cx="0" cy="0"/>
        </a:xfrm>
      </p:grpSpPr>
      <p:sp>
        <p:nvSpPr>
          <p:cNvPr id="111" name="Google Shape;111;p7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74"/>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3" name="Google Shape;113;p74"/>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4" name="Google Shape;114;p7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7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7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17" name="Shape 117"/>
        <p:cNvGrpSpPr/>
        <p:nvPr/>
      </p:nvGrpSpPr>
      <p:grpSpPr>
        <a:xfrm>
          <a:off x="0" y="0"/>
          <a:ext cx="0" cy="0"/>
          <a:chOff x="0" y="0"/>
          <a:chExt cx="0" cy="0"/>
        </a:xfrm>
      </p:grpSpPr>
      <p:sp>
        <p:nvSpPr>
          <p:cNvPr id="118" name="Google Shape;118;p7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75"/>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p75"/>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p75"/>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2" name="Google Shape;122;p75"/>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3" name="Google Shape;123;p7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7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7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126" name="Shape 126"/>
        <p:cNvGrpSpPr/>
        <p:nvPr/>
      </p:nvGrpSpPr>
      <p:grpSpPr>
        <a:xfrm>
          <a:off x="0" y="0"/>
          <a:ext cx="0" cy="0"/>
          <a:chOff x="0" y="0"/>
          <a:chExt cx="0" cy="0"/>
        </a:xfrm>
      </p:grpSpPr>
      <p:sp>
        <p:nvSpPr>
          <p:cNvPr id="127" name="Google Shape;127;p7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7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7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7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31" name="Shape 131"/>
        <p:cNvGrpSpPr/>
        <p:nvPr/>
      </p:nvGrpSpPr>
      <p:grpSpPr>
        <a:xfrm>
          <a:off x="0" y="0"/>
          <a:ext cx="0" cy="0"/>
          <a:chOff x="0" y="0"/>
          <a:chExt cx="0" cy="0"/>
        </a:xfrm>
      </p:grpSpPr>
      <p:sp>
        <p:nvSpPr>
          <p:cNvPr id="132" name="Google Shape;132;p7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7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7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35" name="Shape 135"/>
        <p:cNvGrpSpPr/>
        <p:nvPr/>
      </p:nvGrpSpPr>
      <p:grpSpPr>
        <a:xfrm>
          <a:off x="0" y="0"/>
          <a:ext cx="0" cy="0"/>
          <a:chOff x="0" y="0"/>
          <a:chExt cx="0" cy="0"/>
        </a:xfrm>
      </p:grpSpPr>
      <p:sp>
        <p:nvSpPr>
          <p:cNvPr id="136" name="Google Shape;136;p78"/>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78"/>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8" name="Google Shape;138;p78"/>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9" name="Google Shape;139;p7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7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7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42" name="Shape 142"/>
        <p:cNvGrpSpPr/>
        <p:nvPr/>
      </p:nvGrpSpPr>
      <p:grpSpPr>
        <a:xfrm>
          <a:off x="0" y="0"/>
          <a:ext cx="0" cy="0"/>
          <a:chOff x="0" y="0"/>
          <a:chExt cx="0" cy="0"/>
        </a:xfrm>
      </p:grpSpPr>
      <p:sp>
        <p:nvSpPr>
          <p:cNvPr id="143" name="Google Shape;143;p79"/>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79"/>
          <p:cNvSpPr/>
          <p:nvPr>
            <p:ph idx="2" type="pic"/>
          </p:nvPr>
        </p:nvSpPr>
        <p:spPr>
          <a:xfrm>
            <a:off x="2389717" y="612775"/>
            <a:ext cx="7315200" cy="4114800"/>
          </a:xfrm>
          <a:prstGeom prst="rect">
            <a:avLst/>
          </a:prstGeom>
          <a:noFill/>
          <a:ln>
            <a:noFill/>
          </a:ln>
        </p:spPr>
      </p:sp>
      <p:sp>
        <p:nvSpPr>
          <p:cNvPr id="145" name="Google Shape;145;p79"/>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6" name="Google Shape;146;p7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7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7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49" name="Shape 149"/>
        <p:cNvGrpSpPr/>
        <p:nvPr/>
      </p:nvGrpSpPr>
      <p:grpSpPr>
        <a:xfrm>
          <a:off x="0" y="0"/>
          <a:ext cx="0" cy="0"/>
          <a:chOff x="0" y="0"/>
          <a:chExt cx="0" cy="0"/>
        </a:xfrm>
      </p:grpSpPr>
      <p:sp>
        <p:nvSpPr>
          <p:cNvPr id="150" name="Google Shape;150;p8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80"/>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p8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8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8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55" name="Shape 155"/>
        <p:cNvGrpSpPr/>
        <p:nvPr/>
      </p:nvGrpSpPr>
      <p:grpSpPr>
        <a:xfrm>
          <a:off x="0" y="0"/>
          <a:ext cx="0" cy="0"/>
          <a:chOff x="0" y="0"/>
          <a:chExt cx="0" cy="0"/>
        </a:xfrm>
      </p:grpSpPr>
      <p:sp>
        <p:nvSpPr>
          <p:cNvPr id="156" name="Google Shape;156;p81"/>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81"/>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8" name="Google Shape;158;p8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8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8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6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6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
        <p:nvSpPr>
          <p:cNvPr id="15" name="Google Shape;15;p67"/>
          <p:cNvSpPr txBox="1"/>
          <p:nvPr/>
        </p:nvSpPr>
        <p:spPr>
          <a:xfrm rot="-5400000">
            <a:off x="-3203297" y="3259723"/>
            <a:ext cx="6858000" cy="338554"/>
          </a:xfrm>
          <a:prstGeom prst="rect">
            <a:avLst/>
          </a:prstGeom>
          <a:solidFill>
            <a:srgbClr val="CCC0D9"/>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Calibri"/>
              <a:buNone/>
            </a:pPr>
            <a:r>
              <a:rPr b="1" i="0" lang="es-BO" sz="1600" u="none" cap="none" strike="noStrike">
                <a:solidFill>
                  <a:srgbClr val="FFFFFF"/>
                </a:solidFill>
                <a:latin typeface="Calibri"/>
                <a:ea typeface="Calibri"/>
                <a:cs typeface="Calibri"/>
                <a:sym typeface="Calibri"/>
              </a:rPr>
              <a:t>APLICACIÓN DE TÉCNICAS DE CONTROL – ETN 1034 - (Pregrado UMSA 2022)</a:t>
            </a:r>
            <a:endParaRPr b="1" i="0" sz="1600" u="none" cap="none" strike="noStrike">
              <a:solidFill>
                <a:srgbClr val="FFFFFF"/>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7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7" name="Google Shape;87;p7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8" name="Google Shape;88;p7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7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 name="Google Shape;90;p7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
        <p:nvSpPr>
          <p:cNvPr id="91" name="Google Shape;91;p70"/>
          <p:cNvSpPr txBox="1"/>
          <p:nvPr/>
        </p:nvSpPr>
        <p:spPr>
          <a:xfrm rot="-5400000">
            <a:off x="-3203297" y="3259723"/>
            <a:ext cx="6858000" cy="338554"/>
          </a:xfrm>
          <a:prstGeom prst="rect">
            <a:avLst/>
          </a:prstGeom>
          <a:solidFill>
            <a:srgbClr val="CCC0D9"/>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BO" sz="1600" u="none" cap="none" strike="noStrike">
                <a:solidFill>
                  <a:schemeClr val="lt1"/>
                </a:solidFill>
                <a:latin typeface="Calibri"/>
                <a:ea typeface="Calibri"/>
                <a:cs typeface="Calibri"/>
                <a:sym typeface="Calibri"/>
              </a:rPr>
              <a:t>APLICACIÓN DE TÉCNICAS DE CONTROL – ETN 1034 - (Pregrado UMSA 2022)</a:t>
            </a:r>
            <a:endParaRPr b="1" i="0" sz="16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83.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0.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56.png"/><Relationship Id="rId5"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34.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41.png"/><Relationship Id="rId4" Type="http://schemas.openxmlformats.org/officeDocument/2006/relationships/image" Target="../media/image38.png"/><Relationship Id="rId5"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43.png"/><Relationship Id="rId4" Type="http://schemas.openxmlformats.org/officeDocument/2006/relationships/image" Target="../media/image7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44.png"/><Relationship Id="rId4" Type="http://schemas.openxmlformats.org/officeDocument/2006/relationships/image" Target="../media/image53.png"/><Relationship Id="rId5"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54.png"/><Relationship Id="rId4" Type="http://schemas.openxmlformats.org/officeDocument/2006/relationships/image" Target="../media/image4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6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5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67.png"/><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5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60.png"/><Relationship Id="rId4" Type="http://schemas.openxmlformats.org/officeDocument/2006/relationships/image" Target="../media/image5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57.png"/><Relationship Id="rId4" Type="http://schemas.openxmlformats.org/officeDocument/2006/relationships/image" Target="../media/image6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6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7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55.png"/><Relationship Id="rId4" Type="http://schemas.openxmlformats.org/officeDocument/2006/relationships/image" Target="../media/image62.png"/><Relationship Id="rId5" Type="http://schemas.openxmlformats.org/officeDocument/2006/relationships/image" Target="../media/image8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68.png"/><Relationship Id="rId4" Type="http://schemas.openxmlformats.org/officeDocument/2006/relationships/image" Target="../media/image6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71.png"/><Relationship Id="rId4" Type="http://schemas.openxmlformats.org/officeDocument/2006/relationships/image" Target="../media/image73.png"/><Relationship Id="rId5" Type="http://schemas.openxmlformats.org/officeDocument/2006/relationships/image" Target="../media/image7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72.png"/><Relationship Id="rId4" Type="http://schemas.openxmlformats.org/officeDocument/2006/relationships/image" Target="../media/image6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74.png"/><Relationship Id="rId4" Type="http://schemas.openxmlformats.org/officeDocument/2006/relationships/image" Target="../media/image64.png"/><Relationship Id="rId5" Type="http://schemas.openxmlformats.org/officeDocument/2006/relationships/image" Target="../media/image7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7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7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
          <p:cNvSpPr txBox="1"/>
          <p:nvPr>
            <p:ph type="ctrTitle"/>
          </p:nvPr>
        </p:nvSpPr>
        <p:spPr>
          <a:xfrm>
            <a:off x="3544606" y="2223556"/>
            <a:ext cx="5380401" cy="1636192"/>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990"/>
              <a:buFont typeface="Calibri"/>
              <a:buNone/>
            </a:pPr>
            <a:r>
              <a:rPr b="1" lang="es-BO" sz="4800"/>
              <a:t>SISTEMA DE NIVEL DE LÍQUIDO</a:t>
            </a:r>
            <a:endParaRPr b="1" sz="4800"/>
          </a:p>
        </p:txBody>
      </p:sp>
      <p:sp>
        <p:nvSpPr>
          <p:cNvPr id="166" name="Google Shape;166;p1"/>
          <p:cNvSpPr txBox="1"/>
          <p:nvPr>
            <p:ph idx="1" type="subTitle"/>
          </p:nvPr>
        </p:nvSpPr>
        <p:spPr>
          <a:xfrm>
            <a:off x="3708427" y="3859748"/>
            <a:ext cx="6319013" cy="2424704"/>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Clr>
                <a:srgbClr val="262626"/>
              </a:buClr>
              <a:buSzPts val="2000"/>
              <a:buNone/>
            </a:pPr>
            <a:r>
              <a:rPr lang="es-BO" sz="2000">
                <a:solidFill>
                  <a:srgbClr val="262626"/>
                </a:solidFill>
                <a:latin typeface="Arial"/>
                <a:ea typeface="Arial"/>
                <a:cs typeface="Arial"/>
                <a:sym typeface="Arial"/>
              </a:rPr>
              <a:t>Integrantes: Alvaro Jonny Ortega Quispe</a:t>
            </a:r>
            <a:endParaRPr/>
          </a:p>
          <a:p>
            <a:pPr indent="0" lvl="0" marL="0" rtl="0" algn="l">
              <a:lnSpc>
                <a:spcPct val="150000"/>
              </a:lnSpc>
              <a:spcBef>
                <a:spcPts val="0"/>
              </a:spcBef>
              <a:spcAft>
                <a:spcPts val="0"/>
              </a:spcAft>
              <a:buClr>
                <a:srgbClr val="262626"/>
              </a:buClr>
              <a:buSzPts val="2000"/>
              <a:buNone/>
            </a:pPr>
            <a:r>
              <a:rPr lang="es-BO" sz="2000">
                <a:solidFill>
                  <a:srgbClr val="262626"/>
                </a:solidFill>
                <a:latin typeface="Arial"/>
                <a:ea typeface="Arial"/>
                <a:cs typeface="Arial"/>
                <a:sym typeface="Arial"/>
              </a:rPr>
              <a:t>	       Milton Rodrigo Tiñini Vallejos</a:t>
            </a:r>
            <a:endParaRPr/>
          </a:p>
          <a:p>
            <a:pPr indent="0" lvl="0" marL="0" rtl="0" algn="l">
              <a:lnSpc>
                <a:spcPct val="150000"/>
              </a:lnSpc>
              <a:spcBef>
                <a:spcPts val="0"/>
              </a:spcBef>
              <a:spcAft>
                <a:spcPts val="0"/>
              </a:spcAft>
              <a:buClr>
                <a:srgbClr val="262626"/>
              </a:buClr>
              <a:buSzPts val="2000"/>
              <a:buNone/>
            </a:pPr>
            <a:r>
              <a:rPr lang="es-BO" sz="2000">
                <a:solidFill>
                  <a:srgbClr val="262626"/>
                </a:solidFill>
                <a:latin typeface="Arial"/>
                <a:ea typeface="Arial"/>
                <a:cs typeface="Arial"/>
                <a:sym typeface="Arial"/>
              </a:rPr>
              <a:t>Docente: Ing. Jorge Antonio Nava Amador</a:t>
            </a:r>
            <a:endParaRPr sz="2000">
              <a:solidFill>
                <a:srgbClr val="262626"/>
              </a:solidFill>
              <a:latin typeface="Arial"/>
              <a:ea typeface="Arial"/>
              <a:cs typeface="Arial"/>
              <a:sym typeface="Arial"/>
            </a:endParaRPr>
          </a:p>
          <a:p>
            <a:pPr indent="0" lvl="0" marL="0" rtl="0" algn="l">
              <a:lnSpc>
                <a:spcPct val="150000"/>
              </a:lnSpc>
              <a:spcBef>
                <a:spcPts val="0"/>
              </a:spcBef>
              <a:spcAft>
                <a:spcPts val="0"/>
              </a:spcAft>
              <a:buClr>
                <a:srgbClr val="262626"/>
              </a:buClr>
              <a:buSzPts val="2000"/>
              <a:buNone/>
            </a:pPr>
            <a:r>
              <a:rPr lang="es-BO" sz="2000">
                <a:solidFill>
                  <a:srgbClr val="262626"/>
                </a:solidFill>
                <a:latin typeface="Arial"/>
                <a:ea typeface="Arial"/>
                <a:cs typeface="Arial"/>
                <a:sym typeface="Arial"/>
              </a:rPr>
              <a:t>Materia: ETN 1034</a:t>
            </a:r>
            <a:endParaRPr sz="2000">
              <a:solidFill>
                <a:srgbClr val="262626"/>
              </a:solidFill>
              <a:latin typeface="Arial"/>
              <a:ea typeface="Arial"/>
              <a:cs typeface="Arial"/>
              <a:sym typeface="Arial"/>
            </a:endParaRPr>
          </a:p>
        </p:txBody>
      </p:sp>
      <p:sp>
        <p:nvSpPr>
          <p:cNvPr id="167" name="Google Shape;167;p1"/>
          <p:cNvSpPr txBox="1"/>
          <p:nvPr/>
        </p:nvSpPr>
        <p:spPr>
          <a:xfrm>
            <a:off x="3544606" y="682308"/>
            <a:ext cx="5638583" cy="1541248"/>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1" i="0" lang="es-BO" sz="2200" u="none" cap="none" strike="noStrike">
                <a:solidFill>
                  <a:srgbClr val="262626"/>
                </a:solidFill>
                <a:latin typeface="Arial"/>
                <a:ea typeface="Arial"/>
                <a:cs typeface="Arial"/>
                <a:sym typeface="Arial"/>
              </a:rPr>
              <a:t>UNIVERSIDAD MAYOR DE SAN ANDRES</a:t>
            </a:r>
            <a:endParaRPr/>
          </a:p>
          <a:p>
            <a:pPr indent="0" lvl="0" marL="0" marR="0" rtl="0" algn="ctr">
              <a:lnSpc>
                <a:spcPct val="115000"/>
              </a:lnSpc>
              <a:spcBef>
                <a:spcPts val="0"/>
              </a:spcBef>
              <a:spcAft>
                <a:spcPts val="0"/>
              </a:spcAft>
              <a:buClr>
                <a:srgbClr val="000000"/>
              </a:buClr>
              <a:buSzPts val="1100"/>
              <a:buFont typeface="Arial"/>
              <a:buNone/>
            </a:pPr>
            <a:r>
              <a:rPr b="1" i="0" lang="es-BO" sz="2200" u="none" cap="none" strike="noStrike">
                <a:solidFill>
                  <a:srgbClr val="262626"/>
                </a:solidFill>
                <a:latin typeface="Arial"/>
                <a:ea typeface="Arial"/>
                <a:cs typeface="Arial"/>
                <a:sym typeface="Arial"/>
              </a:rPr>
              <a:t>               FACULTAD DE INGENIERIA</a:t>
            </a:r>
            <a:endParaRPr/>
          </a:p>
          <a:p>
            <a:pPr indent="0" lvl="0" marL="0" marR="0" rtl="0" algn="ctr">
              <a:lnSpc>
                <a:spcPct val="115000"/>
              </a:lnSpc>
              <a:spcBef>
                <a:spcPts val="0"/>
              </a:spcBef>
              <a:spcAft>
                <a:spcPts val="0"/>
              </a:spcAft>
              <a:buClr>
                <a:srgbClr val="000000"/>
              </a:buClr>
              <a:buSzPts val="1100"/>
              <a:buFont typeface="Arial"/>
              <a:buNone/>
            </a:pPr>
            <a:r>
              <a:rPr b="1" i="0" lang="es-BO" sz="2200" u="none" cap="none" strike="noStrike">
                <a:solidFill>
                  <a:srgbClr val="262626"/>
                </a:solidFill>
                <a:latin typeface="Arial"/>
                <a:ea typeface="Arial"/>
                <a:cs typeface="Arial"/>
                <a:sym typeface="Arial"/>
              </a:rPr>
              <a:t>              INGENIERIA ELECTRONICA</a:t>
            </a:r>
            <a:endParaRPr/>
          </a:p>
          <a:p>
            <a:pPr indent="0" lvl="0" marL="0" marR="0" rtl="0" algn="l">
              <a:lnSpc>
                <a:spcPct val="100000"/>
              </a:lnSpc>
              <a:spcBef>
                <a:spcPts val="0"/>
              </a:spcBef>
              <a:spcAft>
                <a:spcPts val="0"/>
              </a:spcAft>
              <a:buClr>
                <a:srgbClr val="888888"/>
              </a:buClr>
              <a:buSzPts val="3200"/>
              <a:buFont typeface="Arial"/>
              <a:buNone/>
            </a:pPr>
            <a:r>
              <a:t/>
            </a:r>
            <a:endParaRPr b="0" i="0" sz="3200" u="none" cap="none" strike="noStrike">
              <a:solidFill>
                <a:srgbClr val="888888"/>
              </a:solidFill>
              <a:latin typeface="Calibri"/>
              <a:ea typeface="Calibri"/>
              <a:cs typeface="Calibri"/>
              <a:sym typeface="Calibri"/>
            </a:endParaRPr>
          </a:p>
        </p:txBody>
      </p:sp>
      <p:pic>
        <p:nvPicPr>
          <p:cNvPr id="168" name="Google Shape;168;p1"/>
          <p:cNvPicPr preferRelativeResize="0"/>
          <p:nvPr/>
        </p:nvPicPr>
        <p:blipFill rotWithShape="1">
          <a:blip r:embed="rId3">
            <a:alphaModFix/>
          </a:blip>
          <a:srcRect b="0" l="0" r="0" t="0"/>
          <a:stretch/>
        </p:blipFill>
        <p:spPr>
          <a:xfrm>
            <a:off x="10184194" y="507733"/>
            <a:ext cx="664200" cy="1341500"/>
          </a:xfrm>
          <a:prstGeom prst="rect">
            <a:avLst/>
          </a:prstGeom>
          <a:noFill/>
          <a:ln>
            <a:noFill/>
          </a:ln>
        </p:spPr>
      </p:pic>
      <p:pic>
        <p:nvPicPr>
          <p:cNvPr id="169" name="Google Shape;169;p1"/>
          <p:cNvPicPr preferRelativeResize="0"/>
          <p:nvPr/>
        </p:nvPicPr>
        <p:blipFill rotWithShape="1">
          <a:blip r:embed="rId4">
            <a:alphaModFix/>
          </a:blip>
          <a:srcRect b="0" l="0" r="0" t="0"/>
          <a:stretch/>
        </p:blipFill>
        <p:spPr>
          <a:xfrm>
            <a:off x="1400207" y="563108"/>
            <a:ext cx="1415150" cy="1230750"/>
          </a:xfrm>
          <a:prstGeom prst="rect">
            <a:avLst/>
          </a:prstGeom>
          <a:noFill/>
          <a:ln>
            <a:noFill/>
          </a:ln>
        </p:spPr>
      </p:pic>
      <p:sp>
        <p:nvSpPr>
          <p:cNvPr id="170" name="Google Shape;170;p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s-BO"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
          <p:cNvSpPr txBox="1"/>
          <p:nvPr>
            <p:ph idx="1" type="body"/>
          </p:nvPr>
        </p:nvSpPr>
        <p:spPr>
          <a:xfrm>
            <a:off x="1470990" y="2226365"/>
            <a:ext cx="10111409" cy="156375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s-BO"/>
              <a:t>Milton: 3, 8-10, 17, 31-40,44-58, 66</a:t>
            </a:r>
            <a:endParaRPr/>
          </a:p>
          <a:p>
            <a:pPr indent="-342900" lvl="0" marL="342900" rtl="0" algn="l">
              <a:spcBef>
                <a:spcPts val="640"/>
              </a:spcBef>
              <a:spcAft>
                <a:spcPts val="0"/>
              </a:spcAft>
              <a:buClr>
                <a:schemeClr val="dk1"/>
              </a:buClr>
              <a:buSzPts val="3200"/>
              <a:buChar char="•"/>
            </a:pPr>
            <a:r>
              <a:rPr lang="es-BO"/>
              <a:t>Alvaro: 4-7, 11-16, 18-30, 41-43, 59-65</a:t>
            </a:r>
            <a:endParaRPr/>
          </a:p>
        </p:txBody>
      </p:sp>
      <p:sp>
        <p:nvSpPr>
          <p:cNvPr id="176" name="Google Shape;176;p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s-BO"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
          <p:cNvSpPr txBox="1"/>
          <p:nvPr>
            <p:ph type="title"/>
          </p:nvPr>
        </p:nvSpPr>
        <p:spPr>
          <a:xfrm>
            <a:off x="2079378" y="1209937"/>
            <a:ext cx="7038900" cy="9141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3200"/>
              <a:buFont typeface="Calibri"/>
              <a:buNone/>
            </a:pPr>
            <a:r>
              <a:rPr b="1" lang="es-BO" sz="3200"/>
              <a:t>OBJETIVOS</a:t>
            </a:r>
            <a:endParaRPr/>
          </a:p>
        </p:txBody>
      </p:sp>
      <p:sp>
        <p:nvSpPr>
          <p:cNvPr id="182" name="Google Shape;182;p3"/>
          <p:cNvSpPr txBox="1"/>
          <p:nvPr/>
        </p:nvSpPr>
        <p:spPr>
          <a:xfrm>
            <a:off x="1721570" y="2290256"/>
            <a:ext cx="8813908" cy="3461187"/>
          </a:xfrm>
          <a:prstGeom prst="rect">
            <a:avLst/>
          </a:prstGeom>
          <a:noFill/>
          <a:ln>
            <a:noFill/>
          </a:ln>
        </p:spPr>
        <p:txBody>
          <a:bodyPr anchorCtr="0" anchor="t" bIns="91425" lIns="91425" spcFirstLastPara="1" rIns="91425" wrap="square" tIns="91425">
            <a:normAutofit/>
          </a:bodyPr>
          <a:lstStyle/>
          <a:p>
            <a:pPr indent="-342900" lvl="0" marL="457200" marR="0" rtl="0" algn="l">
              <a:spcBef>
                <a:spcPts val="1200"/>
              </a:spcBef>
              <a:spcAft>
                <a:spcPts val="0"/>
              </a:spcAft>
              <a:buClr>
                <a:schemeClr val="dk1"/>
              </a:buClr>
              <a:buSzPts val="1800"/>
              <a:buFont typeface="Arial"/>
              <a:buChar char="●"/>
            </a:pPr>
            <a:r>
              <a:rPr b="0" i="0" lang="es-BO" sz="2000" u="none" cap="none" strike="noStrike">
                <a:solidFill>
                  <a:schemeClr val="dk1"/>
                </a:solidFill>
                <a:latin typeface="Calibri"/>
                <a:ea typeface="Calibri"/>
                <a:cs typeface="Calibri"/>
                <a:sym typeface="Calibri"/>
              </a:rPr>
              <a:t>Caracterizar al proceso en su totalidad utilizando la normativa ISA (P&amp;ID)</a:t>
            </a:r>
            <a:endParaRPr/>
          </a:p>
          <a:p>
            <a:pPr indent="-342900" lvl="0" marL="457200" marR="0" rtl="0" algn="l">
              <a:spcBef>
                <a:spcPts val="1200"/>
              </a:spcBef>
              <a:spcAft>
                <a:spcPts val="0"/>
              </a:spcAft>
              <a:buClr>
                <a:schemeClr val="dk1"/>
              </a:buClr>
              <a:buSzPts val="1800"/>
              <a:buFont typeface="Arial"/>
              <a:buChar char="●"/>
            </a:pPr>
            <a:r>
              <a:rPr b="0" i="0" lang="es-BO" sz="2000" u="none" cap="none" strike="noStrike">
                <a:solidFill>
                  <a:schemeClr val="dk1"/>
                </a:solidFill>
                <a:latin typeface="Calibri"/>
                <a:ea typeface="Calibri"/>
                <a:cs typeface="Calibri"/>
                <a:sym typeface="Calibri"/>
              </a:rPr>
              <a:t>Utilizar la instrumentación de laboratorio</a:t>
            </a:r>
            <a:endParaRPr/>
          </a:p>
          <a:p>
            <a:pPr indent="-342900" lvl="0" marL="457200" marR="0" rtl="0" algn="l">
              <a:spcBef>
                <a:spcPts val="1200"/>
              </a:spcBef>
              <a:spcAft>
                <a:spcPts val="0"/>
              </a:spcAft>
              <a:buClr>
                <a:schemeClr val="dk1"/>
              </a:buClr>
              <a:buSzPts val="1800"/>
              <a:buFont typeface="Arial"/>
              <a:buChar char="●"/>
            </a:pPr>
            <a:r>
              <a:rPr b="0" i="0" lang="es-BO" sz="2000" u="none" cap="none" strike="noStrike">
                <a:solidFill>
                  <a:schemeClr val="dk1"/>
                </a:solidFill>
                <a:latin typeface="Calibri"/>
                <a:ea typeface="Calibri"/>
                <a:cs typeface="Calibri"/>
                <a:sym typeface="Calibri"/>
              </a:rPr>
              <a:t>Caracterizar los elementos que componen al sistema</a:t>
            </a:r>
            <a:endParaRPr/>
          </a:p>
          <a:p>
            <a:pPr indent="-342900" lvl="0" marL="457200" marR="0" rtl="0" algn="l">
              <a:spcBef>
                <a:spcPts val="1200"/>
              </a:spcBef>
              <a:spcAft>
                <a:spcPts val="0"/>
              </a:spcAft>
              <a:buClr>
                <a:schemeClr val="dk1"/>
              </a:buClr>
              <a:buSzPts val="1800"/>
              <a:buFont typeface="Arial"/>
              <a:buChar char="●"/>
            </a:pPr>
            <a:r>
              <a:rPr b="0" i="0" lang="es-BO" sz="2000" u="none" cap="none" strike="noStrike">
                <a:solidFill>
                  <a:schemeClr val="dk1"/>
                </a:solidFill>
                <a:latin typeface="Calibri"/>
                <a:ea typeface="Calibri"/>
                <a:cs typeface="Calibri"/>
                <a:sym typeface="Calibri"/>
              </a:rPr>
              <a:t>Realizar la adaptación de señales para aquellos transductores en los que sea necesario.</a:t>
            </a:r>
            <a:endParaRPr b="0" i="0" sz="2000" u="none" cap="none" strike="noStrike">
              <a:solidFill>
                <a:schemeClr val="dk1"/>
              </a:solidFill>
              <a:latin typeface="Calibri"/>
              <a:ea typeface="Calibri"/>
              <a:cs typeface="Calibri"/>
              <a:sym typeface="Calibri"/>
            </a:endParaRPr>
          </a:p>
        </p:txBody>
      </p:sp>
      <p:sp>
        <p:nvSpPr>
          <p:cNvPr id="183" name="Google Shape;183;p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
          <p:cNvSpPr txBox="1"/>
          <p:nvPr>
            <p:ph idx="1" type="body"/>
          </p:nvPr>
        </p:nvSpPr>
        <p:spPr>
          <a:xfrm>
            <a:off x="4108174" y="3036405"/>
            <a:ext cx="5857461" cy="7851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060"/>
              </a:buClr>
              <a:buSzPts val="3600"/>
              <a:buNone/>
            </a:pPr>
            <a:r>
              <a:rPr b="1" lang="es-BO" sz="3600">
                <a:solidFill>
                  <a:srgbClr val="002060"/>
                </a:solidFill>
              </a:rPr>
              <a:t>SISTEMA DE NIVEL</a:t>
            </a:r>
            <a:endParaRPr/>
          </a:p>
        </p:txBody>
      </p:sp>
      <p:sp>
        <p:nvSpPr>
          <p:cNvPr id="189" name="Google Shape;189;p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5"/>
          <p:cNvSpPr txBox="1"/>
          <p:nvPr>
            <p:ph type="title"/>
          </p:nvPr>
        </p:nvSpPr>
        <p:spPr>
          <a:xfrm>
            <a:off x="800743" y="520717"/>
            <a:ext cx="10972800" cy="64547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Estructura del sistema (tablero de control)</a:t>
            </a:r>
            <a:endParaRPr/>
          </a:p>
        </p:txBody>
      </p:sp>
      <p:sp>
        <p:nvSpPr>
          <p:cNvPr id="195" name="Google Shape;195;p5"/>
          <p:cNvSpPr txBox="1"/>
          <p:nvPr/>
        </p:nvSpPr>
        <p:spPr>
          <a:xfrm>
            <a:off x="2867068" y="6091604"/>
            <a:ext cx="6840000" cy="491400"/>
          </a:xfrm>
          <a:prstGeom prst="rect">
            <a:avLst/>
          </a:prstGeom>
          <a:noFill/>
          <a:ln>
            <a:noFill/>
          </a:ln>
        </p:spPr>
        <p:txBody>
          <a:bodyPr anchorCtr="0" anchor="ctr" bIns="45700" lIns="91425" spcFirstLastPara="1" rIns="91425" wrap="square" tIns="45700">
            <a:normAutofit fontScale="97500"/>
          </a:bodyPr>
          <a:lstStyle/>
          <a:p>
            <a:pPr indent="0" lvl="0" marL="0" marR="0" rtl="0" algn="ctr">
              <a:spcBef>
                <a:spcPts val="0"/>
              </a:spcBef>
              <a:spcAft>
                <a:spcPts val="0"/>
              </a:spcAft>
              <a:buClr>
                <a:schemeClr val="dk1"/>
              </a:buClr>
              <a:buSzPct val="100000"/>
              <a:buFont typeface="Calibri"/>
              <a:buNone/>
            </a:pPr>
            <a:r>
              <a:rPr b="0" i="0" lang="es-BO" sz="2000" u="none" cap="none" strike="noStrike">
                <a:solidFill>
                  <a:schemeClr val="dk1"/>
                </a:solidFill>
                <a:latin typeface="Calibri"/>
                <a:ea typeface="Calibri"/>
                <a:cs typeface="Calibri"/>
                <a:sym typeface="Calibri"/>
              </a:rPr>
              <a:t>Parte frontal e interna de la puerta del tablero de control</a:t>
            </a:r>
            <a:endParaRPr/>
          </a:p>
        </p:txBody>
      </p:sp>
      <p:pic>
        <p:nvPicPr>
          <p:cNvPr id="196" name="Google Shape;196;p5"/>
          <p:cNvPicPr preferRelativeResize="0"/>
          <p:nvPr/>
        </p:nvPicPr>
        <p:blipFill rotWithShape="1">
          <a:blip r:embed="rId3">
            <a:alphaModFix/>
          </a:blip>
          <a:srcRect b="57488" l="0" r="40557" t="0"/>
          <a:stretch/>
        </p:blipFill>
        <p:spPr>
          <a:xfrm>
            <a:off x="1291206" y="520730"/>
            <a:ext cx="9288085" cy="4571999"/>
          </a:xfrm>
          <a:prstGeom prst="rect">
            <a:avLst/>
          </a:prstGeom>
          <a:noFill/>
          <a:ln>
            <a:noFill/>
          </a:ln>
        </p:spPr>
      </p:pic>
      <p:sp>
        <p:nvSpPr>
          <p:cNvPr id="197" name="Google Shape;197;p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
        <p:nvSpPr>
          <p:cNvPr id="198" name="Google Shape;198;p5"/>
          <p:cNvSpPr txBox="1"/>
          <p:nvPr/>
        </p:nvSpPr>
        <p:spPr>
          <a:xfrm>
            <a:off x="2867067" y="5478841"/>
            <a:ext cx="6840000" cy="4914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dk1"/>
              </a:buClr>
              <a:buSzPts val="2000"/>
              <a:buFont typeface="Calibri"/>
              <a:buNone/>
            </a:pPr>
            <a:r>
              <a:rPr b="0" i="0" lang="es-BO" sz="2000" u="none" cap="none" strike="noStrike">
                <a:solidFill>
                  <a:schemeClr val="dk1"/>
                </a:solidFill>
                <a:latin typeface="Calibri"/>
                <a:ea typeface="Calibri"/>
                <a:cs typeface="Calibri"/>
                <a:sym typeface="Calibri"/>
              </a:rPr>
              <a:t>Interior del panel de control</a:t>
            </a:r>
            <a:endParaRPr/>
          </a:p>
        </p:txBody>
      </p:sp>
      <p:pic>
        <p:nvPicPr>
          <p:cNvPr id="199" name="Google Shape;199;p5"/>
          <p:cNvPicPr preferRelativeResize="0"/>
          <p:nvPr/>
        </p:nvPicPr>
        <p:blipFill rotWithShape="1">
          <a:blip r:embed="rId3">
            <a:alphaModFix/>
          </a:blip>
          <a:srcRect b="55717" l="66052" r="-405" t="-209"/>
          <a:stretch/>
        </p:blipFill>
        <p:spPr>
          <a:xfrm>
            <a:off x="-3063847" y="-11"/>
            <a:ext cx="5367495" cy="4784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9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Estructura del sistema (vista frontal)</a:t>
            </a:r>
            <a:endParaRPr/>
          </a:p>
        </p:txBody>
      </p:sp>
      <p:pic>
        <p:nvPicPr>
          <p:cNvPr id="205" name="Google Shape;205;p6"/>
          <p:cNvPicPr preferRelativeResize="0"/>
          <p:nvPr/>
        </p:nvPicPr>
        <p:blipFill rotWithShape="1">
          <a:blip r:embed="rId3">
            <a:alphaModFix/>
          </a:blip>
          <a:srcRect b="8916" l="71074" r="8400" t="46593"/>
          <a:stretch/>
        </p:blipFill>
        <p:spPr>
          <a:xfrm>
            <a:off x="3021495" y="1299185"/>
            <a:ext cx="3207029" cy="4784814"/>
          </a:xfrm>
          <a:prstGeom prst="rect">
            <a:avLst/>
          </a:prstGeom>
          <a:noFill/>
          <a:ln>
            <a:noFill/>
          </a:ln>
        </p:spPr>
      </p:pic>
      <p:pic>
        <p:nvPicPr>
          <p:cNvPr id="206" name="Google Shape;206;p6"/>
          <p:cNvPicPr preferRelativeResize="0"/>
          <p:nvPr/>
        </p:nvPicPr>
        <p:blipFill rotWithShape="1">
          <a:blip r:embed="rId4">
            <a:alphaModFix/>
          </a:blip>
          <a:srcRect b="0" l="23720" r="46392" t="57585"/>
          <a:stretch/>
        </p:blipFill>
        <p:spPr>
          <a:xfrm>
            <a:off x="7262191" y="1563412"/>
            <a:ext cx="2120350" cy="4012214"/>
          </a:xfrm>
          <a:prstGeom prst="rect">
            <a:avLst/>
          </a:prstGeom>
          <a:noFill/>
          <a:ln>
            <a:noFill/>
          </a:ln>
        </p:spPr>
      </p:pic>
      <p:sp>
        <p:nvSpPr>
          <p:cNvPr id="207" name="Google Shape;207;p6"/>
          <p:cNvSpPr txBox="1"/>
          <p:nvPr/>
        </p:nvSpPr>
        <p:spPr>
          <a:xfrm>
            <a:off x="7262191" y="5406888"/>
            <a:ext cx="2611891" cy="1550503"/>
          </a:xfrm>
          <a:prstGeom prst="rect">
            <a:avLst/>
          </a:prstGeom>
          <a:noFill/>
          <a:ln>
            <a:noFill/>
          </a:ln>
        </p:spPr>
        <p:txBody>
          <a:bodyPr anchorCtr="0" anchor="t" bIns="91425" lIns="91425" spcFirstLastPara="1" rIns="91425" wrap="square" tIns="91425">
            <a:normAutofit/>
          </a:bodyPr>
          <a:lstStyle/>
          <a:p>
            <a:pPr indent="0" lvl="0" marL="114300" marR="0" rtl="0" algn="l">
              <a:spcBef>
                <a:spcPts val="1200"/>
              </a:spcBef>
              <a:spcAft>
                <a:spcPts val="0"/>
              </a:spcAft>
              <a:buClr>
                <a:schemeClr val="dk1"/>
              </a:buClr>
              <a:buSzPts val="1800"/>
              <a:buFont typeface="Arial"/>
              <a:buNone/>
            </a:pPr>
            <a:r>
              <a:rPr b="0" i="0" lang="es-BO" sz="2000" u="none" cap="none" strike="noStrike">
                <a:solidFill>
                  <a:schemeClr val="dk1"/>
                </a:solidFill>
                <a:latin typeface="Calibri"/>
                <a:ea typeface="Calibri"/>
                <a:cs typeface="Calibri"/>
                <a:sym typeface="Calibri"/>
              </a:rPr>
              <a:t>   Tanque inferior  (Reserva de agua)</a:t>
            </a:r>
            <a:endParaRPr/>
          </a:p>
        </p:txBody>
      </p:sp>
      <p:sp>
        <p:nvSpPr>
          <p:cNvPr id="208" name="Google Shape;208;p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Estructura del sistema (vista trasera)</a:t>
            </a:r>
            <a:endParaRPr/>
          </a:p>
        </p:txBody>
      </p:sp>
      <p:pic>
        <p:nvPicPr>
          <p:cNvPr id="214" name="Google Shape;214;p7"/>
          <p:cNvPicPr preferRelativeResize="0"/>
          <p:nvPr/>
        </p:nvPicPr>
        <p:blipFill rotWithShape="1">
          <a:blip r:embed="rId3">
            <a:alphaModFix/>
          </a:blip>
          <a:srcRect b="1950" l="38126" r="35158" t="46607"/>
          <a:stretch/>
        </p:blipFill>
        <p:spPr>
          <a:xfrm>
            <a:off x="1921565" y="1219672"/>
            <a:ext cx="4174435" cy="5532311"/>
          </a:xfrm>
          <a:prstGeom prst="rect">
            <a:avLst/>
          </a:prstGeom>
          <a:noFill/>
          <a:ln>
            <a:noFill/>
          </a:ln>
        </p:spPr>
      </p:pic>
      <p:pic>
        <p:nvPicPr>
          <p:cNvPr id="215" name="Google Shape;215;p7"/>
          <p:cNvPicPr preferRelativeResize="0"/>
          <p:nvPr/>
        </p:nvPicPr>
        <p:blipFill rotWithShape="1">
          <a:blip r:embed="rId3">
            <a:alphaModFix/>
          </a:blip>
          <a:srcRect b="10441" l="4115" r="67557" t="47666"/>
          <a:stretch/>
        </p:blipFill>
        <p:spPr>
          <a:xfrm>
            <a:off x="6308034" y="1733193"/>
            <a:ext cx="4426227" cy="4505268"/>
          </a:xfrm>
          <a:prstGeom prst="rect">
            <a:avLst/>
          </a:prstGeom>
          <a:noFill/>
          <a:ln>
            <a:noFill/>
          </a:ln>
        </p:spPr>
      </p:pic>
      <p:sp>
        <p:nvSpPr>
          <p:cNvPr id="216" name="Google Shape;216;p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8"/>
          <p:cNvSpPr txBox="1"/>
          <p:nvPr>
            <p:ph type="title"/>
          </p:nvPr>
        </p:nvSpPr>
        <p:spPr>
          <a:xfrm>
            <a:off x="669235" y="341245"/>
            <a:ext cx="10972800" cy="62285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s-BO" sz="3200"/>
              <a:t>FUNCIONAMIENTO DEL SISTEMA</a:t>
            </a:r>
            <a:endParaRPr/>
          </a:p>
        </p:txBody>
      </p:sp>
      <p:sp>
        <p:nvSpPr>
          <p:cNvPr id="222" name="Google Shape;222;p8"/>
          <p:cNvSpPr txBox="1"/>
          <p:nvPr>
            <p:ph idx="1" type="body"/>
          </p:nvPr>
        </p:nvSpPr>
        <p:spPr>
          <a:xfrm>
            <a:off x="609600" y="964101"/>
            <a:ext cx="11092200" cy="5757300"/>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Sensores vibratorios: </a:t>
            </a:r>
            <a:r>
              <a:rPr lang="es-BO" sz="2000">
                <a:latin typeface="Times New Roman"/>
                <a:ea typeface="Times New Roman"/>
                <a:cs typeface="Times New Roman"/>
                <a:sym typeface="Times New Roman"/>
              </a:rPr>
              <a:t>Es utilizado para la detección de nivel alto y bajo del líquido en el tanque.</a:t>
            </a:r>
            <a:endParaRPr sz="2000">
              <a:latin typeface="Times New Roman"/>
              <a:ea typeface="Times New Roman"/>
              <a:cs typeface="Times New Roman"/>
              <a:sym typeface="Times New Roman"/>
            </a:endParaRPr>
          </a:p>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Sensor ultrasónico: </a:t>
            </a:r>
            <a:r>
              <a:rPr lang="es-BO" sz="2000">
                <a:latin typeface="Times New Roman"/>
                <a:ea typeface="Times New Roman"/>
                <a:cs typeface="Times New Roman"/>
                <a:sym typeface="Times New Roman"/>
              </a:rPr>
              <a:t>Es utilizado para la medición de la altura del nivel de líquido del depósito.</a:t>
            </a:r>
            <a:r>
              <a:rPr b="1" lang="es-BO" sz="2000">
                <a:solidFill>
                  <a:srgbClr val="002060"/>
                </a:solidFill>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Sensor de presión:</a:t>
            </a:r>
            <a:r>
              <a:rPr lang="es-BO" sz="2000">
                <a:latin typeface="Times New Roman"/>
                <a:ea typeface="Times New Roman"/>
                <a:cs typeface="Times New Roman"/>
                <a:sym typeface="Times New Roman"/>
              </a:rPr>
              <a:t> Es utilizado para la medición de presión relativa en el tanque y también se puede usar para medir la altura del líquido teniendo como referencia la posición de este sensor.</a:t>
            </a:r>
            <a:endParaRPr sz="2000">
              <a:latin typeface="Times New Roman"/>
              <a:ea typeface="Times New Roman"/>
              <a:cs typeface="Times New Roman"/>
              <a:sym typeface="Times New Roman"/>
            </a:endParaRPr>
          </a:p>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Sensores de temperatura TC/RTD</a:t>
            </a:r>
            <a:r>
              <a:rPr lang="es-BO" sz="2000">
                <a:latin typeface="Times New Roman"/>
                <a:ea typeface="Times New Roman"/>
                <a:cs typeface="Times New Roman"/>
                <a:sym typeface="Times New Roman"/>
              </a:rPr>
              <a:t>: Están conectados al controlador de temperatura para dar mediciones de la temperatura del líquido.</a:t>
            </a:r>
            <a:endParaRPr sz="2000">
              <a:latin typeface="Times New Roman"/>
              <a:ea typeface="Times New Roman"/>
              <a:cs typeface="Times New Roman"/>
              <a:sym typeface="Times New Roman"/>
            </a:endParaRPr>
          </a:p>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Controlador de temperatura: </a:t>
            </a:r>
            <a:r>
              <a:rPr lang="es-BO" sz="2000">
                <a:latin typeface="Times New Roman"/>
                <a:ea typeface="Times New Roman"/>
                <a:cs typeface="Times New Roman"/>
                <a:sym typeface="Times New Roman"/>
              </a:rPr>
              <a:t>Este controlador es utilizado como un indicador de temperatura, sin aprovechar su capacidad de realizar una acción de control.</a:t>
            </a:r>
            <a:endParaRPr sz="2000">
              <a:latin typeface="Times New Roman"/>
              <a:ea typeface="Times New Roman"/>
              <a:cs typeface="Times New Roman"/>
              <a:sym typeface="Times New Roman"/>
            </a:endParaRPr>
          </a:p>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Flujómetro (Dosificador):</a:t>
            </a:r>
            <a:r>
              <a:rPr lang="es-BO" sz="2000">
                <a:latin typeface="Times New Roman"/>
                <a:ea typeface="Times New Roman"/>
                <a:cs typeface="Times New Roman"/>
                <a:sym typeface="Times New Roman"/>
              </a:rPr>
              <a:t> Utilizado para la medición del caudal y volumen del líquido.</a:t>
            </a:r>
            <a:endParaRPr sz="2000">
              <a:latin typeface="Times New Roman"/>
              <a:ea typeface="Times New Roman"/>
              <a:cs typeface="Times New Roman"/>
              <a:sym typeface="Times New Roman"/>
            </a:endParaRPr>
          </a:p>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Electroválvulas</a:t>
            </a:r>
            <a:r>
              <a:rPr lang="es-BO" sz="2000">
                <a:latin typeface="Times New Roman"/>
                <a:ea typeface="Times New Roman"/>
                <a:cs typeface="Times New Roman"/>
                <a:sym typeface="Times New Roman"/>
              </a:rPr>
              <a:t>: Permiten el cierre o paso del líquido por la red de cañerías.</a:t>
            </a:r>
            <a:endParaRPr sz="2000">
              <a:latin typeface="Times New Roman"/>
              <a:ea typeface="Times New Roman"/>
              <a:cs typeface="Times New Roman"/>
              <a:sym typeface="Times New Roman"/>
            </a:endParaRPr>
          </a:p>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Variador de frecuencia:</a:t>
            </a:r>
            <a:r>
              <a:rPr lang="es-BO" sz="2000">
                <a:latin typeface="Times New Roman"/>
                <a:ea typeface="Times New Roman"/>
                <a:cs typeface="Times New Roman"/>
                <a:sym typeface="Times New Roman"/>
              </a:rPr>
              <a:t> Permite regular la velocidad de giro del motor, mediante la variación de frecuencia del mismo, de manera que se pueda bombear el líquido del tanque inferior al superior.</a:t>
            </a:r>
            <a:endParaRPr sz="2000">
              <a:latin typeface="Times New Roman"/>
              <a:ea typeface="Times New Roman"/>
              <a:cs typeface="Times New Roman"/>
              <a:sym typeface="Times New Roman"/>
            </a:endParaRPr>
          </a:p>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Motor. </a:t>
            </a:r>
            <a:r>
              <a:rPr lang="es-BO" sz="2000">
                <a:latin typeface="Times New Roman"/>
                <a:ea typeface="Times New Roman"/>
                <a:cs typeface="Times New Roman"/>
                <a:sym typeface="Times New Roman"/>
              </a:rPr>
              <a:t>(bomba) Actuador encargado de llevar el líquido del tanque inferior al tanque superior para el llenado y control del mismo.</a:t>
            </a:r>
            <a:endParaRPr sz="2000">
              <a:latin typeface="Times New Roman"/>
              <a:ea typeface="Times New Roman"/>
              <a:cs typeface="Times New Roman"/>
              <a:sym typeface="Times New Roman"/>
            </a:endParaRPr>
          </a:p>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PLC / Modulo de expansión</a:t>
            </a:r>
            <a:r>
              <a:rPr lang="es-BO" sz="2000">
                <a:latin typeface="Times New Roman"/>
                <a:ea typeface="Times New Roman"/>
                <a:cs typeface="Times New Roman"/>
                <a:sym typeface="Times New Roman"/>
              </a:rPr>
              <a:t>: Es el controlador del sistema de nivel de líquido, el cual recibe señales de los sensores de nivel para accionar el variador de frecuencia el cual regula la velocidad del motor.</a:t>
            </a:r>
            <a:endParaRPr sz="2000">
              <a:latin typeface="Times New Roman"/>
              <a:ea typeface="Times New Roman"/>
              <a:cs typeface="Times New Roman"/>
              <a:sym typeface="Times New Roman"/>
            </a:endParaRPr>
          </a:p>
          <a:p>
            <a:pPr indent="-342900" lvl="0" marL="342900" marR="0" rtl="0" algn="just">
              <a:spcBef>
                <a:spcPts val="0"/>
              </a:spcBef>
              <a:spcAft>
                <a:spcPts val="0"/>
              </a:spcAft>
              <a:buClr>
                <a:srgbClr val="002060"/>
              </a:buClr>
              <a:buSzPts val="2000"/>
              <a:buFont typeface="Calibri"/>
              <a:buChar char="-"/>
            </a:pPr>
            <a:r>
              <a:rPr b="1" lang="es-BO" sz="2000">
                <a:solidFill>
                  <a:srgbClr val="002060"/>
                </a:solidFill>
                <a:latin typeface="Times New Roman"/>
                <a:ea typeface="Times New Roman"/>
                <a:cs typeface="Times New Roman"/>
                <a:sym typeface="Times New Roman"/>
              </a:rPr>
              <a:t>HMI: </a:t>
            </a:r>
            <a:r>
              <a:rPr lang="es-BO" sz="2000">
                <a:latin typeface="Times New Roman"/>
                <a:ea typeface="Times New Roman"/>
                <a:cs typeface="Times New Roman"/>
                <a:sym typeface="Times New Roman"/>
              </a:rPr>
              <a:t>Este dispositivo nos permite la visualización de las medidas, escaladas por el PLC, en la parte frontal del panel de control.</a:t>
            </a:r>
            <a:endParaRPr sz="2000">
              <a:latin typeface="Times New Roman"/>
              <a:ea typeface="Times New Roman"/>
              <a:cs typeface="Times New Roman"/>
              <a:sym typeface="Times New Roman"/>
            </a:endParaRPr>
          </a:p>
        </p:txBody>
      </p:sp>
      <p:sp>
        <p:nvSpPr>
          <p:cNvPr id="223" name="Google Shape;223;p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9"/>
          <p:cNvSpPr/>
          <p:nvPr/>
        </p:nvSpPr>
        <p:spPr>
          <a:xfrm>
            <a:off x="1042565" y="129099"/>
            <a:ext cx="5439053"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Times New Roman"/>
              <a:buNone/>
            </a:pPr>
            <a:r>
              <a:rPr b="1" i="0" lang="es-BO" sz="2200" u="none" cap="none" strike="noStrike">
                <a:solidFill>
                  <a:srgbClr val="000000"/>
                </a:solidFill>
                <a:latin typeface="Times New Roman"/>
                <a:ea typeface="Times New Roman"/>
                <a:cs typeface="Times New Roman"/>
                <a:sym typeface="Times New Roman"/>
              </a:rPr>
              <a:t>Pasos para la Puesta en marcha del Sistema</a:t>
            </a:r>
            <a:endParaRPr b="0" i="0" sz="2200" u="none" cap="none" strike="noStrike">
              <a:solidFill>
                <a:srgbClr val="000000"/>
              </a:solidFill>
              <a:latin typeface="Times New Roman"/>
              <a:ea typeface="Times New Roman"/>
              <a:cs typeface="Times New Roman"/>
              <a:sym typeface="Times New Roman"/>
            </a:endParaRPr>
          </a:p>
        </p:txBody>
      </p:sp>
      <p:sp>
        <p:nvSpPr>
          <p:cNvPr id="229" name="Google Shape;229;p9"/>
          <p:cNvSpPr/>
          <p:nvPr/>
        </p:nvSpPr>
        <p:spPr>
          <a:xfrm>
            <a:off x="1123394" y="809897"/>
            <a:ext cx="2638698" cy="966652"/>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FFFFFF"/>
              </a:buClr>
              <a:buSzPts val="1900"/>
              <a:buFont typeface="Times New Roman"/>
              <a:buNone/>
            </a:pPr>
            <a:r>
              <a:rPr b="1" i="0" lang="es-BO" sz="1900" u="none" cap="none" strike="noStrike">
                <a:solidFill>
                  <a:srgbClr val="FFFFFF"/>
                </a:solidFill>
                <a:latin typeface="Times New Roman"/>
                <a:ea typeface="Times New Roman"/>
                <a:cs typeface="Times New Roman"/>
                <a:sym typeface="Times New Roman"/>
              </a:rPr>
              <a:t>Energizar al sistema mediante su cable conector a 220 VAC</a:t>
            </a:r>
            <a:r>
              <a:rPr b="1" i="0" lang="es-BO" sz="1800" u="none" cap="none" strike="noStrike">
                <a:solidFill>
                  <a:srgbClr val="FEFEFE"/>
                </a:solidFill>
                <a:latin typeface="Times New Roman"/>
                <a:ea typeface="Times New Roman"/>
                <a:cs typeface="Times New Roman"/>
                <a:sym typeface="Times New Roman"/>
              </a:rPr>
              <a:t>.</a:t>
            </a:r>
            <a:endParaRPr b="1" i="0" sz="1200" u="none" cap="none" strike="noStrike">
              <a:solidFill>
                <a:srgbClr val="FEFEFE"/>
              </a:solidFill>
              <a:latin typeface="Times New Roman"/>
              <a:ea typeface="Times New Roman"/>
              <a:cs typeface="Times New Roman"/>
              <a:sym typeface="Times New Roman"/>
            </a:endParaRPr>
          </a:p>
        </p:txBody>
      </p:sp>
      <p:sp>
        <p:nvSpPr>
          <p:cNvPr id="230" name="Google Shape;230;p9"/>
          <p:cNvSpPr/>
          <p:nvPr/>
        </p:nvSpPr>
        <p:spPr>
          <a:xfrm>
            <a:off x="1123394" y="1971264"/>
            <a:ext cx="2638698" cy="1323905"/>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FFFFFF"/>
              </a:buClr>
              <a:buSzPts val="1900"/>
              <a:buFont typeface="Times New Roman"/>
              <a:buNone/>
            </a:pPr>
            <a:r>
              <a:rPr b="1" i="0" lang="es-BO" sz="1900" u="none" cap="none" strike="noStrike">
                <a:solidFill>
                  <a:srgbClr val="FFFFFF"/>
                </a:solidFill>
                <a:latin typeface="Times New Roman"/>
                <a:ea typeface="Times New Roman"/>
                <a:cs typeface="Times New Roman"/>
                <a:sym typeface="Times New Roman"/>
              </a:rPr>
              <a:t>Activar el interruptor principal, ubicado en el costado derecho de la planta.</a:t>
            </a:r>
            <a:endParaRPr b="1" i="0" sz="1900" u="none" cap="none" strike="noStrike">
              <a:solidFill>
                <a:srgbClr val="FFFFFF"/>
              </a:solidFill>
              <a:latin typeface="Times New Roman"/>
              <a:ea typeface="Times New Roman"/>
              <a:cs typeface="Times New Roman"/>
              <a:sym typeface="Times New Roman"/>
            </a:endParaRPr>
          </a:p>
        </p:txBody>
      </p:sp>
      <p:sp>
        <p:nvSpPr>
          <p:cNvPr id="231" name="Google Shape;231;p9"/>
          <p:cNvSpPr/>
          <p:nvPr/>
        </p:nvSpPr>
        <p:spPr>
          <a:xfrm>
            <a:off x="644753" y="3486691"/>
            <a:ext cx="3595980" cy="1323905"/>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FFFFFF"/>
              </a:buClr>
              <a:buSzPts val="1900"/>
              <a:buFont typeface="Times New Roman"/>
              <a:buNone/>
            </a:pPr>
            <a:r>
              <a:rPr b="1" i="0" lang="es-BO" sz="1900" u="none" cap="none" strike="noStrike">
                <a:solidFill>
                  <a:srgbClr val="FFFFFF"/>
                </a:solidFill>
                <a:latin typeface="Times New Roman"/>
                <a:ea typeface="Times New Roman"/>
                <a:cs typeface="Times New Roman"/>
                <a:sym typeface="Times New Roman"/>
              </a:rPr>
              <a:t>Una vez energizado la planta se observa que tanto el dosificador como el controlador de temperatura están ya activos.</a:t>
            </a:r>
            <a:endParaRPr b="1" i="0" sz="1900" u="none" cap="none" strike="noStrike">
              <a:solidFill>
                <a:srgbClr val="FFFFFF"/>
              </a:solidFill>
              <a:latin typeface="Times New Roman"/>
              <a:ea typeface="Times New Roman"/>
              <a:cs typeface="Times New Roman"/>
              <a:sym typeface="Times New Roman"/>
            </a:endParaRPr>
          </a:p>
        </p:txBody>
      </p:sp>
      <p:sp>
        <p:nvSpPr>
          <p:cNvPr id="232" name="Google Shape;232;p9"/>
          <p:cNvSpPr/>
          <p:nvPr/>
        </p:nvSpPr>
        <p:spPr>
          <a:xfrm>
            <a:off x="1031030" y="5128840"/>
            <a:ext cx="2823426" cy="1323905"/>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FFFFFF"/>
              </a:buClr>
              <a:buSzPts val="1900"/>
              <a:buFont typeface="Times New Roman"/>
              <a:buNone/>
            </a:pPr>
            <a:r>
              <a:rPr b="1" i="0" lang="es-BO" sz="1900" u="none" cap="none" strike="noStrike">
                <a:solidFill>
                  <a:srgbClr val="FFFFFF"/>
                </a:solidFill>
                <a:latin typeface="Times New Roman"/>
                <a:ea typeface="Times New Roman"/>
                <a:cs typeface="Times New Roman"/>
                <a:sym typeface="Times New Roman"/>
              </a:rPr>
              <a:t>Activar los tres térmicos ubicados dentro del panel de control donde:</a:t>
            </a:r>
            <a:endParaRPr b="1" i="0" sz="1900" u="none" cap="none" strike="noStrike">
              <a:solidFill>
                <a:srgbClr val="FFFFFF"/>
              </a:solidFill>
              <a:latin typeface="Times New Roman"/>
              <a:ea typeface="Times New Roman"/>
              <a:cs typeface="Times New Roman"/>
              <a:sym typeface="Times New Roman"/>
            </a:endParaRPr>
          </a:p>
        </p:txBody>
      </p:sp>
      <p:sp>
        <p:nvSpPr>
          <p:cNvPr id="233" name="Google Shape;233;p9"/>
          <p:cNvSpPr/>
          <p:nvPr/>
        </p:nvSpPr>
        <p:spPr>
          <a:xfrm>
            <a:off x="4280924" y="5022058"/>
            <a:ext cx="7672830" cy="1537470"/>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FFFFFF"/>
              </a:buClr>
              <a:buSzPts val="1900"/>
              <a:buFont typeface="Times New Roman"/>
              <a:buNone/>
            </a:pPr>
            <a:r>
              <a:rPr b="1" i="0" lang="es-BO" sz="1900" u="sng" cap="none" strike="noStrike">
                <a:solidFill>
                  <a:srgbClr val="FFFFFF"/>
                </a:solidFill>
                <a:latin typeface="Times New Roman"/>
                <a:ea typeface="Times New Roman"/>
                <a:cs typeface="Times New Roman"/>
                <a:sym typeface="Times New Roman"/>
              </a:rPr>
              <a:t>BR1</a:t>
            </a:r>
            <a:r>
              <a:rPr b="1" i="0" lang="es-BO" sz="1900" u="none" cap="none" strike="noStrike">
                <a:solidFill>
                  <a:srgbClr val="FFFFFF"/>
                </a:solidFill>
                <a:latin typeface="Times New Roman"/>
                <a:ea typeface="Times New Roman"/>
                <a:cs typeface="Times New Roman"/>
                <a:sym typeface="Times New Roman"/>
              </a:rPr>
              <a:t>: Térmico encargado de la energización y activación del PLC</a:t>
            </a:r>
            <a:endParaRPr/>
          </a:p>
          <a:p>
            <a:pPr indent="0" lvl="0" marL="0" marR="0" rtl="0" algn="just">
              <a:lnSpc>
                <a:spcPct val="100000"/>
              </a:lnSpc>
              <a:spcBef>
                <a:spcPts val="1200"/>
              </a:spcBef>
              <a:spcAft>
                <a:spcPts val="0"/>
              </a:spcAft>
              <a:buClr>
                <a:srgbClr val="FFFFFF"/>
              </a:buClr>
              <a:buSzPts val="1900"/>
              <a:buFont typeface="Times New Roman"/>
              <a:buNone/>
            </a:pPr>
            <a:r>
              <a:rPr b="1" i="0" lang="es-BO" sz="1900" u="sng" cap="none" strike="noStrike">
                <a:solidFill>
                  <a:srgbClr val="FFFFFF"/>
                </a:solidFill>
                <a:latin typeface="Times New Roman"/>
                <a:ea typeface="Times New Roman"/>
                <a:cs typeface="Times New Roman"/>
                <a:sym typeface="Times New Roman"/>
              </a:rPr>
              <a:t>BR2</a:t>
            </a:r>
            <a:r>
              <a:rPr b="1" i="0" lang="es-BO" sz="1900" u="none" cap="none" strike="noStrike">
                <a:solidFill>
                  <a:srgbClr val="FFFFFF"/>
                </a:solidFill>
                <a:latin typeface="Times New Roman"/>
                <a:ea typeface="Times New Roman"/>
                <a:cs typeface="Times New Roman"/>
                <a:sym typeface="Times New Roman"/>
              </a:rPr>
              <a:t>: Térmico encargado de la energización de la fuente de alimentación y de los sensores que dependan de esta.</a:t>
            </a:r>
            <a:endParaRPr/>
          </a:p>
          <a:p>
            <a:pPr indent="0" lvl="0" marL="0" marR="0" rtl="0" algn="just">
              <a:lnSpc>
                <a:spcPct val="100000"/>
              </a:lnSpc>
              <a:spcBef>
                <a:spcPts val="1200"/>
              </a:spcBef>
              <a:spcAft>
                <a:spcPts val="0"/>
              </a:spcAft>
              <a:buClr>
                <a:srgbClr val="FFFFFF"/>
              </a:buClr>
              <a:buSzPts val="1900"/>
              <a:buFont typeface="Times New Roman"/>
              <a:buNone/>
            </a:pPr>
            <a:r>
              <a:rPr b="1" i="0" lang="es-BO" sz="1900" u="sng" cap="none" strike="noStrike">
                <a:solidFill>
                  <a:srgbClr val="FFFFFF"/>
                </a:solidFill>
                <a:latin typeface="Times New Roman"/>
                <a:ea typeface="Times New Roman"/>
                <a:cs typeface="Times New Roman"/>
                <a:sym typeface="Times New Roman"/>
              </a:rPr>
              <a:t>BR3</a:t>
            </a:r>
            <a:r>
              <a:rPr b="1" i="0" lang="es-BO" sz="1900" u="none" cap="none" strike="noStrike">
                <a:solidFill>
                  <a:srgbClr val="FFFFFF"/>
                </a:solidFill>
                <a:latin typeface="Times New Roman"/>
                <a:ea typeface="Times New Roman"/>
                <a:cs typeface="Times New Roman"/>
                <a:sym typeface="Times New Roman"/>
              </a:rPr>
              <a:t>: Térmico encargado de la energización del variador de frecuencia. </a:t>
            </a:r>
            <a:endParaRPr/>
          </a:p>
        </p:txBody>
      </p:sp>
      <p:cxnSp>
        <p:nvCxnSpPr>
          <p:cNvPr id="234" name="Google Shape;234;p9"/>
          <p:cNvCxnSpPr>
            <a:stCxn id="229" idx="2"/>
            <a:endCxn id="230" idx="0"/>
          </p:cNvCxnSpPr>
          <p:nvPr/>
        </p:nvCxnSpPr>
        <p:spPr>
          <a:xfrm>
            <a:off x="2442743" y="1776549"/>
            <a:ext cx="0" cy="194700"/>
          </a:xfrm>
          <a:prstGeom prst="straightConnector1">
            <a:avLst/>
          </a:prstGeom>
          <a:noFill/>
          <a:ln cap="flat" cmpd="sng" w="25400">
            <a:solidFill>
              <a:schemeClr val="accent2"/>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235" name="Google Shape;235;p9"/>
          <p:cNvCxnSpPr>
            <a:stCxn id="230" idx="2"/>
            <a:endCxn id="231" idx="0"/>
          </p:cNvCxnSpPr>
          <p:nvPr/>
        </p:nvCxnSpPr>
        <p:spPr>
          <a:xfrm>
            <a:off x="2442743" y="3295169"/>
            <a:ext cx="0" cy="191400"/>
          </a:xfrm>
          <a:prstGeom prst="straightConnector1">
            <a:avLst/>
          </a:prstGeom>
          <a:noFill/>
          <a:ln cap="flat" cmpd="sng" w="25400">
            <a:solidFill>
              <a:schemeClr val="accent2"/>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236" name="Google Shape;236;p9"/>
          <p:cNvCxnSpPr>
            <a:stCxn id="231" idx="2"/>
            <a:endCxn id="232" idx="0"/>
          </p:cNvCxnSpPr>
          <p:nvPr/>
        </p:nvCxnSpPr>
        <p:spPr>
          <a:xfrm>
            <a:off x="2442743" y="4810596"/>
            <a:ext cx="0" cy="318300"/>
          </a:xfrm>
          <a:prstGeom prst="straightConnector1">
            <a:avLst/>
          </a:prstGeom>
          <a:noFill/>
          <a:ln cap="flat" cmpd="sng" w="25400">
            <a:solidFill>
              <a:schemeClr val="accent2"/>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237" name="Google Shape;237;p9"/>
          <p:cNvCxnSpPr>
            <a:stCxn id="232" idx="3"/>
            <a:endCxn id="233" idx="1"/>
          </p:cNvCxnSpPr>
          <p:nvPr/>
        </p:nvCxnSpPr>
        <p:spPr>
          <a:xfrm>
            <a:off x="3854456" y="5790793"/>
            <a:ext cx="426600" cy="0"/>
          </a:xfrm>
          <a:prstGeom prst="straightConnector1">
            <a:avLst/>
          </a:prstGeom>
          <a:noFill/>
          <a:ln cap="flat" cmpd="sng" w="25400">
            <a:solidFill>
              <a:schemeClr val="accent2"/>
            </a:solidFill>
            <a:prstDash val="solid"/>
            <a:round/>
            <a:headEnd len="sm" w="sm" type="none"/>
            <a:tailEnd len="med" w="med" type="triangle"/>
          </a:ln>
          <a:effectLst>
            <a:outerShdw blurRad="40000" rotWithShape="0" dir="5400000" dist="20000">
              <a:srgbClr val="000000">
                <a:alpha val="37647"/>
              </a:srgbClr>
            </a:outerShdw>
          </a:effectLst>
        </p:spPr>
      </p:cxnSp>
      <p:sp>
        <p:nvSpPr>
          <p:cNvPr id="238" name="Google Shape;238;p9"/>
          <p:cNvSpPr/>
          <p:nvPr/>
        </p:nvSpPr>
        <p:spPr>
          <a:xfrm>
            <a:off x="837891" y="668114"/>
            <a:ext cx="386277" cy="420232"/>
          </a:xfrm>
          <a:prstGeom prst="flowChartConnector">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1</a:t>
            </a:r>
            <a:endParaRPr/>
          </a:p>
        </p:txBody>
      </p:sp>
      <p:sp>
        <p:nvSpPr>
          <p:cNvPr id="239" name="Google Shape;239;p9"/>
          <p:cNvSpPr/>
          <p:nvPr/>
        </p:nvSpPr>
        <p:spPr>
          <a:xfrm>
            <a:off x="837891" y="1757955"/>
            <a:ext cx="386277" cy="420232"/>
          </a:xfrm>
          <a:prstGeom prst="flowChartConnector">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2</a:t>
            </a:r>
            <a:endParaRPr/>
          </a:p>
        </p:txBody>
      </p:sp>
      <p:sp>
        <p:nvSpPr>
          <p:cNvPr id="240" name="Google Shape;240;p9"/>
          <p:cNvSpPr/>
          <p:nvPr/>
        </p:nvSpPr>
        <p:spPr>
          <a:xfrm>
            <a:off x="579779" y="3168447"/>
            <a:ext cx="386277" cy="420232"/>
          </a:xfrm>
          <a:prstGeom prst="flowChartConnector">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3</a:t>
            </a:r>
            <a:endParaRPr/>
          </a:p>
        </p:txBody>
      </p:sp>
      <p:sp>
        <p:nvSpPr>
          <p:cNvPr id="241" name="Google Shape;241;p9"/>
          <p:cNvSpPr/>
          <p:nvPr/>
        </p:nvSpPr>
        <p:spPr>
          <a:xfrm>
            <a:off x="835427" y="4875279"/>
            <a:ext cx="386277" cy="420232"/>
          </a:xfrm>
          <a:prstGeom prst="flowChartConnector">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4</a:t>
            </a:r>
            <a:endParaRPr/>
          </a:p>
        </p:txBody>
      </p:sp>
      <p:pic>
        <p:nvPicPr>
          <p:cNvPr id="242" name="Google Shape;242;p9"/>
          <p:cNvPicPr preferRelativeResize="0"/>
          <p:nvPr/>
        </p:nvPicPr>
        <p:blipFill rotWithShape="1">
          <a:blip r:embed="rId3">
            <a:alphaModFix/>
          </a:blip>
          <a:srcRect b="0" l="0" r="0" t="0"/>
          <a:stretch/>
        </p:blipFill>
        <p:spPr>
          <a:xfrm>
            <a:off x="8384720" y="688412"/>
            <a:ext cx="2512779" cy="3309513"/>
          </a:xfrm>
          <a:prstGeom prst="rect">
            <a:avLst/>
          </a:prstGeom>
          <a:noFill/>
          <a:ln>
            <a:noFill/>
          </a:ln>
        </p:spPr>
      </p:pic>
      <p:pic>
        <p:nvPicPr>
          <p:cNvPr id="243" name="Google Shape;243;p9"/>
          <p:cNvPicPr preferRelativeResize="0"/>
          <p:nvPr/>
        </p:nvPicPr>
        <p:blipFill rotWithShape="1">
          <a:blip r:embed="rId4">
            <a:alphaModFix/>
          </a:blip>
          <a:srcRect b="0" l="0" r="0" t="0"/>
          <a:stretch/>
        </p:blipFill>
        <p:spPr>
          <a:xfrm>
            <a:off x="5081441" y="1166724"/>
            <a:ext cx="2387760" cy="2815625"/>
          </a:xfrm>
          <a:prstGeom prst="rect">
            <a:avLst/>
          </a:prstGeom>
          <a:noFill/>
          <a:ln>
            <a:noFill/>
          </a:ln>
        </p:spPr>
      </p:pic>
      <p:sp>
        <p:nvSpPr>
          <p:cNvPr id="244" name="Google Shape;244;p9"/>
          <p:cNvSpPr/>
          <p:nvPr/>
        </p:nvSpPr>
        <p:spPr>
          <a:xfrm>
            <a:off x="4556743" y="3982349"/>
            <a:ext cx="3370217"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1" i="0" lang="es-BO" sz="1400" u="none" cap="none" strike="noStrike">
                <a:solidFill>
                  <a:srgbClr val="000000"/>
                </a:solidFill>
                <a:latin typeface="Times New Roman"/>
                <a:ea typeface="Times New Roman"/>
                <a:cs typeface="Times New Roman"/>
                <a:sym typeface="Times New Roman"/>
              </a:rPr>
              <a:t>Interruptor principal de la planta</a:t>
            </a:r>
            <a:endParaRPr b="1"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Times New Roman"/>
              <a:buNone/>
            </a:pPr>
            <a:r>
              <a:rPr b="1" i="0" lang="es-BO" sz="1400" u="none" cap="none" strike="noStrike">
                <a:solidFill>
                  <a:srgbClr val="000000"/>
                </a:solidFill>
                <a:latin typeface="Times New Roman"/>
                <a:ea typeface="Times New Roman"/>
                <a:cs typeface="Times New Roman"/>
                <a:sym typeface="Times New Roman"/>
              </a:rPr>
              <a:t>ubicado al costado derecho de la planta</a:t>
            </a:r>
            <a:endParaRPr b="0" i="0" sz="1400" u="none" cap="none" strike="noStrike">
              <a:solidFill>
                <a:srgbClr val="000000"/>
              </a:solidFill>
              <a:latin typeface="Times New Roman"/>
              <a:ea typeface="Times New Roman"/>
              <a:cs typeface="Times New Roman"/>
              <a:sym typeface="Times New Roman"/>
            </a:endParaRPr>
          </a:p>
        </p:txBody>
      </p:sp>
      <p:sp>
        <p:nvSpPr>
          <p:cNvPr id="245" name="Google Shape;245;p9"/>
          <p:cNvSpPr/>
          <p:nvPr/>
        </p:nvSpPr>
        <p:spPr>
          <a:xfrm>
            <a:off x="7994372" y="3997925"/>
            <a:ext cx="3293474"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1" i="0" lang="es-BO" sz="1400" u="none" cap="none" strike="noStrike">
                <a:solidFill>
                  <a:srgbClr val="000000"/>
                </a:solidFill>
                <a:latin typeface="Times New Roman"/>
                <a:ea typeface="Times New Roman"/>
                <a:cs typeface="Times New Roman"/>
                <a:sym typeface="Times New Roman"/>
              </a:rPr>
              <a:t>Térmicos de activación del sistema</a:t>
            </a:r>
            <a:endParaRPr b="1"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Times New Roman"/>
              <a:buNone/>
            </a:pPr>
            <a:r>
              <a:rPr b="1" i="0" lang="es-BO" sz="1400" u="none" cap="none" strike="noStrike">
                <a:solidFill>
                  <a:srgbClr val="000000"/>
                </a:solidFill>
                <a:latin typeface="Times New Roman"/>
                <a:ea typeface="Times New Roman"/>
                <a:cs typeface="Times New Roman"/>
                <a:sym typeface="Times New Roman"/>
              </a:rPr>
              <a:t>(ubicados dentro del panel de control)</a:t>
            </a:r>
            <a:endParaRPr b="1" i="0" sz="1400" u="none" cap="none" strike="noStrike">
              <a:solidFill>
                <a:srgbClr val="000000"/>
              </a:solidFill>
              <a:latin typeface="Times New Roman"/>
              <a:ea typeface="Times New Roman"/>
              <a:cs typeface="Times New Roman"/>
              <a:sym typeface="Times New Roman"/>
            </a:endParaRPr>
          </a:p>
        </p:txBody>
      </p:sp>
      <p:sp>
        <p:nvSpPr>
          <p:cNvPr id="246" name="Google Shape;246;p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0"/>
          <p:cNvSpPr txBox="1"/>
          <p:nvPr>
            <p:ph type="title"/>
          </p:nvPr>
        </p:nvSpPr>
        <p:spPr>
          <a:xfrm>
            <a:off x="514066" y="0"/>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ESQUEMA P&amp;ID</a:t>
            </a:r>
            <a:endParaRPr/>
          </a:p>
        </p:txBody>
      </p:sp>
      <p:pic>
        <p:nvPicPr>
          <p:cNvPr id="252" name="Google Shape;252;p10"/>
          <p:cNvPicPr preferRelativeResize="0"/>
          <p:nvPr/>
        </p:nvPicPr>
        <p:blipFill rotWithShape="1">
          <a:blip r:embed="rId3">
            <a:alphaModFix/>
          </a:blip>
          <a:srcRect b="40838" l="0" r="0" t="0"/>
          <a:stretch/>
        </p:blipFill>
        <p:spPr>
          <a:xfrm>
            <a:off x="514066" y="1675075"/>
            <a:ext cx="11396852" cy="3873930"/>
          </a:xfrm>
          <a:prstGeom prst="rect">
            <a:avLst/>
          </a:prstGeom>
          <a:noFill/>
          <a:ln cap="sq" cmpd="sng" w="28575">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253" name="Google Shape;253;p10"/>
          <p:cNvPicPr preferRelativeResize="0"/>
          <p:nvPr/>
        </p:nvPicPr>
        <p:blipFill rotWithShape="1">
          <a:blip r:embed="rId4">
            <a:alphaModFix/>
          </a:blip>
          <a:srcRect b="0" l="0" r="0" t="0"/>
          <a:stretch/>
        </p:blipFill>
        <p:spPr>
          <a:xfrm>
            <a:off x="1315007" y="1675075"/>
            <a:ext cx="9794970" cy="3240193"/>
          </a:xfrm>
          <a:prstGeom prst="rect">
            <a:avLst/>
          </a:prstGeom>
          <a:noFill/>
          <a:ln cap="sq" cmpd="sng" w="28575">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254" name="Google Shape;254;p10"/>
          <p:cNvPicPr preferRelativeResize="0"/>
          <p:nvPr/>
        </p:nvPicPr>
        <p:blipFill rotWithShape="1">
          <a:blip r:embed="rId5">
            <a:alphaModFix/>
          </a:blip>
          <a:srcRect b="0" l="0" r="0" t="0"/>
          <a:stretch/>
        </p:blipFill>
        <p:spPr>
          <a:xfrm>
            <a:off x="1576408" y="875901"/>
            <a:ext cx="9272168" cy="5709390"/>
          </a:xfrm>
          <a:prstGeom prst="rect">
            <a:avLst/>
          </a:prstGeom>
          <a:noFill/>
          <a:ln cap="sq" cmpd="sng" w="28575">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255" name="Google Shape;255;p1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5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1"/>
          <p:cNvSpPr txBox="1"/>
          <p:nvPr>
            <p:ph type="title"/>
          </p:nvPr>
        </p:nvSpPr>
        <p:spPr>
          <a:xfrm>
            <a:off x="609600" y="274638"/>
            <a:ext cx="10972800" cy="25544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s-BO" sz="3200"/>
              <a:t>DIAGRAMA ELÉCTRICO (SENSORES Y ACTUADORES)</a:t>
            </a:r>
            <a:endParaRPr/>
          </a:p>
        </p:txBody>
      </p:sp>
      <p:pic>
        <p:nvPicPr>
          <p:cNvPr id="261" name="Google Shape;261;p11"/>
          <p:cNvPicPr preferRelativeResize="0"/>
          <p:nvPr/>
        </p:nvPicPr>
        <p:blipFill rotWithShape="1">
          <a:blip r:embed="rId3">
            <a:alphaModFix/>
          </a:blip>
          <a:srcRect b="0" l="0" r="0" t="0"/>
          <a:stretch/>
        </p:blipFill>
        <p:spPr>
          <a:xfrm>
            <a:off x="1033147" y="715617"/>
            <a:ext cx="10788316" cy="6858000"/>
          </a:xfrm>
          <a:prstGeom prst="rect">
            <a:avLst/>
          </a:prstGeom>
          <a:noFill/>
          <a:ln>
            <a:noFill/>
          </a:ln>
        </p:spPr>
      </p:pic>
      <p:sp>
        <p:nvSpPr>
          <p:cNvPr id="262" name="Google Shape;262;p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2"/>
          <p:cNvSpPr txBox="1"/>
          <p:nvPr>
            <p:ph type="title"/>
          </p:nvPr>
        </p:nvSpPr>
        <p:spPr>
          <a:xfrm>
            <a:off x="609600" y="274638"/>
            <a:ext cx="10972800" cy="25544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s-BO" sz="3200"/>
              <a:t>DIAGRAMA ELÉCTRICO (CONEXIÓN A LA REGLETA DEL PANEL)</a:t>
            </a:r>
            <a:endParaRPr/>
          </a:p>
        </p:txBody>
      </p:sp>
      <p:pic>
        <p:nvPicPr>
          <p:cNvPr id="268" name="Google Shape;268;p12"/>
          <p:cNvPicPr preferRelativeResize="0"/>
          <p:nvPr/>
        </p:nvPicPr>
        <p:blipFill rotWithShape="1">
          <a:blip r:embed="rId3">
            <a:alphaModFix/>
          </a:blip>
          <a:srcRect b="0" l="0" r="0" t="0"/>
          <a:stretch/>
        </p:blipFill>
        <p:spPr>
          <a:xfrm>
            <a:off x="819261" y="728870"/>
            <a:ext cx="10763139" cy="6858000"/>
          </a:xfrm>
          <a:prstGeom prst="rect">
            <a:avLst/>
          </a:prstGeom>
          <a:noFill/>
          <a:ln>
            <a:noFill/>
          </a:ln>
        </p:spPr>
      </p:pic>
      <p:sp>
        <p:nvSpPr>
          <p:cNvPr id="269" name="Google Shape;269;p1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3"/>
          <p:cNvSpPr txBox="1"/>
          <p:nvPr>
            <p:ph idx="1" type="body"/>
          </p:nvPr>
        </p:nvSpPr>
        <p:spPr>
          <a:xfrm>
            <a:off x="4320208" y="2930387"/>
            <a:ext cx="5857461" cy="7851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060"/>
              </a:buClr>
              <a:buSzPts val="3600"/>
              <a:buNone/>
            </a:pPr>
            <a:r>
              <a:rPr b="1" lang="es-BO" sz="3600">
                <a:solidFill>
                  <a:srgbClr val="002060"/>
                </a:solidFill>
              </a:rPr>
              <a:t>INSTRUMENTACIÓN</a:t>
            </a:r>
            <a:endParaRPr/>
          </a:p>
        </p:txBody>
      </p:sp>
      <p:sp>
        <p:nvSpPr>
          <p:cNvPr id="275" name="Google Shape;275;p1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MULTIMETRO</a:t>
            </a:r>
            <a:endParaRPr/>
          </a:p>
        </p:txBody>
      </p:sp>
      <p:sp>
        <p:nvSpPr>
          <p:cNvPr id="281" name="Google Shape;281;p14"/>
          <p:cNvSpPr txBox="1"/>
          <p:nvPr>
            <p:ph idx="1" type="body"/>
          </p:nvPr>
        </p:nvSpPr>
        <p:spPr>
          <a:xfrm>
            <a:off x="1020417" y="1417638"/>
            <a:ext cx="10561983" cy="45259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400"/>
              <a:buNone/>
            </a:pPr>
            <a:r>
              <a:rPr lang="es-BO" sz="2400"/>
              <a:t>En la mayoría de los casos se utilizara una  instrumentación específica, uso únicamente un multímetro, para medir tensiones (Sensores de Temperatura y Vibratorios), corrientes (Sensores de presión, ultrasonido) y resistencia (Bomba).</a:t>
            </a:r>
            <a:endParaRPr/>
          </a:p>
          <a:p>
            <a:pPr indent="0" lvl="0" marL="0" rtl="0" algn="just">
              <a:spcBef>
                <a:spcPts val="480"/>
              </a:spcBef>
              <a:spcAft>
                <a:spcPts val="0"/>
              </a:spcAft>
              <a:buClr>
                <a:schemeClr val="dk1"/>
              </a:buClr>
              <a:buSzPts val="2400"/>
              <a:buNone/>
            </a:pPr>
            <a:r>
              <a:rPr lang="es-BO" sz="2400"/>
              <a:t> </a:t>
            </a:r>
            <a:endParaRPr/>
          </a:p>
        </p:txBody>
      </p:sp>
      <p:pic>
        <p:nvPicPr>
          <p:cNvPr id="282" name="Google Shape;282;p14"/>
          <p:cNvPicPr preferRelativeResize="0"/>
          <p:nvPr/>
        </p:nvPicPr>
        <p:blipFill rotWithShape="1">
          <a:blip r:embed="rId3">
            <a:alphaModFix/>
          </a:blip>
          <a:srcRect b="0" l="0" r="0" t="0"/>
          <a:stretch/>
        </p:blipFill>
        <p:spPr>
          <a:xfrm>
            <a:off x="619744" y="2756037"/>
            <a:ext cx="11363325" cy="3943350"/>
          </a:xfrm>
          <a:prstGeom prst="rect">
            <a:avLst/>
          </a:prstGeom>
          <a:noFill/>
          <a:ln>
            <a:noFill/>
          </a:ln>
        </p:spPr>
      </p:pic>
      <p:sp>
        <p:nvSpPr>
          <p:cNvPr id="283" name="Google Shape;283;p1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5"/>
          <p:cNvSpPr txBox="1"/>
          <p:nvPr>
            <p:ph type="title"/>
          </p:nvPr>
        </p:nvSpPr>
        <p:spPr>
          <a:xfrm>
            <a:off x="609600" y="274638"/>
            <a:ext cx="10972800" cy="101082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VARIADOR DE FRECUENCIA</a:t>
            </a:r>
            <a:endParaRPr/>
          </a:p>
        </p:txBody>
      </p:sp>
      <p:sp>
        <p:nvSpPr>
          <p:cNvPr id="289" name="Google Shape;289;p15"/>
          <p:cNvSpPr txBox="1"/>
          <p:nvPr>
            <p:ph idx="1" type="body"/>
          </p:nvPr>
        </p:nvSpPr>
        <p:spPr>
          <a:xfrm>
            <a:off x="1033670" y="1285461"/>
            <a:ext cx="10548730"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s-BO" sz="2400"/>
              <a:t>El variador de frecuencia será utilizado como instrumento de medida de frecuencia, tensión y corriente.</a:t>
            </a:r>
            <a:endParaRPr/>
          </a:p>
          <a:p>
            <a:pPr indent="-190500" lvl="0" marL="342900" rtl="0" algn="l">
              <a:spcBef>
                <a:spcPts val="480"/>
              </a:spcBef>
              <a:spcAft>
                <a:spcPts val="0"/>
              </a:spcAft>
              <a:buClr>
                <a:schemeClr val="dk1"/>
              </a:buClr>
              <a:buSzPts val="2400"/>
              <a:buNone/>
            </a:pPr>
            <a:r>
              <a:t/>
            </a:r>
            <a:endParaRPr sz="2400"/>
          </a:p>
        </p:txBody>
      </p:sp>
      <p:pic>
        <p:nvPicPr>
          <p:cNvPr id="290" name="Google Shape;290;p15"/>
          <p:cNvPicPr preferRelativeResize="0"/>
          <p:nvPr/>
        </p:nvPicPr>
        <p:blipFill rotWithShape="1">
          <a:blip r:embed="rId3">
            <a:alphaModFix/>
          </a:blip>
          <a:srcRect b="0" l="0" r="0" t="0"/>
          <a:stretch/>
        </p:blipFill>
        <p:spPr>
          <a:xfrm>
            <a:off x="2274418" y="2332382"/>
            <a:ext cx="8067234" cy="4406348"/>
          </a:xfrm>
          <a:prstGeom prst="rect">
            <a:avLst/>
          </a:prstGeom>
          <a:noFill/>
          <a:ln>
            <a:noFill/>
          </a:ln>
        </p:spPr>
      </p:pic>
      <p:sp>
        <p:nvSpPr>
          <p:cNvPr id="291" name="Google Shape;291;p1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6"/>
          <p:cNvSpPr txBox="1"/>
          <p:nvPr>
            <p:ph type="title"/>
          </p:nvPr>
        </p:nvSpPr>
        <p:spPr>
          <a:xfrm>
            <a:off x="609600" y="274638"/>
            <a:ext cx="10972800" cy="101082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DOSIFICADOR</a:t>
            </a:r>
            <a:endParaRPr/>
          </a:p>
        </p:txBody>
      </p:sp>
      <p:sp>
        <p:nvSpPr>
          <p:cNvPr id="297" name="Google Shape;297;p16"/>
          <p:cNvSpPr txBox="1"/>
          <p:nvPr>
            <p:ph idx="1" type="body"/>
          </p:nvPr>
        </p:nvSpPr>
        <p:spPr>
          <a:xfrm>
            <a:off x="1166191" y="1467679"/>
            <a:ext cx="10429461"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s-BO" sz="2400"/>
              <a:t>Se tendrá que calibrar el dosificador para ser utilizado como instrumento para medir el caudal.</a:t>
            </a:r>
            <a:endParaRPr/>
          </a:p>
        </p:txBody>
      </p:sp>
      <p:pic>
        <p:nvPicPr>
          <p:cNvPr id="298" name="Google Shape;298;p16"/>
          <p:cNvPicPr preferRelativeResize="0"/>
          <p:nvPr/>
        </p:nvPicPr>
        <p:blipFill rotWithShape="1">
          <a:blip r:embed="rId3">
            <a:alphaModFix/>
          </a:blip>
          <a:srcRect b="0" l="0" r="0" t="0"/>
          <a:stretch/>
        </p:blipFill>
        <p:spPr>
          <a:xfrm>
            <a:off x="4038703" y="2224220"/>
            <a:ext cx="4114594" cy="3951640"/>
          </a:xfrm>
          <a:prstGeom prst="rect">
            <a:avLst/>
          </a:prstGeom>
          <a:noFill/>
          <a:ln>
            <a:noFill/>
          </a:ln>
        </p:spPr>
      </p:pic>
      <p:sp>
        <p:nvSpPr>
          <p:cNvPr id="299" name="Google Shape;299;p1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7"/>
          <p:cNvSpPr txBox="1"/>
          <p:nvPr>
            <p:ph type="title"/>
          </p:nvPr>
        </p:nvSpPr>
        <p:spPr>
          <a:xfrm>
            <a:off x="609600" y="78693"/>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CAUDALIMETRO</a:t>
            </a:r>
            <a:endParaRPr/>
          </a:p>
        </p:txBody>
      </p:sp>
      <p:grpSp>
        <p:nvGrpSpPr>
          <p:cNvPr id="305" name="Google Shape;305;p17"/>
          <p:cNvGrpSpPr/>
          <p:nvPr/>
        </p:nvGrpSpPr>
        <p:grpSpPr>
          <a:xfrm>
            <a:off x="3725959" y="1038497"/>
            <a:ext cx="4137879" cy="3925288"/>
            <a:chOff x="4013345" y="1038497"/>
            <a:chExt cx="4137879" cy="3925288"/>
          </a:xfrm>
        </p:grpSpPr>
        <p:pic>
          <p:nvPicPr>
            <p:cNvPr id="306" name="Google Shape;306;p17"/>
            <p:cNvPicPr preferRelativeResize="0"/>
            <p:nvPr/>
          </p:nvPicPr>
          <p:blipFill rotWithShape="1">
            <a:blip r:embed="rId3">
              <a:alphaModFix/>
            </a:blip>
            <a:srcRect b="0" l="0" r="16593" t="0"/>
            <a:stretch/>
          </p:blipFill>
          <p:spPr>
            <a:xfrm>
              <a:off x="4013345" y="1038497"/>
              <a:ext cx="4137879" cy="3624625"/>
            </a:xfrm>
            <a:prstGeom prst="rect">
              <a:avLst/>
            </a:prstGeom>
            <a:noFill/>
            <a:ln>
              <a:noFill/>
            </a:ln>
          </p:spPr>
        </p:pic>
        <p:sp>
          <p:nvSpPr>
            <p:cNvPr id="307" name="Google Shape;307;p17"/>
            <p:cNvSpPr/>
            <p:nvPr/>
          </p:nvSpPr>
          <p:spPr>
            <a:xfrm>
              <a:off x="4288474" y="1266778"/>
              <a:ext cx="3431675" cy="1293542"/>
            </a:xfrm>
            <a:prstGeom prst="ellipse">
              <a:avLst/>
            </a:prstGeom>
            <a:noFill/>
            <a:ln cap="flat" cmpd="sng" w="571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308" name="Google Shape;308;p17"/>
            <p:cNvCxnSpPr>
              <a:stCxn id="307" idx="3"/>
            </p:cNvCxnSpPr>
            <p:nvPr/>
          </p:nvCxnSpPr>
          <p:spPr>
            <a:xfrm>
              <a:off x="4791031" y="2370885"/>
              <a:ext cx="68400" cy="2592900"/>
            </a:xfrm>
            <a:prstGeom prst="straightConnector1">
              <a:avLst/>
            </a:prstGeom>
            <a:noFill/>
            <a:ln cap="flat" cmpd="sng" w="38100">
              <a:solidFill>
                <a:srgbClr val="00B0F0"/>
              </a:solidFill>
              <a:prstDash val="solid"/>
              <a:round/>
              <a:headEnd len="sm" w="sm" type="none"/>
              <a:tailEnd len="med" w="med" type="triangle"/>
            </a:ln>
          </p:spPr>
        </p:cxnSp>
      </p:grpSp>
      <p:sp>
        <p:nvSpPr>
          <p:cNvPr id="309" name="Google Shape;309;p17"/>
          <p:cNvSpPr/>
          <p:nvPr/>
        </p:nvSpPr>
        <p:spPr>
          <a:xfrm>
            <a:off x="3869652" y="4963886"/>
            <a:ext cx="3105912" cy="444137"/>
          </a:xfrm>
          <a:prstGeom prst="rect">
            <a:avLst/>
          </a:prstGeom>
          <a:solidFill>
            <a:srgbClr val="00B0F0"/>
          </a:solidFill>
          <a:ln cap="flat" cmpd="sng" w="381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s-BO" sz="2000" u="none" cap="none" strike="noStrike">
                <a:solidFill>
                  <a:schemeClr val="lt1"/>
                </a:solidFill>
                <a:latin typeface="Calibri"/>
                <a:ea typeface="Calibri"/>
                <a:cs typeface="Calibri"/>
                <a:sym typeface="Calibri"/>
              </a:rPr>
              <a:t>Lectura del caudal de salida</a:t>
            </a:r>
            <a:endParaRPr sz="2000">
              <a:solidFill>
                <a:schemeClr val="lt1"/>
              </a:solidFill>
              <a:latin typeface="Calibri"/>
              <a:ea typeface="Calibri"/>
              <a:cs typeface="Calibri"/>
              <a:sym typeface="Calibri"/>
            </a:endParaRPr>
          </a:p>
        </p:txBody>
      </p:sp>
      <p:grpSp>
        <p:nvGrpSpPr>
          <p:cNvPr id="310" name="Google Shape;310;p17"/>
          <p:cNvGrpSpPr/>
          <p:nvPr/>
        </p:nvGrpSpPr>
        <p:grpSpPr>
          <a:xfrm>
            <a:off x="782817" y="1038497"/>
            <a:ext cx="3086761" cy="5107577"/>
            <a:chOff x="926510" y="1038497"/>
            <a:chExt cx="3086761" cy="5107577"/>
          </a:xfrm>
        </p:grpSpPr>
        <p:grpSp>
          <p:nvGrpSpPr>
            <p:cNvPr id="311" name="Google Shape;311;p17"/>
            <p:cNvGrpSpPr/>
            <p:nvPr/>
          </p:nvGrpSpPr>
          <p:grpSpPr>
            <a:xfrm>
              <a:off x="926510" y="1038497"/>
              <a:ext cx="2769925" cy="5107577"/>
              <a:chOff x="1893161" y="1417638"/>
              <a:chExt cx="2769925" cy="5107577"/>
            </a:xfrm>
          </p:grpSpPr>
          <p:pic>
            <p:nvPicPr>
              <p:cNvPr id="312" name="Google Shape;312;p17"/>
              <p:cNvPicPr preferRelativeResize="0"/>
              <p:nvPr/>
            </p:nvPicPr>
            <p:blipFill rotWithShape="1">
              <a:blip r:embed="rId4">
                <a:alphaModFix/>
              </a:blip>
              <a:srcRect b="0" l="0" r="0" t="21201"/>
              <a:stretch/>
            </p:blipFill>
            <p:spPr>
              <a:xfrm>
                <a:off x="1893161" y="1417638"/>
                <a:ext cx="2769925" cy="5107577"/>
              </a:xfrm>
              <a:prstGeom prst="rect">
                <a:avLst/>
              </a:prstGeom>
              <a:noFill/>
              <a:ln>
                <a:noFill/>
              </a:ln>
            </p:spPr>
          </p:pic>
          <p:sp>
            <p:nvSpPr>
              <p:cNvPr id="313" name="Google Shape;313;p17"/>
              <p:cNvSpPr/>
              <p:nvPr/>
            </p:nvSpPr>
            <p:spPr>
              <a:xfrm>
                <a:off x="2325189" y="3618411"/>
                <a:ext cx="1423851" cy="1972492"/>
              </a:xfrm>
              <a:prstGeom prst="ellipse">
                <a:avLst/>
              </a:prstGeom>
              <a:noFill/>
              <a:ln cap="flat" cmpd="sng" w="571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cxnSp>
          <p:nvCxnSpPr>
            <p:cNvPr id="314" name="Google Shape;314;p17"/>
            <p:cNvCxnSpPr>
              <a:stCxn id="313" idx="5"/>
            </p:cNvCxnSpPr>
            <p:nvPr/>
          </p:nvCxnSpPr>
          <p:spPr>
            <a:xfrm>
              <a:off x="2573871" y="4922897"/>
              <a:ext cx="1439400" cy="824700"/>
            </a:xfrm>
            <a:prstGeom prst="straightConnector1">
              <a:avLst/>
            </a:prstGeom>
            <a:noFill/>
            <a:ln cap="flat" cmpd="sng" w="38100">
              <a:solidFill>
                <a:srgbClr val="C00000"/>
              </a:solidFill>
              <a:prstDash val="solid"/>
              <a:round/>
              <a:headEnd len="sm" w="sm" type="none"/>
              <a:tailEnd len="med" w="med" type="triangle"/>
            </a:ln>
          </p:spPr>
        </p:cxnSp>
      </p:grpSp>
      <p:sp>
        <p:nvSpPr>
          <p:cNvPr id="315" name="Google Shape;315;p17"/>
          <p:cNvSpPr/>
          <p:nvPr/>
        </p:nvSpPr>
        <p:spPr>
          <a:xfrm>
            <a:off x="3869652" y="5488201"/>
            <a:ext cx="2060884" cy="1198501"/>
          </a:xfrm>
          <a:prstGeom prst="rect">
            <a:avLst/>
          </a:prstGeom>
          <a:solidFill>
            <a:srgbClr val="C00000"/>
          </a:solidFill>
          <a:ln cap="flat" cmpd="sng" w="381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BO" sz="2000">
                <a:solidFill>
                  <a:schemeClr val="lt1"/>
                </a:solidFill>
                <a:latin typeface="Calibri"/>
                <a:ea typeface="Calibri"/>
                <a:cs typeface="Calibri"/>
                <a:sym typeface="Calibri"/>
              </a:rPr>
              <a:t>Caudalimetro implementado al caudal de salida del sistema</a:t>
            </a:r>
            <a:endParaRPr sz="2000">
              <a:solidFill>
                <a:schemeClr val="lt1"/>
              </a:solidFill>
              <a:latin typeface="Calibri"/>
              <a:ea typeface="Calibri"/>
              <a:cs typeface="Calibri"/>
              <a:sym typeface="Calibri"/>
            </a:endParaRPr>
          </a:p>
        </p:txBody>
      </p:sp>
      <p:sp>
        <p:nvSpPr>
          <p:cNvPr id="316" name="Google Shape;316;p17"/>
          <p:cNvSpPr/>
          <p:nvPr/>
        </p:nvSpPr>
        <p:spPr>
          <a:xfrm>
            <a:off x="7935320" y="1376345"/>
            <a:ext cx="3507743"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1800">
                <a:solidFill>
                  <a:schemeClr val="dk1"/>
                </a:solidFill>
                <a:latin typeface="Calibri"/>
                <a:ea typeface="Calibri"/>
                <a:cs typeface="Calibri"/>
                <a:sym typeface="Calibri"/>
              </a:rPr>
              <a:t>El caudalimetro fue utilizado como instrumento de medida del caudal de salida de la planta necesario para la obtención de la función de transferencia del sistema.</a:t>
            </a:r>
            <a:endParaRPr/>
          </a:p>
          <a:p>
            <a:pPr indent="0" lvl="0" marL="0" marR="0" rtl="0" algn="just">
              <a:spcBef>
                <a:spcPts val="0"/>
              </a:spcBef>
              <a:spcAft>
                <a:spcPts val="0"/>
              </a:spcAft>
              <a:buNone/>
            </a:pPr>
            <a:r>
              <a:rPr lang="es-BO" sz="1800">
                <a:solidFill>
                  <a:schemeClr val="dk1"/>
                </a:solidFill>
                <a:latin typeface="Calibri"/>
                <a:ea typeface="Calibri"/>
                <a:cs typeface="Calibri"/>
                <a:sym typeface="Calibri"/>
              </a:rPr>
              <a:t>El instrumento de medición tiene una capacidad máxima de 30 L/min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8"/>
          <p:cNvSpPr txBox="1"/>
          <p:nvPr>
            <p:ph idx="1" type="body"/>
          </p:nvPr>
        </p:nvSpPr>
        <p:spPr>
          <a:xfrm>
            <a:off x="4108174" y="3036405"/>
            <a:ext cx="5857461" cy="7851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060"/>
              </a:buClr>
              <a:buSzPts val="3600"/>
              <a:buNone/>
            </a:pPr>
            <a:r>
              <a:rPr b="1" lang="es-BO" sz="3600">
                <a:solidFill>
                  <a:srgbClr val="002060"/>
                </a:solidFill>
              </a:rPr>
              <a:t>SENSORES Y ACTUADORES</a:t>
            </a:r>
            <a:endParaRPr/>
          </a:p>
        </p:txBody>
      </p:sp>
      <p:sp>
        <p:nvSpPr>
          <p:cNvPr id="323" name="Google Shape;323;p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9"/>
          <p:cNvSpPr txBox="1"/>
          <p:nvPr>
            <p:ph type="title"/>
          </p:nvPr>
        </p:nvSpPr>
        <p:spPr>
          <a:xfrm>
            <a:off x="609600" y="274638"/>
            <a:ext cx="10972800" cy="86504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MOTOR CENTRIFUGO (BOMBA)</a:t>
            </a:r>
            <a:endParaRPr/>
          </a:p>
        </p:txBody>
      </p:sp>
      <p:sp>
        <p:nvSpPr>
          <p:cNvPr id="329" name="Google Shape;329;p19"/>
          <p:cNvSpPr txBox="1"/>
          <p:nvPr>
            <p:ph idx="1" type="body"/>
          </p:nvPr>
        </p:nvSpPr>
        <p:spPr>
          <a:xfrm>
            <a:off x="1205948" y="1261924"/>
            <a:ext cx="10376452" cy="99391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000"/>
              <a:buNone/>
            </a:pPr>
            <a:r>
              <a:rPr lang="es-BO" sz="2000">
                <a:latin typeface="Calibri"/>
                <a:ea typeface="Calibri"/>
                <a:cs typeface="Calibri"/>
                <a:sym typeface="Calibri"/>
              </a:rPr>
              <a:t>El motor (Centrífugo Pentax CMT-100) es el transductor encargado de bombear el agua mediante la transformación de energía eléctrica a energía mecánica (rotacional) del tanque inferior hacia el superior. Las imágenes siguientes describen al mismo:</a:t>
            </a:r>
            <a:endParaRPr sz="2000">
              <a:latin typeface="Times New Roman"/>
              <a:ea typeface="Times New Roman"/>
              <a:cs typeface="Times New Roman"/>
              <a:sym typeface="Times New Roman"/>
            </a:endParaRPr>
          </a:p>
          <a:p>
            <a:pPr indent="0" lvl="0" marL="0" rtl="0" algn="l">
              <a:spcBef>
                <a:spcPts val="720"/>
              </a:spcBef>
              <a:spcAft>
                <a:spcPts val="0"/>
              </a:spcAft>
              <a:buClr>
                <a:schemeClr val="dk1"/>
              </a:buClr>
              <a:buSzPts val="3600"/>
              <a:buNone/>
            </a:pPr>
            <a:r>
              <a:t/>
            </a:r>
            <a:endParaRPr sz="3600"/>
          </a:p>
        </p:txBody>
      </p:sp>
      <p:pic>
        <p:nvPicPr>
          <p:cNvPr id="330" name="Google Shape;330;p19"/>
          <p:cNvPicPr preferRelativeResize="0"/>
          <p:nvPr/>
        </p:nvPicPr>
        <p:blipFill rotWithShape="1">
          <a:blip r:embed="rId3">
            <a:alphaModFix/>
          </a:blip>
          <a:srcRect b="0" l="0" r="0" t="0"/>
          <a:stretch/>
        </p:blipFill>
        <p:spPr>
          <a:xfrm>
            <a:off x="1205948" y="2378074"/>
            <a:ext cx="10257183" cy="3398418"/>
          </a:xfrm>
          <a:prstGeom prst="rect">
            <a:avLst/>
          </a:prstGeom>
          <a:noFill/>
          <a:ln>
            <a:noFill/>
          </a:ln>
        </p:spPr>
      </p:pic>
      <p:sp>
        <p:nvSpPr>
          <p:cNvPr id="331" name="Google Shape;331;p19"/>
          <p:cNvSpPr txBox="1"/>
          <p:nvPr/>
        </p:nvSpPr>
        <p:spPr>
          <a:xfrm>
            <a:off x="1205948" y="5898729"/>
            <a:ext cx="10376452" cy="39902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000"/>
              <a:buFont typeface="Arial"/>
              <a:buNone/>
            </a:pPr>
            <a:r>
              <a:rPr lang="es-BO" sz="2000">
                <a:solidFill>
                  <a:schemeClr val="dk1"/>
                </a:solidFill>
                <a:latin typeface="Calibri"/>
                <a:ea typeface="Calibri"/>
                <a:cs typeface="Calibri"/>
                <a:sym typeface="Calibri"/>
              </a:rPr>
              <a:t>La conexión de este motor centrifugo es de configuración delta.</a:t>
            </a:r>
            <a:endParaRPr sz="2000">
              <a:solidFill>
                <a:schemeClr val="dk1"/>
              </a:solidFill>
              <a:latin typeface="Times New Roman"/>
              <a:ea typeface="Times New Roman"/>
              <a:cs typeface="Times New Roman"/>
              <a:sym typeface="Times New Roman"/>
            </a:endParaRPr>
          </a:p>
          <a:p>
            <a:pPr indent="0" lvl="0" marL="0" marR="0" rtl="0" algn="l">
              <a:spcBef>
                <a:spcPts val="720"/>
              </a:spcBef>
              <a:spcAft>
                <a:spcPts val="0"/>
              </a:spcAft>
              <a:buClr>
                <a:schemeClr val="dk1"/>
              </a:buClr>
              <a:buSzPts val="3600"/>
              <a:buFont typeface="Arial"/>
              <a:buNone/>
            </a:pPr>
            <a:r>
              <a:t/>
            </a:r>
            <a:endParaRPr sz="3600">
              <a:solidFill>
                <a:schemeClr val="dk1"/>
              </a:solidFill>
              <a:latin typeface="Calibri"/>
              <a:ea typeface="Calibri"/>
              <a:cs typeface="Calibri"/>
              <a:sym typeface="Calibri"/>
            </a:endParaRPr>
          </a:p>
        </p:txBody>
      </p:sp>
      <p:sp>
        <p:nvSpPr>
          <p:cNvPr id="332" name="Google Shape;332;p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VARIADOR DE FRECUENCIA</a:t>
            </a:r>
            <a:endParaRPr/>
          </a:p>
        </p:txBody>
      </p:sp>
      <p:sp>
        <p:nvSpPr>
          <p:cNvPr id="338" name="Google Shape;338;p20"/>
          <p:cNvSpPr txBox="1"/>
          <p:nvPr>
            <p:ph idx="1" type="body"/>
          </p:nvPr>
        </p:nvSpPr>
        <p:spPr>
          <a:xfrm>
            <a:off x="1040296" y="1080879"/>
            <a:ext cx="10402956" cy="9922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F0F0F"/>
              </a:buClr>
              <a:buSzPts val="2000"/>
              <a:buNone/>
            </a:pPr>
            <a:r>
              <a:rPr lang="es-BO" sz="2000">
                <a:solidFill>
                  <a:srgbClr val="0F0F0F"/>
                </a:solidFill>
                <a:latin typeface="Calibri"/>
                <a:ea typeface="Calibri"/>
                <a:cs typeface="Calibri"/>
                <a:sym typeface="Calibri"/>
              </a:rPr>
              <a:t>El variador de frecuencia regula la velocidad de motores eléctricos para que la electricidad que llega al motor se ajuste a la demanda real de la aplicación.</a:t>
            </a:r>
            <a:endParaRPr/>
          </a:p>
          <a:p>
            <a:pPr indent="0" lvl="0" marL="0" rtl="0" algn="l">
              <a:spcBef>
                <a:spcPts val="0"/>
              </a:spcBef>
              <a:spcAft>
                <a:spcPts val="0"/>
              </a:spcAft>
              <a:buClr>
                <a:srgbClr val="0F0F0F"/>
              </a:buClr>
              <a:buSzPts val="2000"/>
              <a:buNone/>
            </a:pPr>
            <a:r>
              <a:rPr lang="es-BO" sz="2000">
                <a:solidFill>
                  <a:srgbClr val="0F0F0F"/>
                </a:solidFill>
                <a:latin typeface="Calibri"/>
                <a:ea typeface="Calibri"/>
                <a:cs typeface="Calibri"/>
                <a:sym typeface="Calibri"/>
              </a:rPr>
              <a:t>La conexión que se realizó en la planta es de una alimentación de 200-240V Monofásico y una salida al motor de 240 VAC Trifásico.</a:t>
            </a:r>
            <a:endParaRPr sz="2000">
              <a:latin typeface="Times New Roman"/>
              <a:ea typeface="Times New Roman"/>
              <a:cs typeface="Times New Roman"/>
              <a:sym typeface="Times New Roman"/>
            </a:endParaRPr>
          </a:p>
          <a:p>
            <a:pPr indent="0" lvl="0" marL="0" rtl="0" algn="l">
              <a:spcBef>
                <a:spcPts val="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339" name="Google Shape;339;p20"/>
          <p:cNvSpPr txBox="1"/>
          <p:nvPr/>
        </p:nvSpPr>
        <p:spPr>
          <a:xfrm>
            <a:off x="1060174" y="2438397"/>
            <a:ext cx="5181600" cy="1696279"/>
          </a:xfrm>
          <a:prstGeom prst="rect">
            <a:avLst/>
          </a:prstGeom>
          <a:noFill/>
          <a:ln>
            <a:noFill/>
          </a:ln>
        </p:spPr>
        <p:txBody>
          <a:bodyPr anchorCtr="0" anchor="t" bIns="45700" lIns="91425" spcFirstLastPara="1" rIns="91425" wrap="square" tIns="45700">
            <a:normAutofit/>
          </a:bodyPr>
          <a:lstStyle/>
          <a:p>
            <a:pPr indent="0" lvl="0" marL="0" marR="0" rtl="0" algn="just">
              <a:spcBef>
                <a:spcPts val="0"/>
              </a:spcBef>
              <a:spcAft>
                <a:spcPts val="0"/>
              </a:spcAft>
              <a:buClr>
                <a:srgbClr val="0F0F0F"/>
              </a:buClr>
              <a:buSzPts val="1000"/>
              <a:buFont typeface="Arial"/>
              <a:buNone/>
            </a:pPr>
            <a:r>
              <a:rPr lang="es-BO" sz="1800">
                <a:solidFill>
                  <a:srgbClr val="0F0F0F"/>
                </a:solidFill>
                <a:latin typeface="Calibri"/>
                <a:ea typeface="Calibri"/>
                <a:cs typeface="Calibri"/>
                <a:sym typeface="Calibri"/>
              </a:rPr>
              <a:t>Posee la siguiente cantidad de entradas y salidas</a:t>
            </a:r>
            <a:endParaRPr/>
          </a:p>
          <a:p>
            <a:pPr indent="-342900" lvl="0" marL="342900" marR="0" rtl="0" algn="just">
              <a:spcBef>
                <a:spcPts val="0"/>
              </a:spcBef>
              <a:spcAft>
                <a:spcPts val="0"/>
              </a:spcAft>
              <a:buClr>
                <a:srgbClr val="0F0F0F"/>
              </a:buClr>
              <a:buSzPts val="1000"/>
              <a:buFont typeface="Noto Sans Symbols"/>
              <a:buChar char="∙"/>
            </a:pPr>
            <a:r>
              <a:rPr lang="es-BO" sz="1800">
                <a:solidFill>
                  <a:srgbClr val="0F0F0F"/>
                </a:solidFill>
                <a:latin typeface="Calibri"/>
                <a:ea typeface="Calibri"/>
                <a:cs typeface="Calibri"/>
                <a:sym typeface="Calibri"/>
              </a:rPr>
              <a:t>5 entradas digitales (dos programables).</a:t>
            </a:r>
            <a:endParaRPr sz="1800">
              <a:solidFill>
                <a:srgbClr val="0F0F0F"/>
              </a:solidFill>
              <a:latin typeface="Times New Roman"/>
              <a:ea typeface="Times New Roman"/>
              <a:cs typeface="Times New Roman"/>
              <a:sym typeface="Times New Roman"/>
            </a:endParaRPr>
          </a:p>
          <a:p>
            <a:pPr indent="-342900" lvl="0" marL="342900" marR="0" rtl="0" algn="just">
              <a:spcBef>
                <a:spcPts val="0"/>
              </a:spcBef>
              <a:spcAft>
                <a:spcPts val="0"/>
              </a:spcAft>
              <a:buClr>
                <a:srgbClr val="0F0F0F"/>
              </a:buClr>
              <a:buSzPts val="1000"/>
              <a:buFont typeface="Noto Sans Symbols"/>
              <a:buChar char="∙"/>
            </a:pPr>
            <a:r>
              <a:rPr lang="es-BO" sz="1800">
                <a:solidFill>
                  <a:srgbClr val="0F0F0F"/>
                </a:solidFill>
                <a:latin typeface="Calibri"/>
                <a:ea typeface="Calibri"/>
                <a:cs typeface="Calibri"/>
                <a:sym typeface="Calibri"/>
              </a:rPr>
              <a:t>1 entrada analógica 0 a 10 VDC</a:t>
            </a:r>
            <a:endParaRPr sz="1800">
              <a:solidFill>
                <a:srgbClr val="0F0F0F"/>
              </a:solidFill>
              <a:latin typeface="Times New Roman"/>
              <a:ea typeface="Times New Roman"/>
              <a:cs typeface="Times New Roman"/>
              <a:sym typeface="Times New Roman"/>
            </a:endParaRPr>
          </a:p>
          <a:p>
            <a:pPr indent="-342900" lvl="0" marL="342900" marR="0" rtl="0" algn="just">
              <a:spcBef>
                <a:spcPts val="0"/>
              </a:spcBef>
              <a:spcAft>
                <a:spcPts val="0"/>
              </a:spcAft>
              <a:buClr>
                <a:srgbClr val="0F0F0F"/>
              </a:buClr>
              <a:buSzPts val="1000"/>
              <a:buFont typeface="Noto Sans Symbols"/>
              <a:buChar char="∙"/>
            </a:pPr>
            <a:r>
              <a:rPr lang="es-BO" sz="1800">
                <a:solidFill>
                  <a:srgbClr val="0F0F0F"/>
                </a:solidFill>
                <a:latin typeface="Calibri"/>
                <a:ea typeface="Calibri"/>
                <a:cs typeface="Calibri"/>
                <a:sym typeface="Calibri"/>
              </a:rPr>
              <a:t>1 entrada analógica 4 a 20 mA.</a:t>
            </a:r>
            <a:endParaRPr sz="1800">
              <a:solidFill>
                <a:srgbClr val="0F0F0F"/>
              </a:solidFill>
              <a:latin typeface="Times New Roman"/>
              <a:ea typeface="Times New Roman"/>
              <a:cs typeface="Times New Roman"/>
              <a:sym typeface="Times New Roman"/>
            </a:endParaRPr>
          </a:p>
          <a:p>
            <a:pPr indent="-342900" lvl="0" marL="342900" marR="0" rtl="0" algn="l">
              <a:spcBef>
                <a:spcPts val="360"/>
              </a:spcBef>
              <a:spcAft>
                <a:spcPts val="0"/>
              </a:spcAft>
              <a:buClr>
                <a:srgbClr val="0F0F0F"/>
              </a:buClr>
              <a:buSzPts val="1800"/>
              <a:buFont typeface="Arial"/>
              <a:buChar char="•"/>
            </a:pPr>
            <a:r>
              <a:rPr lang="es-BO" sz="1800">
                <a:solidFill>
                  <a:srgbClr val="0F0F0F"/>
                </a:solidFill>
                <a:latin typeface="Calibri"/>
                <a:ea typeface="Calibri"/>
                <a:cs typeface="Calibri"/>
                <a:sym typeface="Calibri"/>
              </a:rPr>
              <a:t>1 salida digital tipo relé</a:t>
            </a:r>
            <a:endParaRPr/>
          </a:p>
        </p:txBody>
      </p:sp>
      <p:pic>
        <p:nvPicPr>
          <p:cNvPr id="340" name="Google Shape;340;p20"/>
          <p:cNvPicPr preferRelativeResize="0"/>
          <p:nvPr/>
        </p:nvPicPr>
        <p:blipFill rotWithShape="1">
          <a:blip r:embed="rId3">
            <a:alphaModFix/>
          </a:blip>
          <a:srcRect b="0" l="0" r="0" t="0"/>
          <a:stretch/>
        </p:blipFill>
        <p:spPr>
          <a:xfrm>
            <a:off x="5908737" y="2425146"/>
            <a:ext cx="5077315" cy="3784612"/>
          </a:xfrm>
          <a:prstGeom prst="rect">
            <a:avLst/>
          </a:prstGeom>
          <a:noFill/>
          <a:ln>
            <a:noFill/>
          </a:ln>
        </p:spPr>
      </p:pic>
      <p:sp>
        <p:nvSpPr>
          <p:cNvPr id="341" name="Google Shape;341;p20"/>
          <p:cNvSpPr txBox="1"/>
          <p:nvPr/>
        </p:nvSpPr>
        <p:spPr>
          <a:xfrm>
            <a:off x="6705599" y="6183254"/>
            <a:ext cx="3909391" cy="692426"/>
          </a:xfrm>
          <a:prstGeom prst="rect">
            <a:avLst/>
          </a:prstGeom>
          <a:noFill/>
          <a:ln>
            <a:noFill/>
          </a:ln>
        </p:spPr>
        <p:txBody>
          <a:bodyPr anchorCtr="0" anchor="t" bIns="45700" lIns="91425" spcFirstLastPara="1" rIns="91425" wrap="square" tIns="45700">
            <a:normAutofit/>
          </a:bodyPr>
          <a:lstStyle/>
          <a:p>
            <a:pPr indent="0" lvl="0" marL="0" marR="0" rtl="0" algn="just">
              <a:spcBef>
                <a:spcPts val="0"/>
              </a:spcBef>
              <a:spcAft>
                <a:spcPts val="0"/>
              </a:spcAft>
              <a:buClr>
                <a:srgbClr val="0F0F0F"/>
              </a:buClr>
              <a:buSzPts val="1000"/>
              <a:buFont typeface="Arial"/>
              <a:buNone/>
            </a:pPr>
            <a:r>
              <a:rPr lang="es-BO" sz="1800">
                <a:solidFill>
                  <a:srgbClr val="0F0F0F"/>
                </a:solidFill>
                <a:latin typeface="Calibri"/>
                <a:ea typeface="Calibri"/>
                <a:cs typeface="Calibri"/>
                <a:sym typeface="Calibri"/>
              </a:rPr>
              <a:t>Ubicación del variador de frecuencia</a:t>
            </a:r>
            <a:endParaRPr sz="1800">
              <a:solidFill>
                <a:srgbClr val="0F0F0F"/>
              </a:solidFill>
              <a:latin typeface="Calibri"/>
              <a:ea typeface="Calibri"/>
              <a:cs typeface="Calibri"/>
              <a:sym typeface="Calibri"/>
            </a:endParaRPr>
          </a:p>
        </p:txBody>
      </p:sp>
      <p:sp>
        <p:nvSpPr>
          <p:cNvPr id="342" name="Google Shape;342;p20"/>
          <p:cNvSpPr/>
          <p:nvPr/>
        </p:nvSpPr>
        <p:spPr>
          <a:xfrm>
            <a:off x="9250017" y="4121426"/>
            <a:ext cx="1364973" cy="1908313"/>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343" name="Google Shape;343;p20"/>
          <p:cNvPicPr preferRelativeResize="0"/>
          <p:nvPr/>
        </p:nvPicPr>
        <p:blipFill rotWithShape="1">
          <a:blip r:embed="rId4">
            <a:alphaModFix/>
          </a:blip>
          <a:srcRect b="0" l="0" r="0" t="0"/>
          <a:stretch/>
        </p:blipFill>
        <p:spPr>
          <a:xfrm>
            <a:off x="1812475" y="3874046"/>
            <a:ext cx="3222484" cy="2820511"/>
          </a:xfrm>
          <a:prstGeom prst="rect">
            <a:avLst/>
          </a:prstGeom>
          <a:noFill/>
          <a:ln>
            <a:noFill/>
          </a:ln>
        </p:spPr>
      </p:pic>
      <p:sp>
        <p:nvSpPr>
          <p:cNvPr id="344" name="Google Shape;344;p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ELECTROVALVULAS</a:t>
            </a:r>
            <a:endParaRPr/>
          </a:p>
        </p:txBody>
      </p:sp>
      <p:sp>
        <p:nvSpPr>
          <p:cNvPr id="350" name="Google Shape;350;p21"/>
          <p:cNvSpPr txBox="1"/>
          <p:nvPr>
            <p:ph idx="1" type="body"/>
          </p:nvPr>
        </p:nvSpPr>
        <p:spPr>
          <a:xfrm>
            <a:off x="1020643" y="1162534"/>
            <a:ext cx="6056243" cy="2932388"/>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000"/>
              <a:buNone/>
            </a:pPr>
            <a:r>
              <a:rPr lang="es-BO" sz="2000">
                <a:latin typeface="Calibri"/>
                <a:ea typeface="Calibri"/>
                <a:cs typeface="Calibri"/>
                <a:sym typeface="Calibri"/>
              </a:rPr>
              <a:t>El sistema cuenta con dos electroválvulas “Burkert Type 6211” de tipo solenoide, los cuales permiten el paso del líquido para el llenado del tanque superior, estas electroválvulas son normalmente cerradas.</a:t>
            </a:r>
            <a:endParaRPr/>
          </a:p>
          <a:p>
            <a:pPr indent="0" lvl="0" marL="0" rtl="0" algn="just">
              <a:spcBef>
                <a:spcPts val="400"/>
              </a:spcBef>
              <a:spcAft>
                <a:spcPts val="0"/>
              </a:spcAft>
              <a:buClr>
                <a:schemeClr val="dk1"/>
              </a:buClr>
              <a:buSzPts val="2000"/>
              <a:buNone/>
            </a:pPr>
            <a:r>
              <a:rPr lang="es-BO" sz="2000">
                <a:latin typeface="Calibri"/>
                <a:ea typeface="Calibri"/>
                <a:cs typeface="Calibri"/>
                <a:sym typeface="Calibri"/>
              </a:rPr>
              <a:t>El control de activación se lo hace por medio de suministrar una tensión alterna de 230 V a una frecuencia de 50 o 60 Hz. En Las especificaciones se ve también la presión que este puede tolerar, siendo estas desde 0.5 a 10 [bar].</a:t>
            </a:r>
            <a:endParaRPr sz="2000"/>
          </a:p>
        </p:txBody>
      </p:sp>
      <p:pic>
        <p:nvPicPr>
          <p:cNvPr id="351" name="Google Shape;351;p21"/>
          <p:cNvPicPr preferRelativeResize="0"/>
          <p:nvPr/>
        </p:nvPicPr>
        <p:blipFill rotWithShape="1">
          <a:blip r:embed="rId3">
            <a:alphaModFix/>
          </a:blip>
          <a:srcRect b="0" l="0" r="0" t="0"/>
          <a:stretch/>
        </p:blipFill>
        <p:spPr>
          <a:xfrm>
            <a:off x="7487929" y="1084009"/>
            <a:ext cx="3564384" cy="5220211"/>
          </a:xfrm>
          <a:prstGeom prst="rect">
            <a:avLst/>
          </a:prstGeom>
          <a:noFill/>
          <a:ln>
            <a:noFill/>
          </a:ln>
        </p:spPr>
      </p:pic>
      <p:pic>
        <p:nvPicPr>
          <p:cNvPr id="352" name="Google Shape;352;p21"/>
          <p:cNvPicPr preferRelativeResize="0"/>
          <p:nvPr/>
        </p:nvPicPr>
        <p:blipFill rotWithShape="1">
          <a:blip r:embed="rId4">
            <a:alphaModFix/>
          </a:blip>
          <a:srcRect b="0" l="0" r="0" t="0"/>
          <a:stretch/>
        </p:blipFill>
        <p:spPr>
          <a:xfrm>
            <a:off x="2504888" y="4303579"/>
            <a:ext cx="3586921" cy="1855304"/>
          </a:xfrm>
          <a:prstGeom prst="rect">
            <a:avLst/>
          </a:prstGeom>
          <a:noFill/>
          <a:ln>
            <a:noFill/>
          </a:ln>
        </p:spPr>
      </p:pic>
      <p:sp>
        <p:nvSpPr>
          <p:cNvPr id="353" name="Google Shape;353;p21"/>
          <p:cNvSpPr txBox="1"/>
          <p:nvPr/>
        </p:nvSpPr>
        <p:spPr>
          <a:xfrm>
            <a:off x="2504888" y="6158883"/>
            <a:ext cx="3723635" cy="634377"/>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000"/>
              <a:buFont typeface="Arial"/>
              <a:buNone/>
            </a:pPr>
            <a:r>
              <a:rPr lang="es-BO" sz="2000">
                <a:solidFill>
                  <a:schemeClr val="dk1"/>
                </a:solidFill>
                <a:latin typeface="Calibri"/>
                <a:ea typeface="Calibri"/>
                <a:cs typeface="Calibri"/>
                <a:sym typeface="Calibri"/>
              </a:rPr>
              <a:t>Especificaciones del producto</a:t>
            </a:r>
            <a:endParaRPr sz="2000">
              <a:solidFill>
                <a:schemeClr val="dk1"/>
              </a:solidFill>
              <a:latin typeface="Times New Roman"/>
              <a:ea typeface="Times New Roman"/>
              <a:cs typeface="Times New Roman"/>
              <a:sym typeface="Times New Roman"/>
            </a:endParaRPr>
          </a:p>
          <a:p>
            <a:pPr indent="-215900" lvl="0" marL="342900" marR="0" rtl="0" algn="just">
              <a:spcBef>
                <a:spcPts val="4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p:txBody>
      </p:sp>
      <p:sp>
        <p:nvSpPr>
          <p:cNvPr id="354" name="Google Shape;354;p2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DOSIFICACOR</a:t>
            </a:r>
            <a:endParaRPr/>
          </a:p>
        </p:txBody>
      </p:sp>
      <p:sp>
        <p:nvSpPr>
          <p:cNvPr id="360" name="Google Shape;360;p22"/>
          <p:cNvSpPr txBox="1"/>
          <p:nvPr>
            <p:ph idx="1" type="body"/>
          </p:nvPr>
        </p:nvSpPr>
        <p:spPr>
          <a:xfrm>
            <a:off x="1012317" y="1308653"/>
            <a:ext cx="9784544" cy="1143001"/>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000"/>
              <a:buNone/>
            </a:pPr>
            <a:r>
              <a:rPr lang="es-BO" sz="2000">
                <a:latin typeface="Calibri"/>
                <a:ea typeface="Calibri"/>
                <a:cs typeface="Calibri"/>
                <a:sym typeface="Calibri"/>
              </a:rPr>
              <a:t>El dosificador Burkert 8035 cumple la función de controlar y medir el volumen de líquido proporcionado al sistema, además nos brinda información del caudal de líquido que pasa a través de las tuberías</a:t>
            </a:r>
            <a:endParaRPr sz="2000"/>
          </a:p>
        </p:txBody>
      </p:sp>
      <p:pic>
        <p:nvPicPr>
          <p:cNvPr id="361" name="Google Shape;361;p22"/>
          <p:cNvPicPr preferRelativeResize="0"/>
          <p:nvPr/>
        </p:nvPicPr>
        <p:blipFill rotWithShape="1">
          <a:blip r:embed="rId3">
            <a:alphaModFix/>
          </a:blip>
          <a:srcRect b="0" l="0" r="0" t="0"/>
          <a:stretch/>
        </p:blipFill>
        <p:spPr>
          <a:xfrm>
            <a:off x="6397589" y="2213112"/>
            <a:ext cx="4399271" cy="4174436"/>
          </a:xfrm>
          <a:prstGeom prst="rect">
            <a:avLst/>
          </a:prstGeom>
          <a:noFill/>
          <a:ln>
            <a:noFill/>
          </a:ln>
        </p:spPr>
      </p:pic>
      <p:sp>
        <p:nvSpPr>
          <p:cNvPr id="362" name="Google Shape;362;p22"/>
          <p:cNvSpPr txBox="1"/>
          <p:nvPr/>
        </p:nvSpPr>
        <p:spPr>
          <a:xfrm>
            <a:off x="1046923" y="2675627"/>
            <a:ext cx="5022573" cy="31950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rPr lang="es-BO" sz="2000">
                <a:solidFill>
                  <a:schemeClr val="dk1"/>
                </a:solidFill>
                <a:latin typeface="Calibri"/>
                <a:ea typeface="Calibri"/>
                <a:cs typeface="Calibri"/>
                <a:sym typeface="Calibri"/>
              </a:rPr>
              <a:t>El módulo electrónico de control 8035 Batch utiliza una tensión de alimentación de 115/230 VCA y cuenta con 2 relés para realizar la dosificación.</a:t>
            </a:r>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000"/>
              <a:buFont typeface="Arial"/>
              <a:buNone/>
            </a:pPr>
            <a:r>
              <a:rPr lang="es-BO" sz="2000">
                <a:solidFill>
                  <a:schemeClr val="dk1"/>
                </a:solidFill>
                <a:latin typeface="Calibri"/>
                <a:ea typeface="Calibri"/>
                <a:cs typeface="Calibri"/>
                <a:sym typeface="Calibri"/>
              </a:rPr>
              <a:t>El dosificador 8035 cuenta con 3 tipos de dosificación: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Dosificación en modo manual</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Dosificación en modo automático</a:t>
            </a:r>
            <a:endParaRPr sz="2000">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2000"/>
              <a:buFont typeface="Arial"/>
              <a:buChar char="•"/>
            </a:pPr>
            <a:r>
              <a:rPr lang="es-BO" sz="2000">
                <a:solidFill>
                  <a:schemeClr val="dk1"/>
                </a:solidFill>
                <a:latin typeface="Calibri"/>
                <a:ea typeface="Calibri"/>
                <a:cs typeface="Calibri"/>
                <a:sym typeface="Calibri"/>
              </a:rPr>
              <a:t>Dosificación manual y automática </a:t>
            </a:r>
            <a:endParaRPr sz="2000">
              <a:solidFill>
                <a:schemeClr val="dk1"/>
              </a:solidFill>
              <a:latin typeface="Calibri"/>
              <a:ea typeface="Calibri"/>
              <a:cs typeface="Calibri"/>
              <a:sym typeface="Calibri"/>
            </a:endParaRPr>
          </a:p>
        </p:txBody>
      </p:sp>
      <p:sp>
        <p:nvSpPr>
          <p:cNvPr id="363" name="Google Shape;363;p2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3"/>
          <p:cNvSpPr txBox="1"/>
          <p:nvPr>
            <p:ph type="title"/>
          </p:nvPr>
        </p:nvSpPr>
        <p:spPr>
          <a:xfrm>
            <a:off x="609600" y="274638"/>
            <a:ext cx="10972800" cy="70602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b="1" lang="es-BO" sz="2800"/>
              <a:t>MODOS DE FUNCIONAMIENTO DEL DOSIFICADOR</a:t>
            </a:r>
            <a:endParaRPr/>
          </a:p>
        </p:txBody>
      </p:sp>
      <p:pic>
        <p:nvPicPr>
          <p:cNvPr id="369" name="Google Shape;369;p23"/>
          <p:cNvPicPr preferRelativeResize="0"/>
          <p:nvPr/>
        </p:nvPicPr>
        <p:blipFill rotWithShape="1">
          <a:blip r:embed="rId3">
            <a:alphaModFix/>
          </a:blip>
          <a:srcRect b="0" l="0" r="0" t="0"/>
          <a:stretch/>
        </p:blipFill>
        <p:spPr>
          <a:xfrm>
            <a:off x="2019475" y="2360203"/>
            <a:ext cx="7941008" cy="4383837"/>
          </a:xfrm>
          <a:prstGeom prst="rect">
            <a:avLst/>
          </a:prstGeom>
          <a:noFill/>
          <a:ln>
            <a:noFill/>
          </a:ln>
        </p:spPr>
      </p:pic>
      <p:sp>
        <p:nvSpPr>
          <p:cNvPr id="370" name="Google Shape;370;p23"/>
          <p:cNvSpPr txBox="1"/>
          <p:nvPr>
            <p:ph idx="1" type="body"/>
          </p:nvPr>
        </p:nvSpPr>
        <p:spPr>
          <a:xfrm>
            <a:off x="2835962" y="980661"/>
            <a:ext cx="6308034" cy="1553816"/>
          </a:xfrm>
          <a:prstGeom prst="rect">
            <a:avLst/>
          </a:prstGeom>
          <a:noFill/>
          <a:ln>
            <a:noFill/>
          </a:ln>
        </p:spPr>
        <p:txBody>
          <a:bodyPr anchorCtr="0" anchor="t" bIns="45700" lIns="91425" spcFirstLastPara="1" rIns="91425" wrap="square" tIns="45700">
            <a:normAutofit lnSpcReduction="10000"/>
          </a:bodyPr>
          <a:lstStyle/>
          <a:p>
            <a:pPr indent="0" lvl="0" marL="0" marR="0" rtl="0" algn="l">
              <a:spcBef>
                <a:spcPts val="0"/>
              </a:spcBef>
              <a:spcAft>
                <a:spcPts val="0"/>
              </a:spcAft>
              <a:buClr>
                <a:schemeClr val="dk1"/>
              </a:buClr>
              <a:buSzPts val="2000"/>
              <a:buNone/>
            </a:pPr>
            <a:r>
              <a:rPr lang="es-BO" sz="2000">
                <a:latin typeface="Calibri"/>
                <a:ea typeface="Calibri"/>
                <a:cs typeface="Calibri"/>
                <a:sym typeface="Calibri"/>
              </a:rPr>
              <a:t>El dosificador burkert tiene 3 modos de funcionamiento:</a:t>
            </a:r>
            <a:endParaRPr sz="2000">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000"/>
              <a:buFont typeface="Calibri"/>
              <a:buChar char="-"/>
            </a:pPr>
            <a:r>
              <a:rPr lang="es-BO" sz="2000">
                <a:latin typeface="Calibri"/>
                <a:ea typeface="Calibri"/>
                <a:cs typeface="Calibri"/>
                <a:sym typeface="Calibri"/>
              </a:rPr>
              <a:t>Modo de visualización </a:t>
            </a:r>
            <a:endParaRPr sz="2000">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000"/>
              <a:buFont typeface="Calibri"/>
              <a:buChar char="-"/>
            </a:pPr>
            <a:r>
              <a:rPr lang="es-BO" sz="2000">
                <a:latin typeface="Calibri"/>
                <a:ea typeface="Calibri"/>
                <a:cs typeface="Calibri"/>
                <a:sym typeface="Calibri"/>
              </a:rPr>
              <a:t>Modo de calibración </a:t>
            </a:r>
            <a:endParaRPr sz="2000">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000"/>
              <a:buFont typeface="Calibri"/>
              <a:buChar char="-"/>
            </a:pPr>
            <a:r>
              <a:rPr lang="es-BO" sz="2000">
                <a:latin typeface="Calibri"/>
                <a:ea typeface="Calibri"/>
                <a:cs typeface="Calibri"/>
                <a:sym typeface="Calibri"/>
              </a:rPr>
              <a:t>Modo de pruebas</a:t>
            </a:r>
            <a:endParaRPr/>
          </a:p>
          <a:p>
            <a:pPr indent="0" lvl="0" marL="0" marR="0" rtl="0" algn="l">
              <a:spcBef>
                <a:spcPts val="0"/>
              </a:spcBef>
              <a:spcAft>
                <a:spcPts val="0"/>
              </a:spcAft>
              <a:buClr>
                <a:schemeClr val="dk1"/>
              </a:buClr>
              <a:buSzPts val="2000"/>
              <a:buNone/>
            </a:pPr>
            <a:r>
              <a:rPr lang="es-BO" sz="2000">
                <a:latin typeface="Calibri"/>
                <a:ea typeface="Calibri"/>
                <a:cs typeface="Calibri"/>
                <a:sym typeface="Calibri"/>
              </a:rPr>
              <a:t>Estos se acceden mediante los botones de navegación</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sz="2000"/>
          </a:p>
        </p:txBody>
      </p:sp>
      <p:sp>
        <p:nvSpPr>
          <p:cNvPr id="371" name="Google Shape;371;p2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SENSOR DE ULTRASONIDO</a:t>
            </a:r>
            <a:endParaRPr/>
          </a:p>
        </p:txBody>
      </p:sp>
      <p:sp>
        <p:nvSpPr>
          <p:cNvPr id="377" name="Google Shape;377;p24"/>
          <p:cNvSpPr txBox="1"/>
          <p:nvPr>
            <p:ph idx="1" type="body"/>
          </p:nvPr>
        </p:nvSpPr>
        <p:spPr>
          <a:xfrm>
            <a:off x="1338469" y="1924792"/>
            <a:ext cx="5552661" cy="1769336"/>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000"/>
              <a:buNone/>
            </a:pPr>
            <a:r>
              <a:rPr lang="es-BO" sz="2000">
                <a:latin typeface="Calibri"/>
                <a:ea typeface="Calibri"/>
                <a:cs typeface="Calibri"/>
                <a:sym typeface="Calibri"/>
              </a:rPr>
              <a:t>El sensor de ultrasonido Allen modelo 873P-DCAC1S-D5 es un sensor ultrasónico programable ideal para medir la altura del nivel de líquido, tiene un rango de medición de 150 a 1500 mm.</a:t>
            </a:r>
            <a:endParaRPr sz="2000">
              <a:latin typeface="Calibri"/>
              <a:ea typeface="Calibri"/>
              <a:cs typeface="Calibri"/>
              <a:sym typeface="Calibri"/>
            </a:endParaRPr>
          </a:p>
        </p:txBody>
      </p:sp>
      <p:sp>
        <p:nvSpPr>
          <p:cNvPr id="378" name="Google Shape;378;p24"/>
          <p:cNvSpPr txBox="1"/>
          <p:nvPr/>
        </p:nvSpPr>
        <p:spPr>
          <a:xfrm>
            <a:off x="1338469" y="4048540"/>
            <a:ext cx="5738191" cy="1586072"/>
          </a:xfrm>
          <a:prstGeom prst="rect">
            <a:avLst/>
          </a:prstGeom>
          <a:noFill/>
          <a:ln>
            <a:noFill/>
          </a:ln>
        </p:spPr>
        <p:txBody>
          <a:bodyPr anchorCtr="0" anchor="t" bIns="45700" lIns="91425" spcFirstLastPara="1" rIns="91425" wrap="square" tIns="45700">
            <a:normAutofit/>
          </a:bodyPr>
          <a:lstStyle/>
          <a:p>
            <a:pPr indent="0" lvl="0" marL="0" marR="0" rtl="0" algn="just">
              <a:spcBef>
                <a:spcPts val="0"/>
              </a:spcBef>
              <a:spcAft>
                <a:spcPts val="0"/>
              </a:spcAft>
              <a:buClr>
                <a:schemeClr val="dk1"/>
              </a:buClr>
              <a:buSzPts val="2000"/>
              <a:buFont typeface="Arial"/>
              <a:buNone/>
            </a:pPr>
            <a:r>
              <a:rPr lang="es-BO" sz="2000">
                <a:solidFill>
                  <a:schemeClr val="dk1"/>
                </a:solidFill>
                <a:latin typeface="Calibri"/>
                <a:ea typeface="Calibri"/>
                <a:cs typeface="Calibri"/>
                <a:sym typeface="Calibri"/>
              </a:rPr>
              <a:t>El sensor cuenta con </a:t>
            </a:r>
            <a:r>
              <a:rPr b="1" lang="es-BO" sz="2000">
                <a:solidFill>
                  <a:schemeClr val="dk1"/>
                </a:solidFill>
                <a:latin typeface="Calibri"/>
                <a:ea typeface="Calibri"/>
                <a:cs typeface="Calibri"/>
                <a:sym typeface="Calibri"/>
              </a:rPr>
              <a:t>5 pines</a:t>
            </a:r>
            <a:r>
              <a:rPr lang="es-BO" sz="2000">
                <a:solidFill>
                  <a:schemeClr val="dk1"/>
                </a:solidFill>
                <a:latin typeface="Calibri"/>
                <a:ea typeface="Calibri"/>
                <a:cs typeface="Calibri"/>
                <a:sym typeface="Calibri"/>
              </a:rPr>
              <a:t> los cuales 2 son para alimentación de 19 a 30 VDC, 2 de la salida discreta P1 y P2, y 1 de la salida analógica de corriente entre 4 a 20 mA.</a:t>
            </a:r>
            <a:endParaRPr sz="2000">
              <a:solidFill>
                <a:schemeClr val="dk1"/>
              </a:solidFill>
              <a:latin typeface="Calibri"/>
              <a:ea typeface="Calibri"/>
              <a:cs typeface="Calibri"/>
              <a:sym typeface="Calibri"/>
            </a:endParaRPr>
          </a:p>
        </p:txBody>
      </p:sp>
      <p:pic>
        <p:nvPicPr>
          <p:cNvPr id="379" name="Google Shape;379;p24"/>
          <p:cNvPicPr preferRelativeResize="0"/>
          <p:nvPr/>
        </p:nvPicPr>
        <p:blipFill rotWithShape="1">
          <a:blip r:embed="rId3">
            <a:alphaModFix/>
          </a:blip>
          <a:srcRect b="0" l="0" r="0" t="0"/>
          <a:stretch/>
        </p:blipFill>
        <p:spPr>
          <a:xfrm>
            <a:off x="7527235" y="1271865"/>
            <a:ext cx="3121307" cy="5034366"/>
          </a:xfrm>
          <a:prstGeom prst="rect">
            <a:avLst/>
          </a:prstGeom>
          <a:noFill/>
          <a:ln>
            <a:noFill/>
          </a:ln>
        </p:spPr>
      </p:pic>
      <p:sp>
        <p:nvSpPr>
          <p:cNvPr id="380" name="Google Shape;380;p24"/>
          <p:cNvSpPr txBox="1"/>
          <p:nvPr/>
        </p:nvSpPr>
        <p:spPr>
          <a:xfrm>
            <a:off x="7818782" y="6306231"/>
            <a:ext cx="2538212" cy="497300"/>
          </a:xfrm>
          <a:prstGeom prst="rect">
            <a:avLst/>
          </a:prstGeom>
          <a:noFill/>
          <a:ln>
            <a:noFill/>
          </a:ln>
        </p:spPr>
        <p:txBody>
          <a:bodyPr anchorCtr="0" anchor="t" bIns="45700" lIns="91425" spcFirstLastPara="1" rIns="91425" wrap="square" tIns="45700">
            <a:normAutofit/>
          </a:bodyPr>
          <a:lstStyle/>
          <a:p>
            <a:pPr indent="0" lvl="0" marL="0" marR="0" rtl="0" algn="just">
              <a:spcBef>
                <a:spcPts val="0"/>
              </a:spcBef>
              <a:spcAft>
                <a:spcPts val="0"/>
              </a:spcAft>
              <a:buClr>
                <a:schemeClr val="dk1"/>
              </a:buClr>
              <a:buSzPts val="2000"/>
              <a:buFont typeface="Arial"/>
              <a:buNone/>
            </a:pPr>
            <a:r>
              <a:rPr lang="es-BO" sz="2000">
                <a:solidFill>
                  <a:schemeClr val="dk1"/>
                </a:solidFill>
                <a:latin typeface="Calibri"/>
                <a:ea typeface="Calibri"/>
                <a:cs typeface="Calibri"/>
                <a:sym typeface="Calibri"/>
              </a:rPr>
              <a:t>Ubicación del sensor</a:t>
            </a:r>
            <a:endParaRPr/>
          </a:p>
        </p:txBody>
      </p:sp>
      <p:sp>
        <p:nvSpPr>
          <p:cNvPr id="381" name="Google Shape;381;p2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5"/>
          <p:cNvSpPr txBox="1"/>
          <p:nvPr>
            <p:ph type="title"/>
          </p:nvPr>
        </p:nvSpPr>
        <p:spPr>
          <a:xfrm>
            <a:off x="609600" y="274638"/>
            <a:ext cx="10972800" cy="93131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PROGRAMACIÓN DEL SENSOR DE ULTRASONIDO</a:t>
            </a:r>
            <a:endParaRPr sz="3200"/>
          </a:p>
        </p:txBody>
      </p:sp>
      <p:sp>
        <p:nvSpPr>
          <p:cNvPr id="387" name="Google Shape;387;p25"/>
          <p:cNvSpPr txBox="1"/>
          <p:nvPr>
            <p:ph idx="1" type="body"/>
          </p:nvPr>
        </p:nvSpPr>
        <p:spPr>
          <a:xfrm>
            <a:off x="1550504" y="1948903"/>
            <a:ext cx="4002157" cy="3157329"/>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000"/>
              <a:buNone/>
            </a:pPr>
            <a:r>
              <a:rPr lang="es-BO" sz="2000">
                <a:latin typeface="Calibri"/>
                <a:ea typeface="Calibri"/>
                <a:cs typeface="Calibri"/>
                <a:sym typeface="Calibri"/>
              </a:rPr>
              <a:t>La programación se lo realiza con el botón de configuración que se encuentra en la parte superior del sensor, eligiendo los puntos P1 y P2, también cuenta con 3 led’s indicadores 2 amarillos que corresponden a P1 y P2, y 1 led verde para indicar si un objeto está presente en el rango del sensor.</a:t>
            </a:r>
            <a:endParaRPr sz="2000"/>
          </a:p>
        </p:txBody>
      </p:sp>
      <p:pic>
        <p:nvPicPr>
          <p:cNvPr id="388" name="Google Shape;388;p25"/>
          <p:cNvPicPr preferRelativeResize="0"/>
          <p:nvPr/>
        </p:nvPicPr>
        <p:blipFill rotWithShape="1">
          <a:blip r:embed="rId3">
            <a:alphaModFix/>
          </a:blip>
          <a:srcRect b="0" l="0" r="0" t="0"/>
          <a:stretch/>
        </p:blipFill>
        <p:spPr>
          <a:xfrm>
            <a:off x="5814662" y="1657355"/>
            <a:ext cx="5120516" cy="3802540"/>
          </a:xfrm>
          <a:prstGeom prst="rect">
            <a:avLst/>
          </a:prstGeom>
          <a:noFill/>
          <a:ln>
            <a:noFill/>
          </a:ln>
        </p:spPr>
      </p:pic>
      <p:sp>
        <p:nvSpPr>
          <p:cNvPr id="389" name="Google Shape;389;p2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SENSOR VIBRATORIO</a:t>
            </a:r>
            <a:endParaRPr/>
          </a:p>
        </p:txBody>
      </p:sp>
      <p:sp>
        <p:nvSpPr>
          <p:cNvPr id="395" name="Google Shape;395;p26"/>
          <p:cNvSpPr txBox="1"/>
          <p:nvPr>
            <p:ph idx="1" type="body"/>
          </p:nvPr>
        </p:nvSpPr>
        <p:spPr>
          <a:xfrm>
            <a:off x="1086678" y="1322836"/>
            <a:ext cx="10270435" cy="1143001"/>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000"/>
              <a:buNone/>
            </a:pPr>
            <a:r>
              <a:rPr lang="es-BO" sz="2000">
                <a:latin typeface="Calibri"/>
                <a:ea typeface="Calibri"/>
                <a:cs typeface="Calibri"/>
                <a:sym typeface="Calibri"/>
              </a:rPr>
              <a:t>Los interruptores de nivel, al igual que los sensores de nivel, son instrumentos de medición utilizados principalmente para detectar el nivel de llenado de productos almacenados en tanques, silos y otros depósitos de almacenamiento.</a:t>
            </a:r>
            <a:endParaRPr sz="2000"/>
          </a:p>
        </p:txBody>
      </p:sp>
      <p:sp>
        <p:nvSpPr>
          <p:cNvPr id="396" name="Google Shape;396;p26"/>
          <p:cNvSpPr txBox="1"/>
          <p:nvPr/>
        </p:nvSpPr>
        <p:spPr>
          <a:xfrm>
            <a:off x="1086678" y="2607918"/>
            <a:ext cx="6586332" cy="195083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000"/>
              <a:buFont typeface="Arial"/>
              <a:buNone/>
            </a:pPr>
            <a:r>
              <a:rPr lang="es-BO" sz="2000">
                <a:solidFill>
                  <a:schemeClr val="dk1"/>
                </a:solidFill>
                <a:latin typeface="Calibri"/>
                <a:ea typeface="Calibri"/>
                <a:cs typeface="Calibri"/>
                <a:sym typeface="Calibri"/>
              </a:rPr>
              <a:t>Al detectar la alteración de amplitud y de frecuencia de las vibraciones, el interruptor cambia de estado y esto es visible gracias a los indicadores lumínicos que tiene incorporado (luz verde y roja). En la modelo del sensor usado se cuenta con 4 clavijas, 2 corresponden a la alimentación, una salida digital de 0V a 24VCC y una tierra.</a:t>
            </a:r>
            <a:endParaRPr sz="2000">
              <a:solidFill>
                <a:schemeClr val="dk1"/>
              </a:solidFill>
              <a:latin typeface="Calibri"/>
              <a:ea typeface="Calibri"/>
              <a:cs typeface="Calibri"/>
              <a:sym typeface="Calibri"/>
            </a:endParaRPr>
          </a:p>
        </p:txBody>
      </p:sp>
      <p:pic>
        <p:nvPicPr>
          <p:cNvPr id="397" name="Google Shape;397;p26"/>
          <p:cNvPicPr preferRelativeResize="0"/>
          <p:nvPr/>
        </p:nvPicPr>
        <p:blipFill rotWithShape="1">
          <a:blip r:embed="rId3">
            <a:alphaModFix/>
          </a:blip>
          <a:srcRect b="0" l="0" r="0" t="0"/>
          <a:stretch/>
        </p:blipFill>
        <p:spPr>
          <a:xfrm>
            <a:off x="7868437" y="2471942"/>
            <a:ext cx="2958589" cy="3658470"/>
          </a:xfrm>
          <a:prstGeom prst="rect">
            <a:avLst/>
          </a:prstGeom>
          <a:noFill/>
          <a:ln>
            <a:noFill/>
          </a:ln>
        </p:spPr>
      </p:pic>
      <p:pic>
        <p:nvPicPr>
          <p:cNvPr id="398" name="Google Shape;398;p26"/>
          <p:cNvPicPr preferRelativeResize="0"/>
          <p:nvPr/>
        </p:nvPicPr>
        <p:blipFill rotWithShape="1">
          <a:blip r:embed="rId4">
            <a:alphaModFix/>
          </a:blip>
          <a:srcRect b="0" l="0" r="0" t="0"/>
          <a:stretch/>
        </p:blipFill>
        <p:spPr>
          <a:xfrm>
            <a:off x="1205948" y="4700829"/>
            <a:ext cx="5973376" cy="1324741"/>
          </a:xfrm>
          <a:prstGeom prst="rect">
            <a:avLst/>
          </a:prstGeom>
          <a:noFill/>
          <a:ln>
            <a:noFill/>
          </a:ln>
        </p:spPr>
      </p:pic>
      <p:pic>
        <p:nvPicPr>
          <p:cNvPr id="399" name="Google Shape;399;p26"/>
          <p:cNvPicPr preferRelativeResize="0"/>
          <p:nvPr/>
        </p:nvPicPr>
        <p:blipFill rotWithShape="1">
          <a:blip r:embed="rId5">
            <a:alphaModFix/>
          </a:blip>
          <a:srcRect b="0" l="0" r="0" t="0"/>
          <a:stretch/>
        </p:blipFill>
        <p:spPr>
          <a:xfrm>
            <a:off x="7734353" y="2135555"/>
            <a:ext cx="3622760" cy="4331244"/>
          </a:xfrm>
          <a:prstGeom prst="rect">
            <a:avLst/>
          </a:prstGeom>
          <a:noFill/>
          <a:ln>
            <a:noFill/>
          </a:ln>
        </p:spPr>
      </p:pic>
      <p:sp>
        <p:nvSpPr>
          <p:cNvPr id="400" name="Google Shape;400;p2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9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7"/>
          <p:cNvSpPr txBox="1"/>
          <p:nvPr>
            <p:ph type="title"/>
          </p:nvPr>
        </p:nvSpPr>
        <p:spPr>
          <a:xfrm>
            <a:off x="609600" y="24432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SENSOR DE PRESIÓN</a:t>
            </a:r>
            <a:endParaRPr/>
          </a:p>
        </p:txBody>
      </p:sp>
      <p:sp>
        <p:nvSpPr>
          <p:cNvPr id="406" name="Google Shape;406;p27"/>
          <p:cNvSpPr txBox="1"/>
          <p:nvPr>
            <p:ph idx="1" type="body"/>
          </p:nvPr>
        </p:nvSpPr>
        <p:spPr>
          <a:xfrm>
            <a:off x="1113182" y="1152940"/>
            <a:ext cx="10257183" cy="11430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000"/>
              <a:buNone/>
            </a:pPr>
            <a:r>
              <a:rPr lang="es-BO" sz="2000">
                <a:latin typeface="Calibri"/>
                <a:ea typeface="Calibri"/>
                <a:cs typeface="Calibri"/>
                <a:sym typeface="Calibri"/>
              </a:rPr>
              <a:t>Los transductores de presión capacitivos son medidores que se basan en la utilización de un elemento elástico cuya deformación, proporcional a la diferencia de presión entre ambos lados de ese elemento elástico, se convierte en una señal eléctrica.</a:t>
            </a:r>
            <a:endParaRPr sz="2000">
              <a:latin typeface="Times New Roman"/>
              <a:ea typeface="Times New Roman"/>
              <a:cs typeface="Times New Roman"/>
              <a:sym typeface="Times New Roman"/>
            </a:endParaRPr>
          </a:p>
        </p:txBody>
      </p:sp>
      <p:sp>
        <p:nvSpPr>
          <p:cNvPr id="407" name="Google Shape;407;p27"/>
          <p:cNvSpPr txBox="1"/>
          <p:nvPr/>
        </p:nvSpPr>
        <p:spPr>
          <a:xfrm>
            <a:off x="1113182" y="2250558"/>
            <a:ext cx="5605670" cy="2976424"/>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000"/>
              <a:buFont typeface="Arial"/>
              <a:buNone/>
            </a:pPr>
            <a:r>
              <a:rPr lang="es-BO" sz="2000">
                <a:solidFill>
                  <a:schemeClr val="dk1"/>
                </a:solidFill>
                <a:latin typeface="Calibri"/>
                <a:ea typeface="Calibri"/>
                <a:cs typeface="Calibri"/>
                <a:sym typeface="Calibri"/>
              </a:rPr>
              <a:t>El sensor de presión cerabar T-PMC131 es un sensor capacitivo ideal para medir presión absoluta o relativa, tiene un rango de medición de 0 a 200 mbar con una presión máxima de trabajo de 3.3 bar y cuenta con protección IP65. Cuenta únicamente con 2 hilos conectores los cuales alimentan al sensor con 24 VCC y de respuesta este proporciona una corriente entre 4 a 20 mA por el mismo cable conductor. </a:t>
            </a:r>
            <a:endParaRPr sz="2000">
              <a:solidFill>
                <a:schemeClr val="dk1"/>
              </a:solidFill>
              <a:latin typeface="Times New Roman"/>
              <a:ea typeface="Times New Roman"/>
              <a:cs typeface="Times New Roman"/>
              <a:sym typeface="Times New Roman"/>
            </a:endParaRPr>
          </a:p>
          <a:p>
            <a:pPr indent="0" lvl="0" marL="0" marR="0" rtl="0" algn="just">
              <a:spcBef>
                <a:spcPts val="40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p:txBody>
      </p:sp>
      <p:pic>
        <p:nvPicPr>
          <p:cNvPr id="408" name="Google Shape;408;p27"/>
          <p:cNvPicPr preferRelativeResize="0"/>
          <p:nvPr/>
        </p:nvPicPr>
        <p:blipFill rotWithShape="1">
          <a:blip r:embed="rId3">
            <a:alphaModFix/>
          </a:blip>
          <a:srcRect b="0" l="0" r="0" t="0"/>
          <a:stretch/>
        </p:blipFill>
        <p:spPr>
          <a:xfrm>
            <a:off x="6818245" y="2599915"/>
            <a:ext cx="4393095" cy="2920503"/>
          </a:xfrm>
          <a:prstGeom prst="rect">
            <a:avLst/>
          </a:prstGeom>
          <a:noFill/>
          <a:ln>
            <a:noFill/>
          </a:ln>
        </p:spPr>
      </p:pic>
      <p:pic>
        <p:nvPicPr>
          <p:cNvPr id="409" name="Google Shape;409;p27"/>
          <p:cNvPicPr preferRelativeResize="0"/>
          <p:nvPr/>
        </p:nvPicPr>
        <p:blipFill rotWithShape="1">
          <a:blip r:embed="rId4">
            <a:alphaModFix/>
          </a:blip>
          <a:srcRect b="37503" l="0" r="0" t="0"/>
          <a:stretch/>
        </p:blipFill>
        <p:spPr>
          <a:xfrm>
            <a:off x="7009733" y="2090175"/>
            <a:ext cx="4010117" cy="3297191"/>
          </a:xfrm>
          <a:prstGeom prst="rect">
            <a:avLst/>
          </a:prstGeom>
          <a:noFill/>
          <a:ln>
            <a:noFill/>
          </a:ln>
        </p:spPr>
      </p:pic>
      <p:pic>
        <p:nvPicPr>
          <p:cNvPr id="410" name="Google Shape;410;p27"/>
          <p:cNvPicPr preferRelativeResize="0"/>
          <p:nvPr/>
        </p:nvPicPr>
        <p:blipFill rotWithShape="1">
          <a:blip r:embed="rId4">
            <a:alphaModFix/>
          </a:blip>
          <a:srcRect b="0" l="0" r="0" t="66012"/>
          <a:stretch/>
        </p:blipFill>
        <p:spPr>
          <a:xfrm>
            <a:off x="2663020" y="5064931"/>
            <a:ext cx="4010117" cy="1793069"/>
          </a:xfrm>
          <a:prstGeom prst="rect">
            <a:avLst/>
          </a:prstGeom>
          <a:noFill/>
          <a:ln>
            <a:noFill/>
          </a:ln>
        </p:spPr>
      </p:pic>
      <p:sp>
        <p:nvSpPr>
          <p:cNvPr id="411" name="Google Shape;411;p2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0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SENSORES DE TEMPERATURA</a:t>
            </a:r>
            <a:endParaRPr/>
          </a:p>
        </p:txBody>
      </p:sp>
      <p:sp>
        <p:nvSpPr>
          <p:cNvPr id="417" name="Google Shape;417;p28"/>
          <p:cNvSpPr txBox="1"/>
          <p:nvPr>
            <p:ph idx="1" type="body"/>
          </p:nvPr>
        </p:nvSpPr>
        <p:spPr>
          <a:xfrm>
            <a:off x="1033669" y="1414327"/>
            <a:ext cx="10323443" cy="11430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000"/>
              <a:buNone/>
            </a:pPr>
            <a:r>
              <a:rPr lang="es-BO" sz="2000">
                <a:latin typeface="Calibri"/>
                <a:ea typeface="Calibri"/>
                <a:cs typeface="Calibri"/>
                <a:sym typeface="Calibri"/>
              </a:rPr>
              <a:t>El sistema cuenta con 2 tipos de sensores las cuales son la Termocupla TD12 y el sensor de temperatura RTD OMNIGRAND T TST487. Estos sensores se ubican en la parte trasera del sistema y se conectan al controlador de temperatura.</a:t>
            </a:r>
            <a:endParaRPr sz="2000">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sz="2000"/>
          </a:p>
        </p:txBody>
      </p:sp>
      <p:pic>
        <p:nvPicPr>
          <p:cNvPr id="418" name="Google Shape;418;p28"/>
          <p:cNvPicPr preferRelativeResize="0"/>
          <p:nvPr/>
        </p:nvPicPr>
        <p:blipFill rotWithShape="1">
          <a:blip r:embed="rId3">
            <a:alphaModFix/>
          </a:blip>
          <a:srcRect b="0" l="0" r="0" t="0"/>
          <a:stretch/>
        </p:blipFill>
        <p:spPr>
          <a:xfrm>
            <a:off x="1033669" y="2414959"/>
            <a:ext cx="10304762" cy="3771429"/>
          </a:xfrm>
          <a:prstGeom prst="rect">
            <a:avLst/>
          </a:prstGeom>
          <a:noFill/>
          <a:ln>
            <a:noFill/>
          </a:ln>
        </p:spPr>
      </p:pic>
      <p:sp>
        <p:nvSpPr>
          <p:cNvPr id="419" name="Google Shape;419;p2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SENSOR DE TEMPERATURA TC</a:t>
            </a:r>
            <a:endParaRPr sz="3200"/>
          </a:p>
        </p:txBody>
      </p:sp>
      <p:sp>
        <p:nvSpPr>
          <p:cNvPr id="425" name="Google Shape;425;p29"/>
          <p:cNvSpPr txBox="1"/>
          <p:nvPr>
            <p:ph idx="1" type="body"/>
          </p:nvPr>
        </p:nvSpPr>
        <p:spPr>
          <a:xfrm>
            <a:off x="1126433" y="1453796"/>
            <a:ext cx="10190923"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s-BO" sz="2000">
                <a:latin typeface="Calibri"/>
                <a:ea typeface="Calibri"/>
                <a:cs typeface="Calibri"/>
                <a:sym typeface="Calibri"/>
              </a:rPr>
              <a:t>Este sensor de tipo J Hierro y Constantán(aleación de cobre y niquel), tiene un rango de trabajo de -40 C° a 750 °C es apto para zonas con peligro de explosión, su máxima presión de proceso a 20 °C es de 40 bar.</a:t>
            </a:r>
            <a:endParaRPr sz="2000"/>
          </a:p>
        </p:txBody>
      </p:sp>
      <p:pic>
        <p:nvPicPr>
          <p:cNvPr id="426" name="Google Shape;426;p29"/>
          <p:cNvPicPr preferRelativeResize="0"/>
          <p:nvPr/>
        </p:nvPicPr>
        <p:blipFill rotWithShape="1">
          <a:blip r:embed="rId3">
            <a:alphaModFix/>
          </a:blip>
          <a:srcRect b="0" l="0" r="0" t="0"/>
          <a:stretch/>
        </p:blipFill>
        <p:spPr>
          <a:xfrm>
            <a:off x="3324892" y="3922643"/>
            <a:ext cx="5794005" cy="1616765"/>
          </a:xfrm>
          <a:prstGeom prst="rect">
            <a:avLst/>
          </a:prstGeom>
          <a:noFill/>
          <a:ln>
            <a:noFill/>
          </a:ln>
        </p:spPr>
      </p:pic>
      <p:sp>
        <p:nvSpPr>
          <p:cNvPr id="427" name="Google Shape;427;p29"/>
          <p:cNvSpPr txBox="1"/>
          <p:nvPr/>
        </p:nvSpPr>
        <p:spPr>
          <a:xfrm>
            <a:off x="1126433" y="2738105"/>
            <a:ext cx="9925879" cy="1055545"/>
          </a:xfrm>
          <a:prstGeom prst="rect">
            <a:avLst/>
          </a:prstGeom>
          <a:noFill/>
          <a:ln>
            <a:noFill/>
          </a:ln>
        </p:spPr>
        <p:txBody>
          <a:bodyPr anchorCtr="0" anchor="t" bIns="45700" lIns="91425" spcFirstLastPara="1" rIns="91425" wrap="square" tIns="45700">
            <a:spAutoFit/>
          </a:bodyPr>
          <a:lstStyle/>
          <a:p>
            <a:pPr indent="0" lvl="0" marL="0" marR="0" rtl="0" algn="just">
              <a:lnSpc>
                <a:spcPct val="106000"/>
              </a:lnSpc>
              <a:spcBef>
                <a:spcPts val="0"/>
              </a:spcBef>
              <a:spcAft>
                <a:spcPts val="0"/>
              </a:spcAft>
              <a:buNone/>
            </a:pPr>
            <a:r>
              <a:rPr lang="es-BO" sz="2000">
                <a:solidFill>
                  <a:schemeClr val="dk1"/>
                </a:solidFill>
                <a:latin typeface="Calibri"/>
                <a:ea typeface="Calibri"/>
                <a:cs typeface="Calibri"/>
                <a:sym typeface="Calibri"/>
              </a:rPr>
              <a:t>Una termocupla se hace con dos alambres de distinto material unidos en un extremo. Al aplicar temperatura en la unión de los metales se genera un voltaje muy pequeño del orden de los milivolts el cual aumenta con la temperatura.</a:t>
            </a:r>
            <a:endParaRPr sz="2000">
              <a:solidFill>
                <a:schemeClr val="dk1"/>
              </a:solidFill>
              <a:latin typeface="Times New Roman"/>
              <a:ea typeface="Times New Roman"/>
              <a:cs typeface="Times New Roman"/>
              <a:sym typeface="Times New Roman"/>
            </a:endParaRPr>
          </a:p>
        </p:txBody>
      </p:sp>
      <p:sp>
        <p:nvSpPr>
          <p:cNvPr id="428" name="Google Shape;428;p2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SENSOR DE TEMPERATURA RTD</a:t>
            </a:r>
            <a:endParaRPr/>
          </a:p>
        </p:txBody>
      </p:sp>
      <p:sp>
        <p:nvSpPr>
          <p:cNvPr id="434" name="Google Shape;434;p30"/>
          <p:cNvSpPr txBox="1"/>
          <p:nvPr>
            <p:ph idx="1" type="body"/>
          </p:nvPr>
        </p:nvSpPr>
        <p:spPr>
          <a:xfrm>
            <a:off x="1192695" y="5048963"/>
            <a:ext cx="10217428" cy="1023729"/>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000000"/>
              </a:buClr>
              <a:buSzPts val="2000"/>
              <a:buNone/>
            </a:pPr>
            <a:r>
              <a:rPr lang="es-BO" sz="2000">
                <a:solidFill>
                  <a:srgbClr val="000000"/>
                </a:solidFill>
                <a:latin typeface="Calibri"/>
                <a:ea typeface="Calibri"/>
                <a:cs typeface="Calibri"/>
                <a:sym typeface="Calibri"/>
              </a:rPr>
              <a:t>Los RTD</a:t>
            </a:r>
            <a:r>
              <a:rPr b="1" lang="es-BO" sz="2000">
                <a:solidFill>
                  <a:srgbClr val="000000"/>
                </a:solidFill>
                <a:latin typeface="Calibri"/>
                <a:ea typeface="Calibri"/>
                <a:cs typeface="Calibri"/>
                <a:sym typeface="Calibri"/>
              </a:rPr>
              <a:t> </a:t>
            </a:r>
            <a:r>
              <a:rPr lang="es-BO" sz="2000">
                <a:solidFill>
                  <a:srgbClr val="000000"/>
                </a:solidFill>
                <a:latin typeface="Calibri"/>
                <a:ea typeface="Calibri"/>
                <a:cs typeface="Calibri"/>
                <a:sym typeface="Calibri"/>
              </a:rPr>
              <a:t>son sensores de temperatura resistivos. En ellos se aprovecha el efecto que tiene la temperatura en la conducción de los electrones para que, ante un aumento de temperatura, haya un aumento de la resistencia eléctrica que presentan.</a:t>
            </a:r>
            <a:endParaRPr sz="2000">
              <a:latin typeface="Times New Roman"/>
              <a:ea typeface="Times New Roman"/>
              <a:cs typeface="Times New Roman"/>
              <a:sym typeface="Times New Roman"/>
            </a:endParaRPr>
          </a:p>
        </p:txBody>
      </p:sp>
      <p:sp>
        <p:nvSpPr>
          <p:cNvPr id="435" name="Google Shape;435;p30"/>
          <p:cNvSpPr txBox="1"/>
          <p:nvPr/>
        </p:nvSpPr>
        <p:spPr>
          <a:xfrm>
            <a:off x="1192695" y="1417638"/>
            <a:ext cx="10217427" cy="140038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Calibri"/>
                <a:ea typeface="Calibri"/>
                <a:cs typeface="Calibri"/>
                <a:sym typeface="Calibri"/>
              </a:rPr>
              <a:t>Este sensor RTD es un tipo</a:t>
            </a:r>
            <a:r>
              <a:rPr lang="es-BO" sz="2000">
                <a:solidFill>
                  <a:srgbClr val="000000"/>
                </a:solidFill>
                <a:latin typeface="Calibri"/>
                <a:ea typeface="Calibri"/>
                <a:cs typeface="Calibri"/>
                <a:sym typeface="Calibri"/>
              </a:rPr>
              <a:t> Pt100 las cuales deben su nombre al hecho de estar fabricados de platino (Pt) y presentar una resistencia de 100ohms respectivamente a 0° C.</a:t>
            </a:r>
            <a:endParaRPr sz="2000">
              <a:solidFill>
                <a:schemeClr val="dk1"/>
              </a:solidFill>
              <a:latin typeface="Times New Roman"/>
              <a:ea typeface="Times New Roman"/>
              <a:cs typeface="Times New Roman"/>
              <a:sym typeface="Times New Roman"/>
            </a:endParaRPr>
          </a:p>
          <a:p>
            <a:pPr indent="0" lvl="0" marL="0" marR="0" rtl="0" algn="just">
              <a:spcBef>
                <a:spcPts val="600"/>
              </a:spcBef>
              <a:spcAft>
                <a:spcPts val="0"/>
              </a:spcAft>
              <a:buNone/>
            </a:pPr>
            <a:r>
              <a:rPr lang="es-BO" sz="2000">
                <a:solidFill>
                  <a:schemeClr val="dk1"/>
                </a:solidFill>
                <a:latin typeface="Calibri"/>
                <a:ea typeface="Calibri"/>
                <a:cs typeface="Calibri"/>
                <a:sym typeface="Calibri"/>
              </a:rPr>
              <a:t>Tiene la conexión de cuatro hilos, lo cual hace al sensor más preciso. Tiene un rango de temperatura de -50°C a + 300°C, máxima presión de proceso (estática): 20 °C: 20 bar. </a:t>
            </a:r>
            <a:endParaRPr sz="2000">
              <a:solidFill>
                <a:schemeClr val="dk1"/>
              </a:solidFill>
              <a:latin typeface="Calibri"/>
              <a:ea typeface="Calibri"/>
              <a:cs typeface="Calibri"/>
              <a:sym typeface="Calibri"/>
            </a:endParaRPr>
          </a:p>
        </p:txBody>
      </p:sp>
      <p:pic>
        <p:nvPicPr>
          <p:cNvPr id="436" name="Google Shape;436;p30"/>
          <p:cNvPicPr preferRelativeResize="0"/>
          <p:nvPr/>
        </p:nvPicPr>
        <p:blipFill rotWithShape="1">
          <a:blip r:embed="rId3">
            <a:alphaModFix/>
          </a:blip>
          <a:srcRect b="0" l="0" r="0" t="3703"/>
          <a:stretch/>
        </p:blipFill>
        <p:spPr>
          <a:xfrm>
            <a:off x="4158076" y="2904783"/>
            <a:ext cx="3475176" cy="2045764"/>
          </a:xfrm>
          <a:prstGeom prst="rect">
            <a:avLst/>
          </a:prstGeom>
          <a:noFill/>
          <a:ln>
            <a:noFill/>
          </a:ln>
        </p:spPr>
      </p:pic>
      <p:sp>
        <p:nvSpPr>
          <p:cNvPr id="437" name="Google Shape;437;p3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1"/>
          <p:cNvSpPr/>
          <p:nvPr/>
        </p:nvSpPr>
        <p:spPr>
          <a:xfrm>
            <a:off x="3081427" y="2395249"/>
            <a:ext cx="6506710" cy="2308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2060"/>
              </a:buClr>
              <a:buSzPts val="3600"/>
              <a:buFont typeface="Calibri"/>
              <a:buNone/>
            </a:pPr>
            <a:r>
              <a:rPr b="1" i="0" lang="es-BO" sz="3600" u="none" cap="none" strike="noStrike">
                <a:solidFill>
                  <a:srgbClr val="002060"/>
                </a:solidFill>
                <a:latin typeface="Calibri"/>
                <a:ea typeface="Calibri"/>
                <a:cs typeface="Calibri"/>
                <a:sym typeface="Calibri"/>
              </a:rPr>
              <a:t>CARACTERIZACION DE SENSORES Y ACTUADORES</a:t>
            </a:r>
            <a:endParaRPr/>
          </a:p>
          <a:p>
            <a:pPr indent="0" lvl="0" marL="0" marR="0" rtl="0" algn="ctr">
              <a:lnSpc>
                <a:spcPct val="100000"/>
              </a:lnSpc>
              <a:spcBef>
                <a:spcPts val="0"/>
              </a:spcBef>
              <a:spcAft>
                <a:spcPts val="0"/>
              </a:spcAft>
              <a:buClr>
                <a:schemeClr val="dk1"/>
              </a:buClr>
              <a:buSzPts val="3600"/>
              <a:buFont typeface="Calibri"/>
              <a:buNone/>
            </a:pPr>
            <a:r>
              <a:t/>
            </a:r>
            <a:endParaRPr b="1" i="0" sz="3600"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2060"/>
              </a:buClr>
              <a:buSzPts val="3600"/>
              <a:buFont typeface="Calibri"/>
              <a:buNone/>
            </a:pPr>
            <a:r>
              <a:rPr b="1" i="0" lang="es-BO" sz="3600" u="none" cap="none" strike="noStrike">
                <a:solidFill>
                  <a:srgbClr val="002060"/>
                </a:solidFill>
                <a:latin typeface="Calibri"/>
                <a:ea typeface="Calibri"/>
                <a:cs typeface="Calibri"/>
                <a:sym typeface="Calibri"/>
              </a:rPr>
              <a:t>Pruebas en Laboratorio</a:t>
            </a:r>
            <a:endParaRPr b="0" i="0" sz="3600" u="none" cap="none" strike="noStrike">
              <a:solidFill>
                <a:srgbClr val="002060"/>
              </a:solidFill>
              <a:latin typeface="Calibri"/>
              <a:ea typeface="Calibri"/>
              <a:cs typeface="Calibri"/>
              <a:sym typeface="Calibri"/>
            </a:endParaRPr>
          </a:p>
        </p:txBody>
      </p:sp>
      <p:sp>
        <p:nvSpPr>
          <p:cNvPr id="443" name="Google Shape;443;p3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s-BO"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2"/>
          <p:cNvSpPr/>
          <p:nvPr/>
        </p:nvSpPr>
        <p:spPr>
          <a:xfrm>
            <a:off x="1501480" y="192090"/>
            <a:ext cx="2085314"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Calibri"/>
              <a:buNone/>
            </a:pPr>
            <a:r>
              <a:rPr b="1" i="0" lang="es-BO" sz="2200" u="none" cap="none" strike="noStrike">
                <a:solidFill>
                  <a:srgbClr val="002060"/>
                </a:solidFill>
                <a:latin typeface="Calibri"/>
                <a:ea typeface="Calibri"/>
                <a:cs typeface="Calibri"/>
                <a:sym typeface="Calibri"/>
              </a:rPr>
              <a:t>MOTOR BOMBA</a:t>
            </a:r>
            <a:endParaRPr b="0" i="0" sz="2200" u="none" cap="none" strike="noStrike">
              <a:solidFill>
                <a:srgbClr val="002060"/>
              </a:solidFill>
              <a:latin typeface="Calibri"/>
              <a:ea typeface="Calibri"/>
              <a:cs typeface="Calibri"/>
              <a:sym typeface="Calibri"/>
            </a:endParaRPr>
          </a:p>
        </p:txBody>
      </p:sp>
      <p:pic>
        <p:nvPicPr>
          <p:cNvPr id="449" name="Google Shape;449;p32"/>
          <p:cNvPicPr preferRelativeResize="0"/>
          <p:nvPr/>
        </p:nvPicPr>
        <p:blipFill rotWithShape="1">
          <a:blip r:embed="rId3">
            <a:alphaModFix/>
          </a:blip>
          <a:srcRect b="0" l="0" r="0" t="0"/>
          <a:stretch/>
        </p:blipFill>
        <p:spPr>
          <a:xfrm>
            <a:off x="1931805" y="778774"/>
            <a:ext cx="8178846" cy="3083177"/>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450" name="Google Shape;450;p32"/>
          <p:cNvSpPr/>
          <p:nvPr/>
        </p:nvSpPr>
        <p:spPr>
          <a:xfrm>
            <a:off x="1370852" y="4017749"/>
            <a:ext cx="9771766" cy="2683876"/>
          </a:xfrm>
          <a:prstGeom prst="rect">
            <a:avLst/>
          </a:prstGeom>
          <a:noFill/>
          <a:ln>
            <a:noFill/>
          </a:ln>
        </p:spPr>
        <p:txBody>
          <a:bodyPr anchorCtr="0" anchor="t" bIns="45700" lIns="91425" spcFirstLastPara="1" rIns="91425" wrap="square" tIns="45700">
            <a:spAutoFit/>
          </a:bodyPr>
          <a:lstStyle/>
          <a:p>
            <a:pPr indent="0" lvl="0" marL="0" marR="0" rtl="0" algn="just">
              <a:lnSpc>
                <a:spcPct val="107000"/>
              </a:lnSpc>
              <a:spcBef>
                <a:spcPts val="0"/>
              </a:spcBef>
              <a:spcAft>
                <a:spcPts val="0"/>
              </a:spcAft>
              <a:buClr>
                <a:srgbClr val="000000"/>
              </a:buClr>
              <a:buSzPts val="1900"/>
              <a:buFont typeface="Calibri"/>
              <a:buNone/>
            </a:pPr>
            <a:r>
              <a:rPr b="0" i="0" lang="es-BO" sz="1900" u="none" cap="none" strike="noStrike">
                <a:solidFill>
                  <a:srgbClr val="000000"/>
                </a:solidFill>
                <a:latin typeface="Calibri"/>
                <a:ea typeface="Calibri"/>
                <a:cs typeface="Calibri"/>
                <a:sym typeface="Calibri"/>
              </a:rPr>
              <a:t>Los valores de frecuencia y de voltaje fueron obtenidos directamente del variador de frecuencia, ya que este cuenta con la opción de visualización de frecuencia y su correspondiente valor en voltaje alterno a dicha frecuencia elegida o regulada, el cual va hacia el motor bomba.</a:t>
            </a:r>
            <a:endParaRPr b="0" i="0" sz="190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Clr>
                <a:srgbClr val="000000"/>
              </a:buClr>
              <a:buSzPts val="1900"/>
              <a:buFont typeface="Calibri"/>
              <a:buNone/>
            </a:pPr>
            <a:r>
              <a:rPr b="0" i="0" lang="es-BO" sz="1900" u="none" cap="none" strike="noStrike">
                <a:solidFill>
                  <a:srgbClr val="000000"/>
                </a:solidFill>
                <a:latin typeface="Calibri"/>
                <a:ea typeface="Calibri"/>
                <a:cs typeface="Calibri"/>
                <a:sym typeface="Calibri"/>
              </a:rPr>
              <a:t>En la gráfica se observa un comportamiento muy próximo a ser lineal al compararlo con línea de tendencia lineal, lo cual nos indica que las variaciones de frecuencia corresponden de forma muy próxima a las de tensión, observando también el correcto escalamiento que presentan ambas variables, donde un valor mínimo de frecuencia de 0 Hz involucra una tensión de 0 VAC y un valor máximo de frecuencia de 50 Hz significa un valor de 230 VAC.</a:t>
            </a:r>
            <a:endParaRPr b="0" i="0" sz="1900" u="none" cap="none" strike="noStrike">
              <a:solidFill>
                <a:srgbClr val="000000"/>
              </a:solidFill>
              <a:latin typeface="Calibri"/>
              <a:ea typeface="Calibri"/>
              <a:cs typeface="Calibri"/>
              <a:sym typeface="Calibri"/>
            </a:endParaRPr>
          </a:p>
        </p:txBody>
      </p:sp>
      <p:sp>
        <p:nvSpPr>
          <p:cNvPr id="451" name="Google Shape;451;p3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s-BO"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3"/>
          <p:cNvSpPr/>
          <p:nvPr/>
        </p:nvSpPr>
        <p:spPr>
          <a:xfrm>
            <a:off x="1589381" y="331317"/>
            <a:ext cx="181492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Calibri"/>
              <a:buNone/>
            </a:pPr>
            <a:r>
              <a:rPr b="1" i="0" lang="es-BO" sz="2200" u="none" cap="none" strike="noStrike">
                <a:solidFill>
                  <a:srgbClr val="002060"/>
                </a:solidFill>
                <a:latin typeface="Calibri"/>
                <a:ea typeface="Calibri"/>
                <a:cs typeface="Calibri"/>
                <a:sym typeface="Calibri"/>
              </a:rPr>
              <a:t>DOSIFICADOR</a:t>
            </a:r>
            <a:endParaRPr b="0" i="0" sz="2200" u="none" cap="none" strike="noStrike">
              <a:solidFill>
                <a:srgbClr val="002060"/>
              </a:solidFill>
              <a:latin typeface="Times New Roman"/>
              <a:ea typeface="Times New Roman"/>
              <a:cs typeface="Times New Roman"/>
              <a:sym typeface="Times New Roman"/>
            </a:endParaRPr>
          </a:p>
        </p:txBody>
      </p:sp>
      <p:pic>
        <p:nvPicPr>
          <p:cNvPr id="457" name="Google Shape;457;p33"/>
          <p:cNvPicPr preferRelativeResize="0"/>
          <p:nvPr/>
        </p:nvPicPr>
        <p:blipFill rotWithShape="1">
          <a:blip r:embed="rId3">
            <a:alphaModFix/>
          </a:blip>
          <a:srcRect b="0" l="0" r="0" t="0"/>
          <a:stretch/>
        </p:blipFill>
        <p:spPr>
          <a:xfrm>
            <a:off x="1589381" y="835930"/>
            <a:ext cx="9566299" cy="3699755"/>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458" name="Google Shape;458;p33"/>
          <p:cNvSpPr/>
          <p:nvPr/>
        </p:nvSpPr>
        <p:spPr>
          <a:xfrm>
            <a:off x="1589381" y="4535685"/>
            <a:ext cx="10097589"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0" i="0" lang="es-BO" sz="2000" u="none" cap="none" strike="noStrike">
                <a:solidFill>
                  <a:srgbClr val="000000"/>
                </a:solidFill>
                <a:latin typeface="Calibri"/>
                <a:ea typeface="Calibri"/>
                <a:cs typeface="Calibri"/>
                <a:sym typeface="Calibri"/>
              </a:rPr>
              <a:t>En la prueba de laboratorio, con ayuda del variador de frecuencia, se obtuvo una relación lineal entre el voltaje y el caudal esto para tener información del caudal que es capaz de suministrar la bomba en base al voltaje de funcionamiento del mismo.</a:t>
            </a:r>
            <a:endParaRPr b="0" i="0" sz="20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000"/>
              <a:buFont typeface="Calibri"/>
              <a:buNone/>
            </a:pPr>
            <a:r>
              <a:rPr b="0" i="0" lang="es-BO" sz="2000" u="none" cap="none" strike="noStrike">
                <a:solidFill>
                  <a:srgbClr val="000000"/>
                </a:solidFill>
                <a:latin typeface="Calibri"/>
                <a:ea typeface="Calibri"/>
                <a:cs typeface="Calibri"/>
                <a:sym typeface="Calibri"/>
              </a:rPr>
              <a:t>Los valores de voltaje fueron obtenidos directamente del variador de frecuencia, ya que este cuenta con la visualización de voltaje al variar y regular la frecuencia. Los valores de caudal fueron obtenidos del dosificador, observando la variación del mismo ante la variación de voltaje que le llega al motor bomba.</a:t>
            </a:r>
            <a:endParaRPr b="0" i="0" sz="2000" u="none" cap="none" strike="noStrike">
              <a:solidFill>
                <a:srgbClr val="000000"/>
              </a:solidFill>
              <a:latin typeface="Times New Roman"/>
              <a:ea typeface="Times New Roman"/>
              <a:cs typeface="Times New Roman"/>
              <a:sym typeface="Times New Roman"/>
            </a:endParaRPr>
          </a:p>
        </p:txBody>
      </p:sp>
      <p:sp>
        <p:nvSpPr>
          <p:cNvPr id="459" name="Google Shape;459;p3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s-BO"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4"/>
          <p:cNvSpPr/>
          <p:nvPr/>
        </p:nvSpPr>
        <p:spPr>
          <a:xfrm>
            <a:off x="1589381" y="331317"/>
            <a:ext cx="3273845"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Calibri"/>
              <a:buNone/>
            </a:pPr>
            <a:r>
              <a:rPr b="1" i="0" lang="es-BO" sz="2200" u="none" cap="none" strike="noStrike">
                <a:solidFill>
                  <a:srgbClr val="002060"/>
                </a:solidFill>
                <a:latin typeface="Calibri"/>
                <a:ea typeface="Calibri"/>
                <a:cs typeface="Calibri"/>
                <a:sym typeface="Calibri"/>
              </a:rPr>
              <a:t>SENSOR DE ULTRASONIDO</a:t>
            </a:r>
            <a:endParaRPr b="0" i="0" sz="2200" u="none" cap="none" strike="noStrike">
              <a:solidFill>
                <a:srgbClr val="002060"/>
              </a:solidFill>
              <a:latin typeface="Times New Roman"/>
              <a:ea typeface="Times New Roman"/>
              <a:cs typeface="Times New Roman"/>
              <a:sym typeface="Times New Roman"/>
            </a:endParaRPr>
          </a:p>
        </p:txBody>
      </p:sp>
      <p:pic>
        <p:nvPicPr>
          <p:cNvPr id="465" name="Google Shape;465;p34"/>
          <p:cNvPicPr preferRelativeResize="0"/>
          <p:nvPr/>
        </p:nvPicPr>
        <p:blipFill rotWithShape="1">
          <a:blip r:embed="rId3">
            <a:alphaModFix/>
          </a:blip>
          <a:srcRect b="0" l="0" r="0" t="0"/>
          <a:stretch/>
        </p:blipFill>
        <p:spPr>
          <a:xfrm>
            <a:off x="1589381" y="762204"/>
            <a:ext cx="8938124" cy="3680404"/>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466" name="Google Shape;466;p34"/>
          <p:cNvSpPr/>
          <p:nvPr/>
        </p:nvSpPr>
        <p:spPr>
          <a:xfrm>
            <a:off x="1068431" y="4573236"/>
            <a:ext cx="9980023" cy="213904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900"/>
              <a:buFont typeface="Calibri"/>
              <a:buNone/>
            </a:pPr>
            <a:r>
              <a:rPr b="0" i="0" lang="es-BO" sz="1900" u="none" cap="none" strike="noStrike">
                <a:solidFill>
                  <a:srgbClr val="000000"/>
                </a:solidFill>
                <a:latin typeface="Calibri"/>
                <a:ea typeface="Calibri"/>
                <a:cs typeface="Calibri"/>
                <a:sym typeface="Calibri"/>
              </a:rPr>
              <a:t>Los datos de altura fueron tomados visualmente de una cinta métrica colocada al costado del tanque superior y los datos de corriente (correspondiente a una altura) fueron medidos con un multímetro.</a:t>
            </a:r>
            <a:endParaRPr b="0" i="0" sz="19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900"/>
              <a:buFont typeface="Calibri"/>
              <a:buNone/>
            </a:pPr>
            <a:r>
              <a:rPr b="0" i="0" lang="es-BO" sz="1900" u="none" cap="none" strike="noStrike">
                <a:solidFill>
                  <a:srgbClr val="000000"/>
                </a:solidFill>
                <a:latin typeface="Calibri"/>
                <a:ea typeface="Calibri"/>
                <a:cs typeface="Calibri"/>
                <a:sym typeface="Calibri"/>
              </a:rPr>
              <a:t>Esta prueba es realizada con el fin de obtener el equivalente de la señal analógica (corriente) con respecto a una altura cualquiera, que por motivos de la gráfica fueron dándose de 5 en 5 de forma ascendente.</a:t>
            </a:r>
            <a:endParaRPr b="0" i="0" sz="19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Calibri"/>
              <a:buNone/>
            </a:pPr>
            <a:r>
              <a:rPr b="0" i="0" lang="es-BO" sz="1900" u="none" cap="none" strike="noStrike">
                <a:solidFill>
                  <a:srgbClr val="000000"/>
                </a:solidFill>
                <a:latin typeface="Calibri"/>
                <a:ea typeface="Calibri"/>
                <a:cs typeface="Calibri"/>
                <a:sym typeface="Calibri"/>
              </a:rPr>
              <a:t>Estos datos son de mucha ayuda para la adaptación de señales que se realiza al presente sensor.</a:t>
            </a:r>
            <a:endParaRPr b="0" i="0" sz="1900" u="none" cap="none" strike="noStrike">
              <a:solidFill>
                <a:srgbClr val="000000"/>
              </a:solidFill>
              <a:latin typeface="Calibri"/>
              <a:ea typeface="Calibri"/>
              <a:cs typeface="Calibri"/>
              <a:sym typeface="Calibri"/>
            </a:endParaRPr>
          </a:p>
        </p:txBody>
      </p:sp>
      <p:sp>
        <p:nvSpPr>
          <p:cNvPr id="467" name="Google Shape;467;p3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s-BO"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5"/>
          <p:cNvSpPr/>
          <p:nvPr/>
        </p:nvSpPr>
        <p:spPr>
          <a:xfrm>
            <a:off x="1589381" y="331317"/>
            <a:ext cx="2597634"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Calibri"/>
              <a:buNone/>
            </a:pPr>
            <a:r>
              <a:rPr b="1" i="0" lang="es-BO" sz="2200" u="none" cap="none" strike="noStrike">
                <a:solidFill>
                  <a:srgbClr val="002060"/>
                </a:solidFill>
                <a:latin typeface="Calibri"/>
                <a:ea typeface="Calibri"/>
                <a:cs typeface="Calibri"/>
                <a:sym typeface="Calibri"/>
              </a:rPr>
              <a:t>SENSOR DE PRESION</a:t>
            </a:r>
            <a:endParaRPr b="0" i="0" sz="2200" u="none" cap="none" strike="noStrike">
              <a:solidFill>
                <a:srgbClr val="002060"/>
              </a:solidFill>
              <a:latin typeface="Times New Roman"/>
              <a:ea typeface="Times New Roman"/>
              <a:cs typeface="Times New Roman"/>
              <a:sym typeface="Times New Roman"/>
            </a:endParaRPr>
          </a:p>
        </p:txBody>
      </p:sp>
      <p:pic>
        <p:nvPicPr>
          <p:cNvPr id="473" name="Google Shape;473;p35"/>
          <p:cNvPicPr preferRelativeResize="0"/>
          <p:nvPr/>
        </p:nvPicPr>
        <p:blipFill rotWithShape="1">
          <a:blip r:embed="rId3">
            <a:alphaModFix/>
          </a:blip>
          <a:srcRect b="0" l="0" r="0" t="0"/>
          <a:stretch/>
        </p:blipFill>
        <p:spPr>
          <a:xfrm>
            <a:off x="1589381" y="866707"/>
            <a:ext cx="8756402" cy="3488323"/>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474" name="Google Shape;474;p35"/>
          <p:cNvSpPr/>
          <p:nvPr/>
        </p:nvSpPr>
        <p:spPr>
          <a:xfrm>
            <a:off x="836023" y="4469516"/>
            <a:ext cx="10097589"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0" i="0" lang="es-BO" sz="2000" u="none" cap="none" strike="noStrike">
                <a:solidFill>
                  <a:srgbClr val="000000"/>
                </a:solidFill>
                <a:latin typeface="Calibri"/>
                <a:ea typeface="Calibri"/>
                <a:cs typeface="Calibri"/>
                <a:sym typeface="Calibri"/>
              </a:rPr>
              <a:t>Los datos de altura fueron tomados visualmente de una cinta métrica colocada al costado del tanque superior y los datos de corriente (correspondiente a una altura) fueron medidos con un multímetro.</a:t>
            </a:r>
            <a:endParaRPr/>
          </a:p>
          <a:p>
            <a:pPr indent="0" lvl="0" marL="0" marR="0" rtl="0" algn="just">
              <a:lnSpc>
                <a:spcPct val="100000"/>
              </a:lnSpc>
              <a:spcBef>
                <a:spcPts val="0"/>
              </a:spcBef>
              <a:spcAft>
                <a:spcPts val="0"/>
              </a:spcAft>
              <a:buClr>
                <a:srgbClr val="000000"/>
              </a:buClr>
              <a:buSzPts val="2000"/>
              <a:buFont typeface="Calibri"/>
              <a:buNone/>
            </a:pPr>
            <a:r>
              <a:rPr b="0" i="0" lang="es-BO" sz="2000" u="none" cap="none" strike="noStrike">
                <a:solidFill>
                  <a:srgbClr val="000000"/>
                </a:solidFill>
                <a:latin typeface="Calibri"/>
                <a:ea typeface="Calibri"/>
                <a:cs typeface="Calibri"/>
                <a:sym typeface="Calibri"/>
              </a:rPr>
              <a:t>Esta prueba es realizada con el fin de obtener el equivalente de la señal analógica (corriente) con respecto a una altura cualquiera, que por motivos de la gráfica fueron dándose de 5 en 5 de forma ascendente.</a:t>
            </a:r>
            <a:endParaRPr/>
          </a:p>
          <a:p>
            <a:pPr indent="0" lvl="0" marL="0" marR="0" rtl="0" algn="just">
              <a:lnSpc>
                <a:spcPct val="100000"/>
              </a:lnSpc>
              <a:spcBef>
                <a:spcPts val="0"/>
              </a:spcBef>
              <a:spcAft>
                <a:spcPts val="0"/>
              </a:spcAft>
              <a:buClr>
                <a:srgbClr val="000000"/>
              </a:buClr>
              <a:buSzPts val="2000"/>
              <a:buFont typeface="Calibri"/>
              <a:buNone/>
            </a:pPr>
            <a:r>
              <a:rPr b="0" i="0" lang="es-BO" sz="2000" u="none" cap="none" strike="noStrike">
                <a:solidFill>
                  <a:srgbClr val="000000"/>
                </a:solidFill>
                <a:latin typeface="Calibri"/>
                <a:ea typeface="Calibri"/>
                <a:cs typeface="Calibri"/>
                <a:sym typeface="Calibri"/>
              </a:rPr>
              <a:t>Estos datos son de mucha ayuda para la adaptación de señales que se realiza al presente sensor.</a:t>
            </a:r>
            <a:endParaRPr/>
          </a:p>
        </p:txBody>
      </p:sp>
      <p:sp>
        <p:nvSpPr>
          <p:cNvPr id="475" name="Google Shape;475;p3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s-BO"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6"/>
          <p:cNvSpPr/>
          <p:nvPr/>
        </p:nvSpPr>
        <p:spPr>
          <a:xfrm>
            <a:off x="1589381" y="331317"/>
            <a:ext cx="3689408"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Calibri"/>
              <a:buNone/>
            </a:pPr>
            <a:r>
              <a:rPr b="1" i="0" lang="es-BO" sz="2200" u="none" cap="none" strike="noStrike">
                <a:solidFill>
                  <a:srgbClr val="002060"/>
                </a:solidFill>
                <a:latin typeface="Calibri"/>
                <a:ea typeface="Calibri"/>
                <a:cs typeface="Calibri"/>
                <a:sym typeface="Calibri"/>
              </a:rPr>
              <a:t>SENSOR DE TEMPERATURA TC</a:t>
            </a:r>
            <a:endParaRPr b="0" i="0" sz="2200" u="none" cap="none" strike="noStrike">
              <a:solidFill>
                <a:srgbClr val="002060"/>
              </a:solidFill>
              <a:latin typeface="Times New Roman"/>
              <a:ea typeface="Times New Roman"/>
              <a:cs typeface="Times New Roman"/>
              <a:sym typeface="Times New Roman"/>
            </a:endParaRPr>
          </a:p>
        </p:txBody>
      </p:sp>
      <p:pic>
        <p:nvPicPr>
          <p:cNvPr id="481" name="Google Shape;481;p36"/>
          <p:cNvPicPr preferRelativeResize="0"/>
          <p:nvPr/>
        </p:nvPicPr>
        <p:blipFill rotWithShape="1">
          <a:blip r:embed="rId3">
            <a:alphaModFix/>
          </a:blip>
          <a:srcRect b="0" l="0" r="0" t="0"/>
          <a:stretch/>
        </p:blipFill>
        <p:spPr>
          <a:xfrm>
            <a:off x="1293360" y="856297"/>
            <a:ext cx="9535750" cy="5613702"/>
          </a:xfrm>
          <a:prstGeom prst="rect">
            <a:avLst/>
          </a:prstGeom>
          <a:noFill/>
          <a:ln>
            <a:noFill/>
          </a:ln>
        </p:spPr>
      </p:pic>
      <p:sp>
        <p:nvSpPr>
          <p:cNvPr id="482" name="Google Shape;482;p3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s-BO"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7"/>
          <p:cNvSpPr/>
          <p:nvPr/>
        </p:nvSpPr>
        <p:spPr>
          <a:xfrm>
            <a:off x="1589381" y="331317"/>
            <a:ext cx="3880421"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Calibri"/>
              <a:buNone/>
            </a:pPr>
            <a:r>
              <a:rPr b="1" i="0" lang="es-BO" sz="2200" u="none" cap="none" strike="noStrike">
                <a:solidFill>
                  <a:srgbClr val="002060"/>
                </a:solidFill>
                <a:latin typeface="Calibri"/>
                <a:ea typeface="Calibri"/>
                <a:cs typeface="Calibri"/>
                <a:sym typeface="Calibri"/>
              </a:rPr>
              <a:t>SENSOR DE TEMPERATURA RTD</a:t>
            </a:r>
            <a:endParaRPr b="0" i="0" sz="2200" u="none" cap="none" strike="noStrike">
              <a:solidFill>
                <a:srgbClr val="002060"/>
              </a:solidFill>
              <a:latin typeface="Times New Roman"/>
              <a:ea typeface="Times New Roman"/>
              <a:cs typeface="Times New Roman"/>
              <a:sym typeface="Times New Roman"/>
            </a:endParaRPr>
          </a:p>
        </p:txBody>
      </p:sp>
      <p:pic>
        <p:nvPicPr>
          <p:cNvPr id="488" name="Google Shape;488;p37"/>
          <p:cNvPicPr preferRelativeResize="0"/>
          <p:nvPr/>
        </p:nvPicPr>
        <p:blipFill rotWithShape="1">
          <a:blip r:embed="rId3">
            <a:alphaModFix/>
          </a:blip>
          <a:srcRect b="0" l="0" r="0" t="0"/>
          <a:stretch/>
        </p:blipFill>
        <p:spPr>
          <a:xfrm>
            <a:off x="1400039" y="904194"/>
            <a:ext cx="9638075" cy="5230875"/>
          </a:xfrm>
          <a:prstGeom prst="rect">
            <a:avLst/>
          </a:prstGeom>
          <a:noFill/>
          <a:ln>
            <a:noFill/>
          </a:ln>
        </p:spPr>
      </p:pic>
      <p:sp>
        <p:nvSpPr>
          <p:cNvPr id="489" name="Google Shape;489;p3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s-BO"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8"/>
          <p:cNvSpPr txBox="1"/>
          <p:nvPr>
            <p:ph idx="1" type="body"/>
          </p:nvPr>
        </p:nvSpPr>
        <p:spPr>
          <a:xfrm>
            <a:off x="4386470" y="3036405"/>
            <a:ext cx="5857461" cy="7851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060"/>
              </a:buClr>
              <a:buSzPts val="3600"/>
              <a:buNone/>
            </a:pPr>
            <a:r>
              <a:rPr b="1" lang="es-BO" sz="3600">
                <a:solidFill>
                  <a:srgbClr val="002060"/>
                </a:solidFill>
              </a:rPr>
              <a:t>CONTROLADORES</a:t>
            </a:r>
            <a:endParaRPr/>
          </a:p>
        </p:txBody>
      </p:sp>
      <p:sp>
        <p:nvSpPr>
          <p:cNvPr id="495" name="Google Shape;495;p3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PLC MICROLOGIX 1100</a:t>
            </a:r>
            <a:endParaRPr/>
          </a:p>
        </p:txBody>
      </p:sp>
      <p:sp>
        <p:nvSpPr>
          <p:cNvPr id="501" name="Google Shape;501;p39"/>
          <p:cNvSpPr txBox="1"/>
          <p:nvPr>
            <p:ph idx="1" type="body"/>
          </p:nvPr>
        </p:nvSpPr>
        <p:spPr>
          <a:xfrm>
            <a:off x="1152939" y="1324447"/>
            <a:ext cx="10084906" cy="147430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000000"/>
              </a:buClr>
              <a:buSzPts val="2000"/>
              <a:buNone/>
            </a:pPr>
            <a:r>
              <a:rPr lang="es-BO" sz="2000">
                <a:solidFill>
                  <a:srgbClr val="000000"/>
                </a:solidFill>
                <a:latin typeface="Calibri"/>
                <a:ea typeface="Calibri"/>
                <a:cs typeface="Calibri"/>
                <a:sym typeface="Calibri"/>
              </a:rPr>
              <a:t>El controlador de la serie MicroLogix 1100 cuenta con 10 entradas de 24 VDC y 6 salidas de relé, un puerto Ethernet/IP para comunicaciones con HMI y cuenta con 1 modulo de expansión </a:t>
            </a:r>
            <a:r>
              <a:rPr lang="es-BO" sz="2000">
                <a:latin typeface="Calibri"/>
                <a:ea typeface="Calibri"/>
                <a:cs typeface="Calibri"/>
                <a:sym typeface="Calibri"/>
              </a:rPr>
              <a:t>1762-IF20F2 el cual es un módulo analógico de voltaje/corriente con combinación de 2 canales de entrada y 2 canales de salida.</a:t>
            </a:r>
            <a:endParaRPr sz="2000"/>
          </a:p>
        </p:txBody>
      </p:sp>
      <p:pic>
        <p:nvPicPr>
          <p:cNvPr id="502" name="Google Shape;502;p39"/>
          <p:cNvPicPr preferRelativeResize="0"/>
          <p:nvPr/>
        </p:nvPicPr>
        <p:blipFill rotWithShape="1">
          <a:blip r:embed="rId3">
            <a:alphaModFix/>
          </a:blip>
          <a:srcRect b="0" l="0" r="0" t="0"/>
          <a:stretch/>
        </p:blipFill>
        <p:spPr>
          <a:xfrm>
            <a:off x="5961746" y="2467447"/>
            <a:ext cx="5077315" cy="3784612"/>
          </a:xfrm>
          <a:prstGeom prst="rect">
            <a:avLst/>
          </a:prstGeom>
          <a:noFill/>
          <a:ln>
            <a:noFill/>
          </a:ln>
        </p:spPr>
      </p:pic>
      <p:sp>
        <p:nvSpPr>
          <p:cNvPr id="503" name="Google Shape;503;p39"/>
          <p:cNvSpPr/>
          <p:nvPr/>
        </p:nvSpPr>
        <p:spPr>
          <a:xfrm>
            <a:off x="8044069" y="2743201"/>
            <a:ext cx="1643269" cy="1198549"/>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39"/>
          <p:cNvSpPr txBox="1"/>
          <p:nvPr/>
        </p:nvSpPr>
        <p:spPr>
          <a:xfrm>
            <a:off x="5923723" y="6252059"/>
            <a:ext cx="5314122" cy="461398"/>
          </a:xfrm>
          <a:prstGeom prst="rect">
            <a:avLst/>
          </a:prstGeom>
          <a:noFill/>
          <a:ln>
            <a:noFill/>
          </a:ln>
        </p:spPr>
        <p:txBody>
          <a:bodyPr anchorCtr="0" anchor="t" bIns="45700" lIns="91425" spcFirstLastPara="1" rIns="91425" wrap="square" tIns="45700">
            <a:normAutofit/>
          </a:bodyPr>
          <a:lstStyle/>
          <a:p>
            <a:pPr indent="0" lvl="0" marL="0" marR="0" rtl="0" algn="just">
              <a:spcBef>
                <a:spcPts val="0"/>
              </a:spcBef>
              <a:spcAft>
                <a:spcPts val="0"/>
              </a:spcAft>
              <a:buClr>
                <a:srgbClr val="000000"/>
              </a:buClr>
              <a:buSzPts val="2000"/>
              <a:buFont typeface="Arial"/>
              <a:buNone/>
            </a:pPr>
            <a:r>
              <a:rPr lang="es-BO" sz="2000">
                <a:solidFill>
                  <a:srgbClr val="000000"/>
                </a:solidFill>
                <a:latin typeface="Calibri"/>
                <a:ea typeface="Calibri"/>
                <a:cs typeface="Calibri"/>
                <a:sym typeface="Calibri"/>
              </a:rPr>
              <a:t>Se ubica en la parte interior del panel de control</a:t>
            </a:r>
            <a:endParaRPr sz="2000">
              <a:solidFill>
                <a:schemeClr val="dk1"/>
              </a:solidFill>
              <a:latin typeface="Calibri"/>
              <a:ea typeface="Calibri"/>
              <a:cs typeface="Calibri"/>
              <a:sym typeface="Calibri"/>
            </a:endParaRPr>
          </a:p>
        </p:txBody>
      </p:sp>
      <p:sp>
        <p:nvSpPr>
          <p:cNvPr id="505" name="Google Shape;505;p39"/>
          <p:cNvSpPr txBox="1"/>
          <p:nvPr/>
        </p:nvSpPr>
        <p:spPr>
          <a:xfrm>
            <a:off x="1152939" y="3034748"/>
            <a:ext cx="4314448" cy="224676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Calibri"/>
                <a:ea typeface="Calibri"/>
                <a:cs typeface="Calibri"/>
                <a:sym typeface="Calibri"/>
              </a:rPr>
              <a:t>Los 2 canales de entrada se utilizarán para las lecturas del sensor ultrasónico y el sensor de presión, mientras que se ocupara un canal de salida (en configuración de corriente) para realizar el control a 2 hilos del variador de frecuencia. </a:t>
            </a:r>
            <a:endParaRPr sz="2000">
              <a:solidFill>
                <a:schemeClr val="dk1"/>
              </a:solidFill>
              <a:latin typeface="Calibri"/>
              <a:ea typeface="Calibri"/>
              <a:cs typeface="Calibri"/>
              <a:sym typeface="Calibri"/>
            </a:endParaRPr>
          </a:p>
        </p:txBody>
      </p:sp>
      <p:sp>
        <p:nvSpPr>
          <p:cNvPr id="506" name="Google Shape;506;p3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0"/>
          <p:cNvSpPr txBox="1"/>
          <p:nvPr>
            <p:ph type="title"/>
          </p:nvPr>
        </p:nvSpPr>
        <p:spPr>
          <a:xfrm>
            <a:off x="609600" y="274638"/>
            <a:ext cx="10972800" cy="93131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CONTROLADOR DE TEMPERATURA</a:t>
            </a:r>
            <a:endParaRPr/>
          </a:p>
        </p:txBody>
      </p:sp>
      <p:sp>
        <p:nvSpPr>
          <p:cNvPr id="512" name="Google Shape;512;p40"/>
          <p:cNvSpPr txBox="1"/>
          <p:nvPr>
            <p:ph idx="1" type="body"/>
          </p:nvPr>
        </p:nvSpPr>
        <p:spPr>
          <a:xfrm>
            <a:off x="1152939" y="1202107"/>
            <a:ext cx="10283688" cy="151406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000000"/>
              </a:buClr>
              <a:buSzPts val="2000"/>
              <a:buNone/>
            </a:pPr>
            <a:r>
              <a:rPr lang="es-BO" sz="2000">
                <a:solidFill>
                  <a:srgbClr val="000000"/>
                </a:solidFill>
                <a:latin typeface="Calibri"/>
                <a:ea typeface="Calibri"/>
                <a:cs typeface="Calibri"/>
                <a:sym typeface="Calibri"/>
              </a:rPr>
              <a:t>Este controlador tiene la característica de aceptar distintos modelos de sensores de temperatura todas las termocuplas del mercado y RTD's</a:t>
            </a:r>
            <a:r>
              <a:rPr lang="es-BO" sz="2000">
                <a:latin typeface="Calibri"/>
                <a:ea typeface="Calibri"/>
                <a:cs typeface="Calibri"/>
                <a:sym typeface="Calibri"/>
              </a:rPr>
              <a:t>. Tiene una frecuencia operativa de 50-60 Hz y una alimentación de 220 VAC (Para evitar dañar al usuario tiene un protector para dedos que evita electrocutarnos).</a:t>
            </a:r>
            <a:endParaRPr sz="2000">
              <a:latin typeface="Times New Roman"/>
              <a:ea typeface="Times New Roman"/>
              <a:cs typeface="Times New Roman"/>
              <a:sym typeface="Times New Roman"/>
            </a:endParaRPr>
          </a:p>
        </p:txBody>
      </p:sp>
      <p:pic>
        <p:nvPicPr>
          <p:cNvPr id="513" name="Google Shape;513;p40"/>
          <p:cNvPicPr preferRelativeResize="0"/>
          <p:nvPr/>
        </p:nvPicPr>
        <p:blipFill rotWithShape="1">
          <a:blip r:embed="rId3">
            <a:alphaModFix/>
          </a:blip>
          <a:srcRect b="0" l="0" r="0" t="0"/>
          <a:stretch/>
        </p:blipFill>
        <p:spPr>
          <a:xfrm>
            <a:off x="2328039" y="2568872"/>
            <a:ext cx="3767961" cy="3714515"/>
          </a:xfrm>
          <a:prstGeom prst="rect">
            <a:avLst/>
          </a:prstGeom>
          <a:noFill/>
          <a:ln>
            <a:noFill/>
          </a:ln>
        </p:spPr>
      </p:pic>
      <p:sp>
        <p:nvSpPr>
          <p:cNvPr id="514" name="Google Shape;514;p40"/>
          <p:cNvSpPr txBox="1"/>
          <p:nvPr/>
        </p:nvSpPr>
        <p:spPr>
          <a:xfrm>
            <a:off x="2650434" y="6237578"/>
            <a:ext cx="7633252" cy="46139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000000"/>
              </a:buClr>
              <a:buSzPts val="2000"/>
              <a:buFont typeface="Arial"/>
              <a:buNone/>
            </a:pPr>
            <a:r>
              <a:rPr lang="es-BO" sz="2000">
                <a:solidFill>
                  <a:srgbClr val="000000"/>
                </a:solidFill>
                <a:latin typeface="Calibri"/>
                <a:ea typeface="Calibri"/>
                <a:cs typeface="Calibri"/>
                <a:sym typeface="Calibri"/>
              </a:rPr>
              <a:t>Se ubica en la parte frontal y trasera de la puerta del panel de control</a:t>
            </a:r>
            <a:endParaRPr sz="2000">
              <a:solidFill>
                <a:schemeClr val="dk1"/>
              </a:solidFill>
              <a:latin typeface="Calibri"/>
              <a:ea typeface="Calibri"/>
              <a:cs typeface="Calibri"/>
              <a:sym typeface="Calibri"/>
            </a:endParaRPr>
          </a:p>
        </p:txBody>
      </p:sp>
      <p:sp>
        <p:nvSpPr>
          <p:cNvPr id="515" name="Google Shape;515;p40"/>
          <p:cNvSpPr/>
          <p:nvPr/>
        </p:nvSpPr>
        <p:spPr>
          <a:xfrm>
            <a:off x="2570923" y="2645406"/>
            <a:ext cx="1152940" cy="993912"/>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516" name="Google Shape;516;p40"/>
          <p:cNvPicPr preferRelativeResize="0"/>
          <p:nvPr/>
        </p:nvPicPr>
        <p:blipFill rotWithShape="1">
          <a:blip r:embed="rId4">
            <a:alphaModFix/>
          </a:blip>
          <a:srcRect b="0" l="0" r="0" t="0"/>
          <a:stretch/>
        </p:blipFill>
        <p:spPr>
          <a:xfrm>
            <a:off x="6461688" y="2566382"/>
            <a:ext cx="4098504" cy="3664226"/>
          </a:xfrm>
          <a:prstGeom prst="rect">
            <a:avLst/>
          </a:prstGeom>
          <a:noFill/>
          <a:ln>
            <a:noFill/>
          </a:ln>
        </p:spPr>
      </p:pic>
      <p:sp>
        <p:nvSpPr>
          <p:cNvPr id="517" name="Google Shape;517;p40"/>
          <p:cNvSpPr/>
          <p:nvPr/>
        </p:nvSpPr>
        <p:spPr>
          <a:xfrm>
            <a:off x="9057721" y="2606848"/>
            <a:ext cx="1113182" cy="884709"/>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4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41"/>
          <p:cNvSpPr txBox="1"/>
          <p:nvPr>
            <p:ph idx="1" type="body"/>
          </p:nvPr>
        </p:nvSpPr>
        <p:spPr>
          <a:xfrm>
            <a:off x="3912229" y="3036405"/>
            <a:ext cx="5857461" cy="7851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060"/>
              </a:buClr>
              <a:buSzPts val="3600"/>
              <a:buNone/>
            </a:pPr>
            <a:r>
              <a:rPr b="1" lang="es-BO" sz="3600">
                <a:solidFill>
                  <a:srgbClr val="002060"/>
                </a:solidFill>
              </a:rPr>
              <a:t>ADAPTACION DE SEÑALES</a:t>
            </a:r>
            <a:endParaRPr/>
          </a:p>
        </p:txBody>
      </p:sp>
      <p:sp>
        <p:nvSpPr>
          <p:cNvPr id="524" name="Google Shape;524;p4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¿QUÉ ES ADAPTACION DE SEÑALES?</a:t>
            </a:r>
            <a:endParaRPr/>
          </a:p>
        </p:txBody>
      </p:sp>
      <p:sp>
        <p:nvSpPr>
          <p:cNvPr id="530" name="Google Shape;530;p42"/>
          <p:cNvSpPr txBox="1"/>
          <p:nvPr>
            <p:ph idx="1" type="body"/>
          </p:nvPr>
        </p:nvSpPr>
        <p:spPr>
          <a:xfrm>
            <a:off x="1325217" y="1600201"/>
            <a:ext cx="9965636" cy="83819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s-BO" sz="2000">
                <a:latin typeface="Calibri"/>
                <a:ea typeface="Calibri"/>
                <a:cs typeface="Calibri"/>
                <a:sym typeface="Calibri"/>
              </a:rPr>
              <a:t>La adaptación de señales es la manipulación de una señal analógica de tal manera que cumpla con los requisitos de la siguiente etapa para su procesamiento posterior.</a:t>
            </a:r>
            <a:endParaRPr sz="2000">
              <a:latin typeface="Times New Roman"/>
              <a:ea typeface="Times New Roman"/>
              <a:cs typeface="Times New Roman"/>
              <a:sym typeface="Times New Roman"/>
            </a:endParaRPr>
          </a:p>
          <a:p>
            <a:pPr indent="-215900" lvl="0" marL="342900" rtl="0" algn="l">
              <a:spcBef>
                <a:spcPts val="400"/>
              </a:spcBef>
              <a:spcAft>
                <a:spcPts val="0"/>
              </a:spcAft>
              <a:buClr>
                <a:schemeClr val="dk1"/>
              </a:buClr>
              <a:buSzPts val="2000"/>
              <a:buNone/>
            </a:pPr>
            <a:r>
              <a:t/>
            </a:r>
            <a:endParaRPr sz="2000"/>
          </a:p>
        </p:txBody>
      </p:sp>
      <p:pic>
        <p:nvPicPr>
          <p:cNvPr id="531" name="Google Shape;531;p42"/>
          <p:cNvPicPr preferRelativeResize="0"/>
          <p:nvPr/>
        </p:nvPicPr>
        <p:blipFill rotWithShape="1">
          <a:blip r:embed="rId3">
            <a:alphaModFix/>
          </a:blip>
          <a:srcRect b="0" l="0" r="0" t="0"/>
          <a:stretch/>
        </p:blipFill>
        <p:spPr>
          <a:xfrm>
            <a:off x="1719813" y="2620963"/>
            <a:ext cx="9020885" cy="2398643"/>
          </a:xfrm>
          <a:prstGeom prst="rect">
            <a:avLst/>
          </a:prstGeom>
          <a:noFill/>
          <a:ln>
            <a:noFill/>
          </a:ln>
        </p:spPr>
      </p:pic>
      <p:sp>
        <p:nvSpPr>
          <p:cNvPr id="532" name="Google Shape;532;p42"/>
          <p:cNvSpPr txBox="1"/>
          <p:nvPr/>
        </p:nvSpPr>
        <p:spPr>
          <a:xfrm>
            <a:off x="1325217" y="5202170"/>
            <a:ext cx="9965636" cy="986596"/>
          </a:xfrm>
          <a:prstGeom prst="rect">
            <a:avLst/>
          </a:prstGeom>
          <a:noFill/>
          <a:ln>
            <a:noFill/>
          </a:ln>
        </p:spPr>
        <p:txBody>
          <a:bodyPr anchorCtr="0" anchor="t" bIns="45700" lIns="91425" spcFirstLastPara="1" rIns="91425" wrap="square" tIns="45700">
            <a:normAutofit lnSpcReduction="10000"/>
          </a:bodyPr>
          <a:lstStyle/>
          <a:p>
            <a:pPr indent="0" lvl="0" marL="0" marR="0" rtl="0" algn="just">
              <a:spcBef>
                <a:spcPts val="0"/>
              </a:spcBef>
              <a:spcAft>
                <a:spcPts val="0"/>
              </a:spcAft>
              <a:buClr>
                <a:schemeClr val="dk1"/>
              </a:buClr>
              <a:buSzPts val="2000"/>
              <a:buFont typeface="Arial"/>
              <a:buNone/>
            </a:pPr>
            <a:r>
              <a:rPr lang="es-BO" sz="2000">
                <a:solidFill>
                  <a:schemeClr val="dk1"/>
                </a:solidFill>
                <a:latin typeface="Calibri"/>
                <a:ea typeface="Calibri"/>
                <a:cs typeface="Calibri"/>
                <a:sym typeface="Calibri"/>
              </a:rPr>
              <a:t>En la imagen se observa que el PLC recepción las medidas tomadas por el sensor y las procesa conjuntamente con la referencia, pero debe realizar una adaptación de señales para accionar el actuador</a:t>
            </a:r>
            <a:endParaRPr sz="2000">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p:txBody>
      </p:sp>
      <p:sp>
        <p:nvSpPr>
          <p:cNvPr id="533" name="Google Shape;533;p4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ADAPTACIÓN DE SEÑALES POR SOFTWARE</a:t>
            </a:r>
            <a:endParaRPr/>
          </a:p>
        </p:txBody>
      </p:sp>
      <p:sp>
        <p:nvSpPr>
          <p:cNvPr id="539" name="Google Shape;539;p43"/>
          <p:cNvSpPr txBox="1"/>
          <p:nvPr>
            <p:ph idx="1" type="body"/>
          </p:nvPr>
        </p:nvSpPr>
        <p:spPr>
          <a:xfrm>
            <a:off x="1378226" y="1417638"/>
            <a:ext cx="9568070" cy="838199"/>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000"/>
              <a:buNone/>
            </a:pPr>
            <a:r>
              <a:rPr lang="es-BO" sz="2000">
                <a:latin typeface="Calibri"/>
                <a:ea typeface="Calibri"/>
                <a:cs typeface="Calibri"/>
                <a:sym typeface="Calibri"/>
              </a:rPr>
              <a:t>Para realizar la adaptación de señales usaremos la función SCP en la programación en Ladder en el software rslogix micro english.</a:t>
            </a:r>
            <a:endParaRPr sz="2000"/>
          </a:p>
        </p:txBody>
      </p:sp>
      <p:pic>
        <p:nvPicPr>
          <p:cNvPr id="540" name="Google Shape;540;p43"/>
          <p:cNvPicPr preferRelativeResize="0"/>
          <p:nvPr/>
        </p:nvPicPr>
        <p:blipFill rotWithShape="1">
          <a:blip r:embed="rId3">
            <a:alphaModFix/>
          </a:blip>
          <a:srcRect b="0" l="0" r="0" t="0"/>
          <a:stretch/>
        </p:blipFill>
        <p:spPr>
          <a:xfrm>
            <a:off x="8415129" y="1929503"/>
            <a:ext cx="2862471" cy="4391609"/>
          </a:xfrm>
          <a:prstGeom prst="rect">
            <a:avLst/>
          </a:prstGeom>
          <a:noFill/>
          <a:ln>
            <a:noFill/>
          </a:ln>
        </p:spPr>
      </p:pic>
      <p:sp>
        <p:nvSpPr>
          <p:cNvPr id="541" name="Google Shape;541;p43"/>
          <p:cNvSpPr txBox="1"/>
          <p:nvPr/>
        </p:nvSpPr>
        <p:spPr>
          <a:xfrm>
            <a:off x="1378225" y="4869273"/>
            <a:ext cx="6718851"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Calibri"/>
                <a:ea typeface="Calibri"/>
                <a:cs typeface="Calibri"/>
                <a:sym typeface="Calibri"/>
              </a:rPr>
              <a:t>En la práctica se deberá de utilizar la configuración para 4mA – 20mA (Min: 3277 - Max:16384) pues se utilizará para acondicionar la señal de salida del sensor de presión y de ultrasonido.</a:t>
            </a:r>
            <a:endParaRPr sz="2000">
              <a:solidFill>
                <a:schemeClr val="dk1"/>
              </a:solidFill>
              <a:latin typeface="Calibri"/>
              <a:ea typeface="Calibri"/>
              <a:cs typeface="Calibri"/>
              <a:sym typeface="Calibri"/>
            </a:endParaRPr>
          </a:p>
        </p:txBody>
      </p:sp>
      <p:pic>
        <p:nvPicPr>
          <p:cNvPr id="542" name="Google Shape;542;p43"/>
          <p:cNvPicPr preferRelativeResize="0"/>
          <p:nvPr/>
        </p:nvPicPr>
        <p:blipFill rotWithShape="1">
          <a:blip r:embed="rId4">
            <a:alphaModFix/>
          </a:blip>
          <a:srcRect b="0" l="0" r="0" t="0"/>
          <a:stretch/>
        </p:blipFill>
        <p:spPr>
          <a:xfrm>
            <a:off x="1378225" y="3802702"/>
            <a:ext cx="6929032" cy="1047884"/>
          </a:xfrm>
          <a:prstGeom prst="rect">
            <a:avLst/>
          </a:prstGeom>
          <a:noFill/>
          <a:ln>
            <a:noFill/>
          </a:ln>
        </p:spPr>
      </p:pic>
      <p:sp>
        <p:nvSpPr>
          <p:cNvPr id="543" name="Google Shape;543;p43"/>
          <p:cNvSpPr txBox="1"/>
          <p:nvPr/>
        </p:nvSpPr>
        <p:spPr>
          <a:xfrm>
            <a:off x="1378225" y="2255837"/>
            <a:ext cx="6886966"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BO" sz="2000">
                <a:solidFill>
                  <a:schemeClr val="dk1"/>
                </a:solidFill>
                <a:latin typeface="Calibri"/>
                <a:ea typeface="Calibri"/>
                <a:cs typeface="Calibri"/>
                <a:sym typeface="Calibri"/>
              </a:rPr>
              <a:t>Dependiendo del tipo de sensor que se utilizará se tendrá una señal analógica especifica y dependiendo al tipo de configuración de la señal analógica se tendrá 2 maneras de generarla (para control PID, o proporcional).</a:t>
            </a:r>
            <a:endParaRPr sz="2000">
              <a:solidFill>
                <a:schemeClr val="dk1"/>
              </a:solidFill>
              <a:latin typeface="Calibri"/>
              <a:ea typeface="Calibri"/>
              <a:cs typeface="Calibri"/>
              <a:sym typeface="Calibri"/>
            </a:endParaRPr>
          </a:p>
        </p:txBody>
      </p:sp>
      <p:pic>
        <p:nvPicPr>
          <p:cNvPr id="544" name="Google Shape;544;p43"/>
          <p:cNvPicPr preferRelativeResize="0"/>
          <p:nvPr/>
        </p:nvPicPr>
        <p:blipFill rotWithShape="1">
          <a:blip r:embed="rId5">
            <a:alphaModFix/>
          </a:blip>
          <a:srcRect b="0" l="0" r="0" t="0"/>
          <a:stretch/>
        </p:blipFill>
        <p:spPr>
          <a:xfrm>
            <a:off x="2579096" y="2182283"/>
            <a:ext cx="7439548" cy="4069718"/>
          </a:xfrm>
          <a:prstGeom prst="rect">
            <a:avLst/>
          </a:prstGeom>
          <a:noFill/>
          <a:ln>
            <a:noFill/>
          </a:ln>
        </p:spPr>
      </p:pic>
      <p:sp>
        <p:nvSpPr>
          <p:cNvPr id="545" name="Google Shape;545;p43"/>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4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4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4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4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4"/>
          <p:cNvSpPr txBox="1"/>
          <p:nvPr>
            <p:ph type="title"/>
          </p:nvPr>
        </p:nvSpPr>
        <p:spPr>
          <a:xfrm>
            <a:off x="609600" y="274638"/>
            <a:ext cx="10972800" cy="97106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CONCLUSIONES</a:t>
            </a:r>
            <a:endParaRPr/>
          </a:p>
        </p:txBody>
      </p:sp>
      <p:sp>
        <p:nvSpPr>
          <p:cNvPr id="551" name="Google Shape;551;p44"/>
          <p:cNvSpPr txBox="1"/>
          <p:nvPr>
            <p:ph idx="1" type="body"/>
          </p:nvPr>
        </p:nvSpPr>
        <p:spPr>
          <a:xfrm>
            <a:off x="861391" y="1166018"/>
            <a:ext cx="10548731" cy="5314295"/>
          </a:xfrm>
          <a:prstGeom prst="rect">
            <a:avLst/>
          </a:prstGeom>
          <a:noFill/>
          <a:ln>
            <a:noFill/>
          </a:ln>
        </p:spPr>
        <p:txBody>
          <a:bodyPr anchorCtr="0" anchor="t" bIns="91425" lIns="91425" spcFirstLastPara="1" rIns="91425" wrap="square" tIns="91425">
            <a:noAutofit/>
          </a:bodyPr>
          <a:lstStyle/>
          <a:p>
            <a:pPr indent="-317500" lvl="0" marL="457200" rtl="0" algn="just">
              <a:spcBef>
                <a:spcPts val="1200"/>
              </a:spcBef>
              <a:spcAft>
                <a:spcPts val="0"/>
              </a:spcAft>
              <a:buClr>
                <a:schemeClr val="dk1"/>
              </a:buClr>
              <a:buSzPts val="1400"/>
              <a:buFont typeface="Arial"/>
              <a:buChar char="●"/>
            </a:pPr>
            <a:r>
              <a:rPr lang="es-BO" sz="2000">
                <a:latin typeface="Arial"/>
                <a:ea typeface="Arial"/>
                <a:cs typeface="Arial"/>
                <a:sym typeface="Arial"/>
              </a:rPr>
              <a:t>Durante el proceso se desarrollaron habilidades y destrezas sobre la instrumentación con el fin de poder reconocer, adaptar y caracterizar sensores y/o actuadores, los cuales abundan en el área profesional y son de vital importancia poder conocerlos y manipularlos.</a:t>
            </a:r>
            <a:endParaRPr sz="2000">
              <a:latin typeface="Arial"/>
              <a:ea typeface="Arial"/>
              <a:cs typeface="Arial"/>
              <a:sym typeface="Arial"/>
            </a:endParaRPr>
          </a:p>
          <a:p>
            <a:pPr indent="-317500" lvl="0" marL="457200" rtl="0" algn="just">
              <a:spcBef>
                <a:spcPts val="0"/>
              </a:spcBef>
              <a:spcAft>
                <a:spcPts val="0"/>
              </a:spcAft>
              <a:buClr>
                <a:schemeClr val="dk1"/>
              </a:buClr>
              <a:buSzPts val="1400"/>
              <a:buFont typeface="Arial"/>
              <a:buChar char="●"/>
            </a:pPr>
            <a:r>
              <a:rPr lang="es-BO" sz="2000">
                <a:latin typeface="Arial"/>
                <a:ea typeface="Arial"/>
                <a:cs typeface="Arial"/>
                <a:sym typeface="Arial"/>
              </a:rPr>
              <a:t>Para el proceso se utilizó el estándar de la norma ISA para describir el diagrama de tuberías P&amp;ID, obteniendo así el conocimiento sobre dicho estándar y reglas que este cumple.</a:t>
            </a:r>
            <a:endParaRPr sz="2000">
              <a:latin typeface="Arial"/>
              <a:ea typeface="Arial"/>
              <a:cs typeface="Arial"/>
              <a:sym typeface="Arial"/>
            </a:endParaRPr>
          </a:p>
          <a:p>
            <a:pPr indent="-317500" lvl="0" marL="457200" rtl="0" algn="just">
              <a:spcBef>
                <a:spcPts val="0"/>
              </a:spcBef>
              <a:spcAft>
                <a:spcPts val="0"/>
              </a:spcAft>
              <a:buClr>
                <a:schemeClr val="dk1"/>
              </a:buClr>
              <a:buSzPts val="1400"/>
              <a:buFont typeface="Arial"/>
              <a:buChar char="●"/>
            </a:pPr>
            <a:r>
              <a:rPr lang="es-BO" sz="2000">
                <a:latin typeface="Arial"/>
                <a:ea typeface="Arial"/>
                <a:cs typeface="Arial"/>
                <a:sym typeface="Arial"/>
              </a:rPr>
              <a:t>También se logró identificar que el sistema tiene la función de realizar el control de nivel de líquido utilizando los sensores de nivel y el motor como actuador. Adicionalmente el sistema es aprovechado para realizar la medición de presión, temperatura y caudal para brindar información al usuario.</a:t>
            </a:r>
            <a:endParaRPr sz="2000">
              <a:latin typeface="Arial"/>
              <a:ea typeface="Arial"/>
              <a:cs typeface="Arial"/>
              <a:sym typeface="Arial"/>
            </a:endParaRPr>
          </a:p>
          <a:p>
            <a:pPr indent="-317500" lvl="0" marL="457200" rtl="0" algn="just">
              <a:spcBef>
                <a:spcPts val="0"/>
              </a:spcBef>
              <a:spcAft>
                <a:spcPts val="0"/>
              </a:spcAft>
              <a:buClr>
                <a:schemeClr val="dk1"/>
              </a:buClr>
              <a:buSzPts val="1400"/>
              <a:buFont typeface="Arial"/>
              <a:buChar char="●"/>
            </a:pPr>
            <a:r>
              <a:rPr lang="es-BO" sz="2000">
                <a:latin typeface="Arial"/>
                <a:ea typeface="Arial"/>
                <a:cs typeface="Arial"/>
                <a:sym typeface="Arial"/>
              </a:rPr>
              <a:t>Además, se consiguió caracterizar los elementos que componen al sistema (sensores y actuadores) de forma tal de tener información adecuada y necesaria para el funcionamiento del sistema e implementar un futuro control de nivel.</a:t>
            </a:r>
            <a:endParaRPr sz="2000">
              <a:latin typeface="Arial"/>
              <a:ea typeface="Arial"/>
              <a:cs typeface="Arial"/>
              <a:sym typeface="Arial"/>
            </a:endParaRPr>
          </a:p>
          <a:p>
            <a:pPr indent="-317500" lvl="0" marL="457200" rtl="0" algn="just">
              <a:spcBef>
                <a:spcPts val="0"/>
              </a:spcBef>
              <a:spcAft>
                <a:spcPts val="0"/>
              </a:spcAft>
              <a:buClr>
                <a:schemeClr val="dk1"/>
              </a:buClr>
              <a:buSzPts val="1400"/>
              <a:buFont typeface="Arial"/>
              <a:buChar char="●"/>
            </a:pPr>
            <a:r>
              <a:rPr lang="es-BO" sz="2000">
                <a:latin typeface="Arial"/>
                <a:ea typeface="Arial"/>
                <a:cs typeface="Arial"/>
                <a:sym typeface="Arial"/>
              </a:rPr>
              <a:t>Finalmente, se pudo evidenciar que la mayoría de los sensores que conforman el sistema requieren una adaptación de señales por software. </a:t>
            </a:r>
            <a:endParaRPr sz="2000">
              <a:latin typeface="Arial"/>
              <a:ea typeface="Arial"/>
              <a:cs typeface="Arial"/>
              <a:sym typeface="Arial"/>
            </a:endParaRPr>
          </a:p>
        </p:txBody>
      </p:sp>
      <p:sp>
        <p:nvSpPr>
          <p:cNvPr id="552" name="Google Shape;552;p4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5"/>
          <p:cNvSpPr txBox="1"/>
          <p:nvPr>
            <p:ph idx="1" type="body"/>
          </p:nvPr>
        </p:nvSpPr>
        <p:spPr>
          <a:xfrm>
            <a:off x="3829878" y="3036405"/>
            <a:ext cx="5857461" cy="7851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060"/>
              </a:buClr>
              <a:buSzPts val="3600"/>
              <a:buNone/>
            </a:pPr>
            <a:r>
              <a:rPr b="1" lang="es-BO" sz="3600">
                <a:solidFill>
                  <a:srgbClr val="002060"/>
                </a:solidFill>
              </a:rPr>
              <a:t>DISEÑO DEL CONTROLADOR</a:t>
            </a:r>
            <a:endParaRPr/>
          </a:p>
        </p:txBody>
      </p:sp>
      <p:sp>
        <p:nvSpPr>
          <p:cNvPr id="558" name="Google Shape;558;p4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6"/>
          <p:cNvSpPr txBox="1"/>
          <p:nvPr>
            <p:ph idx="1" type="body"/>
          </p:nvPr>
        </p:nvSpPr>
        <p:spPr>
          <a:xfrm>
            <a:off x="2018211" y="1625048"/>
            <a:ext cx="8155577" cy="360790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b="1" lang="es-BO"/>
              <a:t>OBJETIVOS</a:t>
            </a:r>
            <a:endParaRPr/>
          </a:p>
          <a:p>
            <a:pPr indent="0" lvl="0" marL="0" rtl="0" algn="l">
              <a:spcBef>
                <a:spcPts val="640"/>
              </a:spcBef>
              <a:spcAft>
                <a:spcPts val="0"/>
              </a:spcAft>
              <a:buClr>
                <a:schemeClr val="dk1"/>
              </a:buClr>
              <a:buSzPts val="3200"/>
              <a:buNone/>
            </a:pPr>
            <a:r>
              <a:t/>
            </a:r>
            <a:endParaRPr b="1"/>
          </a:p>
          <a:p>
            <a:pPr indent="-342900" lvl="0" marL="342900" rtl="0" algn="l">
              <a:spcBef>
                <a:spcPts val="400"/>
              </a:spcBef>
              <a:spcAft>
                <a:spcPts val="0"/>
              </a:spcAft>
              <a:buClr>
                <a:schemeClr val="dk1"/>
              </a:buClr>
              <a:buSzPts val="2000"/>
              <a:buChar char="•"/>
            </a:pPr>
            <a:r>
              <a:rPr lang="es-BO" sz="2000"/>
              <a:t>Diseñar un controlador en el espacio de estados para el sistema de control de nivel.</a:t>
            </a:r>
            <a:endParaRPr/>
          </a:p>
          <a:p>
            <a:pPr indent="-342900" lvl="0" marL="342900" rtl="0" algn="l">
              <a:spcBef>
                <a:spcPts val="400"/>
              </a:spcBef>
              <a:spcAft>
                <a:spcPts val="0"/>
              </a:spcAft>
              <a:buClr>
                <a:schemeClr val="dk1"/>
              </a:buClr>
              <a:buSzPts val="2000"/>
              <a:buChar char="•"/>
            </a:pPr>
            <a:r>
              <a:rPr lang="es-BO" sz="2000"/>
              <a:t>Desarrollo de habilidades y destrezas para la interacción con el PLC real, teniendo en cuenta los factores de escalamiento e introducción de los valores hallados</a:t>
            </a:r>
            <a:endParaRPr/>
          </a:p>
          <a:p>
            <a:pPr indent="-342900" lvl="0" marL="342900" rtl="0" algn="l">
              <a:spcBef>
                <a:spcPts val="400"/>
              </a:spcBef>
              <a:spcAft>
                <a:spcPts val="0"/>
              </a:spcAft>
              <a:buClr>
                <a:schemeClr val="dk1"/>
              </a:buClr>
              <a:buSzPts val="2000"/>
              <a:buChar char="•"/>
            </a:pPr>
            <a:r>
              <a:rPr lang="es-BO" sz="2000"/>
              <a:t>Visualizar y monitorear el funcionamiento del sistema mediante el HMI</a:t>
            </a:r>
            <a:endParaRPr/>
          </a:p>
          <a:p>
            <a:pPr indent="-165100" lvl="0" marL="342900" rtl="0" algn="l">
              <a:spcBef>
                <a:spcPts val="560"/>
              </a:spcBef>
              <a:spcAft>
                <a:spcPts val="0"/>
              </a:spcAft>
              <a:buClr>
                <a:schemeClr val="dk1"/>
              </a:buClr>
              <a:buSzPts val="2800"/>
              <a:buNone/>
            </a:pPr>
            <a:r>
              <a:t/>
            </a:r>
            <a:endParaRPr sz="2800"/>
          </a:p>
        </p:txBody>
      </p:sp>
      <p:sp>
        <p:nvSpPr>
          <p:cNvPr id="564" name="Google Shape;564;p4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pic>
        <p:nvPicPr>
          <p:cNvPr id="569" name="Google Shape;569;p47"/>
          <p:cNvPicPr preferRelativeResize="0"/>
          <p:nvPr/>
        </p:nvPicPr>
        <p:blipFill rotWithShape="1">
          <a:blip r:embed="rId3">
            <a:alphaModFix/>
          </a:blip>
          <a:srcRect b="0" l="0" r="0" t="0"/>
          <a:stretch/>
        </p:blipFill>
        <p:spPr>
          <a:xfrm>
            <a:off x="2254498" y="1125951"/>
            <a:ext cx="7683001" cy="2462646"/>
          </a:xfrm>
          <a:prstGeom prst="rect">
            <a:avLst/>
          </a:prstGeom>
          <a:noFill/>
          <a:ln>
            <a:noFill/>
          </a:ln>
        </p:spPr>
      </p:pic>
      <p:pic>
        <p:nvPicPr>
          <p:cNvPr id="570" name="Google Shape;570;p47"/>
          <p:cNvPicPr preferRelativeResize="0"/>
          <p:nvPr/>
        </p:nvPicPr>
        <p:blipFill rotWithShape="1">
          <a:blip r:embed="rId4">
            <a:alphaModFix/>
          </a:blip>
          <a:srcRect b="0" l="0" r="0" t="0"/>
          <a:stretch/>
        </p:blipFill>
        <p:spPr>
          <a:xfrm>
            <a:off x="2868078" y="3588597"/>
            <a:ext cx="6455842" cy="2994765"/>
          </a:xfrm>
          <a:prstGeom prst="rect">
            <a:avLst/>
          </a:prstGeom>
          <a:noFill/>
          <a:ln>
            <a:noFill/>
          </a:ln>
        </p:spPr>
      </p:pic>
      <p:sp>
        <p:nvSpPr>
          <p:cNvPr id="571" name="Google Shape;571;p47"/>
          <p:cNvSpPr txBox="1"/>
          <p:nvPr>
            <p:ph type="title"/>
          </p:nvPr>
        </p:nvSpPr>
        <p:spPr>
          <a:xfrm>
            <a:off x="609600" y="181733"/>
            <a:ext cx="10972800" cy="79892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FUNCIÓN DE TRANSFERENCIA DEL SISTEMA</a:t>
            </a:r>
            <a:endParaRPr/>
          </a:p>
        </p:txBody>
      </p:sp>
      <p:sp>
        <p:nvSpPr>
          <p:cNvPr id="572" name="Google Shape;572;p4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pic>
        <p:nvPicPr>
          <p:cNvPr id="577" name="Google Shape;577;p48"/>
          <p:cNvPicPr preferRelativeResize="0"/>
          <p:nvPr/>
        </p:nvPicPr>
        <p:blipFill rotWithShape="1">
          <a:blip r:embed="rId3">
            <a:alphaModFix/>
          </a:blip>
          <a:srcRect b="0" l="6734" r="6082" t="5755"/>
          <a:stretch/>
        </p:blipFill>
        <p:spPr>
          <a:xfrm>
            <a:off x="1749847" y="2231513"/>
            <a:ext cx="4650378" cy="3770268"/>
          </a:xfrm>
          <a:prstGeom prst="rect">
            <a:avLst/>
          </a:prstGeom>
          <a:noFill/>
          <a:ln>
            <a:noFill/>
          </a:ln>
        </p:spPr>
      </p:pic>
      <p:sp>
        <p:nvSpPr>
          <p:cNvPr id="578" name="Google Shape;578;p48"/>
          <p:cNvSpPr/>
          <p:nvPr/>
        </p:nvSpPr>
        <p:spPr>
          <a:xfrm>
            <a:off x="2257621" y="1597101"/>
            <a:ext cx="4089581" cy="369332"/>
          </a:xfrm>
          <a:prstGeom prst="rect">
            <a:avLst/>
          </a:prstGeom>
          <a:blipFill rotWithShape="1">
            <a:blip r:embed="rId4">
              <a:alphaModFix/>
            </a:blip>
            <a:stretch>
              <a:fillRect b="-24588" l="-1191" r="0" t="-983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579" name="Google Shape;579;p48"/>
          <p:cNvSpPr/>
          <p:nvPr/>
        </p:nvSpPr>
        <p:spPr>
          <a:xfrm>
            <a:off x="6537863" y="2687159"/>
            <a:ext cx="4777262"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Como se observa, el sistema alcanza el máximo nivel del tanque, 50 cm, en aproximadamente 14.9 min. Con esto en mente los requerimientos que nos planteamos serán que el sistema tenga un tiempo de asentamiento de 4 min y un máximo sobrepaso de 1% (esto porque el sistema es muy lento y el sobrepaso no será notorio).</a:t>
            </a:r>
            <a:endParaRPr sz="1800">
              <a:solidFill>
                <a:schemeClr val="dk1"/>
              </a:solidFill>
              <a:latin typeface="Calibri"/>
              <a:ea typeface="Calibri"/>
              <a:cs typeface="Calibri"/>
              <a:sym typeface="Calibri"/>
            </a:endParaRPr>
          </a:p>
        </p:txBody>
      </p:sp>
      <p:sp>
        <p:nvSpPr>
          <p:cNvPr id="580" name="Google Shape;580;p48"/>
          <p:cNvSpPr txBox="1"/>
          <p:nvPr>
            <p:ph type="title"/>
          </p:nvPr>
        </p:nvSpPr>
        <p:spPr>
          <a:xfrm>
            <a:off x="609600" y="424626"/>
            <a:ext cx="10972800" cy="79892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FUNCIÓN DE TRANSFERENCIA DEL SISTEMA (continuación)</a:t>
            </a:r>
            <a:endParaRPr/>
          </a:p>
        </p:txBody>
      </p:sp>
      <p:pic>
        <p:nvPicPr>
          <p:cNvPr id="581" name="Google Shape;581;p48"/>
          <p:cNvPicPr preferRelativeResize="0"/>
          <p:nvPr/>
        </p:nvPicPr>
        <p:blipFill rotWithShape="1">
          <a:blip r:embed="rId5">
            <a:alphaModFix/>
          </a:blip>
          <a:srcRect b="0" l="0" r="0" t="0"/>
          <a:stretch/>
        </p:blipFill>
        <p:spPr>
          <a:xfrm>
            <a:off x="1628230" y="2108234"/>
            <a:ext cx="8935539" cy="2887249"/>
          </a:xfrm>
          <a:prstGeom prst="rect">
            <a:avLst/>
          </a:prstGeom>
          <a:noFill/>
          <a:ln>
            <a:noFill/>
          </a:ln>
        </p:spPr>
      </p:pic>
      <p:sp>
        <p:nvSpPr>
          <p:cNvPr id="582" name="Google Shape;582;p4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81"/>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578"/>
                                        </p:tgtEl>
                                        <p:attrNameLst>
                                          <p:attrName>style.visibility</p:attrName>
                                        </p:attrNameLst>
                                      </p:cBhvr>
                                      <p:to>
                                        <p:strVal val="visible"/>
                                      </p:to>
                                    </p:set>
                                    <p:anim calcmode="lin" valueType="num">
                                      <p:cBhvr additive="base">
                                        <p:cTn dur="500"/>
                                        <p:tgtEl>
                                          <p:spTgt spid="578"/>
                                        </p:tgtEl>
                                        <p:attrNameLst>
                                          <p:attrName>ppt_w</p:attrName>
                                        </p:attrNameLst>
                                      </p:cBhvr>
                                      <p:tavLst>
                                        <p:tav fmla="" tm="0">
                                          <p:val>
                                            <p:strVal val="0"/>
                                          </p:val>
                                        </p:tav>
                                        <p:tav fmla="" tm="100000">
                                          <p:val>
                                            <p:strVal val="#ppt_w"/>
                                          </p:val>
                                        </p:tav>
                                      </p:tavLst>
                                    </p:anim>
                                    <p:anim calcmode="lin" valueType="num">
                                      <p:cBhvr additive="base">
                                        <p:cTn dur="500"/>
                                        <p:tgtEl>
                                          <p:spTgt spid="57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77"/>
                                        </p:tgtEl>
                                        <p:attrNameLst>
                                          <p:attrName>style.visibility</p:attrName>
                                        </p:attrNameLst>
                                      </p:cBhvr>
                                      <p:to>
                                        <p:strVal val="visible"/>
                                      </p:to>
                                    </p:set>
                                    <p:anim calcmode="lin" valueType="num">
                                      <p:cBhvr additive="base">
                                        <p:cTn dur="500"/>
                                        <p:tgtEl>
                                          <p:spTgt spid="577"/>
                                        </p:tgtEl>
                                        <p:attrNameLst>
                                          <p:attrName>ppt_w</p:attrName>
                                        </p:attrNameLst>
                                      </p:cBhvr>
                                      <p:tavLst>
                                        <p:tav fmla="" tm="0">
                                          <p:val>
                                            <p:strVal val="0"/>
                                          </p:val>
                                        </p:tav>
                                        <p:tav fmla="" tm="100000">
                                          <p:val>
                                            <p:strVal val="#ppt_w"/>
                                          </p:val>
                                        </p:tav>
                                      </p:tavLst>
                                    </p:anim>
                                    <p:anim calcmode="lin" valueType="num">
                                      <p:cBhvr additive="base">
                                        <p:cTn dur="500"/>
                                        <p:tgtEl>
                                          <p:spTgt spid="57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79"/>
                                        </p:tgtEl>
                                        <p:attrNameLst>
                                          <p:attrName>style.visibility</p:attrName>
                                        </p:attrNameLst>
                                      </p:cBhvr>
                                      <p:to>
                                        <p:strVal val="visible"/>
                                      </p:to>
                                    </p:set>
                                    <p:anim calcmode="lin" valueType="num">
                                      <p:cBhvr additive="base">
                                        <p:cTn dur="500"/>
                                        <p:tgtEl>
                                          <p:spTgt spid="579"/>
                                        </p:tgtEl>
                                        <p:attrNameLst>
                                          <p:attrName>ppt_w</p:attrName>
                                        </p:attrNameLst>
                                      </p:cBhvr>
                                      <p:tavLst>
                                        <p:tav fmla="" tm="0">
                                          <p:val>
                                            <p:strVal val="0"/>
                                          </p:val>
                                        </p:tav>
                                        <p:tav fmla="" tm="100000">
                                          <p:val>
                                            <p:strVal val="#ppt_w"/>
                                          </p:val>
                                        </p:tav>
                                      </p:tavLst>
                                    </p:anim>
                                    <p:anim calcmode="lin" valueType="num">
                                      <p:cBhvr additive="base">
                                        <p:cTn dur="500"/>
                                        <p:tgtEl>
                                          <p:spTgt spid="57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pic>
        <p:nvPicPr>
          <p:cNvPr id="587" name="Google Shape;587;p49"/>
          <p:cNvPicPr preferRelativeResize="0"/>
          <p:nvPr/>
        </p:nvPicPr>
        <p:blipFill rotWithShape="1">
          <a:blip r:embed="rId3">
            <a:alphaModFix/>
          </a:blip>
          <a:srcRect b="0" l="0" r="0" t="0"/>
          <a:stretch/>
        </p:blipFill>
        <p:spPr>
          <a:xfrm>
            <a:off x="1844948" y="1432481"/>
            <a:ext cx="8175761" cy="4976021"/>
          </a:xfrm>
          <a:prstGeom prst="rect">
            <a:avLst/>
          </a:prstGeom>
          <a:noFill/>
          <a:ln>
            <a:noFill/>
          </a:ln>
        </p:spPr>
      </p:pic>
      <p:sp>
        <p:nvSpPr>
          <p:cNvPr id="588" name="Google Shape;588;p49"/>
          <p:cNvSpPr/>
          <p:nvPr/>
        </p:nvSpPr>
        <p:spPr>
          <a:xfrm>
            <a:off x="1233850" y="701289"/>
            <a:ext cx="469897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2000">
                <a:solidFill>
                  <a:schemeClr val="dk1"/>
                </a:solidFill>
                <a:latin typeface="Calibri"/>
                <a:ea typeface="Calibri"/>
                <a:cs typeface="Calibri"/>
                <a:sym typeface="Calibri"/>
              </a:rPr>
              <a:t>Servosistema tipo 1 (planta sin integrador)</a:t>
            </a:r>
            <a:endParaRPr b="1" sz="2000">
              <a:solidFill>
                <a:schemeClr val="dk1"/>
              </a:solidFill>
              <a:latin typeface="Calibri"/>
              <a:ea typeface="Calibri"/>
              <a:cs typeface="Calibri"/>
              <a:sym typeface="Calibri"/>
            </a:endParaRPr>
          </a:p>
        </p:txBody>
      </p:sp>
      <p:sp>
        <p:nvSpPr>
          <p:cNvPr id="589" name="Google Shape;589;p49"/>
          <p:cNvSpPr txBox="1"/>
          <p:nvPr>
            <p:ph type="title"/>
          </p:nvPr>
        </p:nvSpPr>
        <p:spPr>
          <a:xfrm>
            <a:off x="609600" y="181734"/>
            <a:ext cx="10972800" cy="51955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s-BO" sz="3200"/>
              <a:t>DISEÑO DE CONTROLADOR AÑADIENDO UN INTEGRADOR</a:t>
            </a:r>
            <a:endParaRPr/>
          </a:p>
        </p:txBody>
      </p:sp>
      <p:sp>
        <p:nvSpPr>
          <p:cNvPr id="590" name="Google Shape;590;p4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pic>
        <p:nvPicPr>
          <p:cNvPr id="595" name="Google Shape;595;p50"/>
          <p:cNvPicPr preferRelativeResize="0"/>
          <p:nvPr/>
        </p:nvPicPr>
        <p:blipFill rotWithShape="1">
          <a:blip r:embed="rId3">
            <a:alphaModFix/>
          </a:blip>
          <a:srcRect b="0" l="0" r="0" t="0"/>
          <a:stretch/>
        </p:blipFill>
        <p:spPr>
          <a:xfrm>
            <a:off x="1231072" y="1478089"/>
            <a:ext cx="8857167" cy="3399721"/>
          </a:xfrm>
          <a:prstGeom prst="rect">
            <a:avLst/>
          </a:prstGeom>
          <a:noFill/>
          <a:ln>
            <a:noFill/>
          </a:ln>
        </p:spPr>
      </p:pic>
      <p:pic>
        <p:nvPicPr>
          <p:cNvPr id="596" name="Google Shape;596;p50"/>
          <p:cNvPicPr preferRelativeResize="0"/>
          <p:nvPr/>
        </p:nvPicPr>
        <p:blipFill rotWithShape="1">
          <a:blip r:embed="rId4">
            <a:alphaModFix/>
          </a:blip>
          <a:srcRect b="0" l="0" r="0" t="0"/>
          <a:stretch/>
        </p:blipFill>
        <p:spPr>
          <a:xfrm>
            <a:off x="1332547" y="4877811"/>
            <a:ext cx="8225723" cy="926641"/>
          </a:xfrm>
          <a:prstGeom prst="rect">
            <a:avLst/>
          </a:prstGeom>
          <a:noFill/>
          <a:ln>
            <a:noFill/>
          </a:ln>
        </p:spPr>
      </p:pic>
      <p:sp>
        <p:nvSpPr>
          <p:cNvPr id="597" name="Google Shape;597;p50"/>
          <p:cNvSpPr txBox="1"/>
          <p:nvPr>
            <p:ph type="title"/>
          </p:nvPr>
        </p:nvSpPr>
        <p:spPr>
          <a:xfrm>
            <a:off x="609600" y="389634"/>
            <a:ext cx="10972800" cy="9277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s-BO" sz="3200"/>
              <a:t>DISEÑO DE CONTROLADOR AÑADIENDO UN INTEGRADOR</a:t>
            </a:r>
            <a:br>
              <a:rPr b="1" lang="es-BO" sz="3200"/>
            </a:br>
            <a:r>
              <a:rPr b="1" lang="es-BO" sz="3200"/>
              <a:t>(Requerimientos)</a:t>
            </a:r>
            <a:endParaRPr/>
          </a:p>
        </p:txBody>
      </p:sp>
      <p:sp>
        <p:nvSpPr>
          <p:cNvPr id="598" name="Google Shape;598;p5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1"/>
          <p:cNvSpPr txBox="1"/>
          <p:nvPr>
            <p:ph type="title"/>
          </p:nvPr>
        </p:nvSpPr>
        <p:spPr>
          <a:xfrm>
            <a:off x="609600" y="389634"/>
            <a:ext cx="10972800" cy="9277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s-BO" sz="3200"/>
              <a:t>DISEÑO DE CONTROLADOR AÑADIENDO UN INTEGRADOR</a:t>
            </a:r>
            <a:br>
              <a:rPr b="1" lang="es-BO" sz="3200"/>
            </a:br>
            <a:r>
              <a:rPr b="1" lang="es-BO" sz="3200"/>
              <a:t>(Diseño de K por Akerman)</a:t>
            </a:r>
            <a:endParaRPr/>
          </a:p>
        </p:txBody>
      </p:sp>
      <p:pic>
        <p:nvPicPr>
          <p:cNvPr id="604" name="Google Shape;604;p51"/>
          <p:cNvPicPr preferRelativeResize="0"/>
          <p:nvPr/>
        </p:nvPicPr>
        <p:blipFill rotWithShape="1">
          <a:blip r:embed="rId3">
            <a:alphaModFix/>
          </a:blip>
          <a:srcRect b="0" l="0" r="0" t="0"/>
          <a:stretch/>
        </p:blipFill>
        <p:spPr>
          <a:xfrm>
            <a:off x="1616349" y="1564622"/>
            <a:ext cx="8959301" cy="4518126"/>
          </a:xfrm>
          <a:prstGeom prst="rect">
            <a:avLst/>
          </a:prstGeom>
          <a:noFill/>
          <a:ln>
            <a:noFill/>
          </a:ln>
        </p:spPr>
      </p:pic>
      <p:sp>
        <p:nvSpPr>
          <p:cNvPr id="605" name="Google Shape;605;p5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2"/>
          <p:cNvSpPr/>
          <p:nvPr/>
        </p:nvSpPr>
        <p:spPr>
          <a:xfrm>
            <a:off x="2817885" y="951011"/>
            <a:ext cx="62057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BO" sz="1800">
                <a:solidFill>
                  <a:schemeClr val="dk1"/>
                </a:solidFill>
                <a:latin typeface="Calibri"/>
                <a:ea typeface="Calibri"/>
                <a:cs typeface="Calibri"/>
                <a:sym typeface="Calibri"/>
              </a:rPr>
              <a:t>Respuesta del sistema para una entrada de referencia de 30 cm</a:t>
            </a:r>
            <a:endParaRPr sz="1800">
              <a:solidFill>
                <a:schemeClr val="dk1"/>
              </a:solidFill>
              <a:latin typeface="Calibri"/>
              <a:ea typeface="Calibri"/>
              <a:cs typeface="Calibri"/>
              <a:sym typeface="Calibri"/>
            </a:endParaRPr>
          </a:p>
        </p:txBody>
      </p:sp>
      <p:pic>
        <p:nvPicPr>
          <p:cNvPr id="611" name="Google Shape;611;p52"/>
          <p:cNvPicPr preferRelativeResize="0"/>
          <p:nvPr/>
        </p:nvPicPr>
        <p:blipFill rotWithShape="1">
          <a:blip r:embed="rId3">
            <a:alphaModFix/>
          </a:blip>
          <a:srcRect b="0" l="0" r="0" t="5826"/>
          <a:stretch/>
        </p:blipFill>
        <p:spPr>
          <a:xfrm>
            <a:off x="2001931" y="1320343"/>
            <a:ext cx="7582988" cy="5355923"/>
          </a:xfrm>
          <a:prstGeom prst="rect">
            <a:avLst/>
          </a:prstGeom>
          <a:noFill/>
          <a:ln>
            <a:noFill/>
          </a:ln>
        </p:spPr>
      </p:pic>
      <p:sp>
        <p:nvSpPr>
          <p:cNvPr id="612" name="Google Shape;612;p52"/>
          <p:cNvSpPr txBox="1"/>
          <p:nvPr>
            <p:ph type="title"/>
          </p:nvPr>
        </p:nvSpPr>
        <p:spPr>
          <a:xfrm>
            <a:off x="609600" y="181734"/>
            <a:ext cx="10972800" cy="51955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s-BO" sz="3200"/>
              <a:t>RESPUESTA DEL SISTEMA A LAZO CERRADO</a:t>
            </a:r>
            <a:endParaRPr/>
          </a:p>
        </p:txBody>
      </p:sp>
      <p:sp>
        <p:nvSpPr>
          <p:cNvPr id="613" name="Google Shape;613;p5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pic>
        <p:nvPicPr>
          <p:cNvPr id="618" name="Google Shape;618;p53"/>
          <p:cNvPicPr preferRelativeResize="0"/>
          <p:nvPr/>
        </p:nvPicPr>
        <p:blipFill rotWithShape="1">
          <a:blip r:embed="rId3">
            <a:alphaModFix/>
          </a:blip>
          <a:srcRect b="31855" l="0" r="0" t="6741"/>
          <a:stretch/>
        </p:blipFill>
        <p:spPr>
          <a:xfrm>
            <a:off x="2278175" y="864806"/>
            <a:ext cx="7635649" cy="3654185"/>
          </a:xfrm>
          <a:prstGeom prst="rect">
            <a:avLst/>
          </a:prstGeom>
          <a:noFill/>
          <a:ln>
            <a:noFill/>
          </a:ln>
        </p:spPr>
      </p:pic>
      <p:pic>
        <p:nvPicPr>
          <p:cNvPr id="619" name="Google Shape;619;p53"/>
          <p:cNvPicPr preferRelativeResize="0"/>
          <p:nvPr/>
        </p:nvPicPr>
        <p:blipFill rotWithShape="1">
          <a:blip r:embed="rId4">
            <a:alphaModFix/>
          </a:blip>
          <a:srcRect b="137" l="0" r="0" t="0"/>
          <a:stretch/>
        </p:blipFill>
        <p:spPr>
          <a:xfrm>
            <a:off x="2278175" y="4468703"/>
            <a:ext cx="7439706" cy="1667830"/>
          </a:xfrm>
          <a:prstGeom prst="rect">
            <a:avLst/>
          </a:prstGeom>
          <a:noFill/>
          <a:ln>
            <a:noFill/>
          </a:ln>
        </p:spPr>
      </p:pic>
      <p:sp>
        <p:nvSpPr>
          <p:cNvPr id="620" name="Google Shape;620;p53"/>
          <p:cNvSpPr txBox="1"/>
          <p:nvPr>
            <p:ph type="title"/>
          </p:nvPr>
        </p:nvSpPr>
        <p:spPr>
          <a:xfrm>
            <a:off x="609600" y="345250"/>
            <a:ext cx="10972800" cy="51955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s-BO" sz="3200"/>
              <a:t>ELECCION DEL PERIODO DE MUESTREO</a:t>
            </a:r>
            <a:endParaRPr/>
          </a:p>
        </p:txBody>
      </p:sp>
      <p:sp>
        <p:nvSpPr>
          <p:cNvPr id="621" name="Google Shape;621;p5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54"/>
          <p:cNvSpPr txBox="1"/>
          <p:nvPr>
            <p:ph type="title"/>
          </p:nvPr>
        </p:nvSpPr>
        <p:spPr>
          <a:xfrm>
            <a:off x="609600" y="274637"/>
            <a:ext cx="10972800" cy="65301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s-BO" sz="3200"/>
              <a:t>DISEÑO DEL CONTROLADOR DEL SISTEMA DE 1er ORDEN</a:t>
            </a:r>
            <a:endParaRPr sz="3200"/>
          </a:p>
        </p:txBody>
      </p:sp>
      <p:sp>
        <p:nvSpPr>
          <p:cNvPr id="627" name="Google Shape;627;p54"/>
          <p:cNvSpPr txBox="1"/>
          <p:nvPr>
            <p:ph idx="1" type="body"/>
          </p:nvPr>
        </p:nvSpPr>
        <p:spPr>
          <a:xfrm>
            <a:off x="1166191" y="1166018"/>
            <a:ext cx="10416209" cy="4525963"/>
          </a:xfrm>
          <a:prstGeom prst="rect">
            <a:avLst/>
          </a:prstGeom>
          <a:noFill/>
          <a:ln>
            <a:noFill/>
          </a:ln>
        </p:spPr>
        <p:txBody>
          <a:bodyPr anchorCtr="0" anchor="t" bIns="45700" lIns="91425" spcFirstLastPara="1" rIns="91425" wrap="square" tIns="45700">
            <a:normAutofit/>
          </a:bodyPr>
          <a:lstStyle/>
          <a:p>
            <a:pPr indent="0" lvl="0" marL="0" marR="27940" rtl="0" algn="just">
              <a:lnSpc>
                <a:spcPct val="107000"/>
              </a:lnSpc>
              <a:spcBef>
                <a:spcPts val="0"/>
              </a:spcBef>
              <a:spcAft>
                <a:spcPts val="0"/>
              </a:spcAft>
              <a:buClr>
                <a:schemeClr val="dk1"/>
              </a:buClr>
              <a:buSzPts val="2000"/>
              <a:buNone/>
            </a:pPr>
            <a:r>
              <a:rPr lang="es-BO" sz="2000">
                <a:latin typeface="Calibri"/>
                <a:ea typeface="Calibri"/>
                <a:cs typeface="Calibri"/>
                <a:sym typeface="Calibri"/>
              </a:rPr>
              <a:t>Para la implementación del controlador del servosistema se pensó en utilizar el bloque PID, que nos proporciona el PLC micrologix 1100, para agregar la acción integral con un control PI; pero debido a que el escalamiento de salida (0 a 16383) nos impedían relacionar la señal de control del controlador PI con la ganancia de realimentación de estados K para generar una señal de control u(t).</a:t>
            </a:r>
            <a:endParaRPr sz="2000">
              <a:latin typeface="Calibri"/>
              <a:ea typeface="Calibri"/>
              <a:cs typeface="Calibri"/>
              <a:sym typeface="Calibri"/>
            </a:endParaRPr>
          </a:p>
          <a:p>
            <a:pPr indent="0" lvl="0" marL="0" rtl="0" algn="l">
              <a:spcBef>
                <a:spcPts val="1000"/>
              </a:spcBef>
              <a:spcAft>
                <a:spcPts val="0"/>
              </a:spcAft>
              <a:buClr>
                <a:schemeClr val="dk1"/>
              </a:buClr>
              <a:buSzPts val="2000"/>
              <a:buNone/>
            </a:pPr>
            <a:r>
              <a:rPr lang="es-BO" sz="2000">
                <a:latin typeface="Calibri"/>
                <a:ea typeface="Calibri"/>
                <a:cs typeface="Calibri"/>
                <a:sym typeface="Calibri"/>
              </a:rPr>
              <a:t>Es por este motivo que se opto por un diseño de un controlador por realimentación de estados para el sistema de primer orden,</a:t>
            </a:r>
            <a:endParaRPr sz="2000"/>
          </a:p>
        </p:txBody>
      </p:sp>
      <p:pic>
        <p:nvPicPr>
          <p:cNvPr id="628" name="Google Shape;628;p54"/>
          <p:cNvPicPr preferRelativeResize="0"/>
          <p:nvPr/>
        </p:nvPicPr>
        <p:blipFill rotWithShape="1">
          <a:blip r:embed="rId3">
            <a:alphaModFix/>
          </a:blip>
          <a:srcRect b="0" l="0" r="0" t="0"/>
          <a:stretch/>
        </p:blipFill>
        <p:spPr>
          <a:xfrm>
            <a:off x="2856444" y="3429000"/>
            <a:ext cx="6579104" cy="3046611"/>
          </a:xfrm>
          <a:prstGeom prst="rect">
            <a:avLst/>
          </a:prstGeom>
          <a:noFill/>
          <a:ln>
            <a:noFill/>
          </a:ln>
        </p:spPr>
      </p:pic>
      <p:sp>
        <p:nvSpPr>
          <p:cNvPr id="629" name="Google Shape;629;p5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55"/>
          <p:cNvSpPr/>
          <p:nvPr/>
        </p:nvSpPr>
        <p:spPr>
          <a:xfrm>
            <a:off x="1303182" y="156834"/>
            <a:ext cx="982846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3200">
                <a:solidFill>
                  <a:schemeClr val="dk1"/>
                </a:solidFill>
                <a:latin typeface="Calibri"/>
                <a:ea typeface="Calibri"/>
                <a:cs typeface="Calibri"/>
                <a:sym typeface="Calibri"/>
              </a:rPr>
              <a:t>DISEÑO DEL CONTROLADOR DEL SISTEMA DE 1er ORDEN</a:t>
            </a:r>
            <a:endParaRPr/>
          </a:p>
          <a:p>
            <a:pPr indent="0" lvl="0" marL="0" marR="0" rtl="0" algn="ctr">
              <a:spcBef>
                <a:spcPts val="0"/>
              </a:spcBef>
              <a:spcAft>
                <a:spcPts val="0"/>
              </a:spcAft>
              <a:buNone/>
            </a:pPr>
            <a:r>
              <a:rPr b="1" lang="es-BO" sz="3200">
                <a:solidFill>
                  <a:schemeClr val="dk1"/>
                </a:solidFill>
                <a:latin typeface="Calibri"/>
                <a:ea typeface="Calibri"/>
                <a:cs typeface="Calibri"/>
                <a:sym typeface="Calibri"/>
              </a:rPr>
              <a:t>(Discreto)</a:t>
            </a:r>
            <a:endParaRPr b="1" sz="3200">
              <a:solidFill>
                <a:schemeClr val="dk1"/>
              </a:solidFill>
              <a:latin typeface="Calibri"/>
              <a:ea typeface="Calibri"/>
              <a:cs typeface="Calibri"/>
              <a:sym typeface="Calibri"/>
            </a:endParaRPr>
          </a:p>
        </p:txBody>
      </p:sp>
      <p:pic>
        <p:nvPicPr>
          <p:cNvPr id="635" name="Google Shape;635;p55"/>
          <p:cNvPicPr preferRelativeResize="0"/>
          <p:nvPr/>
        </p:nvPicPr>
        <p:blipFill rotWithShape="1">
          <a:blip r:embed="rId3">
            <a:alphaModFix/>
          </a:blip>
          <a:srcRect b="24883" l="0" r="0" t="0"/>
          <a:stretch/>
        </p:blipFill>
        <p:spPr>
          <a:xfrm>
            <a:off x="2129776" y="1446086"/>
            <a:ext cx="7888867" cy="4570884"/>
          </a:xfrm>
          <a:prstGeom prst="rect">
            <a:avLst/>
          </a:prstGeom>
          <a:noFill/>
          <a:ln>
            <a:noFill/>
          </a:ln>
        </p:spPr>
      </p:pic>
      <p:pic>
        <p:nvPicPr>
          <p:cNvPr id="636" name="Google Shape;636;p55"/>
          <p:cNvPicPr preferRelativeResize="0"/>
          <p:nvPr/>
        </p:nvPicPr>
        <p:blipFill rotWithShape="1">
          <a:blip r:embed="rId4">
            <a:alphaModFix/>
          </a:blip>
          <a:srcRect b="0" l="0" r="0" t="0"/>
          <a:stretch/>
        </p:blipFill>
        <p:spPr>
          <a:xfrm>
            <a:off x="1714597" y="1867785"/>
            <a:ext cx="9120920" cy="3544129"/>
          </a:xfrm>
          <a:prstGeom prst="rect">
            <a:avLst/>
          </a:prstGeom>
          <a:noFill/>
          <a:ln>
            <a:noFill/>
          </a:ln>
        </p:spPr>
      </p:pic>
      <p:sp>
        <p:nvSpPr>
          <p:cNvPr id="637" name="Google Shape;637;p5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63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6"/>
          <p:cNvSpPr/>
          <p:nvPr/>
        </p:nvSpPr>
        <p:spPr>
          <a:xfrm>
            <a:off x="1303182" y="156834"/>
            <a:ext cx="982846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3200">
                <a:solidFill>
                  <a:schemeClr val="dk1"/>
                </a:solidFill>
                <a:latin typeface="Calibri"/>
                <a:ea typeface="Calibri"/>
                <a:cs typeface="Calibri"/>
                <a:sym typeface="Calibri"/>
              </a:rPr>
              <a:t>DISEÑO DEL CONTROLADOR DEL SISTEMA DE 1er ORDEN</a:t>
            </a:r>
            <a:endParaRPr/>
          </a:p>
          <a:p>
            <a:pPr indent="0" lvl="0" marL="0" marR="0" rtl="0" algn="ctr">
              <a:spcBef>
                <a:spcPts val="0"/>
              </a:spcBef>
              <a:spcAft>
                <a:spcPts val="0"/>
              </a:spcAft>
              <a:buNone/>
            </a:pPr>
            <a:r>
              <a:rPr b="1" lang="es-BO" sz="3200">
                <a:solidFill>
                  <a:schemeClr val="dk1"/>
                </a:solidFill>
                <a:latin typeface="Calibri"/>
                <a:ea typeface="Calibri"/>
                <a:cs typeface="Calibri"/>
                <a:sym typeface="Calibri"/>
              </a:rPr>
              <a:t>(Continuo)</a:t>
            </a:r>
            <a:endParaRPr b="1" sz="3200">
              <a:solidFill>
                <a:schemeClr val="dk1"/>
              </a:solidFill>
              <a:latin typeface="Calibri"/>
              <a:ea typeface="Calibri"/>
              <a:cs typeface="Calibri"/>
              <a:sym typeface="Calibri"/>
            </a:endParaRPr>
          </a:p>
        </p:txBody>
      </p:sp>
      <p:pic>
        <p:nvPicPr>
          <p:cNvPr id="643" name="Google Shape;643;p56"/>
          <p:cNvPicPr preferRelativeResize="0"/>
          <p:nvPr/>
        </p:nvPicPr>
        <p:blipFill rotWithShape="1">
          <a:blip r:embed="rId3">
            <a:alphaModFix/>
          </a:blip>
          <a:srcRect b="29154" l="0" r="0" t="0"/>
          <a:stretch/>
        </p:blipFill>
        <p:spPr>
          <a:xfrm>
            <a:off x="2501870" y="1471289"/>
            <a:ext cx="8473598" cy="4743979"/>
          </a:xfrm>
          <a:prstGeom prst="rect">
            <a:avLst/>
          </a:prstGeom>
          <a:noFill/>
          <a:ln>
            <a:noFill/>
          </a:ln>
        </p:spPr>
      </p:pic>
      <p:pic>
        <p:nvPicPr>
          <p:cNvPr id="644" name="Google Shape;644;p56"/>
          <p:cNvPicPr preferRelativeResize="0"/>
          <p:nvPr/>
        </p:nvPicPr>
        <p:blipFill rotWithShape="1">
          <a:blip r:embed="rId4">
            <a:alphaModFix/>
          </a:blip>
          <a:srcRect b="0" l="0" r="0" t="0"/>
          <a:stretch/>
        </p:blipFill>
        <p:spPr>
          <a:xfrm>
            <a:off x="2051880" y="1657349"/>
            <a:ext cx="8634319" cy="3921815"/>
          </a:xfrm>
          <a:prstGeom prst="rect">
            <a:avLst/>
          </a:prstGeom>
          <a:noFill/>
          <a:ln>
            <a:noFill/>
          </a:ln>
        </p:spPr>
      </p:pic>
      <p:sp>
        <p:nvSpPr>
          <p:cNvPr id="645" name="Google Shape;645;p5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64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7"/>
          <p:cNvSpPr/>
          <p:nvPr/>
        </p:nvSpPr>
        <p:spPr>
          <a:xfrm>
            <a:off x="945373" y="209843"/>
            <a:ext cx="108225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BO" sz="3200">
                <a:solidFill>
                  <a:schemeClr val="dk1"/>
                </a:solidFill>
                <a:latin typeface="Calibri"/>
                <a:ea typeface="Calibri"/>
                <a:cs typeface="Calibri"/>
                <a:sym typeface="Calibri"/>
              </a:rPr>
              <a:t>COMPARACION DE LAS RESPUESTAS EN CONTINUA Y DISCRETA</a:t>
            </a:r>
            <a:endParaRPr b="1" sz="3200">
              <a:solidFill>
                <a:schemeClr val="dk1"/>
              </a:solidFill>
              <a:latin typeface="Calibri"/>
              <a:ea typeface="Calibri"/>
              <a:cs typeface="Calibri"/>
              <a:sym typeface="Calibri"/>
            </a:endParaRPr>
          </a:p>
        </p:txBody>
      </p:sp>
      <p:pic>
        <p:nvPicPr>
          <p:cNvPr id="651" name="Google Shape;651;p57"/>
          <p:cNvPicPr preferRelativeResize="0"/>
          <p:nvPr/>
        </p:nvPicPr>
        <p:blipFill rotWithShape="1">
          <a:blip r:embed="rId3">
            <a:alphaModFix/>
          </a:blip>
          <a:srcRect b="2191" l="0" r="0" t="6113"/>
          <a:stretch/>
        </p:blipFill>
        <p:spPr>
          <a:xfrm>
            <a:off x="2534589" y="959747"/>
            <a:ext cx="7550316" cy="5793252"/>
          </a:xfrm>
          <a:prstGeom prst="rect">
            <a:avLst/>
          </a:prstGeom>
          <a:noFill/>
          <a:ln>
            <a:noFill/>
          </a:ln>
        </p:spPr>
      </p:pic>
      <p:sp>
        <p:nvSpPr>
          <p:cNvPr id="652" name="Google Shape;652;p5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58"/>
          <p:cNvSpPr txBox="1"/>
          <p:nvPr>
            <p:ph type="title"/>
          </p:nvPr>
        </p:nvSpPr>
        <p:spPr>
          <a:xfrm>
            <a:off x="609600" y="274638"/>
            <a:ext cx="10972800" cy="94143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CONTRASTE CON LA ETAPA ANALÍTICA</a:t>
            </a:r>
            <a:endParaRPr/>
          </a:p>
        </p:txBody>
      </p:sp>
      <p:pic>
        <p:nvPicPr>
          <p:cNvPr id="658" name="Google Shape;658;p58"/>
          <p:cNvPicPr preferRelativeResize="0"/>
          <p:nvPr/>
        </p:nvPicPr>
        <p:blipFill rotWithShape="1">
          <a:blip r:embed="rId3">
            <a:alphaModFix/>
          </a:blip>
          <a:srcRect b="0" l="0" r="0" t="0"/>
          <a:stretch/>
        </p:blipFill>
        <p:spPr>
          <a:xfrm>
            <a:off x="2522098" y="1216077"/>
            <a:ext cx="7333333" cy="5390476"/>
          </a:xfrm>
          <a:prstGeom prst="rect">
            <a:avLst/>
          </a:prstGeom>
          <a:noFill/>
          <a:ln>
            <a:noFill/>
          </a:ln>
        </p:spPr>
      </p:pic>
      <p:sp>
        <p:nvSpPr>
          <p:cNvPr id="659" name="Google Shape;659;p5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5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IMPLEMENTACION DEL CONTROLADOR</a:t>
            </a:r>
            <a:endParaRPr/>
          </a:p>
        </p:txBody>
      </p:sp>
      <p:pic>
        <p:nvPicPr>
          <p:cNvPr id="665" name="Google Shape;665;p59"/>
          <p:cNvPicPr preferRelativeResize="0"/>
          <p:nvPr>
            <p:ph idx="1" type="body"/>
          </p:nvPr>
        </p:nvPicPr>
        <p:blipFill rotWithShape="1">
          <a:blip r:embed="rId3">
            <a:alphaModFix/>
          </a:blip>
          <a:srcRect b="0" l="0" r="0" t="0"/>
          <a:stretch/>
        </p:blipFill>
        <p:spPr>
          <a:xfrm>
            <a:off x="762487" y="1899442"/>
            <a:ext cx="10966491" cy="3483184"/>
          </a:xfrm>
          <a:prstGeom prst="rect">
            <a:avLst/>
          </a:prstGeom>
          <a:noFill/>
          <a:ln>
            <a:noFill/>
          </a:ln>
        </p:spPr>
      </p:pic>
      <p:pic>
        <p:nvPicPr>
          <p:cNvPr id="666" name="Google Shape;666;p59"/>
          <p:cNvPicPr preferRelativeResize="0"/>
          <p:nvPr/>
        </p:nvPicPr>
        <p:blipFill rotWithShape="1">
          <a:blip r:embed="rId4">
            <a:alphaModFix/>
          </a:blip>
          <a:srcRect b="0" l="0" r="0" t="0"/>
          <a:stretch/>
        </p:blipFill>
        <p:spPr>
          <a:xfrm>
            <a:off x="1788873" y="1437587"/>
            <a:ext cx="8985144" cy="4949545"/>
          </a:xfrm>
          <a:prstGeom prst="rect">
            <a:avLst/>
          </a:prstGeom>
          <a:noFill/>
          <a:ln>
            <a:noFill/>
          </a:ln>
        </p:spPr>
      </p:pic>
      <p:pic>
        <p:nvPicPr>
          <p:cNvPr id="667" name="Google Shape;667;p59"/>
          <p:cNvPicPr preferRelativeResize="0"/>
          <p:nvPr/>
        </p:nvPicPr>
        <p:blipFill rotWithShape="1">
          <a:blip r:embed="rId5">
            <a:alphaModFix/>
          </a:blip>
          <a:srcRect b="0" l="0" r="0" t="0"/>
          <a:stretch/>
        </p:blipFill>
        <p:spPr>
          <a:xfrm>
            <a:off x="940819" y="1195310"/>
            <a:ext cx="10681252" cy="5388052"/>
          </a:xfrm>
          <a:prstGeom prst="rect">
            <a:avLst/>
          </a:prstGeom>
          <a:noFill/>
          <a:ln>
            <a:noFill/>
          </a:ln>
        </p:spPr>
      </p:pic>
      <p:sp>
        <p:nvSpPr>
          <p:cNvPr id="668" name="Google Shape;668;p5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66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66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b="1" lang="es-BO" sz="2800"/>
              <a:t>DATOS DE LABORATORIO</a:t>
            </a:r>
            <a:endParaRPr/>
          </a:p>
        </p:txBody>
      </p:sp>
      <p:sp>
        <p:nvSpPr>
          <p:cNvPr id="674" name="Google Shape;674;p60"/>
          <p:cNvSpPr txBox="1"/>
          <p:nvPr>
            <p:ph idx="1" type="body"/>
          </p:nvPr>
        </p:nvSpPr>
        <p:spPr>
          <a:xfrm>
            <a:off x="1272209" y="1417638"/>
            <a:ext cx="10310191" cy="1275521"/>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Clr>
                <a:schemeClr val="dk1"/>
              </a:buClr>
              <a:buSzPts val="2000"/>
              <a:buNone/>
            </a:pPr>
            <a:r>
              <a:rPr lang="es-BO" sz="2000">
                <a:latin typeface="Calibri"/>
                <a:ea typeface="Calibri"/>
                <a:cs typeface="Calibri"/>
                <a:sym typeface="Calibri"/>
              </a:rPr>
              <a:t>Es necesario el uso de los datos obtenidos en laboratorio para relacionar caudal a frecuencia y con ayuda del PLC generaremos una salida analogica de 4 - 20 mA (con resolución de 15 bits).</a:t>
            </a:r>
            <a:endParaRPr/>
          </a:p>
          <a:p>
            <a:pPr indent="0" lvl="0" marL="0" rtl="0" algn="l">
              <a:spcBef>
                <a:spcPts val="1200"/>
              </a:spcBef>
              <a:spcAft>
                <a:spcPts val="0"/>
              </a:spcAft>
              <a:buClr>
                <a:schemeClr val="dk1"/>
              </a:buClr>
              <a:buSzPts val="2000"/>
              <a:buNone/>
            </a:pPr>
            <a:r>
              <a:rPr lang="es-BO" sz="2000">
                <a:latin typeface="Calibri"/>
                <a:ea typeface="Calibri"/>
                <a:cs typeface="Calibri"/>
                <a:sym typeface="Calibri"/>
              </a:rPr>
              <a:t>Esta salida analógica será necesaria para realizar el control a 2 hilos del variador de frecuencia.</a:t>
            </a:r>
            <a:endParaRPr sz="2000"/>
          </a:p>
        </p:txBody>
      </p:sp>
      <p:pic>
        <p:nvPicPr>
          <p:cNvPr id="675" name="Google Shape;675;p60"/>
          <p:cNvPicPr preferRelativeResize="0"/>
          <p:nvPr/>
        </p:nvPicPr>
        <p:blipFill rotWithShape="1">
          <a:blip r:embed="rId3">
            <a:alphaModFix/>
          </a:blip>
          <a:srcRect b="0" l="0" r="0" t="0"/>
          <a:stretch/>
        </p:blipFill>
        <p:spPr>
          <a:xfrm>
            <a:off x="3538857" y="2736203"/>
            <a:ext cx="5114286" cy="4009524"/>
          </a:xfrm>
          <a:prstGeom prst="rect">
            <a:avLst/>
          </a:prstGeom>
          <a:noFill/>
          <a:ln>
            <a:noFill/>
          </a:ln>
        </p:spPr>
      </p:pic>
      <p:sp>
        <p:nvSpPr>
          <p:cNvPr id="676" name="Google Shape;676;p60"/>
          <p:cNvSpPr txBox="1"/>
          <p:nvPr/>
        </p:nvSpPr>
        <p:spPr>
          <a:xfrm>
            <a:off x="1272209" y="1374569"/>
            <a:ext cx="10310191" cy="1643613"/>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Clr>
                <a:schemeClr val="dk1"/>
              </a:buClr>
              <a:buSzPts val="2000"/>
              <a:buFont typeface="Arial"/>
              <a:buNone/>
            </a:pPr>
            <a:r>
              <a:rPr lang="es-BO" sz="2000">
                <a:solidFill>
                  <a:schemeClr val="dk1"/>
                </a:solidFill>
                <a:latin typeface="Calibri"/>
                <a:ea typeface="Calibri"/>
                <a:cs typeface="Calibri"/>
                <a:sym typeface="Calibri"/>
              </a:rPr>
              <a:t>Realizando pruebas en laboratorio se verifico que a partir de 10 [Hz] recién se empezaba a llenar el tanque superior, es por eso que se realizara una regresión lineal sin tomar en cuenta los recuadros celestes. Y de la misma manera como se tomaron lecturas cuando la red de cañerías no estaba llena de agua, la primera medida del dosificador es descartada.</a:t>
            </a:r>
            <a:endParaRPr sz="2000">
              <a:solidFill>
                <a:schemeClr val="dk1"/>
              </a:solidFill>
              <a:latin typeface="Calibri"/>
              <a:ea typeface="Calibri"/>
              <a:cs typeface="Calibri"/>
              <a:sym typeface="Calibri"/>
            </a:endParaRPr>
          </a:p>
        </p:txBody>
      </p:sp>
      <p:pic>
        <p:nvPicPr>
          <p:cNvPr id="677" name="Google Shape;677;p60"/>
          <p:cNvPicPr preferRelativeResize="0"/>
          <p:nvPr/>
        </p:nvPicPr>
        <p:blipFill rotWithShape="1">
          <a:blip r:embed="rId4">
            <a:alphaModFix/>
          </a:blip>
          <a:srcRect b="0" l="0" r="0" t="0"/>
          <a:stretch/>
        </p:blipFill>
        <p:spPr>
          <a:xfrm>
            <a:off x="1825307" y="3061226"/>
            <a:ext cx="8221079" cy="2163442"/>
          </a:xfrm>
          <a:prstGeom prst="rect">
            <a:avLst/>
          </a:prstGeom>
          <a:noFill/>
          <a:ln>
            <a:noFill/>
          </a:ln>
        </p:spPr>
      </p:pic>
      <p:sp>
        <p:nvSpPr>
          <p:cNvPr id="678" name="Google Shape;678;p6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 presetSubtype="0">
                                  <p:stCondLst>
                                    <p:cond delay="0"/>
                                  </p:stCondLst>
                                  <p:childTnLst>
                                    <p:set>
                                      <p:cBhvr>
                                        <p:cTn dur="1" fill="hold">
                                          <p:stCondLst>
                                            <p:cond delay="1"/>
                                          </p:stCondLst>
                                        </p:cTn>
                                        <p:tgtEl>
                                          <p:spTgt spid="674">
                                            <p:txEl>
                                              <p:pRg end="0" st="0"/>
                                            </p:txEl>
                                          </p:spTgt>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674">
                                            <p:txEl>
                                              <p:pRg end="1" st="1"/>
                                            </p:txEl>
                                          </p:spTgt>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67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6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LIMITACIONES</a:t>
            </a:r>
            <a:endParaRPr/>
          </a:p>
        </p:txBody>
      </p:sp>
      <p:pic>
        <p:nvPicPr>
          <p:cNvPr id="684" name="Google Shape;684;p61"/>
          <p:cNvPicPr preferRelativeResize="0"/>
          <p:nvPr/>
        </p:nvPicPr>
        <p:blipFill rotWithShape="1">
          <a:blip r:embed="rId3">
            <a:alphaModFix/>
          </a:blip>
          <a:srcRect b="0" l="0" r="0" t="0"/>
          <a:stretch/>
        </p:blipFill>
        <p:spPr>
          <a:xfrm>
            <a:off x="1601681" y="1176834"/>
            <a:ext cx="9225844" cy="1712140"/>
          </a:xfrm>
          <a:prstGeom prst="rect">
            <a:avLst/>
          </a:prstGeom>
          <a:noFill/>
          <a:ln>
            <a:noFill/>
          </a:ln>
        </p:spPr>
      </p:pic>
      <p:pic>
        <p:nvPicPr>
          <p:cNvPr id="685" name="Google Shape;685;p61"/>
          <p:cNvPicPr preferRelativeResize="0"/>
          <p:nvPr/>
        </p:nvPicPr>
        <p:blipFill rotWithShape="1">
          <a:blip r:embed="rId4">
            <a:alphaModFix/>
          </a:blip>
          <a:srcRect b="0" l="0" r="0" t="0"/>
          <a:stretch/>
        </p:blipFill>
        <p:spPr>
          <a:xfrm>
            <a:off x="2519809" y="3157724"/>
            <a:ext cx="7152381" cy="2980952"/>
          </a:xfrm>
          <a:prstGeom prst="rect">
            <a:avLst/>
          </a:prstGeom>
          <a:noFill/>
          <a:ln>
            <a:noFill/>
          </a:ln>
        </p:spPr>
      </p:pic>
      <p:pic>
        <p:nvPicPr>
          <p:cNvPr id="686" name="Google Shape;686;p61"/>
          <p:cNvPicPr preferRelativeResize="0"/>
          <p:nvPr/>
        </p:nvPicPr>
        <p:blipFill rotWithShape="1">
          <a:blip r:embed="rId5">
            <a:alphaModFix/>
          </a:blip>
          <a:srcRect b="0" l="0" r="0" t="0"/>
          <a:stretch/>
        </p:blipFill>
        <p:spPr>
          <a:xfrm>
            <a:off x="3150319" y="504502"/>
            <a:ext cx="6602276" cy="5097517"/>
          </a:xfrm>
          <a:prstGeom prst="rect">
            <a:avLst/>
          </a:prstGeom>
          <a:noFill/>
          <a:ln>
            <a:noFill/>
          </a:ln>
        </p:spPr>
      </p:pic>
      <p:sp>
        <p:nvSpPr>
          <p:cNvPr id="687" name="Google Shape;687;p61"/>
          <p:cNvSpPr txBox="1"/>
          <p:nvPr>
            <p:ph idx="1" type="body"/>
          </p:nvPr>
        </p:nvSpPr>
        <p:spPr>
          <a:xfrm>
            <a:off x="4327084" y="6235512"/>
            <a:ext cx="5830957" cy="62616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s-BO" sz="2000"/>
              <a:t>Simulación realizada en Simulink</a:t>
            </a:r>
            <a:endParaRPr sz="2000"/>
          </a:p>
        </p:txBody>
      </p:sp>
      <p:sp>
        <p:nvSpPr>
          <p:cNvPr id="688" name="Google Shape;688;p6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68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685"/>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686"/>
                                        </p:tgtEl>
                                        <p:attrNameLst>
                                          <p:attrName>style.visibility</p:attrName>
                                        </p:attrNameLst>
                                      </p:cBhvr>
                                      <p:to>
                                        <p:strVal val="visible"/>
                                      </p:to>
                                    </p:set>
                                    <p:anim calcmode="lin" valueType="num">
                                      <p:cBhvr additive="base">
                                        <p:cTn dur="500"/>
                                        <p:tgtEl>
                                          <p:spTgt spid="686"/>
                                        </p:tgtEl>
                                        <p:attrNameLst>
                                          <p:attrName>ppt_w</p:attrName>
                                        </p:attrNameLst>
                                      </p:cBhvr>
                                      <p:tavLst>
                                        <p:tav fmla="" tm="0">
                                          <p:val>
                                            <p:strVal val="0"/>
                                          </p:val>
                                        </p:tav>
                                        <p:tav fmla="" tm="100000">
                                          <p:val>
                                            <p:strVal val="#ppt_w"/>
                                          </p:val>
                                        </p:tav>
                                      </p:tavLst>
                                    </p:anim>
                                    <p:anim calcmode="lin" valueType="num">
                                      <p:cBhvr additive="base">
                                        <p:cTn dur="500"/>
                                        <p:tgtEl>
                                          <p:spTgt spid="68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87">
                                            <p:txEl>
                                              <p:pRg end="0" st="0"/>
                                            </p:txEl>
                                          </p:spTgt>
                                        </p:tgtEl>
                                        <p:attrNameLst>
                                          <p:attrName>style.visibility</p:attrName>
                                        </p:attrNameLst>
                                      </p:cBhvr>
                                      <p:to>
                                        <p:strVal val="visible"/>
                                      </p:to>
                                    </p:set>
                                    <p:anim calcmode="lin" valueType="num">
                                      <p:cBhvr additive="base">
                                        <p:cTn dur="500"/>
                                        <p:tgtEl>
                                          <p:spTgt spid="687">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687">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62"/>
          <p:cNvSpPr txBox="1"/>
          <p:nvPr>
            <p:ph type="title"/>
          </p:nvPr>
        </p:nvSpPr>
        <p:spPr>
          <a:xfrm>
            <a:off x="609600" y="274638"/>
            <a:ext cx="10972800" cy="7192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DISEÑO DEL CONTROLADOR EN LADDER</a:t>
            </a:r>
            <a:endParaRPr/>
          </a:p>
        </p:txBody>
      </p:sp>
      <p:sp>
        <p:nvSpPr>
          <p:cNvPr id="694" name="Google Shape;694;p62"/>
          <p:cNvSpPr txBox="1"/>
          <p:nvPr/>
        </p:nvSpPr>
        <p:spPr>
          <a:xfrm>
            <a:off x="1113183" y="2332037"/>
            <a:ext cx="10972800" cy="4525963"/>
          </a:xfrm>
          <a:prstGeom prst="rect">
            <a:avLst/>
          </a:prstGeom>
          <a:noFill/>
          <a:ln>
            <a:noFill/>
          </a:ln>
        </p:spPr>
        <p:txBody>
          <a:bodyPr anchorCtr="0" anchor="t" bIns="45700" lIns="91425" spcFirstLastPara="1" rIns="91425" wrap="square" tIns="45700">
            <a:norm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pic>
        <p:nvPicPr>
          <p:cNvPr id="695" name="Google Shape;695;p62"/>
          <p:cNvPicPr preferRelativeResize="0"/>
          <p:nvPr/>
        </p:nvPicPr>
        <p:blipFill rotWithShape="1">
          <a:blip r:embed="rId3">
            <a:alphaModFix/>
          </a:blip>
          <a:srcRect b="0" l="0" r="0" t="0"/>
          <a:stretch/>
        </p:blipFill>
        <p:spPr>
          <a:xfrm>
            <a:off x="1709531" y="1113181"/>
            <a:ext cx="8984974" cy="5250665"/>
          </a:xfrm>
          <a:prstGeom prst="rect">
            <a:avLst/>
          </a:prstGeom>
          <a:noFill/>
          <a:ln>
            <a:noFill/>
          </a:ln>
        </p:spPr>
      </p:pic>
      <p:pic>
        <p:nvPicPr>
          <p:cNvPr id="696" name="Google Shape;696;p62"/>
          <p:cNvPicPr preferRelativeResize="0"/>
          <p:nvPr/>
        </p:nvPicPr>
        <p:blipFill rotWithShape="1">
          <a:blip r:embed="rId4">
            <a:alphaModFix/>
          </a:blip>
          <a:srcRect b="0" l="0" r="0" t="0"/>
          <a:stretch/>
        </p:blipFill>
        <p:spPr>
          <a:xfrm>
            <a:off x="2166212" y="993913"/>
            <a:ext cx="7859575" cy="5447230"/>
          </a:xfrm>
          <a:prstGeom prst="rect">
            <a:avLst/>
          </a:prstGeom>
          <a:noFill/>
          <a:ln>
            <a:noFill/>
          </a:ln>
        </p:spPr>
      </p:pic>
      <p:sp>
        <p:nvSpPr>
          <p:cNvPr id="697" name="Google Shape;697;p6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69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63"/>
          <p:cNvSpPr txBox="1"/>
          <p:nvPr>
            <p:ph idx="1" type="body"/>
          </p:nvPr>
        </p:nvSpPr>
        <p:spPr>
          <a:xfrm>
            <a:off x="954155" y="1246614"/>
            <a:ext cx="10508975" cy="86470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000"/>
              <a:buNone/>
            </a:pPr>
            <a:r>
              <a:rPr lang="es-BO" sz="2000"/>
              <a:t>Para evitar saturar el actuador para un tiempo de asentamiento excesivamente pequeño, se puede rediseñar el sistema para que en un tiempo mas elevado (12 min) se alcance la referencia.</a:t>
            </a:r>
            <a:endParaRPr/>
          </a:p>
          <a:p>
            <a:pPr indent="0" lvl="0" marL="0" rtl="0" algn="just">
              <a:spcBef>
                <a:spcPts val="400"/>
              </a:spcBef>
              <a:spcAft>
                <a:spcPts val="0"/>
              </a:spcAft>
              <a:buClr>
                <a:schemeClr val="dk1"/>
              </a:buClr>
              <a:buSzPts val="2000"/>
              <a:buNone/>
            </a:pPr>
            <a:r>
              <a:t/>
            </a:r>
            <a:endParaRPr sz="2000"/>
          </a:p>
        </p:txBody>
      </p:sp>
      <p:sp>
        <p:nvSpPr>
          <p:cNvPr id="703" name="Google Shape;703;p6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REDISEÑO DEL SISTEMA</a:t>
            </a:r>
            <a:endParaRPr/>
          </a:p>
        </p:txBody>
      </p:sp>
      <p:pic>
        <p:nvPicPr>
          <p:cNvPr id="704" name="Google Shape;704;p63"/>
          <p:cNvPicPr preferRelativeResize="0"/>
          <p:nvPr/>
        </p:nvPicPr>
        <p:blipFill rotWithShape="1">
          <a:blip r:embed="rId3">
            <a:alphaModFix/>
          </a:blip>
          <a:srcRect b="0" l="0" r="0" t="0"/>
          <a:stretch/>
        </p:blipFill>
        <p:spPr>
          <a:xfrm>
            <a:off x="5123407" y="2087136"/>
            <a:ext cx="5695548" cy="1919564"/>
          </a:xfrm>
          <a:prstGeom prst="rect">
            <a:avLst/>
          </a:prstGeom>
          <a:noFill/>
          <a:ln>
            <a:noFill/>
          </a:ln>
        </p:spPr>
      </p:pic>
      <p:pic>
        <p:nvPicPr>
          <p:cNvPr id="705" name="Google Shape;705;p63"/>
          <p:cNvPicPr preferRelativeResize="0"/>
          <p:nvPr/>
        </p:nvPicPr>
        <p:blipFill rotWithShape="1">
          <a:blip r:embed="rId4">
            <a:alphaModFix/>
          </a:blip>
          <a:srcRect b="0" l="0" r="0" t="0"/>
          <a:stretch/>
        </p:blipFill>
        <p:spPr>
          <a:xfrm>
            <a:off x="2742060" y="3982518"/>
            <a:ext cx="7118696" cy="2533075"/>
          </a:xfrm>
          <a:prstGeom prst="rect">
            <a:avLst/>
          </a:prstGeom>
          <a:noFill/>
          <a:ln>
            <a:noFill/>
          </a:ln>
        </p:spPr>
      </p:pic>
      <p:pic>
        <p:nvPicPr>
          <p:cNvPr id="706" name="Google Shape;706;p63"/>
          <p:cNvPicPr preferRelativeResize="0"/>
          <p:nvPr/>
        </p:nvPicPr>
        <p:blipFill rotWithShape="1">
          <a:blip r:embed="rId5">
            <a:alphaModFix/>
          </a:blip>
          <a:srcRect b="0" l="0" r="0" t="0"/>
          <a:stretch/>
        </p:blipFill>
        <p:spPr>
          <a:xfrm>
            <a:off x="1330299" y="2450355"/>
            <a:ext cx="3416964" cy="978645"/>
          </a:xfrm>
          <a:prstGeom prst="rect">
            <a:avLst/>
          </a:prstGeom>
          <a:noFill/>
          <a:ln cap="flat" cmpd="sng" w="9525">
            <a:solidFill>
              <a:schemeClr val="dk1"/>
            </a:solidFill>
            <a:prstDash val="solid"/>
            <a:round/>
            <a:headEnd len="sm" w="sm" type="none"/>
            <a:tailEnd len="sm" w="sm" type="none"/>
          </a:ln>
        </p:spPr>
      </p:pic>
      <p:sp>
        <p:nvSpPr>
          <p:cNvPr id="707" name="Google Shape;707;p6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64"/>
          <p:cNvSpPr txBox="1"/>
          <p:nvPr>
            <p:ph type="title"/>
          </p:nvPr>
        </p:nvSpPr>
        <p:spPr>
          <a:xfrm>
            <a:off x="609600" y="274638"/>
            <a:ext cx="10972800" cy="86504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CONSIDERACIONES PARA LA IMPLEMENTACION</a:t>
            </a:r>
            <a:endParaRPr/>
          </a:p>
        </p:txBody>
      </p:sp>
      <p:sp>
        <p:nvSpPr>
          <p:cNvPr id="713" name="Google Shape;713;p64"/>
          <p:cNvSpPr txBox="1"/>
          <p:nvPr>
            <p:ph idx="1" type="body"/>
          </p:nvPr>
        </p:nvSpPr>
        <p:spPr>
          <a:xfrm>
            <a:off x="1205947" y="1391478"/>
            <a:ext cx="5194852" cy="4986477"/>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000"/>
              <a:buNone/>
            </a:pPr>
            <a:r>
              <a:rPr lang="es-BO" sz="2000"/>
              <a:t>El controlador diseñado no considera que puede existir una obstrucción que tape por completo o de manera parcial la salida de agua del tanque, el sistema sigue manteniendo un caudal de ingreso equivalente al caudal de salida constante de manera que a largo plazo el incremento de nivel por encima de la referencia es inevitable.</a:t>
            </a:r>
            <a:endParaRPr/>
          </a:p>
          <a:p>
            <a:pPr indent="0" lvl="0" marL="0" rtl="0" algn="just">
              <a:spcBef>
                <a:spcPts val="400"/>
              </a:spcBef>
              <a:spcAft>
                <a:spcPts val="0"/>
              </a:spcAft>
              <a:buClr>
                <a:schemeClr val="dk1"/>
              </a:buClr>
              <a:buSzPts val="2000"/>
              <a:buNone/>
            </a:pPr>
            <a:r>
              <a:t/>
            </a:r>
            <a:endParaRPr sz="2000"/>
          </a:p>
          <a:p>
            <a:pPr indent="0" lvl="0" marL="0" rtl="0" algn="just">
              <a:spcBef>
                <a:spcPts val="400"/>
              </a:spcBef>
              <a:spcAft>
                <a:spcPts val="0"/>
              </a:spcAft>
              <a:buClr>
                <a:schemeClr val="dk1"/>
              </a:buClr>
              <a:buSzPts val="2000"/>
              <a:buNone/>
            </a:pPr>
            <a:r>
              <a:rPr lang="es-BO" sz="2000"/>
              <a:t>Para remediar esto, se diseño un sistema de alarma que permita cortar el suministro de agua al tanque superior si se ha sobrepasado un cierto margen de protección (2cm encima de la referencia).</a:t>
            </a:r>
            <a:endParaRPr/>
          </a:p>
          <a:p>
            <a:pPr indent="0" lvl="0" marL="0" rtl="0" algn="just">
              <a:spcBef>
                <a:spcPts val="400"/>
              </a:spcBef>
              <a:spcAft>
                <a:spcPts val="0"/>
              </a:spcAft>
              <a:buClr>
                <a:schemeClr val="dk1"/>
              </a:buClr>
              <a:buSzPts val="2000"/>
              <a:buNone/>
            </a:pPr>
            <a:r>
              <a:t/>
            </a:r>
            <a:endParaRPr sz="2000"/>
          </a:p>
          <a:p>
            <a:pPr indent="0" lvl="0" marL="0" rtl="0" algn="just">
              <a:spcBef>
                <a:spcPts val="400"/>
              </a:spcBef>
              <a:spcAft>
                <a:spcPts val="0"/>
              </a:spcAft>
              <a:buClr>
                <a:schemeClr val="dk1"/>
              </a:buClr>
              <a:buSzPts val="2000"/>
              <a:buNone/>
            </a:pPr>
            <a:r>
              <a:t/>
            </a:r>
            <a:endParaRPr sz="2000"/>
          </a:p>
        </p:txBody>
      </p:sp>
      <p:pic>
        <p:nvPicPr>
          <p:cNvPr id="714" name="Google Shape;714;p64"/>
          <p:cNvPicPr preferRelativeResize="0"/>
          <p:nvPr/>
        </p:nvPicPr>
        <p:blipFill rotWithShape="1">
          <a:blip r:embed="rId3">
            <a:alphaModFix/>
          </a:blip>
          <a:srcRect b="0" l="0" r="0" t="0"/>
          <a:stretch/>
        </p:blipFill>
        <p:spPr>
          <a:xfrm>
            <a:off x="6777991" y="1391478"/>
            <a:ext cx="4374209" cy="4810539"/>
          </a:xfrm>
          <a:prstGeom prst="rect">
            <a:avLst/>
          </a:prstGeom>
          <a:noFill/>
          <a:ln>
            <a:noFill/>
          </a:ln>
        </p:spPr>
      </p:pic>
      <p:sp>
        <p:nvSpPr>
          <p:cNvPr id="715" name="Google Shape;715;p6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65"/>
          <p:cNvSpPr txBox="1"/>
          <p:nvPr>
            <p:ph type="title"/>
          </p:nvPr>
        </p:nvSpPr>
        <p:spPr>
          <a:xfrm>
            <a:off x="1245704" y="261386"/>
            <a:ext cx="9899374"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DISEÑO DE LA INTERFAZ PARA EL HMI</a:t>
            </a:r>
            <a:endParaRPr b="1" sz="3200"/>
          </a:p>
        </p:txBody>
      </p:sp>
      <p:pic>
        <p:nvPicPr>
          <p:cNvPr id="721" name="Google Shape;721;p65"/>
          <p:cNvPicPr preferRelativeResize="0"/>
          <p:nvPr/>
        </p:nvPicPr>
        <p:blipFill rotWithShape="1">
          <a:blip r:embed="rId3">
            <a:alphaModFix/>
          </a:blip>
          <a:srcRect b="0" l="0" r="0" t="0"/>
          <a:stretch/>
        </p:blipFill>
        <p:spPr>
          <a:xfrm>
            <a:off x="2069110" y="1194432"/>
            <a:ext cx="8464596" cy="5117844"/>
          </a:xfrm>
          <a:prstGeom prst="rect">
            <a:avLst/>
          </a:prstGeom>
          <a:noFill/>
          <a:ln>
            <a:noFill/>
          </a:ln>
        </p:spPr>
      </p:pic>
      <p:sp>
        <p:nvSpPr>
          <p:cNvPr id="722" name="Google Shape;722;p6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66"/>
          <p:cNvSpPr txBox="1"/>
          <p:nvPr>
            <p:ph type="title"/>
          </p:nvPr>
        </p:nvSpPr>
        <p:spPr>
          <a:xfrm>
            <a:off x="874644" y="844481"/>
            <a:ext cx="4171406" cy="87489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s-BO" sz="3200"/>
              <a:t>CONCLUSIONES</a:t>
            </a:r>
            <a:endParaRPr b="1" sz="3200"/>
          </a:p>
        </p:txBody>
      </p:sp>
      <p:sp>
        <p:nvSpPr>
          <p:cNvPr id="728" name="Google Shape;728;p66"/>
          <p:cNvSpPr txBox="1"/>
          <p:nvPr>
            <p:ph idx="1" type="body"/>
          </p:nvPr>
        </p:nvSpPr>
        <p:spPr>
          <a:xfrm>
            <a:off x="1098889" y="1918157"/>
            <a:ext cx="9994222" cy="5421086"/>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lnSpc>
                <a:spcPct val="120000"/>
              </a:lnSpc>
              <a:spcBef>
                <a:spcPts val="0"/>
              </a:spcBef>
              <a:spcAft>
                <a:spcPts val="0"/>
              </a:spcAft>
              <a:buClr>
                <a:schemeClr val="dk1"/>
              </a:buClr>
              <a:buSzPct val="100000"/>
              <a:buChar char="•"/>
            </a:pPr>
            <a:r>
              <a:rPr lang="es-BO" sz="2800"/>
              <a:t>Se diseño un controlador de realimentación de estados para un servosistema para incrementar la cantidad de estados (con un integrador), sin embargo por la dificultad de hallar una relación para la salida del bloque PID para la relación con la matriz de ganancia de realimentación, se lo descarto y se realizo el diseño de un controlador por realimentación de estados con la planta original de primer orden. (Los resultados obtenidos fueron satisfactorios, consiguiendo el control del sistema)</a:t>
            </a:r>
            <a:endParaRPr/>
          </a:p>
          <a:p>
            <a:pPr indent="-342900" lvl="0" marL="342900" rtl="0" algn="just">
              <a:lnSpc>
                <a:spcPct val="120000"/>
              </a:lnSpc>
              <a:spcBef>
                <a:spcPts val="392"/>
              </a:spcBef>
              <a:spcAft>
                <a:spcPts val="0"/>
              </a:spcAft>
              <a:buClr>
                <a:schemeClr val="dk1"/>
              </a:buClr>
              <a:buSzPct val="100000"/>
              <a:buChar char="•"/>
            </a:pPr>
            <a:r>
              <a:rPr lang="es-BO" sz="2800"/>
              <a:t>Mediante el diseño de un programa en LADDER se consiguió ejecutar la acción de control sobre el actuador (variador de frecuencia), consiguiendo conocimiento, habilidades y destrezas para la interacción con el PLC real.</a:t>
            </a:r>
            <a:endParaRPr/>
          </a:p>
          <a:p>
            <a:pPr indent="-342900" lvl="0" marL="342900" rtl="0" algn="just">
              <a:lnSpc>
                <a:spcPct val="120000"/>
              </a:lnSpc>
              <a:spcBef>
                <a:spcPts val="392"/>
              </a:spcBef>
              <a:spcAft>
                <a:spcPts val="0"/>
              </a:spcAft>
              <a:buClr>
                <a:schemeClr val="dk1"/>
              </a:buClr>
              <a:buSzPct val="100000"/>
              <a:buChar char="•"/>
            </a:pPr>
            <a:r>
              <a:rPr lang="es-BO" sz="2800"/>
              <a:t>Se realizo una interfaz para la comunicación de las variables de proceso con un esquema funcional para la visualización y monitoreo del sistema. Sin embargo, no se logro cargar el archivo al HMI por dificultades en la vinculación (software del hmi)</a:t>
            </a:r>
            <a:endParaRPr/>
          </a:p>
          <a:p>
            <a:pPr indent="-218440" lvl="0" marL="342900" rtl="0" algn="just">
              <a:spcBef>
                <a:spcPts val="392"/>
              </a:spcBef>
              <a:spcAft>
                <a:spcPts val="0"/>
              </a:spcAft>
              <a:buClr>
                <a:schemeClr val="dk1"/>
              </a:buClr>
              <a:buSzPct val="100000"/>
              <a:buNone/>
            </a:pPr>
            <a:r>
              <a:t/>
            </a:r>
            <a:endParaRPr sz="2800"/>
          </a:p>
          <a:p>
            <a:pPr indent="0" lvl="0" marL="0" rtl="0" algn="just">
              <a:spcBef>
                <a:spcPts val="448"/>
              </a:spcBef>
              <a:spcAft>
                <a:spcPts val="0"/>
              </a:spcAft>
              <a:buClr>
                <a:schemeClr val="dk1"/>
              </a:buClr>
              <a:buSzPct val="100000"/>
              <a:buNone/>
            </a:pPr>
            <a:r>
              <a:rPr lang="es-BO"/>
              <a:t> </a:t>
            </a:r>
            <a:endParaRPr/>
          </a:p>
        </p:txBody>
      </p:sp>
      <p:sp>
        <p:nvSpPr>
          <p:cNvPr id="729" name="Google Shape;729;p6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NAV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NAV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2022-12-06T13:47:52Z</dcterms:created>
  <dc:creator>MILTON TIÑINI</dc:creator>
</cp:coreProperties>
</file>