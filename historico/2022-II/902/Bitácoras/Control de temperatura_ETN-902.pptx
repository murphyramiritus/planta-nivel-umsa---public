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15"/>
  </p:notesMasterIdLst>
  <p:handoutMasterIdLst>
    <p:handoutMasterId r:id="rId16"/>
  </p:handoutMasterIdLst>
  <p:sldIdLst>
    <p:sldId id="256" r:id="rId2"/>
    <p:sldId id="922" r:id="rId3"/>
    <p:sldId id="919" r:id="rId4"/>
    <p:sldId id="918" r:id="rId5"/>
    <p:sldId id="920" r:id="rId6"/>
    <p:sldId id="274" r:id="rId7"/>
    <p:sldId id="276" r:id="rId8"/>
    <p:sldId id="278" r:id="rId9"/>
    <p:sldId id="279" r:id="rId10"/>
    <p:sldId id="915" r:id="rId11"/>
    <p:sldId id="257" r:id="rId12"/>
    <p:sldId id="916" r:id="rId13"/>
    <p:sldId id="917"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325FDCCB-0E0B-43E2-845D-352A39C84B09}">
          <p14:sldIdLst>
            <p14:sldId id="256"/>
            <p14:sldId id="922"/>
            <p14:sldId id="919"/>
            <p14:sldId id="918"/>
            <p14:sldId id="920"/>
            <p14:sldId id="274"/>
            <p14:sldId id="276"/>
            <p14:sldId id="278"/>
            <p14:sldId id="279"/>
            <p14:sldId id="915"/>
            <p14:sldId id="257"/>
            <p14:sldId id="916"/>
            <p14:sldId id="917"/>
          </p14:sldIdLst>
        </p14:section>
      </p14:sectionLst>
    </p:ext>
    <p:ext uri="{EFAFB233-063F-42B5-8137-9DF3F51BA10A}">
      <p15:sldGuideLst xmlns:p15="http://schemas.microsoft.com/office/powerpoint/2012/main">
        <p15:guide id="1" orient="horz" pos="184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IDO ALVARO LINARES POMA" initials="GALP" lastIdx="3" clrIdx="0">
    <p:extLst>
      <p:ext uri="{19B8F6BF-5375-455C-9EA6-DF929625EA0E}">
        <p15:presenceInfo xmlns:p15="http://schemas.microsoft.com/office/powerpoint/2012/main" userId="S::galinares@umsa.edu.bo::e54d7a6c-3dde-473b-ad04-8979be078e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85668" autoAdjust="0"/>
  </p:normalViewPr>
  <p:slideViewPr>
    <p:cSldViewPr>
      <p:cViewPr>
        <p:scale>
          <a:sx n="66" d="100"/>
          <a:sy n="66" d="100"/>
        </p:scale>
        <p:origin x="972" y="-42"/>
      </p:cViewPr>
      <p:guideLst>
        <p:guide orient="horz" pos="1842"/>
        <p:guide pos="3840"/>
      </p:guideLst>
    </p:cSldViewPr>
  </p:slideViewPr>
  <p:outlineViewPr>
    <p:cViewPr>
      <p:scale>
        <a:sx n="33" d="100"/>
        <a:sy n="33" d="100"/>
      </p:scale>
      <p:origin x="0" y="-17779"/>
    </p:cViewPr>
  </p:outlineViewPr>
  <p:notesTextViewPr>
    <p:cViewPr>
      <p:scale>
        <a:sx n="100" d="100"/>
        <a:sy n="100" d="100"/>
      </p:scale>
      <p:origin x="0" y="0"/>
    </p:cViewPr>
  </p:notesTextViewPr>
  <p:sorterViewPr>
    <p:cViewPr>
      <p:scale>
        <a:sx n="120" d="100"/>
        <a:sy n="120" d="100"/>
      </p:scale>
      <p:origin x="0" y="-58642"/>
    </p:cViewPr>
  </p:sorterViewPr>
  <p:notesViewPr>
    <p:cSldViewPr>
      <p:cViewPr varScale="1">
        <p:scale>
          <a:sx n="63" d="100"/>
          <a:sy n="63" d="100"/>
        </p:scale>
        <p:origin x="2875" y="7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A41A3B-F101-4AE3-B69F-3C3712D858EA}" type="datetimeFigureOut">
              <a:rPr lang="es-BO" smtClean="0"/>
              <a:t>31/1/2023</a:t>
            </a:fld>
            <a:endParaRPr lang="es-B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A0C2CA-CBAE-41B7-A978-53C8A9A4D129}" type="slidenum">
              <a:rPr lang="es-BO" smtClean="0"/>
              <a:t>‹Nº›</a:t>
            </a:fld>
            <a:endParaRPr lang="es-BO"/>
          </a:p>
        </p:txBody>
      </p:sp>
    </p:spTree>
    <p:extLst>
      <p:ext uri="{BB962C8B-B14F-4D97-AF65-F5344CB8AC3E}">
        <p14:creationId xmlns:p14="http://schemas.microsoft.com/office/powerpoint/2010/main" val="36059506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0DBC2D-C62C-432E-99B2-125B8B85F6DB}" type="datetimeFigureOut">
              <a:rPr lang="es-ES" smtClean="0"/>
              <a:pPr/>
              <a:t>31/01/2023</a:t>
            </a:fld>
            <a:endParaRPr lang="es-ES"/>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F8FA83-9E9C-4461-A54B-A7C68D26A43B}" type="slidenum">
              <a:rPr lang="es-ES" smtClean="0"/>
              <a:pPr/>
              <a:t>‹Nº›</a:t>
            </a:fld>
            <a:endParaRPr lang="es-ES"/>
          </a:p>
        </p:txBody>
      </p:sp>
    </p:spTree>
    <p:extLst>
      <p:ext uri="{BB962C8B-B14F-4D97-AF65-F5344CB8AC3E}">
        <p14:creationId xmlns:p14="http://schemas.microsoft.com/office/powerpoint/2010/main" val="3520891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765479e0ef_0_1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765479e0ef_0_18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BO" sz="1200" dirty="0"/>
              <a:t>En la presente transparencia se pretende conocer el funcionamiento del sensor y conocer las características mas relevantes.</a:t>
            </a:r>
            <a:endParaRPr sz="1200" dirty="0"/>
          </a:p>
        </p:txBody>
      </p:sp>
    </p:spTree>
    <p:extLst>
      <p:ext uri="{BB962C8B-B14F-4D97-AF65-F5344CB8AC3E}">
        <p14:creationId xmlns:p14="http://schemas.microsoft.com/office/powerpoint/2010/main" val="4128996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76be681d8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76be681d8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2674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765479e0ef_0_1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765479e0ef_0_1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8833eed09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8833eed09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BO" dirty="0"/>
              <a:t>Es importante conocer cuales son las entradas y salidas de este controlador</a:t>
            </a:r>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11</a:t>
            </a:fld>
            <a:endParaRPr lang="es-ES"/>
          </a:p>
        </p:txBody>
      </p:sp>
    </p:spTree>
    <p:extLst>
      <p:ext uri="{BB962C8B-B14F-4D97-AF65-F5344CB8AC3E}">
        <p14:creationId xmlns:p14="http://schemas.microsoft.com/office/powerpoint/2010/main" val="4045863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lvl1pPr>
              <a:defRPr>
                <a:solidFill>
                  <a:schemeClr val="tx1"/>
                </a:solidFill>
              </a:defRPr>
            </a:lvl1pPr>
          </a:lstStyle>
          <a:p>
            <a:pPr algn="ctr"/>
            <a:endParaRPr lang="es-ES" dirty="0"/>
          </a:p>
        </p:txBody>
      </p:sp>
      <p:sp>
        <p:nvSpPr>
          <p:cNvPr id="5" name="4 Marcador de pie de página"/>
          <p:cNvSpPr>
            <a:spLocks noGrp="1"/>
          </p:cNvSpPr>
          <p:nvPr>
            <p:ph type="ftr" sz="quarter" idx="11"/>
          </p:nvPr>
        </p:nvSpPr>
        <p:spPr/>
        <p:txBody>
          <a:bodyPr/>
          <a:lstStyle>
            <a:lvl1pPr>
              <a:defRPr>
                <a:solidFill>
                  <a:schemeClr val="tx1"/>
                </a:solidFill>
              </a:defRPr>
            </a:lvl1pPr>
          </a:lstStyle>
          <a:p>
            <a:endParaRPr lang="es-ES" dirty="0"/>
          </a:p>
        </p:txBody>
      </p:sp>
      <p:sp>
        <p:nvSpPr>
          <p:cNvPr id="6" name="5 Marcador de número de diapositiva"/>
          <p:cNvSpPr>
            <a:spLocks noGrp="1"/>
          </p:cNvSpPr>
          <p:nvPr>
            <p:ph type="sldNum" sz="quarter" idx="12"/>
          </p:nvPr>
        </p:nvSpPr>
        <p:spPr/>
        <p:txBody>
          <a:bodyPr/>
          <a:lstStyle/>
          <a:p>
            <a:fld id="{42067D0F-7417-4301-84EF-00114E63992C}" type="slidenum">
              <a:rPr lang="es-ES" smtClean="0"/>
              <a:pPr/>
              <a:t>‹Nº›</a:t>
            </a:fld>
            <a:endParaRPr lang="es-ES" dirty="0"/>
          </a:p>
        </p:txBody>
      </p:sp>
    </p:spTree>
    <p:extLst>
      <p:ext uri="{BB962C8B-B14F-4D97-AF65-F5344CB8AC3E}">
        <p14:creationId xmlns:p14="http://schemas.microsoft.com/office/powerpoint/2010/main" val="2427391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54445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934952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353032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329973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273090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2945108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6958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3700895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3749212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F70898F1-BCA8-4F56-8DBA-E10B6118DD84}" type="datetimeFigureOut">
              <a:rPr lang="es-ES" smtClean="0"/>
              <a:pPr/>
              <a:t>31/01/2023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2067D0F-7417-4301-84EF-00114E63992C}" type="slidenum">
              <a:rPr lang="es-ES" smtClean="0"/>
              <a:pPr/>
              <a:t>‹Nº›</a:t>
            </a:fld>
            <a:endParaRPr lang="es-ES"/>
          </a:p>
        </p:txBody>
      </p:sp>
    </p:spTree>
    <p:extLst>
      <p:ext uri="{BB962C8B-B14F-4D97-AF65-F5344CB8AC3E}">
        <p14:creationId xmlns:p14="http://schemas.microsoft.com/office/powerpoint/2010/main" val="2508573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274639"/>
            <a:ext cx="10972800" cy="58515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2 Marcador de fecha"/>
          <p:cNvSpPr>
            <a:spLocks noGrp="1"/>
          </p:cNvSpPr>
          <p:nvPr>
            <p:ph type="dt" sz="half" idx="10"/>
          </p:nvPr>
        </p:nvSpPr>
        <p:spPr>
          <a:xfrm>
            <a:off x="609600" y="6245225"/>
            <a:ext cx="2844800" cy="476250"/>
          </a:xfrm>
        </p:spPr>
        <p:txBody>
          <a:bodyPr/>
          <a:lstStyle>
            <a:lvl1pPr>
              <a:defRPr/>
            </a:lvl1pPr>
          </a:lstStyle>
          <a:p>
            <a:endParaRPr lang="es-ES"/>
          </a:p>
        </p:txBody>
      </p:sp>
      <p:sp>
        <p:nvSpPr>
          <p:cNvPr id="4" name="3 Marcador de pie de página"/>
          <p:cNvSpPr>
            <a:spLocks noGrp="1"/>
          </p:cNvSpPr>
          <p:nvPr>
            <p:ph type="ftr" sz="quarter" idx="11"/>
          </p:nvPr>
        </p:nvSpPr>
        <p:spPr>
          <a:xfrm>
            <a:off x="4165600" y="6245225"/>
            <a:ext cx="3860800" cy="476250"/>
          </a:xfrm>
        </p:spPr>
        <p:txBody>
          <a:bodyPr/>
          <a:lstStyle>
            <a:lvl1pPr>
              <a:defRPr/>
            </a:lvl1pPr>
          </a:lstStyle>
          <a:p>
            <a:endParaRPr lang="es-ES"/>
          </a:p>
        </p:txBody>
      </p:sp>
      <p:sp>
        <p:nvSpPr>
          <p:cNvPr id="5" name="4 Marcador de número de diapositiva"/>
          <p:cNvSpPr>
            <a:spLocks noGrp="1"/>
          </p:cNvSpPr>
          <p:nvPr>
            <p:ph type="sldNum" sz="quarter" idx="12"/>
          </p:nvPr>
        </p:nvSpPr>
        <p:spPr>
          <a:xfrm>
            <a:off x="8737600" y="6245225"/>
            <a:ext cx="2844800" cy="476250"/>
          </a:xfrm>
        </p:spPr>
        <p:txBody>
          <a:bodyPr/>
          <a:lstStyle>
            <a:lvl1pPr>
              <a:defRPr/>
            </a:lvl1pPr>
          </a:lstStyle>
          <a:p>
            <a:fld id="{0144174C-7172-4F3B-A35B-318776375289}" type="slidenum">
              <a:rPr lang="es-ES"/>
              <a:pPr/>
              <a:t>‹Nº›</a:t>
            </a:fld>
            <a:endParaRPr lang="es-ES"/>
          </a:p>
        </p:txBody>
      </p:sp>
    </p:spTree>
    <p:extLst>
      <p:ext uri="{BB962C8B-B14F-4D97-AF65-F5344CB8AC3E}">
        <p14:creationId xmlns:p14="http://schemas.microsoft.com/office/powerpoint/2010/main" val="3148636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1826684" y="301625"/>
            <a:ext cx="9751483" cy="1143000"/>
          </a:xfrm>
        </p:spPr>
        <p:txBody>
          <a:bodyPr/>
          <a:lstStyle/>
          <a:p>
            <a:r>
              <a:rPr lang="es-ES"/>
              <a:t>Haga clic para modificar el estilo de título del patrón</a:t>
            </a:r>
          </a:p>
        </p:txBody>
      </p:sp>
      <p:sp>
        <p:nvSpPr>
          <p:cNvPr id="3" name="2 Marcador de tabla"/>
          <p:cNvSpPr>
            <a:spLocks noGrp="1"/>
          </p:cNvSpPr>
          <p:nvPr>
            <p:ph type="tbl" idx="1"/>
          </p:nvPr>
        </p:nvSpPr>
        <p:spPr>
          <a:xfrm>
            <a:off x="1826684" y="1827213"/>
            <a:ext cx="9751483" cy="4114800"/>
          </a:xfrm>
        </p:spPr>
        <p:txBody>
          <a:bodyPr/>
          <a:lstStyle/>
          <a:p>
            <a:endParaRPr lang="es-ES"/>
          </a:p>
        </p:txBody>
      </p:sp>
      <p:sp>
        <p:nvSpPr>
          <p:cNvPr id="4" name="3 Marcador de fecha"/>
          <p:cNvSpPr>
            <a:spLocks noGrp="1"/>
          </p:cNvSpPr>
          <p:nvPr>
            <p:ph type="dt" sz="half" idx="10"/>
          </p:nvPr>
        </p:nvSpPr>
        <p:spPr>
          <a:xfrm>
            <a:off x="609600" y="6248400"/>
            <a:ext cx="2844800" cy="457200"/>
          </a:xfrm>
        </p:spPr>
        <p:txBody>
          <a:bodyPr/>
          <a:lstStyle>
            <a:lvl1pPr>
              <a:defRPr/>
            </a:lvl1pPr>
          </a:lstStyle>
          <a:p>
            <a:endParaRPr lang="es-ES"/>
          </a:p>
        </p:txBody>
      </p:sp>
      <p:sp>
        <p:nvSpPr>
          <p:cNvPr id="5" name="4 Marcador de pie de página"/>
          <p:cNvSpPr>
            <a:spLocks noGrp="1"/>
          </p:cNvSpPr>
          <p:nvPr>
            <p:ph type="ftr" sz="quarter" idx="11"/>
          </p:nvPr>
        </p:nvSpPr>
        <p:spPr>
          <a:xfrm>
            <a:off x="4165600" y="6248400"/>
            <a:ext cx="3860800" cy="457200"/>
          </a:xfrm>
        </p:spPr>
        <p:txBody>
          <a:bodyPr/>
          <a:lstStyle>
            <a:lvl1pPr>
              <a:defRPr/>
            </a:lvl1pPr>
          </a:lstStyle>
          <a:p>
            <a:endParaRPr lang="es-ES"/>
          </a:p>
        </p:txBody>
      </p:sp>
      <p:sp>
        <p:nvSpPr>
          <p:cNvPr id="6" name="5 Marcador de número de diapositiva"/>
          <p:cNvSpPr>
            <a:spLocks noGrp="1"/>
          </p:cNvSpPr>
          <p:nvPr>
            <p:ph type="sldNum" sz="quarter" idx="12"/>
          </p:nvPr>
        </p:nvSpPr>
        <p:spPr>
          <a:xfrm>
            <a:off x="8737600" y="6248400"/>
            <a:ext cx="2844800" cy="457200"/>
          </a:xfrm>
        </p:spPr>
        <p:txBody>
          <a:bodyPr/>
          <a:lstStyle>
            <a:lvl1pPr>
              <a:defRPr/>
            </a:lvl1pPr>
          </a:lstStyle>
          <a:p>
            <a:fld id="{C6812DBA-5BF0-4112-ADF5-DCA8315A5FBD}" type="slidenum">
              <a:rPr lang="es-ES"/>
              <a:pPr/>
              <a:t>‹Nº›</a:t>
            </a:fld>
            <a:endParaRPr lang="es-ES"/>
          </a:p>
        </p:txBody>
      </p:sp>
    </p:spTree>
    <p:extLst>
      <p:ext uri="{BB962C8B-B14F-4D97-AF65-F5344CB8AC3E}">
        <p14:creationId xmlns:p14="http://schemas.microsoft.com/office/powerpoint/2010/main" val="1162390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1"/>
        <p:cNvGrpSpPr/>
        <p:nvPr/>
      </p:nvGrpSpPr>
      <p:grpSpPr>
        <a:xfrm>
          <a:off x="0" y="0"/>
          <a:ext cx="0" cy="0"/>
          <a:chOff x="0" y="0"/>
          <a:chExt cx="0" cy="0"/>
        </a:xfrm>
      </p:grpSpPr>
      <p:sp>
        <p:nvSpPr>
          <p:cNvPr id="45" name="Google Shape;45;p4"/>
          <p:cNvSpPr txBox="1">
            <a:spLocks noGrp="1"/>
          </p:cNvSpPr>
          <p:nvPr>
            <p:ph type="title"/>
          </p:nvPr>
        </p:nvSpPr>
        <p:spPr>
          <a:xfrm>
            <a:off x="1730000" y="525000"/>
            <a:ext cx="9385200" cy="12188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6" name="Google Shape;46;p4"/>
          <p:cNvSpPr txBox="1">
            <a:spLocks noGrp="1"/>
          </p:cNvSpPr>
          <p:nvPr>
            <p:ph type="body" idx="1"/>
          </p:nvPr>
        </p:nvSpPr>
        <p:spPr>
          <a:xfrm>
            <a:off x="1730000" y="2090067"/>
            <a:ext cx="9385200" cy="38816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419" smtClean="0"/>
              <a:pPr/>
              <a:t>‹Nº›</a:t>
            </a:fld>
            <a:endParaRPr lang="es-419"/>
          </a:p>
        </p:txBody>
      </p:sp>
    </p:spTree>
    <p:extLst>
      <p:ext uri="{BB962C8B-B14F-4D97-AF65-F5344CB8AC3E}">
        <p14:creationId xmlns:p14="http://schemas.microsoft.com/office/powerpoint/2010/main" val="1757530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solidFill>
              </a:defRPr>
            </a:lvl1pPr>
          </a:lstStyle>
          <a:p>
            <a:pPr algn="ctr"/>
            <a:r>
              <a:rPr lang="es-ES" dirty="0"/>
              <a:t>2022</a:t>
            </a:r>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solidFill>
              </a:defRPr>
            </a:lvl1pPr>
          </a:lstStyle>
          <a:p>
            <a:r>
              <a:rPr lang="es-BO"/>
              <a:t>Pregrado UMSA – J. NAVA</a:t>
            </a:r>
            <a:endParaRPr lang="es-ES"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067D0F-7417-4301-84EF-00114E63992C}" type="slidenum">
              <a:rPr lang="es-ES" smtClean="0"/>
              <a:pPr/>
              <a:t>‹Nº›</a:t>
            </a:fld>
            <a:endParaRPr lang="es-ES"/>
          </a:p>
        </p:txBody>
      </p:sp>
      <p:sp>
        <p:nvSpPr>
          <p:cNvPr id="7" name="6 CuadroTexto"/>
          <p:cNvSpPr txBox="1"/>
          <p:nvPr userDrawn="1"/>
        </p:nvSpPr>
        <p:spPr>
          <a:xfrm rot="16200000">
            <a:off x="-3203297" y="3259723"/>
            <a:ext cx="6858000" cy="338554"/>
          </a:xfrm>
          <a:prstGeom prst="rect">
            <a:avLst/>
          </a:prstGeom>
          <a:solidFill>
            <a:schemeClr val="accent4">
              <a:lumMod val="40000"/>
              <a:lumOff val="60000"/>
            </a:schemeClr>
          </a:solidFill>
        </p:spPr>
        <p:txBody>
          <a:bodyPr wrap="square" rtlCol="0">
            <a:spAutoFit/>
          </a:bodyPr>
          <a:lstStyle/>
          <a:p>
            <a:pPr algn="ctr"/>
            <a:r>
              <a:rPr lang="es-BO" sz="1600" b="1" dirty="0">
                <a:solidFill>
                  <a:schemeClr val="bg1"/>
                </a:solidFill>
                <a:effectLst>
                  <a:outerShdw blurRad="38100" dist="38100" dir="2700000" algn="tl">
                    <a:srgbClr val="000000">
                      <a:alpha val="43137"/>
                    </a:srgbClr>
                  </a:outerShdw>
                </a:effectLst>
              </a:rPr>
              <a:t>SISTEMAS DE CONTROL II – ETN 902 - (Pregrado UMSA 2022)</a:t>
            </a:r>
            <a:endParaRPr lang="es-ES" sz="16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791977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6.gif"/><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png"/><Relationship Id="rId11" Type="http://schemas.microsoft.com/office/2007/relationships/hdphoto" Target="../media/hdphoto5.wdp"/><Relationship Id="rId5" Type="http://schemas.microsoft.com/office/2007/relationships/hdphoto" Target="../media/hdphoto2.wdp"/><Relationship Id="rId10" Type="http://schemas.openxmlformats.org/officeDocument/2006/relationships/image" Target="../media/image18.png"/><Relationship Id="rId4" Type="http://schemas.openxmlformats.org/officeDocument/2006/relationships/image" Target="../media/image15.png"/><Relationship Id="rId9" Type="http://schemas.microsoft.com/office/2007/relationships/hdphoto" Target="../media/hdphoto4.wdp"/></Relationships>
</file>

<file path=ppt/slides/_rels/slide13.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0.png"/><Relationship Id="rId5" Type="http://schemas.microsoft.com/office/2007/relationships/hdphoto" Target="../media/hdphoto4.wdp"/><Relationship Id="rId4" Type="http://schemas.openxmlformats.org/officeDocument/2006/relationships/image" Target="../media/image17.pn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978ECE-D06E-431F-AEB8-3110C6E6BDD3}"/>
              </a:ext>
            </a:extLst>
          </p:cNvPr>
          <p:cNvSpPr>
            <a:spLocks noGrp="1"/>
          </p:cNvSpPr>
          <p:nvPr>
            <p:ph type="ctrTitle"/>
          </p:nvPr>
        </p:nvSpPr>
        <p:spPr>
          <a:xfrm>
            <a:off x="1415480" y="2538692"/>
            <a:ext cx="7550933" cy="770966"/>
          </a:xfrm>
        </p:spPr>
        <p:txBody>
          <a:bodyPr>
            <a:noAutofit/>
          </a:bodyPr>
          <a:lstStyle/>
          <a:p>
            <a:r>
              <a:rPr lang="en-US" sz="4000" b="1" dirty="0">
                <a:solidFill>
                  <a:schemeClr val="accent2">
                    <a:lumMod val="75000"/>
                  </a:schemeClr>
                </a:solidFill>
              </a:rPr>
              <a:t>CONTROL DE </a:t>
            </a:r>
            <a:r>
              <a:rPr lang="es-BO" sz="4000" b="1" dirty="0">
                <a:solidFill>
                  <a:schemeClr val="accent2">
                    <a:lumMod val="75000"/>
                  </a:schemeClr>
                </a:solidFill>
              </a:rPr>
              <a:t>TEMPERATURA</a:t>
            </a:r>
          </a:p>
        </p:txBody>
      </p:sp>
      <p:sp>
        <p:nvSpPr>
          <p:cNvPr id="6" name="Google Shape;136;p13">
            <a:extLst>
              <a:ext uri="{FF2B5EF4-FFF2-40B4-BE49-F238E27FC236}">
                <a16:creationId xmlns:a16="http://schemas.microsoft.com/office/drawing/2014/main" id="{A6CE6786-D1B5-449C-AAEB-EB52841DE78F}"/>
              </a:ext>
            </a:extLst>
          </p:cNvPr>
          <p:cNvSpPr txBox="1">
            <a:spLocks noGrp="1"/>
          </p:cNvSpPr>
          <p:nvPr>
            <p:ph type="subTitle" idx="1"/>
          </p:nvPr>
        </p:nvSpPr>
        <p:spPr>
          <a:xfrm>
            <a:off x="1703512" y="594961"/>
            <a:ext cx="4551805" cy="8863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1600" dirty="0">
                <a:solidFill>
                  <a:schemeClr val="tx1"/>
                </a:solidFill>
                <a:latin typeface="Calibri" panose="020F0502020204030204" pitchFamily="34" charset="0"/>
                <a:ea typeface="Calibri" panose="020F0502020204030204" pitchFamily="34" charset="0"/>
                <a:cs typeface="Calibri" panose="020F0502020204030204" pitchFamily="34" charset="0"/>
              </a:rPr>
              <a:t>UNIVERSIDAD MAYOR DE SAN ANDRES</a:t>
            </a:r>
            <a:endParaRPr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Clr>
                <a:schemeClr val="dk1"/>
              </a:buClr>
              <a:buSzPts val="1100"/>
              <a:buFont typeface="Arial"/>
              <a:buNone/>
            </a:pPr>
            <a:r>
              <a:rPr lang="es-419" sz="1600" dirty="0">
                <a:solidFill>
                  <a:schemeClr val="tx1"/>
                </a:solidFill>
                <a:latin typeface="Calibri" panose="020F0502020204030204" pitchFamily="34" charset="0"/>
                <a:ea typeface="Calibri" panose="020F0502020204030204" pitchFamily="34" charset="0"/>
                <a:cs typeface="Calibri" panose="020F0502020204030204" pitchFamily="34" charset="0"/>
              </a:rPr>
              <a:t>FACULTAD DE INGENIERIA</a:t>
            </a:r>
          </a:p>
          <a:p>
            <a:pPr marL="0" lvl="0" indent="0" algn="l" rtl="0">
              <a:spcBef>
                <a:spcPts val="0"/>
              </a:spcBef>
              <a:spcAft>
                <a:spcPts val="0"/>
              </a:spcAft>
              <a:buClr>
                <a:schemeClr val="dk1"/>
              </a:buClr>
              <a:buSzPts val="1100"/>
              <a:buFont typeface="Arial"/>
              <a:buNone/>
            </a:pPr>
            <a:r>
              <a:rPr lang="es-419" sz="1600" dirty="0">
                <a:solidFill>
                  <a:schemeClr val="tx1"/>
                </a:solidFill>
                <a:latin typeface="Calibri" panose="020F0502020204030204" pitchFamily="34" charset="0"/>
                <a:ea typeface="Calibri" panose="020F0502020204030204" pitchFamily="34" charset="0"/>
                <a:cs typeface="Calibri" panose="020F0502020204030204" pitchFamily="34" charset="0"/>
              </a:rPr>
              <a:t>INGENIERIA ELECTRONICA</a:t>
            </a:r>
            <a:endParaRPr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7" name="Google Shape;137;p13">
            <a:extLst>
              <a:ext uri="{FF2B5EF4-FFF2-40B4-BE49-F238E27FC236}">
                <a16:creationId xmlns:a16="http://schemas.microsoft.com/office/drawing/2014/main" id="{C45A4E28-6940-4979-9F81-DC9796243C3B}"/>
              </a:ext>
            </a:extLst>
          </p:cNvPr>
          <p:cNvPicPr preferRelativeResize="0"/>
          <p:nvPr/>
        </p:nvPicPr>
        <p:blipFill>
          <a:blip r:embed="rId2">
            <a:alphaModFix/>
          </a:blip>
          <a:stretch>
            <a:fillRect/>
          </a:stretch>
        </p:blipFill>
        <p:spPr>
          <a:xfrm>
            <a:off x="10041640" y="549150"/>
            <a:ext cx="1449946" cy="2663826"/>
          </a:xfrm>
          <a:prstGeom prst="rect">
            <a:avLst/>
          </a:prstGeom>
          <a:noFill/>
          <a:ln>
            <a:noFill/>
          </a:ln>
        </p:spPr>
      </p:pic>
      <p:sp>
        <p:nvSpPr>
          <p:cNvPr id="3" name="CuadroTexto 2">
            <a:extLst>
              <a:ext uri="{FF2B5EF4-FFF2-40B4-BE49-F238E27FC236}">
                <a16:creationId xmlns:a16="http://schemas.microsoft.com/office/drawing/2014/main" id="{70552000-4C85-4A58-BC64-84161E70EEED}"/>
              </a:ext>
            </a:extLst>
          </p:cNvPr>
          <p:cNvSpPr txBox="1"/>
          <p:nvPr/>
        </p:nvSpPr>
        <p:spPr>
          <a:xfrm>
            <a:off x="1703512" y="3548343"/>
            <a:ext cx="6769551" cy="2246769"/>
          </a:xfrm>
          <a:prstGeom prst="rect">
            <a:avLst/>
          </a:prstGeom>
          <a:noFill/>
        </p:spPr>
        <p:txBody>
          <a:bodyPr wrap="square" rtlCol="0">
            <a:spAutoFit/>
          </a:bodyPr>
          <a:lstStyle/>
          <a:p>
            <a:r>
              <a:rPr lang="es-BO" sz="2000" b="1" dirty="0"/>
              <a:t>INTEGRANTES:        </a:t>
            </a:r>
            <a:r>
              <a:rPr lang="es-BO" sz="2000" dirty="0"/>
              <a:t>Condori Mamani Roger</a:t>
            </a:r>
          </a:p>
          <a:p>
            <a:r>
              <a:rPr lang="es-BO" sz="2000" dirty="0"/>
              <a:t>		   Espino Marca Mary Isabel</a:t>
            </a:r>
          </a:p>
          <a:p>
            <a:r>
              <a:rPr lang="es-BO" sz="2000" dirty="0"/>
              <a:t>		   Linares Poma Guido </a:t>
            </a:r>
            <a:r>
              <a:rPr lang="es-BO" sz="2000" dirty="0" err="1"/>
              <a:t>Alvaro</a:t>
            </a:r>
            <a:endParaRPr lang="es-BO" sz="2000" dirty="0"/>
          </a:p>
          <a:p>
            <a:r>
              <a:rPr lang="es-BO" sz="2000" dirty="0"/>
              <a:t>		</a:t>
            </a:r>
          </a:p>
          <a:p>
            <a:r>
              <a:rPr lang="es-BO" sz="2000" b="1" dirty="0"/>
              <a:t>DOCENTE</a:t>
            </a:r>
            <a:r>
              <a:rPr lang="es-BO" sz="2000" dirty="0"/>
              <a:t>:                Jorge Antonio Nava Amador</a:t>
            </a:r>
          </a:p>
          <a:p>
            <a:endParaRPr lang="es-BO" sz="2000" dirty="0"/>
          </a:p>
          <a:p>
            <a:r>
              <a:rPr lang="es-BO" sz="2000" b="1" dirty="0"/>
              <a:t>MATERIA:                 </a:t>
            </a:r>
            <a:r>
              <a:rPr lang="es-BO" sz="2000" dirty="0"/>
              <a:t>Sistemas de control ll  ETN-902</a:t>
            </a:r>
          </a:p>
        </p:txBody>
      </p:sp>
    </p:spTree>
    <p:extLst>
      <p:ext uri="{BB962C8B-B14F-4D97-AF65-F5344CB8AC3E}">
        <p14:creationId xmlns:p14="http://schemas.microsoft.com/office/powerpoint/2010/main" val="288403860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BAF5D-F339-CAC5-D2C2-6A336D90CA11}"/>
              </a:ext>
            </a:extLst>
          </p:cNvPr>
          <p:cNvSpPr>
            <a:spLocks noGrp="1"/>
          </p:cNvSpPr>
          <p:nvPr>
            <p:ph type="ctrTitle"/>
          </p:nvPr>
        </p:nvSpPr>
        <p:spPr>
          <a:xfrm>
            <a:off x="1991544" y="692696"/>
            <a:ext cx="9144000" cy="874339"/>
          </a:xfrm>
        </p:spPr>
        <p:txBody>
          <a:bodyPr>
            <a:normAutofit/>
          </a:bodyPr>
          <a:lstStyle/>
          <a:p>
            <a:r>
              <a:rPr lang="es-BO" sz="3600" b="1" dirty="0">
                <a:latin typeface="Times New Roman" panose="02020603050405020304" pitchFamily="18" charset="0"/>
                <a:cs typeface="Times New Roman" panose="02020603050405020304" pitchFamily="18" charset="0"/>
              </a:rPr>
              <a:t>Contenido a añadir</a:t>
            </a:r>
          </a:p>
        </p:txBody>
      </p:sp>
      <p:sp>
        <p:nvSpPr>
          <p:cNvPr id="3" name="CuadroTexto 2">
            <a:extLst>
              <a:ext uri="{FF2B5EF4-FFF2-40B4-BE49-F238E27FC236}">
                <a16:creationId xmlns:a16="http://schemas.microsoft.com/office/drawing/2014/main" id="{13B5452C-422E-4BFD-A637-E204CDACE7FC}"/>
              </a:ext>
            </a:extLst>
          </p:cNvPr>
          <p:cNvSpPr txBox="1"/>
          <p:nvPr/>
        </p:nvSpPr>
        <p:spPr>
          <a:xfrm>
            <a:off x="1631504" y="2060848"/>
            <a:ext cx="9603326" cy="1270861"/>
          </a:xfrm>
          <a:prstGeom prst="rect">
            <a:avLst/>
          </a:prstGeom>
          <a:noFill/>
        </p:spPr>
        <p:txBody>
          <a:bodyPr wrap="square">
            <a:spAutoFit/>
          </a:bodyPr>
          <a:lstStyle/>
          <a:p>
            <a:pPr marL="342900" indent="-342900" algn="just">
              <a:lnSpc>
                <a:spcPct val="107000"/>
              </a:lnSpc>
              <a:spcAft>
                <a:spcPts val="800"/>
              </a:spcAft>
              <a:buFontTx/>
              <a:buChar char="-"/>
            </a:pPr>
            <a:r>
              <a:rPr lang="es-BO" sz="2000" b="1" dirty="0">
                <a:effectLst/>
                <a:latin typeface="Calibri" panose="020F0502020204030204" pitchFamily="34" charset="0"/>
                <a:ea typeface="Calibri" panose="020F0502020204030204" pitchFamily="34" charset="0"/>
                <a:cs typeface="Calibri" panose="020F0502020204030204" pitchFamily="34" charset="0"/>
              </a:rPr>
              <a:t>Modelo completo para el control de temperatura   </a:t>
            </a:r>
            <a:r>
              <a:rPr lang="es-BO" sz="2000" dirty="0"/>
              <a:t>Linares Poma Guido </a:t>
            </a:r>
            <a:r>
              <a:rPr lang="es-BO" sz="2000" dirty="0" err="1"/>
              <a:t>Alvaro</a:t>
            </a:r>
            <a:endParaRPr lang="es-BO" sz="2000" b="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07000"/>
              </a:lnSpc>
              <a:spcAft>
                <a:spcPts val="800"/>
              </a:spcAft>
              <a:buFontTx/>
              <a:buChar char="-"/>
            </a:pPr>
            <a:r>
              <a:rPr lang="es-BO" sz="2000" b="1" dirty="0">
                <a:latin typeface="Calibri" panose="020F0502020204030204" pitchFamily="34" charset="0"/>
                <a:ea typeface="Calibri" panose="020F0502020204030204" pitchFamily="34" charset="0"/>
                <a:cs typeface="Calibri" panose="020F0502020204030204" pitchFamily="34" charset="0"/>
              </a:rPr>
              <a:t>Configuración PID para el controlador</a:t>
            </a:r>
            <a:r>
              <a:rPr lang="es-BO" sz="2000" dirty="0"/>
              <a:t> 	Espino Marca Mary Isabel</a:t>
            </a:r>
            <a:endParaRPr lang="es-BO" sz="2000" b="1"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07000"/>
              </a:lnSpc>
              <a:spcAft>
                <a:spcPts val="800"/>
              </a:spcAft>
              <a:buFontTx/>
              <a:buChar char="-"/>
            </a:pPr>
            <a:r>
              <a:rPr lang="es-BO" sz="2000" b="1" dirty="0">
                <a:latin typeface="Calibri" panose="020F0502020204030204" pitchFamily="34" charset="0"/>
                <a:ea typeface="Calibri" panose="020F0502020204030204" pitchFamily="34" charset="0"/>
                <a:cs typeface="Calibri" panose="020F0502020204030204" pitchFamily="34" charset="0"/>
              </a:rPr>
              <a:t>Modelo matemático para el proceso	</a:t>
            </a:r>
            <a:r>
              <a:rPr lang="es-BO" sz="1600" dirty="0"/>
              <a:t> </a:t>
            </a:r>
            <a:r>
              <a:rPr lang="es-BO" sz="2000" dirty="0"/>
              <a:t>Condori Mamani Roger</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5822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BAF5D-F339-CAC5-D2C2-6A336D90CA11}"/>
              </a:ext>
            </a:extLst>
          </p:cNvPr>
          <p:cNvSpPr>
            <a:spLocks noGrp="1"/>
          </p:cNvSpPr>
          <p:nvPr>
            <p:ph type="ctrTitle"/>
          </p:nvPr>
        </p:nvSpPr>
        <p:spPr>
          <a:xfrm>
            <a:off x="1806388" y="2891117"/>
            <a:ext cx="9144000" cy="874339"/>
          </a:xfrm>
        </p:spPr>
        <p:txBody>
          <a:bodyPr>
            <a:normAutofit/>
          </a:bodyPr>
          <a:lstStyle/>
          <a:p>
            <a:r>
              <a:rPr lang="es-BO" sz="3600" b="1" dirty="0">
                <a:latin typeface="Times New Roman" panose="02020603050405020304" pitchFamily="18" charset="0"/>
                <a:cs typeface="Times New Roman" panose="02020603050405020304" pitchFamily="18" charset="0"/>
              </a:rPr>
              <a:t>ELEMENTOS PARA EL CONTROL</a:t>
            </a:r>
          </a:p>
        </p:txBody>
      </p:sp>
    </p:spTree>
    <p:extLst>
      <p:ext uri="{BB962C8B-B14F-4D97-AF65-F5344CB8AC3E}">
        <p14:creationId xmlns:p14="http://schemas.microsoft.com/office/powerpoint/2010/main" val="307450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adroTexto 48">
            <a:extLst>
              <a:ext uri="{FF2B5EF4-FFF2-40B4-BE49-F238E27FC236}">
                <a16:creationId xmlns:a16="http://schemas.microsoft.com/office/drawing/2014/main" id="{52159997-3C5B-4D56-A954-C7CA915D02F9}"/>
              </a:ext>
            </a:extLst>
          </p:cNvPr>
          <p:cNvSpPr txBox="1"/>
          <p:nvPr/>
        </p:nvSpPr>
        <p:spPr>
          <a:xfrm>
            <a:off x="1199456" y="404664"/>
            <a:ext cx="6336704" cy="1828257"/>
          </a:xfrm>
          <a:prstGeom prst="rect">
            <a:avLst/>
          </a:prstGeom>
          <a:noFill/>
        </p:spPr>
        <p:txBody>
          <a:bodyPr wrap="square">
            <a:spAutoFit/>
          </a:bodyPr>
          <a:lstStyle/>
          <a:p>
            <a:pPr algn="just">
              <a:lnSpc>
                <a:spcPct val="107000"/>
              </a:lnSpc>
              <a:spcAft>
                <a:spcPts val="800"/>
              </a:spcAft>
            </a:pPr>
            <a:r>
              <a:rPr lang="es-ES" sz="2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Elementos necesarios</a:t>
            </a:r>
            <a:endParaRPr lang="es-BO"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Wingdings" panose="05000000000000000000" pitchFamily="2" charset="2"/>
              <a:buChar char="Ø"/>
            </a:pPr>
            <a:r>
              <a:rPr lang="es-ES" sz="1800" dirty="0">
                <a:effectLst/>
                <a:latin typeface="Calibri" panose="020F0502020204030204" pitchFamily="34" charset="0"/>
                <a:ea typeface="Calibri" panose="020F0502020204030204" pitchFamily="34" charset="0"/>
                <a:cs typeface="Times New Roman" panose="02020603050405020304" pitchFamily="18" charset="0"/>
              </a:rPr>
              <a:t>Sensores de temperatura RTD y TC</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Wingdings" panose="05000000000000000000" pitchFamily="2" charset="2"/>
              <a:buChar char="Ø"/>
            </a:pPr>
            <a:r>
              <a:rPr lang="es-ES" sz="1800" dirty="0">
                <a:effectLst/>
                <a:latin typeface="Calibri" panose="020F0502020204030204" pitchFamily="34" charset="0"/>
                <a:ea typeface="Calibri" panose="020F0502020204030204" pitchFamily="34" charset="0"/>
                <a:cs typeface="Times New Roman" panose="02020603050405020304" pitchFamily="18" charset="0"/>
              </a:rPr>
              <a:t>Controlador de temperatura</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Wingdings" panose="05000000000000000000" pitchFamily="2" charset="2"/>
              <a:buChar char="Ø"/>
            </a:pPr>
            <a:r>
              <a:rPr lang="es-ES" sz="1800" dirty="0">
                <a:effectLst/>
                <a:latin typeface="Calibri" panose="020F0502020204030204" pitchFamily="34" charset="0"/>
                <a:ea typeface="Calibri" panose="020F0502020204030204" pitchFamily="34" charset="0"/>
                <a:cs typeface="Times New Roman" panose="02020603050405020304" pitchFamily="18" charset="0"/>
              </a:rPr>
              <a:t>SSR relé estado sólido que soporte corrientes mayores a 25 A</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Ø"/>
            </a:pPr>
            <a:r>
              <a:rPr lang="es-ES" sz="1800" dirty="0">
                <a:effectLst/>
                <a:latin typeface="Calibri" panose="020F0502020204030204" pitchFamily="34" charset="0"/>
                <a:ea typeface="Calibri" panose="020F0502020204030204" pitchFamily="34" charset="0"/>
                <a:cs typeface="Times New Roman" panose="02020603050405020304" pitchFamily="18" charset="0"/>
              </a:rPr>
              <a:t>Calentador de agua sumergible </a:t>
            </a:r>
            <a:endParaRPr lang="es-BO"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6" name="CuadroTexto 55">
            <a:extLst>
              <a:ext uri="{FF2B5EF4-FFF2-40B4-BE49-F238E27FC236}">
                <a16:creationId xmlns:a16="http://schemas.microsoft.com/office/drawing/2014/main" id="{415AD732-2C4C-49BC-A049-FC4E6892616B}"/>
              </a:ext>
            </a:extLst>
          </p:cNvPr>
          <p:cNvSpPr txBox="1"/>
          <p:nvPr/>
        </p:nvSpPr>
        <p:spPr>
          <a:xfrm>
            <a:off x="1193198" y="2492896"/>
            <a:ext cx="5982922" cy="3802836"/>
          </a:xfrm>
          <a:prstGeom prst="rect">
            <a:avLst/>
          </a:prstGeom>
          <a:noFill/>
        </p:spPr>
        <p:txBody>
          <a:bodyPr wrap="square">
            <a:spAutoFit/>
          </a:bodyPr>
          <a:lstStyle/>
          <a:p>
            <a:pPr algn="just">
              <a:lnSpc>
                <a:spcPct val="107000"/>
              </a:lnSpc>
              <a:spcAft>
                <a:spcPts val="800"/>
              </a:spcAft>
            </a:pPr>
            <a:r>
              <a:rPr lang="es-ES" sz="2000" b="1" dirty="0">
                <a:effectLst/>
                <a:latin typeface="Calibri" panose="020F0502020204030204" pitchFamily="34" charset="0"/>
                <a:ea typeface="Calibri" panose="020F0502020204030204" pitchFamily="34" charset="0"/>
                <a:cs typeface="Calibri" panose="020F0502020204030204" pitchFamily="34" charset="0"/>
              </a:rPr>
              <a:t>Relé de estado solido</a:t>
            </a:r>
            <a:endParaRPr lang="es-BO"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BO" sz="2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Un </a:t>
            </a:r>
            <a:r>
              <a:rPr lang="es-BO" sz="20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relé de estado sólido (SSR en inglés)</a:t>
            </a:r>
            <a:r>
              <a:rPr lang="es-BO" sz="20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es un dispositivo interruptor electrónico que conmuta el paso de la electricidad cuando una pequeña corriente es aplicada en sus terminales de control. Los SSR consisten en un sensor que responde a una entrada apropiada (señal de control), un interruptor electrónico de estado sólido que conmuta el circuito de carga, y un mecanismo de acoplamiento a partir de la señal de control que activa este interruptor sin partes mecánicas.</a:t>
            </a:r>
            <a:endParaRPr lang="es-BO"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7" name="Imagen 56">
            <a:extLst>
              <a:ext uri="{FF2B5EF4-FFF2-40B4-BE49-F238E27FC236}">
                <a16:creationId xmlns:a16="http://schemas.microsoft.com/office/drawing/2014/main" id="{9B7CB8C5-81BC-4E2B-AA44-E3E22881A5A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896200" y="2736964"/>
            <a:ext cx="2879725" cy="3314700"/>
          </a:xfrm>
          <a:prstGeom prst="rect">
            <a:avLst/>
          </a:prstGeom>
          <a:noFill/>
          <a:ln>
            <a:noFill/>
          </a:ln>
        </p:spPr>
      </p:pic>
    </p:spTree>
    <p:extLst>
      <p:ext uri="{BB962C8B-B14F-4D97-AF65-F5344CB8AC3E}">
        <p14:creationId xmlns:p14="http://schemas.microsoft.com/office/powerpoint/2010/main" val="1132871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E7B6F1B-EC39-4495-AC3E-EDCB83AB33EB}"/>
              </a:ext>
            </a:extLst>
          </p:cNvPr>
          <p:cNvSpPr txBox="1"/>
          <p:nvPr/>
        </p:nvSpPr>
        <p:spPr>
          <a:xfrm>
            <a:off x="1199456" y="980728"/>
            <a:ext cx="5328592" cy="2617255"/>
          </a:xfrm>
          <a:prstGeom prst="rect">
            <a:avLst/>
          </a:prstGeom>
          <a:noFill/>
        </p:spPr>
        <p:txBody>
          <a:bodyPr wrap="square">
            <a:spAutoFit/>
          </a:bodyPr>
          <a:lstStyle/>
          <a:p>
            <a:pPr algn="just">
              <a:lnSpc>
                <a:spcPct val="107000"/>
              </a:lnSpc>
              <a:spcAft>
                <a:spcPts val="800"/>
              </a:spcAft>
            </a:pPr>
            <a:r>
              <a:rPr lang="es-ES" sz="2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Calentador de agua sumergible</a:t>
            </a:r>
          </a:p>
          <a:p>
            <a:pPr algn="just">
              <a:lnSpc>
                <a:spcPct val="107000"/>
              </a:lnSpc>
              <a:spcAft>
                <a:spcPts val="800"/>
              </a:spcAft>
            </a:pPr>
            <a:r>
              <a:rPr lang="es-ES" sz="2000" dirty="0">
                <a:effectLst/>
                <a:latin typeface="Calibri" panose="020F0502020204030204" pitchFamily="34" charset="0"/>
                <a:ea typeface="Calibri" panose="020F0502020204030204" pitchFamily="34" charset="0"/>
                <a:cs typeface="Times New Roman" panose="02020603050405020304" pitchFamily="18" charset="0"/>
              </a:rPr>
              <a:t>Para este tipo de procesos se necesita un calentador sumergible de alta potencia. La salida del controlador de temperatura tiene una salida de 0 a 10 VDC, se necesita de un relé de estado sólido con la potencia suficiente para el calentador de agua.</a:t>
            </a:r>
            <a:endParaRPr lang="es-BO"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67B2F8BF-858D-4408-A17C-3B1FA2D98632}"/>
              </a:ext>
            </a:extLst>
          </p:cNvPr>
          <p:cNvPicPr/>
          <p:nvPr/>
        </p:nvPicPr>
        <p:blipFill rotWithShape="1">
          <a:blip r:embed="rId2"/>
          <a:srcRect l="32723" t="25633" r="34012" b="22882"/>
          <a:stretch/>
        </p:blipFill>
        <p:spPr bwMode="auto">
          <a:xfrm>
            <a:off x="6888088" y="980728"/>
            <a:ext cx="4468582" cy="45365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13734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7"/>
          <p:cNvSpPr txBox="1">
            <a:spLocks noGrp="1"/>
          </p:cNvSpPr>
          <p:nvPr>
            <p:ph type="title"/>
          </p:nvPr>
        </p:nvSpPr>
        <p:spPr>
          <a:xfrm>
            <a:off x="1435821" y="402519"/>
            <a:ext cx="9385200" cy="694813"/>
          </a:xfrm>
          <a:prstGeom prst="rect">
            <a:avLst/>
          </a:prstGeom>
        </p:spPr>
        <p:txBody>
          <a:bodyPr spcFirstLastPara="1" vert="horz" wrap="square" lIns="121900" tIns="121900" rIns="121900" bIns="121900" rtlCol="0" anchor="t" anchorCtr="0">
            <a:normAutofit/>
          </a:bodyPr>
          <a:lstStyle/>
          <a:p>
            <a:pPr algn="l"/>
            <a:r>
              <a:rPr lang="es-419" sz="2000" b="1" dirty="0"/>
              <a:t>SENSOR DE TEMPERATURA TC</a:t>
            </a:r>
            <a:endParaRPr sz="2000" b="1" dirty="0"/>
          </a:p>
        </p:txBody>
      </p:sp>
      <p:sp>
        <p:nvSpPr>
          <p:cNvPr id="260" name="Google Shape;260;p27"/>
          <p:cNvSpPr txBox="1">
            <a:spLocks noGrp="1"/>
          </p:cNvSpPr>
          <p:nvPr>
            <p:ph type="body" idx="1"/>
          </p:nvPr>
        </p:nvSpPr>
        <p:spPr>
          <a:xfrm>
            <a:off x="1476442" y="1029777"/>
            <a:ext cx="5190035" cy="1751151"/>
          </a:xfrm>
          <a:prstGeom prst="rect">
            <a:avLst/>
          </a:prstGeom>
        </p:spPr>
        <p:txBody>
          <a:bodyPr spcFirstLastPara="1" vert="horz" wrap="square" lIns="121900" tIns="121900" rIns="121900" bIns="121900" rtlCol="0" anchor="t" anchorCtr="0">
            <a:noAutofit/>
          </a:bodyPr>
          <a:lstStyle/>
          <a:p>
            <a:pPr marL="0" indent="0" algn="just">
              <a:lnSpc>
                <a:spcPct val="100000"/>
              </a:lnSpc>
              <a:spcAft>
                <a:spcPts val="1600"/>
              </a:spcAft>
              <a:buNone/>
            </a:pPr>
            <a:r>
              <a:rPr lang="es-419" sz="1800" b="1" i="1" u="sng" dirty="0">
                <a:latin typeface="Calibri"/>
                <a:ea typeface="Calibri"/>
                <a:cs typeface="Calibri"/>
                <a:sym typeface="Calibri"/>
              </a:rPr>
              <a:t>Principio de funcionamiento</a:t>
            </a:r>
          </a:p>
          <a:p>
            <a:pPr marL="0" indent="0" algn="just">
              <a:lnSpc>
                <a:spcPct val="100000"/>
              </a:lnSpc>
              <a:spcAft>
                <a:spcPts val="1600"/>
              </a:spcAft>
              <a:buNone/>
            </a:pPr>
            <a:r>
              <a:rPr lang="es-MX" sz="1800" b="0" i="0" dirty="0">
                <a:solidFill>
                  <a:srgbClr val="000000"/>
                </a:solidFill>
                <a:effectLst/>
              </a:rPr>
              <a:t>Una termocupla se fabrica con dos alambres de distintos materiales unidos en un extremo</a:t>
            </a:r>
            <a:r>
              <a:rPr lang="es-419" sz="1800" dirty="0">
                <a:ea typeface="Calibri"/>
                <a:cs typeface="Calibri"/>
                <a:sym typeface="Calibri"/>
              </a:rPr>
              <a:t>. Al aplicar temperatura en la unión de los metales se genera un voltaje muy pequeño del orden de los milivolts.</a:t>
            </a:r>
            <a:endParaRPr sz="1800" dirty="0"/>
          </a:p>
        </p:txBody>
      </p:sp>
      <p:sp>
        <p:nvSpPr>
          <p:cNvPr id="261" name="Google Shape;261;p27"/>
          <p:cNvSpPr txBox="1"/>
          <p:nvPr/>
        </p:nvSpPr>
        <p:spPr>
          <a:xfrm>
            <a:off x="6893546" y="962672"/>
            <a:ext cx="4953447" cy="2154909"/>
          </a:xfrm>
          <a:prstGeom prst="rect">
            <a:avLst/>
          </a:prstGeom>
          <a:noFill/>
          <a:ln>
            <a:noFill/>
          </a:ln>
        </p:spPr>
        <p:txBody>
          <a:bodyPr spcFirstLastPara="1" wrap="square" lIns="121900" tIns="121900" rIns="121900" bIns="121900" anchor="t" anchorCtr="0">
            <a:spAutoFit/>
          </a:bodyPr>
          <a:lstStyle/>
          <a:p>
            <a:pPr algn="just">
              <a:lnSpc>
                <a:spcPct val="115000"/>
              </a:lnSpc>
              <a:spcBef>
                <a:spcPts val="800"/>
              </a:spcBef>
            </a:pPr>
            <a:r>
              <a:rPr lang="es-419" b="1" i="1" u="sng" dirty="0">
                <a:latin typeface="Calibri"/>
                <a:ea typeface="Calibri"/>
                <a:cs typeface="Calibri"/>
                <a:sym typeface="Calibri"/>
              </a:rPr>
              <a:t>Características TC12</a:t>
            </a:r>
            <a:endParaRPr b="1" i="1" u="sng" dirty="0">
              <a:latin typeface="Calibri"/>
              <a:ea typeface="Calibri"/>
              <a:cs typeface="Calibri"/>
              <a:sym typeface="Calibri"/>
            </a:endParaRPr>
          </a:p>
          <a:p>
            <a:pPr marL="446613" indent="-285750" algn="just">
              <a:spcBef>
                <a:spcPts val="800"/>
              </a:spcBef>
              <a:buSzPts val="1700"/>
              <a:buFont typeface="Wingdings" panose="05000000000000000000" pitchFamily="2" charset="2"/>
              <a:buChar char="Ø"/>
            </a:pPr>
            <a:r>
              <a:rPr lang="es-419" dirty="0">
                <a:latin typeface="Calibri"/>
                <a:ea typeface="Calibri"/>
                <a:cs typeface="Calibri"/>
                <a:sym typeface="Calibri"/>
              </a:rPr>
              <a:t>Rango de aplicación universal</a:t>
            </a:r>
            <a:endParaRPr dirty="0">
              <a:latin typeface="Calibri"/>
              <a:ea typeface="Calibri"/>
              <a:cs typeface="Calibri"/>
              <a:sym typeface="Calibri"/>
            </a:endParaRPr>
          </a:p>
          <a:p>
            <a:pPr marL="446613" indent="-285750" algn="just">
              <a:buSzPts val="1700"/>
              <a:buFont typeface="Wingdings" panose="05000000000000000000" pitchFamily="2" charset="2"/>
              <a:buChar char="Ø"/>
            </a:pPr>
            <a:r>
              <a:rPr lang="es-419" dirty="0">
                <a:latin typeface="Calibri"/>
                <a:ea typeface="Calibri"/>
                <a:cs typeface="Calibri"/>
                <a:sym typeface="Calibri"/>
              </a:rPr>
              <a:t>Tipo: Hierro Constantán J</a:t>
            </a:r>
            <a:endParaRPr dirty="0">
              <a:latin typeface="Calibri"/>
              <a:ea typeface="Calibri"/>
              <a:cs typeface="Calibri"/>
              <a:sym typeface="Calibri"/>
            </a:endParaRPr>
          </a:p>
          <a:p>
            <a:pPr marL="446613" indent="-285750" algn="just">
              <a:buSzPts val="1700"/>
              <a:buFont typeface="Wingdings" panose="05000000000000000000" pitchFamily="2" charset="2"/>
              <a:buChar char="Ø"/>
            </a:pPr>
            <a:r>
              <a:rPr lang="es-419" dirty="0">
                <a:latin typeface="Calibri"/>
                <a:ea typeface="Calibri"/>
                <a:cs typeface="Calibri"/>
                <a:sym typeface="Calibri"/>
              </a:rPr>
              <a:t>Rango de temperatura: -40°C a 750°C</a:t>
            </a:r>
            <a:endParaRPr dirty="0">
              <a:latin typeface="Calibri"/>
              <a:ea typeface="Calibri"/>
              <a:cs typeface="Calibri"/>
              <a:sym typeface="Calibri"/>
            </a:endParaRPr>
          </a:p>
          <a:p>
            <a:pPr marL="446613" indent="-285750" algn="just">
              <a:buSzPts val="1700"/>
              <a:buFont typeface="Wingdings" panose="05000000000000000000" pitchFamily="2" charset="2"/>
              <a:buChar char="Ø"/>
            </a:pPr>
            <a:r>
              <a:rPr lang="es-419" dirty="0">
                <a:latin typeface="Calibri"/>
                <a:ea typeface="Calibri"/>
                <a:cs typeface="Calibri"/>
                <a:sym typeface="Calibri"/>
              </a:rPr>
              <a:t>Integración del transmisor de cabezal: si (4…20 mA)</a:t>
            </a:r>
            <a:endParaRPr dirty="0"/>
          </a:p>
        </p:txBody>
      </p:sp>
      <p:grpSp>
        <p:nvGrpSpPr>
          <p:cNvPr id="10" name="Grupo 9">
            <a:extLst>
              <a:ext uri="{FF2B5EF4-FFF2-40B4-BE49-F238E27FC236}">
                <a16:creationId xmlns:a16="http://schemas.microsoft.com/office/drawing/2014/main" id="{7503B88E-0023-6706-74C8-65B99713FEA2}"/>
              </a:ext>
            </a:extLst>
          </p:cNvPr>
          <p:cNvGrpSpPr/>
          <p:nvPr/>
        </p:nvGrpSpPr>
        <p:grpSpPr>
          <a:xfrm>
            <a:off x="7104111" y="3342809"/>
            <a:ext cx="4742881" cy="1856733"/>
            <a:chOff x="7104111" y="3342809"/>
            <a:chExt cx="4742881" cy="1856733"/>
          </a:xfrm>
        </p:grpSpPr>
        <p:grpSp>
          <p:nvGrpSpPr>
            <p:cNvPr id="8" name="Grupo 7">
              <a:extLst>
                <a:ext uri="{FF2B5EF4-FFF2-40B4-BE49-F238E27FC236}">
                  <a16:creationId xmlns:a16="http://schemas.microsoft.com/office/drawing/2014/main" id="{56A8D54F-CB62-5B6F-28FB-73960FC2070D}"/>
                </a:ext>
              </a:extLst>
            </p:cNvPr>
            <p:cNvGrpSpPr/>
            <p:nvPr/>
          </p:nvGrpSpPr>
          <p:grpSpPr>
            <a:xfrm>
              <a:off x="7104111" y="3342809"/>
              <a:ext cx="4742881" cy="1856733"/>
              <a:chOff x="7104111" y="3342809"/>
              <a:chExt cx="4742881" cy="1856733"/>
            </a:xfrm>
          </p:grpSpPr>
          <p:pic>
            <p:nvPicPr>
              <p:cNvPr id="262" name="Google Shape;262;p27"/>
              <p:cNvPicPr preferRelativeResize="0"/>
              <p:nvPr/>
            </p:nvPicPr>
            <p:blipFill>
              <a:blip r:embed="rId3">
                <a:alphaModFix/>
              </a:blip>
              <a:stretch>
                <a:fillRect/>
              </a:stretch>
            </p:blipFill>
            <p:spPr>
              <a:xfrm>
                <a:off x="7104111" y="3342809"/>
                <a:ext cx="4742881" cy="1856733"/>
              </a:xfrm>
              <a:prstGeom prst="rect">
                <a:avLst/>
              </a:prstGeom>
              <a:noFill/>
              <a:ln>
                <a:noFill/>
              </a:ln>
            </p:spPr>
          </p:pic>
          <p:sp>
            <p:nvSpPr>
              <p:cNvPr id="6" name="CuadroTexto 5">
                <a:extLst>
                  <a:ext uri="{FF2B5EF4-FFF2-40B4-BE49-F238E27FC236}">
                    <a16:creationId xmlns:a16="http://schemas.microsoft.com/office/drawing/2014/main" id="{5532AE94-A9CB-3BFA-9832-5E0D918397F9}"/>
                  </a:ext>
                </a:extLst>
              </p:cNvPr>
              <p:cNvSpPr txBox="1"/>
              <p:nvPr/>
            </p:nvSpPr>
            <p:spPr>
              <a:xfrm>
                <a:off x="8112224" y="4776362"/>
                <a:ext cx="3146523" cy="369332"/>
              </a:xfrm>
              <a:prstGeom prst="rect">
                <a:avLst/>
              </a:prstGeom>
              <a:solidFill>
                <a:schemeClr val="bg1"/>
              </a:solidFill>
            </p:spPr>
            <p:txBody>
              <a:bodyPr wrap="square" rtlCol="0">
                <a:spAutoFit/>
              </a:bodyPr>
              <a:lstStyle/>
              <a:p>
                <a:r>
                  <a:rPr lang="es-BO" dirty="0"/>
                  <a:t>Constantán (Cobre y Níquel)</a:t>
                </a:r>
              </a:p>
            </p:txBody>
          </p:sp>
        </p:grpSp>
        <p:sp>
          <p:nvSpPr>
            <p:cNvPr id="9" name="CuadroTexto 8">
              <a:extLst>
                <a:ext uri="{FF2B5EF4-FFF2-40B4-BE49-F238E27FC236}">
                  <a16:creationId xmlns:a16="http://schemas.microsoft.com/office/drawing/2014/main" id="{B2519B1B-F4E4-7EEB-7CAF-20D46256A07C}"/>
                </a:ext>
              </a:extLst>
            </p:cNvPr>
            <p:cNvSpPr txBox="1"/>
            <p:nvPr/>
          </p:nvSpPr>
          <p:spPr>
            <a:xfrm>
              <a:off x="8575451" y="3429000"/>
              <a:ext cx="1800200" cy="369332"/>
            </a:xfrm>
            <a:prstGeom prst="rect">
              <a:avLst/>
            </a:prstGeom>
            <a:solidFill>
              <a:schemeClr val="bg1"/>
            </a:solidFill>
          </p:spPr>
          <p:txBody>
            <a:bodyPr wrap="square" rtlCol="0">
              <a:spAutoFit/>
            </a:bodyPr>
            <a:lstStyle/>
            <a:p>
              <a:r>
                <a:rPr lang="es-BO" dirty="0"/>
                <a:t>Hierro (Fe)</a:t>
              </a:r>
            </a:p>
          </p:txBody>
        </p:sp>
      </p:grpSp>
      <p:sp>
        <p:nvSpPr>
          <p:cNvPr id="2" name="CuadroTexto 1">
            <a:extLst>
              <a:ext uri="{FF2B5EF4-FFF2-40B4-BE49-F238E27FC236}">
                <a16:creationId xmlns:a16="http://schemas.microsoft.com/office/drawing/2014/main" id="{EF9728F1-8948-B4BD-54CE-6E0A9787D059}"/>
              </a:ext>
            </a:extLst>
          </p:cNvPr>
          <p:cNvSpPr txBox="1"/>
          <p:nvPr/>
        </p:nvSpPr>
        <p:spPr>
          <a:xfrm>
            <a:off x="8409817" y="5285733"/>
            <a:ext cx="2273077" cy="369332"/>
          </a:xfrm>
          <a:prstGeom prst="rect">
            <a:avLst/>
          </a:prstGeom>
          <a:noFill/>
        </p:spPr>
        <p:txBody>
          <a:bodyPr wrap="square" rtlCol="0">
            <a:spAutoFit/>
          </a:bodyPr>
          <a:lstStyle/>
          <a:p>
            <a:pPr algn="ctr"/>
            <a:r>
              <a:rPr lang="es-BO" i="1" dirty="0"/>
              <a:t>Termocupla tipo J</a:t>
            </a:r>
          </a:p>
        </p:txBody>
      </p:sp>
      <p:grpSp>
        <p:nvGrpSpPr>
          <p:cNvPr id="5" name="Grupo 4">
            <a:extLst>
              <a:ext uri="{FF2B5EF4-FFF2-40B4-BE49-F238E27FC236}">
                <a16:creationId xmlns:a16="http://schemas.microsoft.com/office/drawing/2014/main" id="{C3613AF2-59B6-0170-6E98-6B846A3DCDEB}"/>
              </a:ext>
            </a:extLst>
          </p:cNvPr>
          <p:cNvGrpSpPr/>
          <p:nvPr/>
        </p:nvGrpSpPr>
        <p:grpSpPr>
          <a:xfrm>
            <a:off x="2369906" y="2634335"/>
            <a:ext cx="3715341" cy="4143890"/>
            <a:chOff x="2369906" y="2634335"/>
            <a:chExt cx="3715341" cy="4143890"/>
          </a:xfrm>
        </p:grpSpPr>
        <p:pic>
          <p:nvPicPr>
            <p:cNvPr id="3074" name="Picture 2" descr="Ilustración del termómetro con termopar TC12">
              <a:extLst>
                <a:ext uri="{FF2B5EF4-FFF2-40B4-BE49-F238E27FC236}">
                  <a16:creationId xmlns:a16="http://schemas.microsoft.com/office/drawing/2014/main" id="{F0FA12F3-4481-D749-9E2A-35AB4F29C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9906" y="2634335"/>
              <a:ext cx="3630176" cy="3774558"/>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A182A650-9CAB-183E-338A-CB031D52A0CE}"/>
                </a:ext>
              </a:extLst>
            </p:cNvPr>
            <p:cNvSpPr txBox="1"/>
            <p:nvPr/>
          </p:nvSpPr>
          <p:spPr>
            <a:xfrm>
              <a:off x="2556856" y="6408893"/>
              <a:ext cx="3528391" cy="369332"/>
            </a:xfrm>
            <a:prstGeom prst="rect">
              <a:avLst/>
            </a:prstGeom>
            <a:noFill/>
          </p:spPr>
          <p:txBody>
            <a:bodyPr wrap="square" rtlCol="0">
              <a:spAutoFit/>
            </a:bodyPr>
            <a:lstStyle/>
            <a:p>
              <a:pPr algn="ctr"/>
              <a:r>
                <a:rPr lang="es-BO" i="1" dirty="0"/>
                <a:t>Sensor de temperatura TC12</a:t>
              </a:r>
            </a:p>
          </p:txBody>
        </p:sp>
      </p:grpSp>
      <p:grpSp>
        <p:nvGrpSpPr>
          <p:cNvPr id="11" name="Grupo 10">
            <a:extLst>
              <a:ext uri="{FF2B5EF4-FFF2-40B4-BE49-F238E27FC236}">
                <a16:creationId xmlns:a16="http://schemas.microsoft.com/office/drawing/2014/main" id="{DC8DE8D5-7DA1-775B-9BAF-55972DF66FEA}"/>
              </a:ext>
            </a:extLst>
          </p:cNvPr>
          <p:cNvGrpSpPr/>
          <p:nvPr/>
        </p:nvGrpSpPr>
        <p:grpSpPr>
          <a:xfrm>
            <a:off x="1435821" y="2780928"/>
            <a:ext cx="5190036" cy="3588896"/>
            <a:chOff x="1509106" y="2901858"/>
            <a:chExt cx="5190036" cy="3588896"/>
          </a:xfrm>
        </p:grpSpPr>
        <p:pic>
          <p:nvPicPr>
            <p:cNvPr id="4" name="Imagen 3" descr="Termocuplas">
              <a:extLst>
                <a:ext uri="{FF2B5EF4-FFF2-40B4-BE49-F238E27FC236}">
                  <a16:creationId xmlns:a16="http://schemas.microsoft.com/office/drawing/2014/main" id="{6EB43A30-2E13-0409-CF67-1566C00AE87A}"/>
                </a:ext>
              </a:extLst>
            </p:cNvPr>
            <p:cNvPicPr>
              <a:picLocks noChangeAspect="1"/>
            </p:cNvPicPr>
            <p:nvPr/>
          </p:nvPicPr>
          <p:blipFill rotWithShape="1">
            <a:blip r:embed="rId5">
              <a:extLst>
                <a:ext uri="{28A0092B-C50C-407E-A947-70E740481C1C}">
                  <a14:useLocalDpi xmlns:a14="http://schemas.microsoft.com/office/drawing/2010/main" val="0"/>
                </a:ext>
              </a:extLst>
            </a:blip>
            <a:srcRect b="12937"/>
            <a:stretch/>
          </p:blipFill>
          <p:spPr bwMode="auto">
            <a:xfrm>
              <a:off x="1509106" y="2901858"/>
              <a:ext cx="5190036" cy="3125528"/>
            </a:xfrm>
            <a:prstGeom prst="rect">
              <a:avLst/>
            </a:prstGeom>
            <a:noFill/>
            <a:ln>
              <a:noFill/>
            </a:ln>
          </p:spPr>
        </p:pic>
        <p:sp>
          <p:nvSpPr>
            <p:cNvPr id="7" name="CuadroTexto 6">
              <a:extLst>
                <a:ext uri="{FF2B5EF4-FFF2-40B4-BE49-F238E27FC236}">
                  <a16:creationId xmlns:a16="http://schemas.microsoft.com/office/drawing/2014/main" id="{9741872B-427C-78AF-5A02-869FB425B531}"/>
                </a:ext>
              </a:extLst>
            </p:cNvPr>
            <p:cNvSpPr txBox="1"/>
            <p:nvPr/>
          </p:nvSpPr>
          <p:spPr>
            <a:xfrm>
              <a:off x="1847528" y="6121422"/>
              <a:ext cx="4608512" cy="369332"/>
            </a:xfrm>
            <a:prstGeom prst="rect">
              <a:avLst/>
            </a:prstGeom>
            <a:noFill/>
          </p:spPr>
          <p:txBody>
            <a:bodyPr wrap="square" rtlCol="0">
              <a:spAutoFit/>
            </a:bodyPr>
            <a:lstStyle/>
            <a:p>
              <a:pPr algn="ctr"/>
              <a:r>
                <a:rPr lang="es-BO" i="1" dirty="0"/>
                <a:t>Funcionamiento del sensor de temperatura TC</a:t>
              </a:r>
            </a:p>
          </p:txBody>
        </p:sp>
      </p:grpSp>
    </p:spTree>
    <p:extLst>
      <p:ext uri="{BB962C8B-B14F-4D97-AF65-F5344CB8AC3E}">
        <p14:creationId xmlns:p14="http://schemas.microsoft.com/office/powerpoint/2010/main" val="14754567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9"/>
          <p:cNvSpPr txBox="1">
            <a:spLocks noGrp="1"/>
          </p:cNvSpPr>
          <p:nvPr>
            <p:ph type="title"/>
          </p:nvPr>
        </p:nvSpPr>
        <p:spPr>
          <a:xfrm>
            <a:off x="1127448" y="593130"/>
            <a:ext cx="9756352" cy="939954"/>
          </a:xfrm>
          <a:prstGeom prst="rect">
            <a:avLst/>
          </a:prstGeom>
        </p:spPr>
        <p:txBody>
          <a:bodyPr spcFirstLastPara="1" vert="horz" wrap="square" lIns="121900" tIns="121900" rIns="121900" bIns="121900" rtlCol="0" anchor="t" anchorCtr="0">
            <a:normAutofit/>
          </a:bodyPr>
          <a:lstStyle/>
          <a:p>
            <a:pPr algn="l"/>
            <a:r>
              <a:rPr lang="es-419" sz="2000" b="1" dirty="0"/>
              <a:t>SENSOR DE TEMPERATURA RTD</a:t>
            </a:r>
            <a:endParaRPr sz="2000" b="1" dirty="0"/>
          </a:p>
        </p:txBody>
      </p:sp>
      <p:sp>
        <p:nvSpPr>
          <p:cNvPr id="278" name="Google Shape;278;p29"/>
          <p:cNvSpPr txBox="1">
            <a:spLocks noGrp="1"/>
          </p:cNvSpPr>
          <p:nvPr>
            <p:ph type="body" idx="1"/>
          </p:nvPr>
        </p:nvSpPr>
        <p:spPr>
          <a:xfrm>
            <a:off x="1040153" y="1067046"/>
            <a:ext cx="5435872" cy="2294743"/>
          </a:xfrm>
          <a:prstGeom prst="rect">
            <a:avLst/>
          </a:prstGeom>
        </p:spPr>
        <p:txBody>
          <a:bodyPr spcFirstLastPara="1" vert="horz" wrap="square" lIns="121900" tIns="121900" rIns="121900" bIns="121900" rtlCol="0" anchor="t" anchorCtr="0">
            <a:noAutofit/>
          </a:bodyPr>
          <a:lstStyle/>
          <a:p>
            <a:pPr marL="0" indent="0" algn="just">
              <a:lnSpc>
                <a:spcPct val="106000"/>
              </a:lnSpc>
              <a:spcBef>
                <a:spcPts val="800"/>
              </a:spcBef>
              <a:spcAft>
                <a:spcPts val="800"/>
              </a:spcAft>
              <a:buNone/>
            </a:pPr>
            <a:r>
              <a:rPr lang="es-419" sz="1800" b="1" i="1" u="sng" dirty="0">
                <a:latin typeface="Calibri"/>
                <a:ea typeface="Calibri"/>
                <a:cs typeface="Calibri"/>
                <a:sym typeface="Calibri"/>
              </a:rPr>
              <a:t>Principio de funcionamiento</a:t>
            </a:r>
          </a:p>
          <a:p>
            <a:pPr marL="0" indent="0" algn="just">
              <a:lnSpc>
                <a:spcPct val="106000"/>
              </a:lnSpc>
              <a:spcBef>
                <a:spcPts val="800"/>
              </a:spcBef>
              <a:spcAft>
                <a:spcPts val="800"/>
              </a:spcAft>
              <a:buNone/>
            </a:pPr>
            <a:r>
              <a:rPr lang="es-419" sz="1800" dirty="0">
                <a:latin typeface="Calibri"/>
                <a:ea typeface="Calibri"/>
                <a:cs typeface="Calibri"/>
                <a:sym typeface="Calibri"/>
              </a:rPr>
              <a:t>Los RTD</a:t>
            </a:r>
            <a:r>
              <a:rPr lang="es-419" sz="1800" b="1" dirty="0">
                <a:latin typeface="Calibri"/>
                <a:ea typeface="Calibri"/>
                <a:cs typeface="Calibri"/>
                <a:sym typeface="Calibri"/>
              </a:rPr>
              <a:t> </a:t>
            </a:r>
            <a:r>
              <a:rPr lang="es-419" sz="1800" dirty="0">
                <a:latin typeface="Calibri"/>
                <a:ea typeface="Calibri"/>
                <a:cs typeface="Calibri"/>
                <a:sym typeface="Calibri"/>
              </a:rPr>
              <a:t>son sensores de temperatura resistivos. En ellos se aprovecha el efecto que tiene la temperatura en la conducción de los electrones para que, ante un aumento de temperatura, haya un aumento de la resistencia eléctrica</a:t>
            </a:r>
            <a:r>
              <a:rPr lang="es-419" sz="1600" dirty="0">
                <a:latin typeface="Calibri"/>
                <a:ea typeface="Calibri"/>
                <a:cs typeface="Calibri"/>
                <a:sym typeface="Calibri"/>
              </a:rPr>
              <a:t>.</a:t>
            </a:r>
            <a:endParaRPr sz="1600" dirty="0"/>
          </a:p>
        </p:txBody>
      </p:sp>
      <p:sp>
        <p:nvSpPr>
          <p:cNvPr id="279" name="Google Shape;279;p29"/>
          <p:cNvSpPr txBox="1">
            <a:spLocks noGrp="1"/>
          </p:cNvSpPr>
          <p:nvPr>
            <p:ph type="body" idx="4294967295"/>
          </p:nvPr>
        </p:nvSpPr>
        <p:spPr>
          <a:xfrm>
            <a:off x="6744072" y="1063107"/>
            <a:ext cx="4992671" cy="2871788"/>
          </a:xfrm>
          <a:prstGeom prst="rect">
            <a:avLst/>
          </a:prstGeom>
        </p:spPr>
        <p:txBody>
          <a:bodyPr spcFirstLastPara="1" vert="horz" wrap="square" lIns="121900" tIns="121900" rIns="121900" bIns="121900" rtlCol="0" anchor="t" anchorCtr="0">
            <a:noAutofit/>
          </a:bodyPr>
          <a:lstStyle/>
          <a:p>
            <a:pPr marL="0" indent="0" algn="just">
              <a:lnSpc>
                <a:spcPct val="80000"/>
              </a:lnSpc>
              <a:spcBef>
                <a:spcPts val="800"/>
              </a:spcBef>
              <a:buSzPts val="935"/>
              <a:buNone/>
            </a:pPr>
            <a:r>
              <a:rPr lang="es-419" sz="1800" b="1" i="1" u="sng" dirty="0">
                <a:latin typeface="Calibri"/>
                <a:ea typeface="Calibri"/>
                <a:cs typeface="Calibri"/>
                <a:sym typeface="Calibri"/>
              </a:rPr>
              <a:t>Características OMNIGRAD T TST487:</a:t>
            </a:r>
            <a:endParaRPr sz="1800" b="1" i="1" u="sng" dirty="0">
              <a:latin typeface="Calibri"/>
              <a:ea typeface="Calibri"/>
              <a:cs typeface="Calibri"/>
              <a:sym typeface="Calibri"/>
            </a:endParaRPr>
          </a:p>
          <a:p>
            <a:pPr indent="-435598" algn="just">
              <a:lnSpc>
                <a:spcPct val="80000"/>
              </a:lnSpc>
              <a:spcBef>
                <a:spcPts val="800"/>
              </a:spcBef>
              <a:buSzPts val="1545"/>
              <a:buFont typeface="Arial"/>
              <a:buChar char="➢"/>
            </a:pPr>
            <a:r>
              <a:rPr lang="es-419" sz="1800" dirty="0">
                <a:latin typeface="Calibri"/>
                <a:ea typeface="Calibri"/>
                <a:cs typeface="Calibri"/>
                <a:sym typeface="Calibri"/>
              </a:rPr>
              <a:t>Resistencia de platino, 1 x Pt100 (100 Ω°C)</a:t>
            </a:r>
            <a:endParaRPr sz="1800" dirty="0">
              <a:latin typeface="Calibri"/>
              <a:ea typeface="Calibri"/>
              <a:cs typeface="Calibri"/>
              <a:sym typeface="Calibri"/>
            </a:endParaRPr>
          </a:p>
          <a:p>
            <a:pPr indent="-435598" algn="just">
              <a:lnSpc>
                <a:spcPct val="80000"/>
              </a:lnSpc>
              <a:buSzPts val="1545"/>
              <a:buFont typeface="Arial"/>
              <a:buChar char="➢"/>
            </a:pPr>
            <a:r>
              <a:rPr lang="es-419" sz="1800" dirty="0">
                <a:latin typeface="Calibri"/>
                <a:ea typeface="Calibri"/>
                <a:cs typeface="Calibri"/>
                <a:sym typeface="Calibri"/>
              </a:rPr>
              <a:t>Conexión a cuatro hilos</a:t>
            </a:r>
            <a:endParaRPr sz="1800" dirty="0">
              <a:latin typeface="Calibri"/>
              <a:ea typeface="Calibri"/>
              <a:cs typeface="Calibri"/>
              <a:sym typeface="Calibri"/>
            </a:endParaRPr>
          </a:p>
          <a:p>
            <a:pPr indent="-435598" algn="just">
              <a:lnSpc>
                <a:spcPct val="80000"/>
              </a:lnSpc>
              <a:buSzPts val="1545"/>
              <a:buFont typeface="Arial"/>
              <a:buChar char="➢"/>
            </a:pPr>
            <a:r>
              <a:rPr lang="es-419" sz="1800" dirty="0">
                <a:latin typeface="Calibri"/>
                <a:ea typeface="Calibri"/>
                <a:cs typeface="Calibri"/>
                <a:sym typeface="Calibri"/>
              </a:rPr>
              <a:t>Temperatura de trabajo: -50°C a +300°C</a:t>
            </a:r>
            <a:endParaRPr sz="1800" dirty="0">
              <a:latin typeface="Calibri"/>
              <a:ea typeface="Calibri"/>
              <a:cs typeface="Calibri"/>
              <a:sym typeface="Calibri"/>
            </a:endParaRPr>
          </a:p>
          <a:p>
            <a:pPr marL="0" indent="0" algn="just">
              <a:lnSpc>
                <a:spcPct val="86000"/>
              </a:lnSpc>
              <a:spcBef>
                <a:spcPts val="800"/>
              </a:spcBef>
              <a:spcAft>
                <a:spcPts val="800"/>
              </a:spcAft>
              <a:buSzPts val="935"/>
              <a:buNone/>
            </a:pPr>
            <a:r>
              <a:rPr lang="es-419" sz="1800" dirty="0">
                <a:latin typeface="Calibri"/>
                <a:ea typeface="Calibri"/>
                <a:cs typeface="Calibri"/>
                <a:sym typeface="Calibri"/>
              </a:rPr>
              <a:t>Por este sensor se debe hacer pasar una cierta corriente I por el elemento sensor de modo de poder medir su resistencia. Esta corriente I la suministra el controlador de temperatura.</a:t>
            </a:r>
            <a:endParaRPr sz="1800" dirty="0">
              <a:latin typeface="Calibri"/>
              <a:ea typeface="Calibri"/>
              <a:cs typeface="Calibri"/>
              <a:sym typeface="Calibri"/>
            </a:endParaRPr>
          </a:p>
        </p:txBody>
      </p:sp>
      <p:pic>
        <p:nvPicPr>
          <p:cNvPr id="3" name="Imagen 2" descr="RTD Thermometer TST487 | Endress+Hauser">
            <a:extLst>
              <a:ext uri="{FF2B5EF4-FFF2-40B4-BE49-F238E27FC236}">
                <a16:creationId xmlns:a16="http://schemas.microsoft.com/office/drawing/2014/main" id="{D44E3DB7-71BA-6561-B0F0-29248B04D1A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295787" y="2404677"/>
            <a:ext cx="3081121" cy="4121656"/>
          </a:xfrm>
          <a:prstGeom prst="rect">
            <a:avLst/>
          </a:prstGeom>
          <a:noFill/>
          <a:ln>
            <a:noFill/>
          </a:ln>
        </p:spPr>
      </p:pic>
      <p:grpSp>
        <p:nvGrpSpPr>
          <p:cNvPr id="7" name="Grupo 6">
            <a:extLst>
              <a:ext uri="{FF2B5EF4-FFF2-40B4-BE49-F238E27FC236}">
                <a16:creationId xmlns:a16="http://schemas.microsoft.com/office/drawing/2014/main" id="{0450F9FD-68C2-E59A-391A-8C66B9A83368}"/>
              </a:ext>
            </a:extLst>
          </p:cNvPr>
          <p:cNvGrpSpPr/>
          <p:nvPr/>
        </p:nvGrpSpPr>
        <p:grpSpPr>
          <a:xfrm>
            <a:off x="6888088" y="3504761"/>
            <a:ext cx="4992672" cy="2568330"/>
            <a:chOff x="7055217" y="3437736"/>
            <a:chExt cx="4681525" cy="2151504"/>
          </a:xfrm>
        </p:grpSpPr>
        <p:pic>
          <p:nvPicPr>
            <p:cNvPr id="2" name="Imagen 1">
              <a:extLst>
                <a:ext uri="{FF2B5EF4-FFF2-40B4-BE49-F238E27FC236}">
                  <a16:creationId xmlns:a16="http://schemas.microsoft.com/office/drawing/2014/main" id="{0D184F46-10A8-4C19-10E3-D1CBC7D4A439}"/>
                </a:ext>
              </a:extLst>
            </p:cNvPr>
            <p:cNvPicPr>
              <a:picLocks noChangeAspect="1"/>
            </p:cNvPicPr>
            <p:nvPr/>
          </p:nvPicPr>
          <p:blipFill rotWithShape="1">
            <a:blip r:embed="rId4">
              <a:extLst>
                <a:ext uri="{28A0092B-C50C-407E-A947-70E740481C1C}">
                  <a14:useLocalDpi xmlns:a14="http://schemas.microsoft.com/office/drawing/2010/main" val="0"/>
                </a:ext>
              </a:extLst>
            </a:blip>
            <a:srcRect l="25927" t="61518" r="26592" b="-310"/>
            <a:stretch/>
          </p:blipFill>
          <p:spPr bwMode="auto">
            <a:xfrm>
              <a:off x="7055217" y="3437736"/>
              <a:ext cx="4681525" cy="2149869"/>
            </a:xfrm>
            <a:prstGeom prst="rect">
              <a:avLst/>
            </a:prstGeom>
            <a:ln>
              <a:noFill/>
            </a:ln>
            <a:extLst>
              <a:ext uri="{53640926-AAD7-44D8-BBD7-CCE9431645EC}">
                <a14:shadowObscured xmlns:a14="http://schemas.microsoft.com/office/drawing/2010/main"/>
              </a:ext>
            </a:extLst>
          </p:spPr>
        </p:pic>
        <p:sp>
          <p:nvSpPr>
            <p:cNvPr id="4" name="Rectángulo 3">
              <a:extLst>
                <a:ext uri="{FF2B5EF4-FFF2-40B4-BE49-F238E27FC236}">
                  <a16:creationId xmlns:a16="http://schemas.microsoft.com/office/drawing/2014/main" id="{B1242611-4DA8-5BBD-0492-ABA2C1759F60}"/>
                </a:ext>
              </a:extLst>
            </p:cNvPr>
            <p:cNvSpPr/>
            <p:nvPr/>
          </p:nvSpPr>
          <p:spPr>
            <a:xfrm>
              <a:off x="9912424" y="5424857"/>
              <a:ext cx="576064" cy="1643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100" dirty="0">
                  <a:solidFill>
                    <a:schemeClr val="tx1"/>
                  </a:solidFill>
                </a:rPr>
                <a:t>blanco</a:t>
              </a:r>
            </a:p>
          </p:txBody>
        </p:sp>
        <p:sp>
          <p:nvSpPr>
            <p:cNvPr id="6" name="Rectángulo 5">
              <a:extLst>
                <a:ext uri="{FF2B5EF4-FFF2-40B4-BE49-F238E27FC236}">
                  <a16:creationId xmlns:a16="http://schemas.microsoft.com/office/drawing/2014/main" id="{243234B8-78C9-D8C5-9916-FA5057891207}"/>
                </a:ext>
              </a:extLst>
            </p:cNvPr>
            <p:cNvSpPr/>
            <p:nvPr/>
          </p:nvSpPr>
          <p:spPr>
            <a:xfrm>
              <a:off x="9955162" y="4797152"/>
              <a:ext cx="576064" cy="1643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100" dirty="0">
                  <a:solidFill>
                    <a:schemeClr val="tx1"/>
                  </a:solidFill>
                </a:rPr>
                <a:t>blanco</a:t>
              </a:r>
            </a:p>
          </p:txBody>
        </p:sp>
      </p:grpSp>
      <p:sp>
        <p:nvSpPr>
          <p:cNvPr id="5" name="CuadroTexto 4">
            <a:extLst>
              <a:ext uri="{FF2B5EF4-FFF2-40B4-BE49-F238E27FC236}">
                <a16:creationId xmlns:a16="http://schemas.microsoft.com/office/drawing/2014/main" id="{4A3D20C3-CC53-5B9B-362B-11C615B041B3}"/>
              </a:ext>
            </a:extLst>
          </p:cNvPr>
          <p:cNvSpPr txBox="1"/>
          <p:nvPr/>
        </p:nvSpPr>
        <p:spPr>
          <a:xfrm>
            <a:off x="2357140" y="5888425"/>
            <a:ext cx="3528391" cy="369332"/>
          </a:xfrm>
          <a:prstGeom prst="rect">
            <a:avLst/>
          </a:prstGeom>
          <a:noFill/>
        </p:spPr>
        <p:txBody>
          <a:bodyPr wrap="square" rtlCol="0">
            <a:spAutoFit/>
          </a:bodyPr>
          <a:lstStyle/>
          <a:p>
            <a:pPr algn="ctr"/>
            <a:r>
              <a:rPr lang="es-BO" i="1" dirty="0"/>
              <a:t>Sensor de temperatura RTD</a:t>
            </a:r>
          </a:p>
        </p:txBody>
      </p:sp>
      <p:sp>
        <p:nvSpPr>
          <p:cNvPr id="8" name="CuadroTexto 7">
            <a:extLst>
              <a:ext uri="{FF2B5EF4-FFF2-40B4-BE49-F238E27FC236}">
                <a16:creationId xmlns:a16="http://schemas.microsoft.com/office/drawing/2014/main" id="{1CB5A45A-43DA-7C6E-6A10-4CCAF57B425F}"/>
              </a:ext>
            </a:extLst>
          </p:cNvPr>
          <p:cNvSpPr txBox="1"/>
          <p:nvPr/>
        </p:nvSpPr>
        <p:spPr>
          <a:xfrm>
            <a:off x="7717112" y="6095990"/>
            <a:ext cx="3923504" cy="369332"/>
          </a:xfrm>
          <a:prstGeom prst="rect">
            <a:avLst/>
          </a:prstGeom>
          <a:noFill/>
        </p:spPr>
        <p:txBody>
          <a:bodyPr wrap="square" rtlCol="0">
            <a:spAutoFit/>
          </a:bodyPr>
          <a:lstStyle/>
          <a:p>
            <a:pPr algn="ctr"/>
            <a:r>
              <a:rPr lang="es-BO" i="1" dirty="0"/>
              <a:t>Conexión a cuatro hilos</a:t>
            </a:r>
          </a:p>
        </p:txBody>
      </p:sp>
    </p:spTree>
    <p:extLst>
      <p:ext uri="{BB962C8B-B14F-4D97-AF65-F5344CB8AC3E}">
        <p14:creationId xmlns:p14="http://schemas.microsoft.com/office/powerpoint/2010/main" val="215170120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1"/>
          <p:cNvSpPr txBox="1">
            <a:spLocks noGrp="1"/>
          </p:cNvSpPr>
          <p:nvPr>
            <p:ph type="title"/>
          </p:nvPr>
        </p:nvSpPr>
        <p:spPr>
          <a:xfrm>
            <a:off x="983432" y="399148"/>
            <a:ext cx="9385200" cy="445338"/>
          </a:xfrm>
          <a:prstGeom prst="rect">
            <a:avLst/>
          </a:prstGeom>
        </p:spPr>
        <p:txBody>
          <a:bodyPr spcFirstLastPara="1" vert="horz" wrap="square" lIns="121900" tIns="121900" rIns="121900" bIns="121900" rtlCol="0" anchor="t" anchorCtr="0">
            <a:noAutofit/>
          </a:bodyPr>
          <a:lstStyle/>
          <a:p>
            <a:pPr algn="l"/>
            <a:r>
              <a:rPr lang="es-419" sz="2000" b="1" dirty="0"/>
              <a:t>CONTROLADOR DE TEMPERATURA</a:t>
            </a:r>
            <a:endParaRPr sz="2000" b="1" dirty="0"/>
          </a:p>
        </p:txBody>
      </p:sp>
      <p:sp>
        <p:nvSpPr>
          <p:cNvPr id="295" name="Google Shape;295;p31"/>
          <p:cNvSpPr txBox="1">
            <a:spLocks noGrp="1"/>
          </p:cNvSpPr>
          <p:nvPr>
            <p:ph type="body" idx="1"/>
          </p:nvPr>
        </p:nvSpPr>
        <p:spPr>
          <a:xfrm>
            <a:off x="983432" y="851630"/>
            <a:ext cx="5112568" cy="2094415"/>
          </a:xfrm>
          <a:prstGeom prst="rect">
            <a:avLst/>
          </a:prstGeom>
          <a:solidFill>
            <a:schemeClr val="bg1"/>
          </a:solidFill>
        </p:spPr>
        <p:txBody>
          <a:bodyPr spcFirstLastPara="1" vert="horz" wrap="square" lIns="121900" tIns="121900" rIns="121900" bIns="121900" rtlCol="0" anchor="t" anchorCtr="0">
            <a:noAutofit/>
          </a:bodyPr>
          <a:lstStyle/>
          <a:p>
            <a:pPr marL="0" indent="0" algn="just">
              <a:lnSpc>
                <a:spcPct val="80000"/>
              </a:lnSpc>
              <a:spcBef>
                <a:spcPts val="600"/>
              </a:spcBef>
              <a:spcAft>
                <a:spcPts val="600"/>
              </a:spcAft>
              <a:buNone/>
            </a:pPr>
            <a:r>
              <a:rPr lang="es-419" sz="1800" b="1" i="1" u="sng" dirty="0">
                <a:sym typeface="Calibri"/>
              </a:rPr>
              <a:t>Principio de funcionamiento </a:t>
            </a:r>
          </a:p>
          <a:p>
            <a:pPr marL="0" indent="0" algn="just">
              <a:lnSpc>
                <a:spcPct val="80000"/>
              </a:lnSpc>
              <a:spcBef>
                <a:spcPts val="600"/>
              </a:spcBef>
              <a:spcAft>
                <a:spcPts val="600"/>
              </a:spcAft>
              <a:buNone/>
            </a:pPr>
            <a:r>
              <a:rPr lang="es-419" sz="1800" dirty="0">
                <a:sym typeface="Calibri"/>
              </a:rPr>
              <a:t>Un controlador de temperatura compara  la magnitud de la variable que se desea controlar enviada por el transmisor con el valor del set </a:t>
            </a:r>
            <a:r>
              <a:rPr lang="es-419" sz="1800" dirty="0" err="1">
                <a:sym typeface="Calibri"/>
              </a:rPr>
              <a:t>point</a:t>
            </a:r>
            <a:r>
              <a:rPr lang="es-419" sz="1800" dirty="0">
                <a:sym typeface="Calibri"/>
              </a:rPr>
              <a:t> (nivel de referencia). El controlador se encarga de aplicar las correcciones para mantener la señal en el valor deseado</a:t>
            </a:r>
          </a:p>
        </p:txBody>
      </p:sp>
      <p:pic>
        <p:nvPicPr>
          <p:cNvPr id="296" name="Google Shape;296;p31"/>
          <p:cNvPicPr preferRelativeResize="0"/>
          <p:nvPr/>
        </p:nvPicPr>
        <p:blipFill rotWithShape="1">
          <a:blip r:embed="rId3">
            <a:alphaModFix/>
          </a:blip>
          <a:srcRect l="15010" t="19506" r="7852" b="45615"/>
          <a:stretch/>
        </p:blipFill>
        <p:spPr>
          <a:xfrm>
            <a:off x="2050301" y="3215903"/>
            <a:ext cx="2482532" cy="2566632"/>
          </a:xfrm>
          <a:prstGeom prst="rect">
            <a:avLst/>
          </a:prstGeom>
          <a:noFill/>
          <a:ln>
            <a:noFill/>
          </a:ln>
        </p:spPr>
      </p:pic>
      <p:pic>
        <p:nvPicPr>
          <p:cNvPr id="297" name="Google Shape;297;p31"/>
          <p:cNvPicPr preferRelativeResize="0"/>
          <p:nvPr/>
        </p:nvPicPr>
        <p:blipFill rotWithShape="1">
          <a:blip r:embed="rId4">
            <a:alphaModFix/>
          </a:blip>
          <a:srcRect t="3175"/>
          <a:stretch/>
        </p:blipFill>
        <p:spPr>
          <a:xfrm>
            <a:off x="4989635" y="3574084"/>
            <a:ext cx="7202365" cy="2566633"/>
          </a:xfrm>
          <a:prstGeom prst="rect">
            <a:avLst/>
          </a:prstGeom>
          <a:noFill/>
          <a:ln>
            <a:noFill/>
          </a:ln>
        </p:spPr>
      </p:pic>
      <p:sp>
        <p:nvSpPr>
          <p:cNvPr id="298" name="Google Shape;298;p31"/>
          <p:cNvSpPr txBox="1"/>
          <p:nvPr/>
        </p:nvSpPr>
        <p:spPr>
          <a:xfrm>
            <a:off x="1817067" y="5880701"/>
            <a:ext cx="2308400" cy="615513"/>
          </a:xfrm>
          <a:prstGeom prst="rect">
            <a:avLst/>
          </a:prstGeom>
          <a:noFill/>
          <a:ln>
            <a:noFill/>
          </a:ln>
        </p:spPr>
        <p:txBody>
          <a:bodyPr spcFirstLastPara="1" wrap="square" lIns="121900" tIns="121900" rIns="121900" bIns="121900" anchor="t" anchorCtr="0">
            <a:spAutoFit/>
          </a:bodyPr>
          <a:lstStyle/>
          <a:p>
            <a:pPr algn="ctr"/>
            <a:r>
              <a:rPr lang="es-419" sz="2400">
                <a:solidFill>
                  <a:schemeClr val="lt1"/>
                </a:solidFill>
                <a:latin typeface="Lato"/>
                <a:ea typeface="Lato"/>
                <a:cs typeface="Lato"/>
                <a:sym typeface="Lato"/>
              </a:rPr>
              <a:t>Parte frontal</a:t>
            </a:r>
            <a:endParaRPr sz="2400">
              <a:solidFill>
                <a:schemeClr val="lt1"/>
              </a:solidFill>
              <a:latin typeface="Lato"/>
              <a:ea typeface="Lato"/>
              <a:cs typeface="Lato"/>
              <a:sym typeface="Lato"/>
            </a:endParaRPr>
          </a:p>
        </p:txBody>
      </p:sp>
      <p:sp>
        <p:nvSpPr>
          <p:cNvPr id="6" name="Cuadro de texto 1545475262">
            <a:extLst>
              <a:ext uri="{FF2B5EF4-FFF2-40B4-BE49-F238E27FC236}">
                <a16:creationId xmlns:a16="http://schemas.microsoft.com/office/drawing/2014/main" id="{43CCEBCC-2320-36CB-9A57-7DA86D9EB720}"/>
              </a:ext>
            </a:extLst>
          </p:cNvPr>
          <p:cNvSpPr txBox="1"/>
          <p:nvPr/>
        </p:nvSpPr>
        <p:spPr>
          <a:xfrm>
            <a:off x="7032104" y="6004221"/>
            <a:ext cx="3549664" cy="615512"/>
          </a:xfrm>
          <a:prstGeom prst="rect">
            <a:avLst/>
          </a:prstGeom>
          <a:solidFill>
            <a:schemeClr val="lt1"/>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pPr>
            <a:r>
              <a:rPr lang="es-ES" sz="1600" i="1" dirty="0">
                <a:solidFill>
                  <a:srgbClr val="333333"/>
                </a:solidFill>
                <a:effectLst/>
                <a:latin typeface="Calibri" panose="020F0502020204030204" pitchFamily="34" charset="0"/>
                <a:ea typeface="Times New Roman" panose="02020603050405020304" pitchFamily="18" charset="0"/>
              </a:rPr>
              <a:t>Entradas y salidas del controlador de temperatura</a:t>
            </a:r>
            <a:endParaRPr lang="es-BO" sz="1600" dirty="0">
              <a:effectLst/>
              <a:latin typeface="Times New Roman" panose="02020603050405020304" pitchFamily="18" charset="0"/>
              <a:ea typeface="Times New Roman" panose="02020603050405020304" pitchFamily="18" charset="0"/>
            </a:endParaRPr>
          </a:p>
        </p:txBody>
      </p:sp>
      <p:sp>
        <p:nvSpPr>
          <p:cNvPr id="7" name="Cuadro de texto 1545475262">
            <a:extLst>
              <a:ext uri="{FF2B5EF4-FFF2-40B4-BE49-F238E27FC236}">
                <a16:creationId xmlns:a16="http://schemas.microsoft.com/office/drawing/2014/main" id="{73EFBD80-2B31-38B6-1CAE-47E5D2765026}"/>
              </a:ext>
            </a:extLst>
          </p:cNvPr>
          <p:cNvSpPr txBox="1"/>
          <p:nvPr/>
        </p:nvSpPr>
        <p:spPr>
          <a:xfrm>
            <a:off x="2050301" y="5981840"/>
            <a:ext cx="2527633" cy="615512"/>
          </a:xfrm>
          <a:prstGeom prst="rect">
            <a:avLst/>
          </a:prstGeom>
          <a:solidFill>
            <a:schemeClr val="lt1"/>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s-MX" sz="1600" i="1" dirty="0">
                <a:solidFill>
                  <a:srgbClr val="333333"/>
                </a:solidFill>
                <a:effectLst/>
                <a:latin typeface="Calibri" panose="020F0502020204030204" pitchFamily="34" charset="0"/>
                <a:ea typeface="Times New Roman" panose="02020603050405020304" pitchFamily="18" charset="0"/>
              </a:rPr>
              <a:t>Parte frontal del controlador de temperatura</a:t>
            </a:r>
            <a:endParaRPr lang="es-BO" sz="1200" dirty="0">
              <a:effectLst/>
              <a:latin typeface="Times New Roman" panose="02020603050405020304" pitchFamily="18" charset="0"/>
              <a:ea typeface="Times New Roman" panose="02020603050405020304" pitchFamily="18" charset="0"/>
            </a:endParaRPr>
          </a:p>
        </p:txBody>
      </p:sp>
      <p:sp>
        <p:nvSpPr>
          <p:cNvPr id="2" name="Google Shape;295;p31">
            <a:extLst>
              <a:ext uri="{FF2B5EF4-FFF2-40B4-BE49-F238E27FC236}">
                <a16:creationId xmlns:a16="http://schemas.microsoft.com/office/drawing/2014/main" id="{880CA9E5-3906-7953-4FE3-BB4B136DF9C3}"/>
              </a:ext>
            </a:extLst>
          </p:cNvPr>
          <p:cNvSpPr txBox="1">
            <a:spLocks/>
          </p:cNvSpPr>
          <p:nvPr/>
        </p:nvSpPr>
        <p:spPr>
          <a:xfrm>
            <a:off x="6096000" y="855445"/>
            <a:ext cx="5976664" cy="2360458"/>
          </a:xfrm>
          <a:prstGeom prst="rect">
            <a:avLst/>
          </a:prstGeom>
          <a:solidFill>
            <a:schemeClr val="bg1"/>
          </a:solidFill>
        </p:spPr>
        <p:txBody>
          <a:bodyPr spcFirstLastPara="1" vert="horz" wrap="square" lIns="121900" tIns="121900" rIns="121900" bIns="121900" rtlCol="0" anchor="t" anchorCtr="0">
            <a:noAutofit/>
          </a:bodyPr>
          <a:lstStyle>
            <a:lvl1pPr marL="609585" lvl="0" indent="-414856" algn="l" defTabSz="914400" rtl="0" eaLnBrk="1" latinLnBrk="0" hangingPunct="1">
              <a:spcBef>
                <a:spcPts val="0"/>
              </a:spcBef>
              <a:spcAft>
                <a:spcPts val="0"/>
              </a:spcAft>
              <a:buSzPts val="1300"/>
              <a:buFont typeface="Arial" pitchFamily="34" charset="0"/>
              <a:buChar char="●"/>
              <a:defRPr sz="3200" kern="1200">
                <a:solidFill>
                  <a:schemeClr val="tx1"/>
                </a:solidFill>
                <a:latin typeface="+mn-lt"/>
                <a:ea typeface="+mn-ea"/>
                <a:cs typeface="+mn-cs"/>
              </a:defRPr>
            </a:lvl1pPr>
            <a:lvl2pPr marL="1219170" lvl="1" indent="-397923" algn="l" defTabSz="914400" rtl="0" eaLnBrk="1" latinLnBrk="0" hangingPunct="1">
              <a:spcBef>
                <a:spcPts val="0"/>
              </a:spcBef>
              <a:spcAft>
                <a:spcPts val="0"/>
              </a:spcAft>
              <a:buSzPts val="1100"/>
              <a:buFont typeface="Arial" pitchFamily="34" charset="0"/>
              <a:buChar char="○"/>
              <a:defRPr sz="2800" kern="1200">
                <a:solidFill>
                  <a:schemeClr val="tx1"/>
                </a:solidFill>
                <a:latin typeface="+mn-lt"/>
                <a:ea typeface="+mn-ea"/>
                <a:cs typeface="+mn-cs"/>
              </a:defRPr>
            </a:lvl2pPr>
            <a:lvl3pPr marL="1828754" lvl="2" indent="-397923" algn="l" defTabSz="914400" rtl="0" eaLnBrk="1" latinLnBrk="0" hangingPunct="1">
              <a:spcBef>
                <a:spcPts val="0"/>
              </a:spcBef>
              <a:spcAft>
                <a:spcPts val="0"/>
              </a:spcAft>
              <a:buSzPts val="1100"/>
              <a:buFont typeface="Arial" pitchFamily="34" charset="0"/>
              <a:buChar char="■"/>
              <a:defRPr sz="2400" kern="1200">
                <a:solidFill>
                  <a:schemeClr val="tx1"/>
                </a:solidFill>
                <a:latin typeface="+mn-lt"/>
                <a:ea typeface="+mn-ea"/>
                <a:cs typeface="+mn-cs"/>
              </a:defRPr>
            </a:lvl3pPr>
            <a:lvl4pPr marL="2438339" lvl="3"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4pPr>
            <a:lvl5pPr marL="3047924" lvl="4"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5pPr>
            <a:lvl6pPr marL="3657509" lvl="5"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6pPr>
            <a:lvl7pPr marL="4267093" lvl="6"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7pPr>
            <a:lvl8pPr marL="4876678" lvl="7"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8pPr>
            <a:lvl9pPr marL="5486263" lvl="8" indent="-397923" algn="l" defTabSz="914400" rtl="0" eaLnBrk="1" latinLnBrk="0" hangingPunct="1">
              <a:spcBef>
                <a:spcPts val="0"/>
              </a:spcBef>
              <a:spcAft>
                <a:spcPts val="0"/>
              </a:spcAft>
              <a:buSzPts val="1100"/>
              <a:buFont typeface="Arial" pitchFamily="34" charset="0"/>
              <a:buChar char="■"/>
              <a:defRPr sz="2000" kern="1200">
                <a:solidFill>
                  <a:schemeClr val="tx1"/>
                </a:solidFill>
                <a:latin typeface="+mn-lt"/>
                <a:ea typeface="+mn-ea"/>
                <a:cs typeface="+mn-cs"/>
              </a:defRPr>
            </a:lvl9pPr>
          </a:lstStyle>
          <a:p>
            <a:pPr marL="0" indent="0" algn="just">
              <a:lnSpc>
                <a:spcPct val="80000"/>
              </a:lnSpc>
              <a:spcBef>
                <a:spcPts val="600"/>
              </a:spcBef>
              <a:spcAft>
                <a:spcPts val="600"/>
              </a:spcAft>
              <a:buFont typeface="Arial" pitchFamily="34" charset="0"/>
              <a:buNone/>
            </a:pPr>
            <a:r>
              <a:rPr lang="es-MX" sz="1800" b="1" i="1" u="sng" dirty="0">
                <a:sym typeface="Calibri"/>
              </a:rPr>
              <a:t>Características </a:t>
            </a:r>
          </a:p>
          <a:p>
            <a:pPr marL="285750" indent="-285750" algn="just">
              <a:lnSpc>
                <a:spcPct val="80000"/>
              </a:lnSpc>
              <a:buFont typeface="Wingdings" panose="05000000000000000000" pitchFamily="2" charset="2"/>
              <a:buChar char="Ø"/>
            </a:pPr>
            <a:r>
              <a:rPr lang="es-MX" sz="1800" dirty="0">
                <a:sym typeface="Calibri"/>
              </a:rPr>
              <a:t>Voltaje de suministro: 110 - 240 VCA</a:t>
            </a:r>
          </a:p>
          <a:p>
            <a:pPr marL="285750" indent="-285750" algn="just">
              <a:lnSpc>
                <a:spcPct val="80000"/>
              </a:lnSpc>
              <a:buFont typeface="Wingdings" panose="05000000000000000000" pitchFamily="2" charset="2"/>
              <a:buChar char="Ø"/>
            </a:pPr>
            <a:r>
              <a:rPr lang="es-MX" sz="1800" dirty="0">
                <a:sym typeface="Calibri"/>
              </a:rPr>
              <a:t>Frecuencia operativa: 50 – 60 Hz</a:t>
            </a:r>
          </a:p>
          <a:p>
            <a:pPr marL="285750" indent="-285750" algn="just">
              <a:lnSpc>
                <a:spcPct val="80000"/>
              </a:lnSpc>
              <a:buFont typeface="Wingdings" panose="05000000000000000000" pitchFamily="2" charset="2"/>
              <a:buChar char="Ø"/>
            </a:pPr>
            <a:r>
              <a:rPr lang="es-MX" sz="1800" dirty="0">
                <a:sym typeface="Calibri"/>
              </a:rPr>
              <a:t>Entrada de voltaje analógico: 1 a 5 </a:t>
            </a:r>
            <a:r>
              <a:rPr lang="es-MX" sz="1800" dirty="0" err="1">
                <a:sym typeface="Calibri"/>
              </a:rPr>
              <a:t>Vcc</a:t>
            </a:r>
            <a:r>
              <a:rPr lang="es-MX" sz="1800" dirty="0">
                <a:sym typeface="Calibri"/>
              </a:rPr>
              <a:t>, 0 a 5 </a:t>
            </a:r>
            <a:r>
              <a:rPr lang="es-MX" sz="1800" dirty="0" err="1">
                <a:sym typeface="Calibri"/>
              </a:rPr>
              <a:t>Vcc</a:t>
            </a:r>
            <a:r>
              <a:rPr lang="es-MX" sz="1800" dirty="0">
                <a:sym typeface="Calibri"/>
              </a:rPr>
              <a:t> y 0 a 10 </a:t>
            </a:r>
            <a:r>
              <a:rPr lang="es-MX" sz="1800" dirty="0" err="1">
                <a:sym typeface="Calibri"/>
              </a:rPr>
              <a:t>Vcc</a:t>
            </a:r>
            <a:endParaRPr lang="es-MX" sz="1800" dirty="0">
              <a:sym typeface="Calibri"/>
            </a:endParaRPr>
          </a:p>
          <a:p>
            <a:pPr marL="285750" indent="-285750" algn="just">
              <a:lnSpc>
                <a:spcPct val="80000"/>
              </a:lnSpc>
              <a:buFont typeface="Wingdings" panose="05000000000000000000" pitchFamily="2" charset="2"/>
              <a:buChar char="Ø"/>
            </a:pPr>
            <a:r>
              <a:rPr lang="es-MX" sz="1800" dirty="0">
                <a:sym typeface="Calibri"/>
              </a:rPr>
              <a:t> Entrada de corriente analógico: 4 a 20 mA y 0 a 20 mA</a:t>
            </a:r>
          </a:p>
          <a:p>
            <a:pPr marL="0" indent="0" algn="just">
              <a:lnSpc>
                <a:spcPct val="80000"/>
              </a:lnSpc>
              <a:spcBef>
                <a:spcPts val="600"/>
              </a:spcBef>
              <a:spcAft>
                <a:spcPts val="600"/>
              </a:spcAft>
              <a:buFont typeface="Arial" pitchFamily="34" charset="0"/>
              <a:buNone/>
            </a:pPr>
            <a:r>
              <a:rPr lang="es-MX" sz="1800" dirty="0">
                <a:sym typeface="Calibri"/>
              </a:rPr>
              <a:t>Este controlador tiene la característica de aceptar distintos modelos de sensores de temperatura, casi todas las termocuplas del mercado, </a:t>
            </a:r>
            <a:r>
              <a:rPr lang="es-MX" sz="1800" dirty="0" err="1">
                <a:sym typeface="Calibri"/>
              </a:rPr>
              <a:t>RTD's</a:t>
            </a:r>
            <a:r>
              <a:rPr lang="es-MX" sz="1800" dirty="0">
                <a:sym typeface="Calibri"/>
              </a:rPr>
              <a:t>, </a:t>
            </a:r>
            <a:r>
              <a:rPr lang="es-MX" sz="1800" dirty="0" err="1">
                <a:sym typeface="Calibri"/>
              </a:rPr>
              <a:t>termosensores</a:t>
            </a:r>
            <a:r>
              <a:rPr lang="es-MX" sz="1800" dirty="0">
                <a:sym typeface="Calibri"/>
              </a:rPr>
              <a:t> y entrada analógica de corriente y voltaje. </a:t>
            </a:r>
            <a:endParaRPr lang="es-MX" sz="18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 name="Imagen 2">
            <a:extLst>
              <a:ext uri="{FF2B5EF4-FFF2-40B4-BE49-F238E27FC236}">
                <a16:creationId xmlns:a16="http://schemas.microsoft.com/office/drawing/2014/main" id="{569AC5D4-696E-A58C-54E4-96252D278842}"/>
              </a:ext>
            </a:extLst>
          </p:cNvPr>
          <p:cNvPicPr>
            <a:picLocks noChangeAspect="1"/>
          </p:cNvPicPr>
          <p:nvPr/>
        </p:nvPicPr>
        <p:blipFill>
          <a:blip r:embed="rId3"/>
          <a:stretch>
            <a:fillRect/>
          </a:stretch>
        </p:blipFill>
        <p:spPr>
          <a:xfrm>
            <a:off x="2470107" y="1170210"/>
            <a:ext cx="8107987" cy="4746099"/>
          </a:xfrm>
          <a:prstGeom prst="rect">
            <a:avLst/>
          </a:prstGeom>
        </p:spPr>
      </p:pic>
      <p:sp>
        <p:nvSpPr>
          <p:cNvPr id="9" name="CuadroTexto 8">
            <a:extLst>
              <a:ext uri="{FF2B5EF4-FFF2-40B4-BE49-F238E27FC236}">
                <a16:creationId xmlns:a16="http://schemas.microsoft.com/office/drawing/2014/main" id="{9C5809D5-4E00-04DB-8475-87BF4ABDDAD9}"/>
              </a:ext>
            </a:extLst>
          </p:cNvPr>
          <p:cNvSpPr txBox="1"/>
          <p:nvPr/>
        </p:nvSpPr>
        <p:spPr>
          <a:xfrm>
            <a:off x="1530905" y="1413062"/>
            <a:ext cx="5611457" cy="3724096"/>
          </a:xfrm>
          <a:prstGeom prst="rect">
            <a:avLst/>
          </a:prstGeom>
          <a:noFill/>
        </p:spPr>
        <p:txBody>
          <a:bodyPr wrap="square">
            <a:spAutoFit/>
          </a:bodyPr>
          <a:lstStyle/>
          <a:p>
            <a:pPr marL="342900" lvl="0" indent="-342900" algn="just">
              <a:spcBef>
                <a:spcPts val="1200"/>
              </a:spcBef>
              <a:buFont typeface="+mj-lt"/>
              <a:buAutoNum type="arabicPeriod"/>
            </a:pPr>
            <a:r>
              <a:rPr lang="es-ES" sz="1800" dirty="0">
                <a:solidFill>
                  <a:srgbClr val="000000"/>
                </a:solidFill>
                <a:effectLst/>
                <a:latin typeface="Calibri" panose="020F0502020204030204" pitchFamily="34" charset="0"/>
                <a:ea typeface="Times New Roman" panose="02020603050405020304" pitchFamily="18" charset="0"/>
              </a:rPr>
              <a:t>Energizar el sistema</a:t>
            </a:r>
            <a:endParaRPr lang="es-BO" sz="1400" dirty="0">
              <a:effectLst/>
              <a:latin typeface="Times New Roman" panose="02020603050405020304" pitchFamily="18" charset="0"/>
              <a:ea typeface="Times New Roman" panose="02020603050405020304" pitchFamily="18" charset="0"/>
            </a:endParaRPr>
          </a:p>
          <a:p>
            <a:pPr marL="342900" lvl="0" indent="-342900" algn="just">
              <a:spcBef>
                <a:spcPts val="1200"/>
              </a:spcBef>
              <a:buFont typeface="+mj-lt"/>
              <a:buAutoNum type="arabicPeriod"/>
            </a:pPr>
            <a:r>
              <a:rPr lang="es-ES" sz="1800" dirty="0">
                <a:solidFill>
                  <a:srgbClr val="333333"/>
                </a:solidFill>
                <a:effectLst/>
                <a:latin typeface="Calibri" panose="020F0502020204030204" pitchFamily="34" charset="0"/>
                <a:ea typeface="Times New Roman" panose="02020603050405020304" pitchFamily="18" charset="0"/>
              </a:rPr>
              <a:t>Se debe presionar el primer botón </a:t>
            </a:r>
            <a:r>
              <a:rPr lang="es-ES" sz="1800" b="1" i="1" dirty="0">
                <a:solidFill>
                  <a:srgbClr val="333333"/>
                </a:solidFill>
                <a:effectLst/>
                <a:latin typeface="Calibri" panose="020F0502020204030204" pitchFamily="34" charset="0"/>
                <a:ea typeface="Times New Roman" panose="02020603050405020304" pitchFamily="18" charset="0"/>
              </a:rPr>
              <a:t>Figura1-1</a:t>
            </a:r>
            <a:r>
              <a:rPr lang="es-ES" sz="1800" dirty="0">
                <a:solidFill>
                  <a:srgbClr val="333333"/>
                </a:solidFill>
                <a:effectLst/>
                <a:latin typeface="Calibri" panose="020F0502020204030204" pitchFamily="34" charset="0"/>
                <a:ea typeface="Times New Roman" panose="02020603050405020304" pitchFamily="18" charset="0"/>
              </a:rPr>
              <a:t>, que es de selección de grupo, por cuatro de segundos y en la primera opción </a:t>
            </a:r>
            <a:r>
              <a:rPr lang="es-ES" sz="1800" dirty="0" err="1">
                <a:solidFill>
                  <a:srgbClr val="333333"/>
                </a:solidFill>
                <a:effectLst/>
                <a:latin typeface="Calibri" panose="020F0502020204030204" pitchFamily="34" charset="0"/>
                <a:ea typeface="Times New Roman" panose="02020603050405020304" pitchFamily="18" charset="0"/>
              </a:rPr>
              <a:t>iN</a:t>
            </a:r>
            <a:r>
              <a:rPr lang="es-ES" sz="1800" dirty="0">
                <a:solidFill>
                  <a:srgbClr val="333333"/>
                </a:solidFill>
                <a:effectLst/>
                <a:latin typeface="Calibri" panose="020F0502020204030204" pitchFamily="34" charset="0"/>
                <a:ea typeface="Times New Roman" panose="02020603050405020304" pitchFamily="18" charset="0"/>
              </a:rPr>
              <a:t>-t </a:t>
            </a:r>
            <a:r>
              <a:rPr lang="es-ES" sz="1800" b="1" i="1" dirty="0">
                <a:solidFill>
                  <a:srgbClr val="333333"/>
                </a:solidFill>
                <a:effectLst/>
                <a:latin typeface="Calibri" panose="020F0502020204030204" pitchFamily="34" charset="0"/>
                <a:ea typeface="Times New Roman" panose="02020603050405020304" pitchFamily="18" charset="0"/>
              </a:rPr>
              <a:t>Figura1-2</a:t>
            </a:r>
            <a:r>
              <a:rPr lang="es-ES" sz="1800" dirty="0">
                <a:solidFill>
                  <a:srgbClr val="333333"/>
                </a:solidFill>
                <a:effectLst/>
                <a:latin typeface="Calibri" panose="020F0502020204030204" pitchFamily="34" charset="0"/>
                <a:ea typeface="Times New Roman" panose="02020603050405020304" pitchFamily="18" charset="0"/>
              </a:rPr>
              <a:t> seleccionar el número (con la tecla arriba o abajo)</a:t>
            </a:r>
            <a:endParaRPr lang="es-BO" sz="1400" dirty="0">
              <a:effectLst/>
              <a:latin typeface="Times New Roman" panose="02020603050405020304" pitchFamily="18" charset="0"/>
              <a:ea typeface="Times New Roman" panose="02020603050405020304" pitchFamily="18" charset="0"/>
            </a:endParaRPr>
          </a:p>
          <a:p>
            <a:pPr marL="534988" lvl="0" indent="-169863" algn="just" defTabSz="534988">
              <a:spcAft>
                <a:spcPts val="0"/>
              </a:spcAft>
              <a:buFont typeface="Arial" panose="020B0604020202020204" pitchFamily="34" charset="0"/>
              <a:buChar char="•"/>
            </a:pPr>
            <a:r>
              <a:rPr lang="es-ES" sz="180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Numero 1 para el sensor de temperatura RTD</a:t>
            </a:r>
            <a:endParaRPr lang="es-BO"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534988" lvl="0" indent="-169863" algn="just" defTabSz="534988">
              <a:spcAft>
                <a:spcPts val="0"/>
              </a:spcAft>
              <a:buFont typeface="Arial" panose="020B0604020202020204" pitchFamily="34" charset="0"/>
              <a:buChar char="•"/>
            </a:pPr>
            <a:r>
              <a:rPr lang="es-ES" sz="180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Numero 7 para la termocupla J</a:t>
            </a:r>
            <a:endParaRPr lang="es-BO" sz="1400" dirty="0">
              <a:latin typeface="Times New Roman" panose="02020603050405020304" pitchFamily="18" charset="0"/>
              <a:ea typeface="Times New Roman" panose="02020603050405020304" pitchFamily="18" charset="0"/>
              <a:cs typeface="Times New Roman" panose="02020603050405020304" pitchFamily="18" charset="0"/>
            </a:endParaRPr>
          </a:p>
          <a:p>
            <a:pPr marL="534988" lvl="0" indent="-169863" algn="just" defTabSz="534988">
              <a:spcAft>
                <a:spcPts val="0"/>
              </a:spcAft>
            </a:pPr>
            <a:r>
              <a:rPr lang="es-ES" sz="1800" dirty="0">
                <a:solidFill>
                  <a:srgbClr val="333333"/>
                </a:solidFill>
                <a:effectLst/>
                <a:latin typeface="Calibri" panose="020F0502020204030204" pitchFamily="34" charset="0"/>
                <a:ea typeface="Times New Roman" panose="02020603050405020304" pitchFamily="18" charset="0"/>
              </a:rPr>
              <a:t>Esta información está en el manual con el que viene el equipo.</a:t>
            </a:r>
          </a:p>
          <a:p>
            <a:pPr lvl="0" algn="just">
              <a:spcBef>
                <a:spcPts val="1200"/>
              </a:spcBef>
            </a:pPr>
            <a:r>
              <a:rPr lang="es-ES" sz="1800" dirty="0">
                <a:solidFill>
                  <a:srgbClr val="333333"/>
                </a:solidFill>
                <a:effectLst/>
                <a:latin typeface="Calibri" panose="020F0502020204030204" pitchFamily="34" charset="0"/>
                <a:ea typeface="Times New Roman" panose="02020603050405020304" pitchFamily="18" charset="0"/>
              </a:rPr>
              <a:t>3. Luego retornamos presionando el mismo botón por cuatro segundos y ya deberíamos tener la temperatura en la pantalla </a:t>
            </a:r>
            <a:r>
              <a:rPr lang="es-ES" sz="1800" b="1" i="1" dirty="0">
                <a:solidFill>
                  <a:srgbClr val="333333"/>
                </a:solidFill>
                <a:effectLst/>
                <a:latin typeface="Calibri" panose="020F0502020204030204" pitchFamily="34" charset="0"/>
                <a:ea typeface="Times New Roman" panose="02020603050405020304" pitchFamily="18" charset="0"/>
              </a:rPr>
              <a:t>Figura1-3</a:t>
            </a:r>
            <a:r>
              <a:rPr lang="es-ES" sz="1800" dirty="0">
                <a:solidFill>
                  <a:srgbClr val="333333"/>
                </a:solidFill>
                <a:effectLst/>
                <a:latin typeface="Calibri" panose="020F0502020204030204" pitchFamily="34" charset="0"/>
                <a:ea typeface="Times New Roman" panose="02020603050405020304" pitchFamily="18" charset="0"/>
              </a:rPr>
              <a:t>.</a:t>
            </a:r>
            <a:endParaRPr lang="es-BO" sz="1400" dirty="0">
              <a:effectLst/>
              <a:latin typeface="Times New Roman" panose="02020603050405020304" pitchFamily="18" charset="0"/>
              <a:ea typeface="Times New Roman" panose="02020603050405020304" pitchFamily="18" charset="0"/>
            </a:endParaRPr>
          </a:p>
        </p:txBody>
      </p:sp>
      <p:pic>
        <p:nvPicPr>
          <p:cNvPr id="19" name="Imagen 18">
            <a:extLst>
              <a:ext uri="{FF2B5EF4-FFF2-40B4-BE49-F238E27FC236}">
                <a16:creationId xmlns:a16="http://schemas.microsoft.com/office/drawing/2014/main" id="{9CA5012C-20BF-C6B3-6B1A-F44D7D998FB6}"/>
              </a:ext>
            </a:extLst>
          </p:cNvPr>
          <p:cNvPicPr>
            <a:picLocks noChangeAspect="1"/>
          </p:cNvPicPr>
          <p:nvPr/>
        </p:nvPicPr>
        <p:blipFill rotWithShape="1">
          <a:blip r:embed="rId4"/>
          <a:srcRect l="67791" r="909"/>
          <a:stretch/>
        </p:blipFill>
        <p:spPr>
          <a:xfrm>
            <a:off x="7685360" y="1567186"/>
            <a:ext cx="3668440" cy="4141842"/>
          </a:xfrm>
          <a:prstGeom prst="rect">
            <a:avLst/>
          </a:prstGeom>
        </p:spPr>
      </p:pic>
      <p:pic>
        <p:nvPicPr>
          <p:cNvPr id="20" name="Imagen 19">
            <a:extLst>
              <a:ext uri="{FF2B5EF4-FFF2-40B4-BE49-F238E27FC236}">
                <a16:creationId xmlns:a16="http://schemas.microsoft.com/office/drawing/2014/main" id="{6FA1C812-01DE-5B09-D153-6ED31F41AAA2}"/>
              </a:ext>
            </a:extLst>
          </p:cNvPr>
          <p:cNvPicPr>
            <a:picLocks noChangeAspect="1"/>
          </p:cNvPicPr>
          <p:nvPr/>
        </p:nvPicPr>
        <p:blipFill rotWithShape="1">
          <a:blip r:embed="rId4"/>
          <a:srcRect l="35925" t="3163" r="33682"/>
          <a:stretch/>
        </p:blipFill>
        <p:spPr>
          <a:xfrm>
            <a:off x="7736843" y="1723905"/>
            <a:ext cx="3616957" cy="4072869"/>
          </a:xfrm>
          <a:prstGeom prst="rect">
            <a:avLst/>
          </a:prstGeom>
        </p:spPr>
      </p:pic>
      <p:pic>
        <p:nvPicPr>
          <p:cNvPr id="21" name="Imagen 20">
            <a:extLst>
              <a:ext uri="{FF2B5EF4-FFF2-40B4-BE49-F238E27FC236}">
                <a16:creationId xmlns:a16="http://schemas.microsoft.com/office/drawing/2014/main" id="{6E9862BC-87C5-46D0-D8AA-7257239FC6C4}"/>
              </a:ext>
            </a:extLst>
          </p:cNvPr>
          <p:cNvPicPr>
            <a:picLocks noChangeAspect="1"/>
          </p:cNvPicPr>
          <p:nvPr/>
        </p:nvPicPr>
        <p:blipFill rotWithShape="1">
          <a:blip r:embed="rId4"/>
          <a:srcRect l="684" t="3163" r="65547"/>
          <a:stretch/>
        </p:blipFill>
        <p:spPr>
          <a:xfrm>
            <a:off x="7685360" y="1567186"/>
            <a:ext cx="3674231" cy="3919214"/>
          </a:xfrm>
          <a:prstGeom prst="rect">
            <a:avLst/>
          </a:prstGeom>
        </p:spPr>
      </p:pic>
      <p:sp>
        <p:nvSpPr>
          <p:cNvPr id="4" name="CuadroTexto 3">
            <a:extLst>
              <a:ext uri="{FF2B5EF4-FFF2-40B4-BE49-F238E27FC236}">
                <a16:creationId xmlns:a16="http://schemas.microsoft.com/office/drawing/2014/main" id="{70D34A16-71AC-C7CA-654C-5140F3D4DD37}"/>
              </a:ext>
            </a:extLst>
          </p:cNvPr>
          <p:cNvSpPr txBox="1"/>
          <p:nvPr/>
        </p:nvSpPr>
        <p:spPr>
          <a:xfrm>
            <a:off x="1530905" y="781968"/>
            <a:ext cx="6096000" cy="319446"/>
          </a:xfrm>
          <a:prstGeom prst="rect">
            <a:avLst/>
          </a:prstGeom>
          <a:noFill/>
        </p:spPr>
        <p:txBody>
          <a:bodyPr wrap="square">
            <a:spAutoFit/>
          </a:bodyPr>
          <a:lstStyle/>
          <a:p>
            <a:pPr marL="0" indent="0" algn="just">
              <a:lnSpc>
                <a:spcPct val="80000"/>
              </a:lnSpc>
              <a:spcBef>
                <a:spcPts val="600"/>
              </a:spcBef>
              <a:spcAft>
                <a:spcPts val="600"/>
              </a:spcAft>
              <a:buNone/>
            </a:pPr>
            <a:r>
              <a:rPr lang="es-419" b="1" i="1" u="sng" dirty="0">
                <a:sym typeface="Calibri"/>
              </a:rPr>
              <a:t>Configuración del control de temperatura</a:t>
            </a:r>
            <a:endParaRPr lang="es-419" sz="1800" b="1" i="1" u="sng" dirty="0">
              <a:sym typeface="Calibri"/>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21"/>
                                        </p:tgtEl>
                                      </p:cBhvr>
                                    </p:animEffect>
                                    <p:set>
                                      <p:cBhvr>
                                        <p:cTn id="24" dur="1" fill="hold">
                                          <p:stCondLst>
                                            <p:cond delay="499"/>
                                          </p:stCondLst>
                                        </p:cTn>
                                        <p:tgtEl>
                                          <p:spTgt spid="2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20"/>
                                        </p:tgtEl>
                                      </p:cBhvr>
                                    </p:animEffect>
                                    <p:set>
                                      <p:cBhvr>
                                        <p:cTn id="33" dur="1" fill="hold">
                                          <p:stCondLst>
                                            <p:cond delay="499"/>
                                          </p:stCondLst>
                                        </p:cTn>
                                        <p:tgtEl>
                                          <p:spTgt spid="2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BAF5D-F339-CAC5-D2C2-6A336D90CA11}"/>
              </a:ext>
            </a:extLst>
          </p:cNvPr>
          <p:cNvSpPr>
            <a:spLocks noGrp="1"/>
          </p:cNvSpPr>
          <p:nvPr>
            <p:ph type="ctrTitle"/>
          </p:nvPr>
        </p:nvSpPr>
        <p:spPr>
          <a:xfrm>
            <a:off x="1806388" y="2891117"/>
            <a:ext cx="9144000" cy="874339"/>
          </a:xfrm>
        </p:spPr>
        <p:txBody>
          <a:bodyPr>
            <a:normAutofit fontScale="90000"/>
          </a:bodyPr>
          <a:lstStyle/>
          <a:p>
            <a:r>
              <a:rPr lang="es-BO" sz="3600" b="1" dirty="0">
                <a:latin typeface="Times New Roman" panose="02020603050405020304" pitchFamily="18" charset="0"/>
                <a:cs typeface="Times New Roman" panose="02020603050405020304" pitchFamily="18" charset="0"/>
              </a:rPr>
              <a:t>CONFIGURACIÓN DE CONTROLADOR DE TEMPERATURA</a:t>
            </a:r>
          </a:p>
        </p:txBody>
      </p:sp>
    </p:spTree>
    <p:extLst>
      <p:ext uri="{BB962C8B-B14F-4D97-AF65-F5344CB8AC3E}">
        <p14:creationId xmlns:p14="http://schemas.microsoft.com/office/powerpoint/2010/main" val="104921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uadroTexto 26">
            <a:extLst>
              <a:ext uri="{FF2B5EF4-FFF2-40B4-BE49-F238E27FC236}">
                <a16:creationId xmlns:a16="http://schemas.microsoft.com/office/drawing/2014/main" id="{345A8C04-F4BE-98A3-C9A7-31A4A31AD56E}"/>
              </a:ext>
            </a:extLst>
          </p:cNvPr>
          <p:cNvSpPr txBox="1"/>
          <p:nvPr/>
        </p:nvSpPr>
        <p:spPr>
          <a:xfrm>
            <a:off x="1157180" y="550791"/>
            <a:ext cx="9877639" cy="461665"/>
          </a:xfrm>
          <a:prstGeom prst="rect">
            <a:avLst/>
          </a:prstGeom>
          <a:noFill/>
        </p:spPr>
        <p:txBody>
          <a:bodyPr wrap="square" rtlCol="0">
            <a:spAutoFit/>
          </a:bodyPr>
          <a:lstStyle/>
          <a:p>
            <a:r>
              <a:rPr lang="es-BO" sz="2400" b="1" dirty="0">
                <a:solidFill>
                  <a:srgbClr val="002060"/>
                </a:solidFill>
              </a:rPr>
              <a:t>Entradas y salidas del controlador</a:t>
            </a:r>
          </a:p>
        </p:txBody>
      </p:sp>
      <p:grpSp>
        <p:nvGrpSpPr>
          <p:cNvPr id="29" name="Grupo 28">
            <a:extLst>
              <a:ext uri="{FF2B5EF4-FFF2-40B4-BE49-F238E27FC236}">
                <a16:creationId xmlns:a16="http://schemas.microsoft.com/office/drawing/2014/main" id="{71F91851-523C-382B-A4AB-81A66C2C8972}"/>
              </a:ext>
            </a:extLst>
          </p:cNvPr>
          <p:cNvGrpSpPr/>
          <p:nvPr/>
        </p:nvGrpSpPr>
        <p:grpSpPr>
          <a:xfrm>
            <a:off x="2484185" y="2366595"/>
            <a:ext cx="9479215" cy="3449121"/>
            <a:chOff x="2457264" y="2480551"/>
            <a:chExt cx="9479215" cy="3449121"/>
          </a:xfrm>
        </p:grpSpPr>
        <p:grpSp>
          <p:nvGrpSpPr>
            <p:cNvPr id="4" name="Grupo 3">
              <a:extLst>
                <a:ext uri="{FF2B5EF4-FFF2-40B4-BE49-F238E27FC236}">
                  <a16:creationId xmlns:a16="http://schemas.microsoft.com/office/drawing/2014/main" id="{77368F0A-FDDE-5770-CA73-EA38933EFF10}"/>
                </a:ext>
              </a:extLst>
            </p:cNvPr>
            <p:cNvGrpSpPr/>
            <p:nvPr/>
          </p:nvGrpSpPr>
          <p:grpSpPr>
            <a:xfrm>
              <a:off x="2457264" y="2480551"/>
              <a:ext cx="9479215" cy="3449121"/>
              <a:chOff x="0" y="75546"/>
              <a:chExt cx="4927188" cy="1859077"/>
            </a:xfrm>
          </p:grpSpPr>
          <p:pic>
            <p:nvPicPr>
              <p:cNvPr id="5" name="Imagen 4">
                <a:extLst>
                  <a:ext uri="{FF2B5EF4-FFF2-40B4-BE49-F238E27FC236}">
                    <a16:creationId xmlns:a16="http://schemas.microsoft.com/office/drawing/2014/main" id="{77A90052-31B2-562E-8C3A-6ED43D0704AD}"/>
                  </a:ext>
                </a:extLst>
              </p:cNvPr>
              <p:cNvPicPr>
                <a:picLocks noChangeAspect="1"/>
              </p:cNvPicPr>
              <p:nvPr/>
            </p:nvPicPr>
            <p:blipFill rotWithShape="1">
              <a:blip r:embed="rId3">
                <a:extLst>
                  <a:ext uri="{28A0092B-C50C-407E-A947-70E740481C1C}">
                    <a14:useLocalDpi xmlns:a14="http://schemas.microsoft.com/office/drawing/2010/main" val="0"/>
                  </a:ext>
                </a:extLst>
              </a:blip>
              <a:srcRect l="18883" r="40650" b="8154"/>
              <a:stretch/>
            </p:blipFill>
            <p:spPr bwMode="auto">
              <a:xfrm>
                <a:off x="790984" y="129026"/>
                <a:ext cx="2404745" cy="1543685"/>
              </a:xfrm>
              <a:prstGeom prst="rect">
                <a:avLst/>
              </a:prstGeom>
              <a:ln>
                <a:noFill/>
              </a:ln>
              <a:extLst>
                <a:ext uri="{53640926-AAD7-44D8-BBD7-CCE9431645EC}">
                  <a14:shadowObscured xmlns:a14="http://schemas.microsoft.com/office/drawing/2010/main"/>
                </a:ext>
              </a:extLst>
            </p:spPr>
          </p:pic>
          <p:sp>
            <p:nvSpPr>
              <p:cNvPr id="6" name="Cuadro de texto 1767598369">
                <a:extLst>
                  <a:ext uri="{FF2B5EF4-FFF2-40B4-BE49-F238E27FC236}">
                    <a16:creationId xmlns:a16="http://schemas.microsoft.com/office/drawing/2014/main" id="{1B1DCADA-D24E-3BAB-9D81-4D06F343D6A8}"/>
                  </a:ext>
                </a:extLst>
              </p:cNvPr>
              <p:cNvSpPr txBox="1"/>
              <p:nvPr/>
            </p:nvSpPr>
            <p:spPr>
              <a:xfrm>
                <a:off x="1054119" y="394765"/>
                <a:ext cx="789709" cy="190005"/>
              </a:xfrm>
              <a:prstGeom prst="rect">
                <a:avLst/>
              </a:prstGeom>
              <a:solidFill>
                <a:schemeClr val="accent6">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400" dirty="0">
                    <a:effectLst/>
                    <a:latin typeface="Calibri" panose="020F0502020204030204" pitchFamily="34" charset="0"/>
                    <a:ea typeface="Times New Roman" panose="02020603050405020304" pitchFamily="18" charset="0"/>
                  </a:rPr>
                  <a:t>Salida de control 1</a:t>
                </a:r>
                <a:endParaRPr lang="es-BO" sz="2400" dirty="0">
                  <a:effectLst/>
                  <a:latin typeface="Times New Roman" panose="02020603050405020304" pitchFamily="18" charset="0"/>
                  <a:ea typeface="Times New Roman" panose="02020603050405020304" pitchFamily="18" charset="0"/>
                </a:endParaRPr>
              </a:p>
            </p:txBody>
          </p:sp>
          <p:sp>
            <p:nvSpPr>
              <p:cNvPr id="7" name="Cuadro de texto 1767598370">
                <a:extLst>
                  <a:ext uri="{FF2B5EF4-FFF2-40B4-BE49-F238E27FC236}">
                    <a16:creationId xmlns:a16="http://schemas.microsoft.com/office/drawing/2014/main" id="{2EBB3448-BC07-7425-57F2-2DDF7B6A4340}"/>
                  </a:ext>
                </a:extLst>
              </p:cNvPr>
              <p:cNvSpPr txBox="1"/>
              <p:nvPr/>
            </p:nvSpPr>
            <p:spPr>
              <a:xfrm>
                <a:off x="0" y="1093914"/>
                <a:ext cx="748146" cy="190005"/>
              </a:xfrm>
              <a:prstGeom prst="rect">
                <a:avLst/>
              </a:prstGeom>
              <a:solidFill>
                <a:schemeClr val="accent4">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200" dirty="0">
                    <a:effectLst/>
                    <a:latin typeface="Calibri" panose="020F0502020204030204" pitchFamily="34" charset="0"/>
                    <a:ea typeface="Times New Roman" panose="02020603050405020304" pitchFamily="18" charset="0"/>
                  </a:rPr>
                  <a:t>Entrada analógica</a:t>
                </a:r>
                <a:endParaRPr lang="es-BO" sz="2000" dirty="0">
                  <a:effectLst/>
                  <a:latin typeface="Times New Roman" panose="02020603050405020304" pitchFamily="18" charset="0"/>
                  <a:ea typeface="Times New Roman" panose="02020603050405020304" pitchFamily="18" charset="0"/>
                </a:endParaRPr>
              </a:p>
            </p:txBody>
          </p:sp>
          <p:sp>
            <p:nvSpPr>
              <p:cNvPr id="8" name="Cuadro de texto 1767598371">
                <a:extLst>
                  <a:ext uri="{FF2B5EF4-FFF2-40B4-BE49-F238E27FC236}">
                    <a16:creationId xmlns:a16="http://schemas.microsoft.com/office/drawing/2014/main" id="{0BE2A77A-B1DD-A3A9-07D0-1068122D9712}"/>
                  </a:ext>
                </a:extLst>
              </p:cNvPr>
              <p:cNvSpPr txBox="1"/>
              <p:nvPr/>
            </p:nvSpPr>
            <p:spPr>
              <a:xfrm>
                <a:off x="3390214" y="75546"/>
                <a:ext cx="1307629" cy="190005"/>
              </a:xfrm>
              <a:prstGeom prst="rect">
                <a:avLst/>
              </a:prstGeom>
              <a:solidFill>
                <a:schemeClr val="accent2">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400" dirty="0">
                    <a:effectLst/>
                    <a:latin typeface="Calibri" panose="020F0502020204030204" pitchFamily="34" charset="0"/>
                    <a:ea typeface="Times New Roman" panose="02020603050405020304" pitchFamily="18" charset="0"/>
                  </a:rPr>
                  <a:t>Salida de la alarma</a:t>
                </a:r>
                <a:endParaRPr lang="es-BO" sz="1000" dirty="0">
                  <a:effectLst/>
                  <a:latin typeface="Times New Roman" panose="02020603050405020304" pitchFamily="18" charset="0"/>
                  <a:ea typeface="Times New Roman" panose="02020603050405020304" pitchFamily="18" charset="0"/>
                </a:endParaRPr>
              </a:p>
            </p:txBody>
          </p:sp>
          <p:cxnSp>
            <p:nvCxnSpPr>
              <p:cNvPr id="9" name="Conector recto 8">
                <a:extLst>
                  <a:ext uri="{FF2B5EF4-FFF2-40B4-BE49-F238E27FC236}">
                    <a16:creationId xmlns:a16="http://schemas.microsoft.com/office/drawing/2014/main" id="{17C13A8E-EA6C-B2ED-50A3-B293BD97F042}"/>
                  </a:ext>
                </a:extLst>
              </p:cNvPr>
              <p:cNvCxnSpPr/>
              <p:nvPr/>
            </p:nvCxnSpPr>
            <p:spPr>
              <a:xfrm flipV="1">
                <a:off x="3040520" y="332482"/>
                <a:ext cx="127066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Conector recto 9">
                <a:extLst>
                  <a:ext uri="{FF2B5EF4-FFF2-40B4-BE49-F238E27FC236}">
                    <a16:creationId xmlns:a16="http://schemas.microsoft.com/office/drawing/2014/main" id="{E86B53BC-1315-303C-0804-1C202141E50E}"/>
                  </a:ext>
                </a:extLst>
              </p:cNvPr>
              <p:cNvCxnSpPr/>
              <p:nvPr/>
            </p:nvCxnSpPr>
            <p:spPr>
              <a:xfrm flipV="1">
                <a:off x="3034910" y="897571"/>
                <a:ext cx="1270635"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Conector recto 10">
                <a:extLst>
                  <a:ext uri="{FF2B5EF4-FFF2-40B4-BE49-F238E27FC236}">
                    <a16:creationId xmlns:a16="http://schemas.microsoft.com/office/drawing/2014/main" id="{4D818A0E-955B-D52E-51D2-F429212FB63B}"/>
                  </a:ext>
                </a:extLst>
              </p:cNvPr>
              <p:cNvCxnSpPr/>
              <p:nvPr/>
            </p:nvCxnSpPr>
            <p:spPr>
              <a:xfrm>
                <a:off x="4313948" y="330980"/>
                <a:ext cx="0" cy="558140"/>
              </a:xfrm>
              <a:prstGeom prst="line">
                <a:avLst/>
              </a:prstGeom>
            </p:spPr>
            <p:style>
              <a:lnRef idx="3">
                <a:schemeClr val="accent2"/>
              </a:lnRef>
              <a:fillRef idx="0">
                <a:schemeClr val="accent2"/>
              </a:fillRef>
              <a:effectRef idx="2">
                <a:schemeClr val="accent2"/>
              </a:effectRef>
              <a:fontRef idx="minor">
                <a:schemeClr val="tx1"/>
              </a:fontRef>
            </p:style>
          </p:cxnSp>
          <p:sp>
            <p:nvSpPr>
              <p:cNvPr id="12" name="Cuadro de texto 1767598375">
                <a:extLst>
                  <a:ext uri="{FF2B5EF4-FFF2-40B4-BE49-F238E27FC236}">
                    <a16:creationId xmlns:a16="http://schemas.microsoft.com/office/drawing/2014/main" id="{901A1C89-62D4-5BE1-CA74-DFE92B3207EE}"/>
                  </a:ext>
                </a:extLst>
              </p:cNvPr>
              <p:cNvSpPr txBox="1"/>
              <p:nvPr/>
            </p:nvSpPr>
            <p:spPr>
              <a:xfrm>
                <a:off x="3887481" y="431956"/>
                <a:ext cx="932211" cy="190005"/>
              </a:xfrm>
              <a:prstGeom prst="rect">
                <a:avLst/>
              </a:prstGeom>
              <a:solidFill>
                <a:schemeClr val="accent2">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s-BO" sz="1400" dirty="0">
                    <a:effectLst/>
                    <a:latin typeface="Calibri" panose="020F0502020204030204" pitchFamily="34" charset="0"/>
                    <a:ea typeface="Times New Roman" panose="02020603050405020304" pitchFamily="18" charset="0"/>
                  </a:rPr>
                  <a:t>Salida de la alarma 2</a:t>
                </a:r>
                <a:endParaRPr lang="es-BO" sz="1400" dirty="0">
                  <a:effectLst/>
                  <a:latin typeface="Times New Roman" panose="02020603050405020304" pitchFamily="18" charset="0"/>
                  <a:ea typeface="Times New Roman" panose="02020603050405020304" pitchFamily="18" charset="0"/>
                </a:endParaRPr>
              </a:p>
            </p:txBody>
          </p:sp>
          <p:cxnSp>
            <p:nvCxnSpPr>
              <p:cNvPr id="13" name="Conector recto 12">
                <a:extLst>
                  <a:ext uri="{FF2B5EF4-FFF2-40B4-BE49-F238E27FC236}">
                    <a16:creationId xmlns:a16="http://schemas.microsoft.com/office/drawing/2014/main" id="{8B5141B4-2B84-81CE-A1F5-D59A4811A8C2}"/>
                  </a:ext>
                </a:extLst>
              </p:cNvPr>
              <p:cNvCxnSpPr/>
              <p:nvPr/>
            </p:nvCxnSpPr>
            <p:spPr>
              <a:xfrm>
                <a:off x="3051740" y="609967"/>
                <a:ext cx="23156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Conector recto 13">
                <a:extLst>
                  <a:ext uri="{FF2B5EF4-FFF2-40B4-BE49-F238E27FC236}">
                    <a16:creationId xmlns:a16="http://schemas.microsoft.com/office/drawing/2014/main" id="{4B621A76-2C82-AA15-C14C-50CF31B2FDF8}"/>
                  </a:ext>
                </a:extLst>
              </p:cNvPr>
              <p:cNvCxnSpPr/>
              <p:nvPr/>
            </p:nvCxnSpPr>
            <p:spPr>
              <a:xfrm flipH="1" flipV="1">
                <a:off x="3287352" y="600251"/>
                <a:ext cx="0" cy="290393"/>
              </a:xfrm>
              <a:prstGeom prst="line">
                <a:avLst/>
              </a:prstGeom>
            </p:spPr>
            <p:style>
              <a:lnRef idx="3">
                <a:schemeClr val="accent1"/>
              </a:lnRef>
              <a:fillRef idx="0">
                <a:schemeClr val="accent1"/>
              </a:fillRef>
              <a:effectRef idx="2">
                <a:schemeClr val="accent1"/>
              </a:effectRef>
              <a:fontRef idx="minor">
                <a:schemeClr val="tx1"/>
              </a:fontRef>
            </p:style>
          </p:cxnSp>
          <p:sp>
            <p:nvSpPr>
              <p:cNvPr id="15" name="Cuadro de texto 1767598378">
                <a:extLst>
                  <a:ext uri="{FF2B5EF4-FFF2-40B4-BE49-F238E27FC236}">
                    <a16:creationId xmlns:a16="http://schemas.microsoft.com/office/drawing/2014/main" id="{1A246398-ECE8-2D75-B4D6-D454A146ED55}"/>
                  </a:ext>
                </a:extLst>
              </p:cNvPr>
              <p:cNvSpPr txBox="1"/>
              <p:nvPr/>
            </p:nvSpPr>
            <p:spPr>
              <a:xfrm>
                <a:off x="3085820" y="661905"/>
                <a:ext cx="1010681" cy="183515"/>
              </a:xfrm>
              <a:prstGeom prst="rect">
                <a:avLst/>
              </a:prstGeom>
              <a:solidFill>
                <a:schemeClr val="accent2">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s-BO" sz="1400" dirty="0">
                    <a:effectLst/>
                    <a:latin typeface="Calibri" panose="020F0502020204030204" pitchFamily="34" charset="0"/>
                    <a:ea typeface="Times New Roman" panose="02020603050405020304" pitchFamily="18" charset="0"/>
                  </a:rPr>
                  <a:t>Salida auxiliar 1, alarma</a:t>
                </a:r>
                <a:endParaRPr lang="es-BO" sz="1400" dirty="0">
                  <a:effectLst/>
                  <a:latin typeface="Times New Roman" panose="02020603050405020304" pitchFamily="18" charset="0"/>
                  <a:ea typeface="Times New Roman" panose="02020603050405020304" pitchFamily="18" charset="0"/>
                </a:endParaRPr>
              </a:p>
            </p:txBody>
          </p:sp>
          <p:cxnSp>
            <p:nvCxnSpPr>
              <p:cNvPr id="16" name="Conector recto de flecha 15">
                <a:extLst>
                  <a:ext uri="{FF2B5EF4-FFF2-40B4-BE49-F238E27FC236}">
                    <a16:creationId xmlns:a16="http://schemas.microsoft.com/office/drawing/2014/main" id="{B50EAF63-2958-83D9-FCB0-9265262BB7DC}"/>
                  </a:ext>
                </a:extLst>
              </p:cNvPr>
              <p:cNvCxnSpPr/>
              <p:nvPr/>
            </p:nvCxnSpPr>
            <p:spPr>
              <a:xfrm flipH="1" flipV="1">
                <a:off x="3065843" y="1182435"/>
                <a:ext cx="925039" cy="0"/>
              </a:xfrm>
              <a:prstGeom prst="straightConnector1">
                <a:avLst/>
              </a:prstGeom>
              <a:ln w="28575">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7" name="Conector recto de flecha 16">
                <a:extLst>
                  <a:ext uri="{FF2B5EF4-FFF2-40B4-BE49-F238E27FC236}">
                    <a16:creationId xmlns:a16="http://schemas.microsoft.com/office/drawing/2014/main" id="{703CC035-2273-1CA3-C51B-4B4F89E6B5CD}"/>
                  </a:ext>
                </a:extLst>
              </p:cNvPr>
              <p:cNvCxnSpPr/>
              <p:nvPr/>
            </p:nvCxnSpPr>
            <p:spPr>
              <a:xfrm flipH="1" flipV="1">
                <a:off x="3048350" y="1467435"/>
                <a:ext cx="925039" cy="0"/>
              </a:xfrm>
              <a:prstGeom prst="straightConnector1">
                <a:avLst/>
              </a:prstGeom>
              <a:ln w="28575">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8" name="Conector recto 17">
                <a:extLst>
                  <a:ext uri="{FF2B5EF4-FFF2-40B4-BE49-F238E27FC236}">
                    <a16:creationId xmlns:a16="http://schemas.microsoft.com/office/drawing/2014/main" id="{C77DC758-47BB-5235-2C9C-38CAF234FEC5}"/>
                  </a:ext>
                </a:extLst>
              </p:cNvPr>
              <p:cNvCxnSpPr/>
              <p:nvPr/>
            </p:nvCxnSpPr>
            <p:spPr>
              <a:xfrm>
                <a:off x="3973970" y="1172452"/>
                <a:ext cx="0" cy="2952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Cuadro de texto 1767598382">
                <a:extLst>
                  <a:ext uri="{FF2B5EF4-FFF2-40B4-BE49-F238E27FC236}">
                    <a16:creationId xmlns:a16="http://schemas.microsoft.com/office/drawing/2014/main" id="{D11322C1-EDFF-EE61-7508-E84C1AC9053B}"/>
                  </a:ext>
                </a:extLst>
              </p:cNvPr>
              <p:cNvSpPr txBox="1"/>
              <p:nvPr/>
            </p:nvSpPr>
            <p:spPr>
              <a:xfrm>
                <a:off x="3130277" y="1228550"/>
                <a:ext cx="1796911" cy="182013"/>
              </a:xfrm>
              <a:prstGeom prst="rect">
                <a:avLst/>
              </a:prstGeom>
              <a:solidFill>
                <a:schemeClr val="accent2">
                  <a:lumMod val="20000"/>
                  <a:lumOff val="80000"/>
                </a:schemeClr>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200" b="1" dirty="0">
                    <a:effectLst/>
                    <a:latin typeface="Calibri" panose="020F0502020204030204" pitchFamily="34" charset="0"/>
                    <a:ea typeface="Times New Roman" panose="02020603050405020304" pitchFamily="18" charset="0"/>
                  </a:rPr>
                  <a:t>Fuente de alimentación de entrada 100 a 240 V CA</a:t>
                </a:r>
                <a:endParaRPr lang="es-BO" sz="2000" b="1" dirty="0">
                  <a:effectLst/>
                  <a:latin typeface="Times New Roman" panose="02020603050405020304" pitchFamily="18" charset="0"/>
                  <a:ea typeface="Times New Roman" panose="02020603050405020304" pitchFamily="18" charset="0"/>
                </a:endParaRPr>
              </a:p>
            </p:txBody>
          </p:sp>
          <p:sp>
            <p:nvSpPr>
              <p:cNvPr id="20" name="Cuadro de texto 1767598383">
                <a:extLst>
                  <a:ext uri="{FF2B5EF4-FFF2-40B4-BE49-F238E27FC236}">
                    <a16:creationId xmlns:a16="http://schemas.microsoft.com/office/drawing/2014/main" id="{ECC4611E-1BB1-C768-D5B9-D84E392C58DF}"/>
                  </a:ext>
                </a:extLst>
              </p:cNvPr>
              <p:cNvSpPr txBox="1"/>
              <p:nvPr/>
            </p:nvSpPr>
            <p:spPr>
              <a:xfrm>
                <a:off x="757325" y="920010"/>
                <a:ext cx="356259" cy="172192"/>
              </a:xfrm>
              <a:prstGeom prst="rect">
                <a:avLst/>
              </a:prstGeom>
              <a:solidFill>
                <a:schemeClr val="bg1"/>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600" dirty="0">
                    <a:effectLst/>
                    <a:latin typeface="Calibri" panose="020F0502020204030204" pitchFamily="34" charset="0"/>
                    <a:ea typeface="Times New Roman" panose="02020603050405020304" pitchFamily="18" charset="0"/>
                  </a:rPr>
                  <a:t>mA</a:t>
                </a:r>
                <a:endParaRPr lang="es-BO" sz="1600" dirty="0">
                  <a:effectLst/>
                  <a:latin typeface="Times New Roman" panose="02020603050405020304" pitchFamily="18" charset="0"/>
                  <a:ea typeface="Times New Roman" panose="02020603050405020304" pitchFamily="18" charset="0"/>
                </a:endParaRPr>
              </a:p>
            </p:txBody>
          </p:sp>
          <p:sp>
            <p:nvSpPr>
              <p:cNvPr id="21" name="Cuadro de texto 1767598384">
                <a:extLst>
                  <a:ext uri="{FF2B5EF4-FFF2-40B4-BE49-F238E27FC236}">
                    <a16:creationId xmlns:a16="http://schemas.microsoft.com/office/drawing/2014/main" id="{B107FBD1-1CBE-52ED-6F4A-9326FBBF7F13}"/>
                  </a:ext>
                </a:extLst>
              </p:cNvPr>
              <p:cNvSpPr txBox="1"/>
              <p:nvPr/>
            </p:nvSpPr>
            <p:spPr>
              <a:xfrm>
                <a:off x="1626846" y="1739043"/>
                <a:ext cx="273050" cy="195580"/>
              </a:xfrm>
              <a:prstGeom prst="rect">
                <a:avLst/>
              </a:prstGeom>
              <a:solidFill>
                <a:srgbClr val="00B0F0"/>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b="1" dirty="0">
                    <a:effectLst/>
                    <a:latin typeface="Calibri" panose="020F0502020204030204" pitchFamily="34" charset="0"/>
                    <a:ea typeface="Times New Roman" panose="02020603050405020304" pitchFamily="18" charset="0"/>
                  </a:rPr>
                  <a:t>Pt</a:t>
                </a:r>
                <a:endParaRPr lang="es-BO" sz="1600" b="1" dirty="0">
                  <a:effectLst/>
                  <a:latin typeface="Times New Roman" panose="02020603050405020304" pitchFamily="18" charset="0"/>
                  <a:ea typeface="Times New Roman" panose="02020603050405020304" pitchFamily="18" charset="0"/>
                </a:endParaRPr>
              </a:p>
            </p:txBody>
          </p:sp>
          <p:sp>
            <p:nvSpPr>
              <p:cNvPr id="22" name="Cuadro de texto 1767598385">
                <a:extLst>
                  <a:ext uri="{FF2B5EF4-FFF2-40B4-BE49-F238E27FC236}">
                    <a16:creationId xmlns:a16="http://schemas.microsoft.com/office/drawing/2014/main" id="{3E7C3CFB-ECD4-7A8F-5450-6D7895A04E9B}"/>
                  </a:ext>
                </a:extLst>
              </p:cNvPr>
              <p:cNvSpPr txBox="1"/>
              <p:nvPr/>
            </p:nvSpPr>
            <p:spPr>
              <a:xfrm>
                <a:off x="1247569" y="1610875"/>
                <a:ext cx="291697" cy="190005"/>
              </a:xfrm>
              <a:prstGeom prst="rect">
                <a:avLst/>
              </a:prstGeom>
              <a:solidFill>
                <a:srgbClr val="92D050"/>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s-BO" b="1" dirty="0">
                    <a:effectLst/>
                    <a:latin typeface="Calibri" panose="020F0502020204030204" pitchFamily="34" charset="0"/>
                    <a:ea typeface="Times New Roman" panose="02020603050405020304" pitchFamily="18" charset="0"/>
                  </a:rPr>
                  <a:t>TC</a:t>
                </a:r>
                <a:endParaRPr lang="es-BO" sz="3200" b="1" dirty="0">
                  <a:effectLst/>
                  <a:latin typeface="Times New Roman" panose="02020603050405020304" pitchFamily="18" charset="0"/>
                  <a:ea typeface="Times New Roman" panose="02020603050405020304" pitchFamily="18" charset="0"/>
                </a:endParaRPr>
              </a:p>
            </p:txBody>
          </p:sp>
          <p:cxnSp>
            <p:nvCxnSpPr>
              <p:cNvPr id="23" name="Conector recto de flecha 22">
                <a:extLst>
                  <a:ext uri="{FF2B5EF4-FFF2-40B4-BE49-F238E27FC236}">
                    <a16:creationId xmlns:a16="http://schemas.microsoft.com/office/drawing/2014/main" id="{441B9906-D9FA-151F-A7D6-27B3084F4288}"/>
                  </a:ext>
                </a:extLst>
              </p:cNvPr>
              <p:cNvCxnSpPr>
                <a:cxnSpLocks/>
              </p:cNvCxnSpPr>
              <p:nvPr/>
            </p:nvCxnSpPr>
            <p:spPr>
              <a:xfrm flipV="1">
                <a:off x="1402306" y="1507872"/>
                <a:ext cx="0" cy="107370"/>
              </a:xfrm>
              <a:prstGeom prst="straightConnector1">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E17E5380-7331-4EF9-1FC3-FC4A73EBCA63}"/>
                  </a:ext>
                </a:extLst>
              </p:cNvPr>
              <p:cNvCxnSpPr/>
              <p:nvPr/>
            </p:nvCxnSpPr>
            <p:spPr>
              <a:xfrm flipH="1" flipV="1">
                <a:off x="1747925" y="1507872"/>
                <a:ext cx="0" cy="23503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Cuadro de texto 1767598383">
              <a:extLst>
                <a:ext uri="{FF2B5EF4-FFF2-40B4-BE49-F238E27FC236}">
                  <a16:creationId xmlns:a16="http://schemas.microsoft.com/office/drawing/2014/main" id="{43A72B06-B658-2FE4-CCA0-EA19BDD128DD}"/>
                </a:ext>
              </a:extLst>
            </p:cNvPr>
            <p:cNvSpPr txBox="1"/>
            <p:nvPr/>
          </p:nvSpPr>
          <p:spPr>
            <a:xfrm>
              <a:off x="4051300" y="4692254"/>
              <a:ext cx="433940" cy="319466"/>
            </a:xfrm>
            <a:prstGeom prst="rect">
              <a:avLst/>
            </a:prstGeom>
            <a:solidFill>
              <a:schemeClr val="bg1"/>
            </a:solidFill>
            <a:ln w="6350">
              <a:solidFill>
                <a:schemeClr val="bg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s-BO" sz="1600" dirty="0">
                  <a:latin typeface="Calibri" panose="020F0502020204030204" pitchFamily="34" charset="0"/>
                  <a:ea typeface="Times New Roman" panose="02020603050405020304" pitchFamily="18" charset="0"/>
                </a:rPr>
                <a:t>V</a:t>
              </a:r>
              <a:endParaRPr lang="es-BO" sz="1600" dirty="0">
                <a:effectLst/>
                <a:latin typeface="Times New Roman" panose="02020603050405020304" pitchFamily="18" charset="0"/>
                <a:ea typeface="Times New Roman" panose="02020603050405020304" pitchFamily="18" charset="0"/>
              </a:endParaRPr>
            </a:p>
          </p:txBody>
        </p:sp>
      </p:grpSp>
      <p:sp>
        <p:nvSpPr>
          <p:cNvPr id="26" name="Forma libre: forma 25">
            <a:extLst>
              <a:ext uri="{FF2B5EF4-FFF2-40B4-BE49-F238E27FC236}">
                <a16:creationId xmlns:a16="http://schemas.microsoft.com/office/drawing/2014/main" id="{41D3F081-B89A-53B2-E436-86C37766D6A4}"/>
              </a:ext>
            </a:extLst>
          </p:cNvPr>
          <p:cNvSpPr/>
          <p:nvPr/>
        </p:nvSpPr>
        <p:spPr>
          <a:xfrm>
            <a:off x="4051300" y="2616200"/>
            <a:ext cx="463550" cy="584200"/>
          </a:xfrm>
          <a:custGeom>
            <a:avLst/>
            <a:gdLst>
              <a:gd name="connsiteX0" fmla="*/ 463550 w 463550"/>
              <a:gd name="connsiteY0" fmla="*/ 577850 h 584200"/>
              <a:gd name="connsiteX1" fmla="*/ 177800 w 463550"/>
              <a:gd name="connsiteY1" fmla="*/ 584200 h 584200"/>
              <a:gd name="connsiteX2" fmla="*/ 152400 w 463550"/>
              <a:gd name="connsiteY2" fmla="*/ 0 h 584200"/>
              <a:gd name="connsiteX3" fmla="*/ 0 w 463550"/>
              <a:gd name="connsiteY3" fmla="*/ 0 h 584200"/>
            </a:gdLst>
            <a:ahLst/>
            <a:cxnLst>
              <a:cxn ang="0">
                <a:pos x="connsiteX0" y="connsiteY0"/>
              </a:cxn>
              <a:cxn ang="0">
                <a:pos x="connsiteX1" y="connsiteY1"/>
              </a:cxn>
              <a:cxn ang="0">
                <a:pos x="connsiteX2" y="connsiteY2"/>
              </a:cxn>
              <a:cxn ang="0">
                <a:pos x="connsiteX3" y="connsiteY3"/>
              </a:cxn>
            </a:cxnLst>
            <a:rect l="l" t="t" r="r" b="b"/>
            <a:pathLst>
              <a:path w="463550" h="584200">
                <a:moveTo>
                  <a:pt x="463550" y="577850"/>
                </a:moveTo>
                <a:lnTo>
                  <a:pt x="177800" y="584200"/>
                </a:lnTo>
                <a:lnTo>
                  <a:pt x="152400" y="0"/>
                </a:lnTo>
                <a:lnTo>
                  <a:pt x="0" y="0"/>
                </a:lnTo>
              </a:path>
            </a:pathLst>
          </a:custGeom>
          <a:ln>
            <a:headEnd type="none" w="med" len="med"/>
            <a:tailEnd type="triangle" w="med" len="med"/>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s-BO"/>
          </a:p>
        </p:txBody>
      </p:sp>
      <p:sp>
        <p:nvSpPr>
          <p:cNvPr id="25" name="CuadroTexto 24">
            <a:extLst>
              <a:ext uri="{FF2B5EF4-FFF2-40B4-BE49-F238E27FC236}">
                <a16:creationId xmlns:a16="http://schemas.microsoft.com/office/drawing/2014/main" id="{0FE3C40D-F7C3-3C5E-3523-30976E3C3D0E}"/>
              </a:ext>
            </a:extLst>
          </p:cNvPr>
          <p:cNvSpPr txBox="1"/>
          <p:nvPr/>
        </p:nvSpPr>
        <p:spPr>
          <a:xfrm>
            <a:off x="1127249" y="2078855"/>
            <a:ext cx="2891673" cy="156966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s-BO" sz="1600" dirty="0"/>
              <a:t>Salidas de control 1</a:t>
            </a:r>
          </a:p>
          <a:p>
            <a:pPr marL="285750" indent="-285750">
              <a:buFont typeface="Wingdings" panose="05000000000000000000" pitchFamily="2" charset="2"/>
              <a:buChar char="Ø"/>
            </a:pPr>
            <a:r>
              <a:rPr lang="es-BO" sz="1600" dirty="0"/>
              <a:t>Salida del relé 250 V 3A(Carga Resistiva)</a:t>
            </a:r>
          </a:p>
          <a:p>
            <a:pPr marL="285750" indent="-285750">
              <a:buFont typeface="Wingdings" panose="05000000000000000000" pitchFamily="2" charset="2"/>
              <a:buChar char="Ø"/>
            </a:pPr>
            <a:r>
              <a:rPr lang="es-BO" sz="1600" dirty="0"/>
              <a:t>Salida de tensión 12V 21 mA</a:t>
            </a:r>
          </a:p>
          <a:p>
            <a:pPr marL="285750" indent="-285750">
              <a:buFont typeface="Wingdings" panose="05000000000000000000" pitchFamily="2" charset="2"/>
              <a:buChar char="Ø"/>
            </a:pPr>
            <a:r>
              <a:rPr lang="es-BO" sz="1600" dirty="0"/>
              <a:t>Salida de corriente: </a:t>
            </a:r>
            <a:r>
              <a:rPr lang="es-BO" sz="1600" b="1" i="1" dirty="0"/>
              <a:t>DC 4-20 mA </a:t>
            </a:r>
            <a:r>
              <a:rPr lang="es-BO" sz="1600" dirty="0"/>
              <a:t>y DC 0-20mA</a:t>
            </a:r>
          </a:p>
        </p:txBody>
      </p:sp>
    </p:spTree>
    <p:extLst>
      <p:ext uri="{BB962C8B-B14F-4D97-AF65-F5344CB8AC3E}">
        <p14:creationId xmlns:p14="http://schemas.microsoft.com/office/powerpoint/2010/main" val="96490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9FBFB3-DDF8-945A-F9A1-328B670AEE7E}"/>
              </a:ext>
            </a:extLst>
          </p:cNvPr>
          <p:cNvSpPr>
            <a:spLocks noGrp="1"/>
          </p:cNvSpPr>
          <p:nvPr>
            <p:ph type="title"/>
          </p:nvPr>
        </p:nvSpPr>
        <p:spPr>
          <a:xfrm>
            <a:off x="1285693" y="208612"/>
            <a:ext cx="9873349" cy="589616"/>
          </a:xfrm>
        </p:spPr>
        <p:txBody>
          <a:bodyPr>
            <a:normAutofit/>
          </a:bodyPr>
          <a:lstStyle/>
          <a:p>
            <a:pPr algn="l"/>
            <a:r>
              <a:rPr lang="es-BO" sz="2200" b="1" dirty="0">
                <a:solidFill>
                  <a:srgbClr val="002060"/>
                </a:solidFill>
              </a:rPr>
              <a:t>Configuración PID</a:t>
            </a:r>
          </a:p>
        </p:txBody>
      </p:sp>
      <p:pic>
        <p:nvPicPr>
          <p:cNvPr id="5" name="Imagen 4">
            <a:extLst>
              <a:ext uri="{FF2B5EF4-FFF2-40B4-BE49-F238E27FC236}">
                <a16:creationId xmlns:a16="http://schemas.microsoft.com/office/drawing/2014/main" id="{91EDD425-E363-163F-53C1-3EF359ED67EE}"/>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40509" t="41007" r="38039" b="39937"/>
          <a:stretch/>
        </p:blipFill>
        <p:spPr>
          <a:xfrm>
            <a:off x="2702001" y="1849965"/>
            <a:ext cx="1231384" cy="802369"/>
          </a:xfrm>
          <a:prstGeom prst="rect">
            <a:avLst/>
          </a:prstGeom>
        </p:spPr>
      </p:pic>
      <p:sp>
        <p:nvSpPr>
          <p:cNvPr id="6" name="Rectángulo: esquinas redondeadas 5">
            <a:extLst>
              <a:ext uri="{FF2B5EF4-FFF2-40B4-BE49-F238E27FC236}">
                <a16:creationId xmlns:a16="http://schemas.microsoft.com/office/drawing/2014/main" id="{97767D84-277A-E105-82A7-2A9E3BA8A970}"/>
              </a:ext>
            </a:extLst>
          </p:cNvPr>
          <p:cNvSpPr/>
          <p:nvPr/>
        </p:nvSpPr>
        <p:spPr>
          <a:xfrm>
            <a:off x="1815465" y="954742"/>
            <a:ext cx="2946400" cy="34718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BO" sz="2000" b="1" dirty="0"/>
              <a:t>Encendido</a:t>
            </a:r>
          </a:p>
        </p:txBody>
      </p:sp>
      <p:sp>
        <p:nvSpPr>
          <p:cNvPr id="7" name="Flecha: hacia abajo 6">
            <a:extLst>
              <a:ext uri="{FF2B5EF4-FFF2-40B4-BE49-F238E27FC236}">
                <a16:creationId xmlns:a16="http://schemas.microsoft.com/office/drawing/2014/main" id="{49B408F3-8BBC-85AD-D05D-0205DD3C76A2}"/>
              </a:ext>
            </a:extLst>
          </p:cNvPr>
          <p:cNvSpPr/>
          <p:nvPr/>
        </p:nvSpPr>
        <p:spPr>
          <a:xfrm>
            <a:off x="3187065" y="1333928"/>
            <a:ext cx="261257" cy="369261"/>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a:p>
        </p:txBody>
      </p:sp>
      <p:sp>
        <p:nvSpPr>
          <p:cNvPr id="8" name="Rectángulo: esquinas redondeadas 7">
            <a:extLst>
              <a:ext uri="{FF2B5EF4-FFF2-40B4-BE49-F238E27FC236}">
                <a16:creationId xmlns:a16="http://schemas.microsoft.com/office/drawing/2014/main" id="{987B0316-12E5-82DC-3480-B1C512346EE3}"/>
              </a:ext>
            </a:extLst>
          </p:cNvPr>
          <p:cNvSpPr/>
          <p:nvPr/>
        </p:nvSpPr>
        <p:spPr>
          <a:xfrm>
            <a:off x="1285693" y="1746682"/>
            <a:ext cx="4064000" cy="1000121"/>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sp>
        <p:nvSpPr>
          <p:cNvPr id="9" name="CuadroTexto 8">
            <a:extLst>
              <a:ext uri="{FF2B5EF4-FFF2-40B4-BE49-F238E27FC236}">
                <a16:creationId xmlns:a16="http://schemas.microsoft.com/office/drawing/2014/main" id="{8050DE0B-C86D-C782-74CB-6ECB31FB46AD}"/>
              </a:ext>
            </a:extLst>
          </p:cNvPr>
          <p:cNvSpPr txBox="1"/>
          <p:nvPr/>
        </p:nvSpPr>
        <p:spPr>
          <a:xfrm>
            <a:off x="410547" y="1349281"/>
            <a:ext cx="2833798" cy="338554"/>
          </a:xfrm>
          <a:prstGeom prst="rect">
            <a:avLst/>
          </a:prstGeom>
          <a:noFill/>
        </p:spPr>
        <p:txBody>
          <a:bodyPr wrap="square" rtlCol="0">
            <a:spAutoFit/>
          </a:bodyPr>
          <a:lstStyle/>
          <a:p>
            <a:pPr algn="ctr"/>
            <a:r>
              <a:rPr lang="es-BO" sz="1600" dirty="0"/>
              <a:t>Operación grupo de funciones</a:t>
            </a:r>
          </a:p>
        </p:txBody>
      </p:sp>
      <p:sp>
        <p:nvSpPr>
          <p:cNvPr id="10" name="Flecha: hacia abajo 9">
            <a:extLst>
              <a:ext uri="{FF2B5EF4-FFF2-40B4-BE49-F238E27FC236}">
                <a16:creationId xmlns:a16="http://schemas.microsoft.com/office/drawing/2014/main" id="{9F83A48A-E8F4-BE6A-F6FA-8982746D04F1}"/>
              </a:ext>
            </a:extLst>
          </p:cNvPr>
          <p:cNvSpPr/>
          <p:nvPr/>
        </p:nvSpPr>
        <p:spPr>
          <a:xfrm>
            <a:off x="3172552" y="2784569"/>
            <a:ext cx="345982" cy="406994"/>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a:p>
        </p:txBody>
      </p:sp>
      <p:sp>
        <p:nvSpPr>
          <p:cNvPr id="11" name="Rectángulo: esquinas redondeadas 10">
            <a:extLst>
              <a:ext uri="{FF2B5EF4-FFF2-40B4-BE49-F238E27FC236}">
                <a16:creationId xmlns:a16="http://schemas.microsoft.com/office/drawing/2014/main" id="{D53F50F2-3E3D-2E84-B782-CF7F4E10F12E}"/>
              </a:ext>
            </a:extLst>
          </p:cNvPr>
          <p:cNvSpPr/>
          <p:nvPr/>
        </p:nvSpPr>
        <p:spPr>
          <a:xfrm>
            <a:off x="1053340" y="3201518"/>
            <a:ext cx="4781548" cy="3656482"/>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grpSp>
        <p:nvGrpSpPr>
          <p:cNvPr id="12" name="Grupo 11">
            <a:extLst>
              <a:ext uri="{FF2B5EF4-FFF2-40B4-BE49-F238E27FC236}">
                <a16:creationId xmlns:a16="http://schemas.microsoft.com/office/drawing/2014/main" id="{E16FE515-8489-B799-68D5-6BF8FC1986D3}"/>
              </a:ext>
            </a:extLst>
          </p:cNvPr>
          <p:cNvGrpSpPr/>
          <p:nvPr/>
        </p:nvGrpSpPr>
        <p:grpSpPr>
          <a:xfrm>
            <a:off x="3412944" y="2785685"/>
            <a:ext cx="2097995" cy="338554"/>
            <a:chOff x="6096000" y="3557609"/>
            <a:chExt cx="2097995" cy="338554"/>
          </a:xfrm>
        </p:grpSpPr>
        <p:sp>
          <p:nvSpPr>
            <p:cNvPr id="13" name="CuadroTexto 12">
              <a:extLst>
                <a:ext uri="{FF2B5EF4-FFF2-40B4-BE49-F238E27FC236}">
                  <a16:creationId xmlns:a16="http://schemas.microsoft.com/office/drawing/2014/main" id="{24F83863-500A-D2A9-0940-E9E82E59BEC8}"/>
                </a:ext>
              </a:extLst>
            </p:cNvPr>
            <p:cNvSpPr txBox="1"/>
            <p:nvPr/>
          </p:nvSpPr>
          <p:spPr>
            <a:xfrm>
              <a:off x="6096000" y="3557609"/>
              <a:ext cx="2097995" cy="338554"/>
            </a:xfrm>
            <a:prstGeom prst="rect">
              <a:avLst/>
            </a:prstGeom>
            <a:noFill/>
          </p:spPr>
          <p:txBody>
            <a:bodyPr wrap="square" rtlCol="0">
              <a:spAutoFit/>
            </a:bodyPr>
            <a:lstStyle/>
            <a:p>
              <a:pPr algn="ctr"/>
              <a:r>
                <a:rPr lang="es-BO" sz="1600" dirty="0"/>
                <a:t>Presione        por 4 </a:t>
              </a:r>
              <a:r>
                <a:rPr lang="es-BO" sz="1600" dirty="0" err="1"/>
                <a:t>seg</a:t>
              </a:r>
              <a:r>
                <a:rPr lang="es-BO" sz="1600" dirty="0"/>
                <a:t>.</a:t>
              </a:r>
            </a:p>
          </p:txBody>
        </p:sp>
        <p:grpSp>
          <p:nvGrpSpPr>
            <p:cNvPr id="14" name="Grupo 13">
              <a:extLst>
                <a:ext uri="{FF2B5EF4-FFF2-40B4-BE49-F238E27FC236}">
                  <a16:creationId xmlns:a16="http://schemas.microsoft.com/office/drawing/2014/main" id="{716385DE-37DE-5E40-2B75-AAF1A8515CE6}"/>
                </a:ext>
              </a:extLst>
            </p:cNvPr>
            <p:cNvGrpSpPr/>
            <p:nvPr/>
          </p:nvGrpSpPr>
          <p:grpSpPr>
            <a:xfrm>
              <a:off x="6939353" y="3583874"/>
              <a:ext cx="345982" cy="290562"/>
              <a:chOff x="7374117" y="3549482"/>
              <a:chExt cx="433612" cy="369332"/>
            </a:xfrm>
          </p:grpSpPr>
          <p:sp>
            <p:nvSpPr>
              <p:cNvPr id="15" name="Rectángulo 14">
                <a:extLst>
                  <a:ext uri="{FF2B5EF4-FFF2-40B4-BE49-F238E27FC236}">
                    <a16:creationId xmlns:a16="http://schemas.microsoft.com/office/drawing/2014/main" id="{D247A16D-7673-0611-54F8-82F2EDDCEEB3}"/>
                  </a:ext>
                </a:extLst>
              </p:cNvPr>
              <p:cNvSpPr/>
              <p:nvPr/>
            </p:nvSpPr>
            <p:spPr>
              <a:xfrm>
                <a:off x="7374117" y="3549552"/>
                <a:ext cx="433612" cy="369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16" name="Elipse 15">
                <a:extLst>
                  <a:ext uri="{FF2B5EF4-FFF2-40B4-BE49-F238E27FC236}">
                    <a16:creationId xmlns:a16="http://schemas.microsoft.com/office/drawing/2014/main" id="{24FC8D48-A2EC-5E3F-1EFA-1C81B5815538}"/>
                  </a:ext>
                </a:extLst>
              </p:cNvPr>
              <p:cNvSpPr/>
              <p:nvPr/>
            </p:nvSpPr>
            <p:spPr>
              <a:xfrm>
                <a:off x="7408157" y="3549482"/>
                <a:ext cx="364333" cy="3692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grpSp>
      </p:grpSp>
      <p:sp>
        <p:nvSpPr>
          <p:cNvPr id="17" name="CuadroTexto 16">
            <a:extLst>
              <a:ext uri="{FF2B5EF4-FFF2-40B4-BE49-F238E27FC236}">
                <a16:creationId xmlns:a16="http://schemas.microsoft.com/office/drawing/2014/main" id="{3326C514-C38F-FF7F-0922-B9D3E8FFF01D}"/>
              </a:ext>
            </a:extLst>
          </p:cNvPr>
          <p:cNvSpPr txBox="1"/>
          <p:nvPr/>
        </p:nvSpPr>
        <p:spPr>
          <a:xfrm>
            <a:off x="433555" y="2824081"/>
            <a:ext cx="2753510" cy="338554"/>
          </a:xfrm>
          <a:prstGeom prst="rect">
            <a:avLst/>
          </a:prstGeom>
          <a:noFill/>
        </p:spPr>
        <p:txBody>
          <a:bodyPr wrap="square" rtlCol="0">
            <a:spAutoFit/>
          </a:bodyPr>
          <a:lstStyle/>
          <a:p>
            <a:pPr algn="ctr"/>
            <a:r>
              <a:rPr lang="es-BO" sz="1600" dirty="0"/>
              <a:t>Ajuste inicial, grupo de función</a:t>
            </a:r>
          </a:p>
        </p:txBody>
      </p:sp>
      <p:sp>
        <p:nvSpPr>
          <p:cNvPr id="18" name="CuadroTexto 17">
            <a:extLst>
              <a:ext uri="{FF2B5EF4-FFF2-40B4-BE49-F238E27FC236}">
                <a16:creationId xmlns:a16="http://schemas.microsoft.com/office/drawing/2014/main" id="{B6BC6E31-059C-3504-19EE-137A029F8124}"/>
              </a:ext>
            </a:extLst>
          </p:cNvPr>
          <p:cNvSpPr txBox="1"/>
          <p:nvPr/>
        </p:nvSpPr>
        <p:spPr>
          <a:xfrm>
            <a:off x="3982135" y="3436031"/>
            <a:ext cx="1377089" cy="523220"/>
          </a:xfrm>
          <a:prstGeom prst="rect">
            <a:avLst/>
          </a:prstGeom>
          <a:noFill/>
        </p:spPr>
        <p:txBody>
          <a:bodyPr wrap="square" rtlCol="0">
            <a:spAutoFit/>
          </a:bodyPr>
          <a:lstStyle/>
          <a:p>
            <a:pPr algn="ctr"/>
            <a:r>
              <a:rPr lang="es-BO" sz="1400" dirty="0"/>
              <a:t>Tipo de entrada: 1 para el RTD</a:t>
            </a:r>
          </a:p>
        </p:txBody>
      </p:sp>
      <p:grpSp>
        <p:nvGrpSpPr>
          <p:cNvPr id="19" name="Grupo 18">
            <a:extLst>
              <a:ext uri="{FF2B5EF4-FFF2-40B4-BE49-F238E27FC236}">
                <a16:creationId xmlns:a16="http://schemas.microsoft.com/office/drawing/2014/main" id="{C52EE1F0-D16A-DDB6-3AF3-0BFC0D269723}"/>
              </a:ext>
            </a:extLst>
          </p:cNvPr>
          <p:cNvGrpSpPr/>
          <p:nvPr/>
        </p:nvGrpSpPr>
        <p:grpSpPr>
          <a:xfrm>
            <a:off x="1127760" y="3268979"/>
            <a:ext cx="1576654" cy="954107"/>
            <a:chOff x="2329223" y="4678748"/>
            <a:chExt cx="1377089" cy="954107"/>
          </a:xfrm>
        </p:grpSpPr>
        <p:sp>
          <p:nvSpPr>
            <p:cNvPr id="20" name="CuadroTexto 19">
              <a:extLst>
                <a:ext uri="{FF2B5EF4-FFF2-40B4-BE49-F238E27FC236}">
                  <a16:creationId xmlns:a16="http://schemas.microsoft.com/office/drawing/2014/main" id="{18C753D6-01F1-F8DF-4D4C-7A2B6984FB3B}"/>
                </a:ext>
              </a:extLst>
            </p:cNvPr>
            <p:cNvSpPr txBox="1"/>
            <p:nvPr/>
          </p:nvSpPr>
          <p:spPr>
            <a:xfrm>
              <a:off x="2329223" y="4678748"/>
              <a:ext cx="1377089" cy="954107"/>
            </a:xfrm>
            <a:prstGeom prst="rect">
              <a:avLst/>
            </a:prstGeom>
            <a:noFill/>
          </p:spPr>
          <p:txBody>
            <a:bodyPr wrap="square" rtlCol="0">
              <a:spAutoFit/>
            </a:bodyPr>
            <a:lstStyle/>
            <a:p>
              <a:pPr algn="ctr"/>
              <a:r>
                <a:rPr lang="es-BO" sz="1400" dirty="0"/>
                <a:t>Usar </a:t>
              </a:r>
              <a:r>
                <a:rPr lang="es-BO" sz="1400" dirty="0" err="1"/>
                <a:t>jnj</a:t>
              </a:r>
              <a:r>
                <a:rPr lang="es-BO" sz="1400" dirty="0"/>
                <a:t>  y </a:t>
              </a:r>
              <a:r>
                <a:rPr lang="es-BO" sz="1400" dirty="0" err="1"/>
                <a:t>knl</a:t>
              </a:r>
              <a:r>
                <a:rPr lang="es-BO" sz="1400" dirty="0"/>
                <a:t>       para seleccionar el tipo de entrada </a:t>
              </a:r>
            </a:p>
          </p:txBody>
        </p:sp>
        <p:grpSp>
          <p:nvGrpSpPr>
            <p:cNvPr id="21" name="Grupo 20">
              <a:extLst>
                <a:ext uri="{FF2B5EF4-FFF2-40B4-BE49-F238E27FC236}">
                  <a16:creationId xmlns:a16="http://schemas.microsoft.com/office/drawing/2014/main" id="{C88251E7-6541-7A66-3BE3-88DF6F39DBBE}"/>
                </a:ext>
              </a:extLst>
            </p:cNvPr>
            <p:cNvGrpSpPr/>
            <p:nvPr/>
          </p:nvGrpSpPr>
          <p:grpSpPr>
            <a:xfrm>
              <a:off x="2897376" y="4755964"/>
              <a:ext cx="583738" cy="175743"/>
              <a:chOff x="2897376" y="4755964"/>
              <a:chExt cx="583738" cy="175743"/>
            </a:xfrm>
          </p:grpSpPr>
          <p:grpSp>
            <p:nvGrpSpPr>
              <p:cNvPr id="22" name="Grupo 21">
                <a:extLst>
                  <a:ext uri="{FF2B5EF4-FFF2-40B4-BE49-F238E27FC236}">
                    <a16:creationId xmlns:a16="http://schemas.microsoft.com/office/drawing/2014/main" id="{1BBC47CF-5F2E-D30C-CBFA-3AD52F4EEB99}"/>
                  </a:ext>
                </a:extLst>
              </p:cNvPr>
              <p:cNvGrpSpPr/>
              <p:nvPr/>
            </p:nvGrpSpPr>
            <p:grpSpPr>
              <a:xfrm>
                <a:off x="2897376" y="4769694"/>
                <a:ext cx="224960" cy="162013"/>
                <a:chOff x="1133475" y="3000375"/>
                <a:chExt cx="360000" cy="280988"/>
              </a:xfrm>
            </p:grpSpPr>
            <p:sp>
              <p:nvSpPr>
                <p:cNvPr id="27" name="Rectángulo 26">
                  <a:extLst>
                    <a:ext uri="{FF2B5EF4-FFF2-40B4-BE49-F238E27FC236}">
                      <a16:creationId xmlns:a16="http://schemas.microsoft.com/office/drawing/2014/main" id="{2818352A-312A-2186-3186-42B61397DC9F}"/>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28" name="Forma libre: forma 27">
                  <a:extLst>
                    <a:ext uri="{FF2B5EF4-FFF2-40B4-BE49-F238E27FC236}">
                      <a16:creationId xmlns:a16="http://schemas.microsoft.com/office/drawing/2014/main" id="{66F65A2A-73E0-9C15-D429-ABE491EF907C}"/>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29" name="Forma libre: forma 28">
                  <a:extLst>
                    <a:ext uri="{FF2B5EF4-FFF2-40B4-BE49-F238E27FC236}">
                      <a16:creationId xmlns:a16="http://schemas.microsoft.com/office/drawing/2014/main" id="{4E27A781-F28F-16A8-259A-261425346F42}"/>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nvGrpSpPr>
              <p:cNvPr id="23" name="Grupo 22">
                <a:extLst>
                  <a:ext uri="{FF2B5EF4-FFF2-40B4-BE49-F238E27FC236}">
                    <a16:creationId xmlns:a16="http://schemas.microsoft.com/office/drawing/2014/main" id="{F0E724AC-C785-524B-01AB-56530416A95D}"/>
                  </a:ext>
                </a:extLst>
              </p:cNvPr>
              <p:cNvGrpSpPr/>
              <p:nvPr/>
            </p:nvGrpSpPr>
            <p:grpSpPr>
              <a:xfrm rot="10800000">
                <a:off x="3256152" y="4755964"/>
                <a:ext cx="224962" cy="162013"/>
                <a:chOff x="1203369" y="3000375"/>
                <a:chExt cx="360000" cy="280988"/>
              </a:xfrm>
            </p:grpSpPr>
            <p:sp>
              <p:nvSpPr>
                <p:cNvPr id="24" name="Rectángulo 23">
                  <a:extLst>
                    <a:ext uri="{FF2B5EF4-FFF2-40B4-BE49-F238E27FC236}">
                      <a16:creationId xmlns:a16="http://schemas.microsoft.com/office/drawing/2014/main" id="{EFBE5EB6-1ED6-29F0-9C60-CECF7D0B864B}"/>
                    </a:ext>
                  </a:extLst>
                </p:cNvPr>
                <p:cNvSpPr/>
                <p:nvPr/>
              </p:nvSpPr>
              <p:spPr>
                <a:xfrm>
                  <a:off x="1203369"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25" name="Forma libre: forma 24">
                  <a:extLst>
                    <a:ext uri="{FF2B5EF4-FFF2-40B4-BE49-F238E27FC236}">
                      <a16:creationId xmlns:a16="http://schemas.microsoft.com/office/drawing/2014/main" id="{2400E85F-4C6A-2804-F70B-B71336CB3FB1}"/>
                    </a:ext>
                  </a:extLst>
                </p:cNvPr>
                <p:cNvSpPr/>
                <p:nvPr/>
              </p:nvSpPr>
              <p:spPr>
                <a:xfrm>
                  <a:off x="1226718" y="3038474"/>
                  <a:ext cx="290510" cy="157164"/>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26" name="Forma libre: forma 25">
                  <a:extLst>
                    <a:ext uri="{FF2B5EF4-FFF2-40B4-BE49-F238E27FC236}">
                      <a16:creationId xmlns:a16="http://schemas.microsoft.com/office/drawing/2014/main" id="{5441D96A-3008-17A4-A4FA-C30DC3B0BE97}"/>
                    </a:ext>
                  </a:extLst>
                </p:cNvPr>
                <p:cNvSpPr/>
                <p:nvPr/>
              </p:nvSpPr>
              <p:spPr>
                <a:xfrm>
                  <a:off x="1227146" y="3078926"/>
                  <a:ext cx="290514" cy="157164"/>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grpSp>
      <p:sp>
        <p:nvSpPr>
          <p:cNvPr id="30" name="Flecha: hacia abajo 29">
            <a:extLst>
              <a:ext uri="{FF2B5EF4-FFF2-40B4-BE49-F238E27FC236}">
                <a16:creationId xmlns:a16="http://schemas.microsoft.com/office/drawing/2014/main" id="{D233841A-A7C6-7496-123F-F1770B20BE25}"/>
              </a:ext>
            </a:extLst>
          </p:cNvPr>
          <p:cNvSpPr/>
          <p:nvPr/>
        </p:nvSpPr>
        <p:spPr>
          <a:xfrm>
            <a:off x="8498259" y="3392815"/>
            <a:ext cx="261257" cy="654279"/>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dirty="0"/>
          </a:p>
        </p:txBody>
      </p:sp>
      <p:sp>
        <p:nvSpPr>
          <p:cNvPr id="34" name="CuadroTexto 33">
            <a:extLst>
              <a:ext uri="{FF2B5EF4-FFF2-40B4-BE49-F238E27FC236}">
                <a16:creationId xmlns:a16="http://schemas.microsoft.com/office/drawing/2014/main" id="{EB27110A-4AB1-2988-6791-0ADF6221924D}"/>
              </a:ext>
            </a:extLst>
          </p:cNvPr>
          <p:cNvSpPr txBox="1"/>
          <p:nvPr/>
        </p:nvSpPr>
        <p:spPr>
          <a:xfrm>
            <a:off x="4562202" y="2134646"/>
            <a:ext cx="787491" cy="338554"/>
          </a:xfrm>
          <a:prstGeom prst="rect">
            <a:avLst/>
          </a:prstGeom>
          <a:noFill/>
        </p:spPr>
        <p:txBody>
          <a:bodyPr wrap="square" rtlCol="0">
            <a:spAutoFit/>
          </a:bodyPr>
          <a:lstStyle/>
          <a:p>
            <a:pPr algn="ctr"/>
            <a:r>
              <a:rPr lang="es-BO" sz="1600" dirty="0"/>
              <a:t>VP/SP</a:t>
            </a:r>
          </a:p>
        </p:txBody>
      </p:sp>
      <p:grpSp>
        <p:nvGrpSpPr>
          <p:cNvPr id="42" name="Grupo 41">
            <a:extLst>
              <a:ext uri="{FF2B5EF4-FFF2-40B4-BE49-F238E27FC236}">
                <a16:creationId xmlns:a16="http://schemas.microsoft.com/office/drawing/2014/main" id="{6DEC3E0F-4B4D-1312-FF09-8096EF80E2D9}"/>
              </a:ext>
            </a:extLst>
          </p:cNvPr>
          <p:cNvGrpSpPr/>
          <p:nvPr/>
        </p:nvGrpSpPr>
        <p:grpSpPr>
          <a:xfrm>
            <a:off x="2654730" y="3268979"/>
            <a:ext cx="1377089" cy="874351"/>
            <a:chOff x="2365170" y="3428999"/>
            <a:chExt cx="1377089" cy="874351"/>
          </a:xfrm>
        </p:grpSpPr>
        <p:grpSp>
          <p:nvGrpSpPr>
            <p:cNvPr id="39" name="Grupo 38">
              <a:extLst>
                <a:ext uri="{FF2B5EF4-FFF2-40B4-BE49-F238E27FC236}">
                  <a16:creationId xmlns:a16="http://schemas.microsoft.com/office/drawing/2014/main" id="{12B32F6E-9C8E-9C99-F5A4-4B19F01CDE6B}"/>
                </a:ext>
              </a:extLst>
            </p:cNvPr>
            <p:cNvGrpSpPr/>
            <p:nvPr/>
          </p:nvGrpSpPr>
          <p:grpSpPr>
            <a:xfrm>
              <a:off x="2365170" y="3428999"/>
              <a:ext cx="1377089" cy="874351"/>
              <a:chOff x="2365170" y="3428999"/>
              <a:chExt cx="1377089" cy="874351"/>
            </a:xfrm>
          </p:grpSpPr>
          <p:pic>
            <p:nvPicPr>
              <p:cNvPr id="37" name="Imagen 36">
                <a:extLst>
                  <a:ext uri="{FF2B5EF4-FFF2-40B4-BE49-F238E27FC236}">
                    <a16:creationId xmlns:a16="http://schemas.microsoft.com/office/drawing/2014/main" id="{8EDBEE81-EB5D-3195-EBDE-96EAF09903FE}"/>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37367" t="21185" r="41936" b="60423"/>
              <a:stretch/>
            </p:blipFill>
            <p:spPr>
              <a:xfrm>
                <a:off x="2365170" y="3428999"/>
                <a:ext cx="1377089" cy="874351"/>
              </a:xfrm>
              <a:prstGeom prst="rect">
                <a:avLst/>
              </a:prstGeom>
            </p:spPr>
          </p:pic>
          <p:sp>
            <p:nvSpPr>
              <p:cNvPr id="38" name="CuadroTexto 37">
                <a:extLst>
                  <a:ext uri="{FF2B5EF4-FFF2-40B4-BE49-F238E27FC236}">
                    <a16:creationId xmlns:a16="http://schemas.microsoft.com/office/drawing/2014/main" id="{1DA1290A-8696-8AB2-5400-A14CB413F340}"/>
                  </a:ext>
                </a:extLst>
              </p:cNvPr>
              <p:cNvSpPr txBox="1"/>
              <p:nvPr/>
            </p:nvSpPr>
            <p:spPr>
              <a:xfrm>
                <a:off x="3373994" y="3898106"/>
                <a:ext cx="209769" cy="25497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s-BO" sz="1400" dirty="0"/>
              </a:p>
            </p:txBody>
          </p:sp>
        </p:grpSp>
        <p:sp>
          <p:nvSpPr>
            <p:cNvPr id="40" name="CuadroTexto 39">
              <a:extLst>
                <a:ext uri="{FF2B5EF4-FFF2-40B4-BE49-F238E27FC236}">
                  <a16:creationId xmlns:a16="http://schemas.microsoft.com/office/drawing/2014/main" id="{419284DD-E830-778C-E2E6-D7F3BD46E96E}"/>
                </a:ext>
              </a:extLst>
            </p:cNvPr>
            <p:cNvSpPr txBox="1"/>
            <p:nvPr/>
          </p:nvSpPr>
          <p:spPr>
            <a:xfrm>
              <a:off x="3414113" y="3950641"/>
              <a:ext cx="150018" cy="276999"/>
            </a:xfrm>
            <a:prstGeom prst="rect">
              <a:avLst/>
            </a:prstGeom>
            <a:noFill/>
          </p:spPr>
          <p:txBody>
            <a:bodyPr wrap="square" rtlCol="0">
              <a:spAutoFit/>
            </a:bodyPr>
            <a:lstStyle/>
            <a:p>
              <a:r>
                <a:rPr lang="es-BO" sz="1200" b="1" dirty="0">
                  <a:solidFill>
                    <a:schemeClr val="tx1">
                      <a:lumMod val="85000"/>
                      <a:lumOff val="15000"/>
                    </a:schemeClr>
                  </a:solidFill>
                </a:rPr>
                <a:t>I</a:t>
              </a:r>
            </a:p>
          </p:txBody>
        </p:sp>
        <p:sp>
          <p:nvSpPr>
            <p:cNvPr id="41" name="CuadroTexto 40">
              <a:extLst>
                <a:ext uri="{FF2B5EF4-FFF2-40B4-BE49-F238E27FC236}">
                  <a16:creationId xmlns:a16="http://schemas.microsoft.com/office/drawing/2014/main" id="{52B9B297-A924-1BFC-DD4D-67EC2D6B7013}"/>
                </a:ext>
              </a:extLst>
            </p:cNvPr>
            <p:cNvSpPr txBox="1"/>
            <p:nvPr/>
          </p:nvSpPr>
          <p:spPr>
            <a:xfrm>
              <a:off x="3414113" y="3843504"/>
              <a:ext cx="150018" cy="276999"/>
            </a:xfrm>
            <a:prstGeom prst="rect">
              <a:avLst/>
            </a:prstGeom>
            <a:noFill/>
          </p:spPr>
          <p:txBody>
            <a:bodyPr wrap="square" rtlCol="0">
              <a:spAutoFit/>
            </a:bodyPr>
            <a:lstStyle/>
            <a:p>
              <a:r>
                <a:rPr lang="es-BO" sz="1200" b="1" dirty="0">
                  <a:solidFill>
                    <a:schemeClr val="tx1">
                      <a:lumMod val="85000"/>
                      <a:lumOff val="15000"/>
                    </a:schemeClr>
                  </a:solidFill>
                </a:rPr>
                <a:t>I</a:t>
              </a:r>
            </a:p>
          </p:txBody>
        </p:sp>
      </p:grpSp>
      <p:sp>
        <p:nvSpPr>
          <p:cNvPr id="43" name="Flecha: hacia abajo 42">
            <a:extLst>
              <a:ext uri="{FF2B5EF4-FFF2-40B4-BE49-F238E27FC236}">
                <a16:creationId xmlns:a16="http://schemas.microsoft.com/office/drawing/2014/main" id="{77AF4698-A291-4A21-0C4E-2146FDB937F0}"/>
              </a:ext>
            </a:extLst>
          </p:cNvPr>
          <p:cNvSpPr/>
          <p:nvPr/>
        </p:nvSpPr>
        <p:spPr>
          <a:xfrm>
            <a:off x="3203069" y="4112647"/>
            <a:ext cx="175584" cy="211704"/>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pic>
        <p:nvPicPr>
          <p:cNvPr id="44" name="Imagen 43">
            <a:extLst>
              <a:ext uri="{FF2B5EF4-FFF2-40B4-BE49-F238E27FC236}">
                <a16:creationId xmlns:a16="http://schemas.microsoft.com/office/drawing/2014/main" id="{5410456F-36B1-F597-F3CF-092A390A45EA}"/>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37462" t="47086" r="42359" b="34983"/>
          <a:stretch/>
        </p:blipFill>
        <p:spPr>
          <a:xfrm>
            <a:off x="2588681" y="4358199"/>
            <a:ext cx="1377089" cy="874351"/>
          </a:xfrm>
          <a:prstGeom prst="rect">
            <a:avLst/>
          </a:prstGeom>
        </p:spPr>
      </p:pic>
      <p:grpSp>
        <p:nvGrpSpPr>
          <p:cNvPr id="45" name="Grupo 44">
            <a:extLst>
              <a:ext uri="{FF2B5EF4-FFF2-40B4-BE49-F238E27FC236}">
                <a16:creationId xmlns:a16="http://schemas.microsoft.com/office/drawing/2014/main" id="{AB03D8AF-5D04-A79C-4A32-8340D777E907}"/>
              </a:ext>
            </a:extLst>
          </p:cNvPr>
          <p:cNvGrpSpPr/>
          <p:nvPr/>
        </p:nvGrpSpPr>
        <p:grpSpPr>
          <a:xfrm>
            <a:off x="1198967" y="4274687"/>
            <a:ext cx="1377089" cy="954107"/>
            <a:chOff x="2329223" y="4678748"/>
            <a:chExt cx="1377089" cy="954107"/>
          </a:xfrm>
        </p:grpSpPr>
        <p:sp>
          <p:nvSpPr>
            <p:cNvPr id="46" name="CuadroTexto 45">
              <a:extLst>
                <a:ext uri="{FF2B5EF4-FFF2-40B4-BE49-F238E27FC236}">
                  <a16:creationId xmlns:a16="http://schemas.microsoft.com/office/drawing/2014/main" id="{5F6352BF-FF9D-2B03-2134-852EB930EA82}"/>
                </a:ext>
              </a:extLst>
            </p:cNvPr>
            <p:cNvSpPr txBox="1"/>
            <p:nvPr/>
          </p:nvSpPr>
          <p:spPr>
            <a:xfrm>
              <a:off x="2329223" y="4678748"/>
              <a:ext cx="1377089" cy="954107"/>
            </a:xfrm>
            <a:prstGeom prst="rect">
              <a:avLst/>
            </a:prstGeom>
            <a:noFill/>
          </p:spPr>
          <p:txBody>
            <a:bodyPr wrap="square" rtlCol="0">
              <a:spAutoFit/>
            </a:bodyPr>
            <a:lstStyle/>
            <a:p>
              <a:pPr algn="ctr"/>
              <a:r>
                <a:rPr lang="es-BO" sz="1400" dirty="0"/>
                <a:t>Usar </a:t>
              </a:r>
              <a:r>
                <a:rPr lang="es-BO" sz="1400" dirty="0" err="1"/>
                <a:t>jnj</a:t>
              </a:r>
              <a:r>
                <a:rPr lang="es-BO" sz="1400" dirty="0"/>
                <a:t>  y </a:t>
              </a:r>
              <a:r>
                <a:rPr lang="es-BO" sz="1400" dirty="0" err="1"/>
                <a:t>knl</a:t>
              </a:r>
              <a:r>
                <a:rPr lang="es-BO" sz="1400" dirty="0"/>
                <a:t>       para seleccionar el controlador PID</a:t>
              </a:r>
            </a:p>
          </p:txBody>
        </p:sp>
        <p:grpSp>
          <p:nvGrpSpPr>
            <p:cNvPr id="47" name="Grupo 46">
              <a:extLst>
                <a:ext uri="{FF2B5EF4-FFF2-40B4-BE49-F238E27FC236}">
                  <a16:creationId xmlns:a16="http://schemas.microsoft.com/office/drawing/2014/main" id="{7838C999-5F16-108D-9E47-0B506DD7BACD}"/>
                </a:ext>
              </a:extLst>
            </p:cNvPr>
            <p:cNvGrpSpPr/>
            <p:nvPr/>
          </p:nvGrpSpPr>
          <p:grpSpPr>
            <a:xfrm>
              <a:off x="2897376" y="4755964"/>
              <a:ext cx="627421" cy="175743"/>
              <a:chOff x="2897376" y="4755964"/>
              <a:chExt cx="627421" cy="175743"/>
            </a:xfrm>
          </p:grpSpPr>
          <p:grpSp>
            <p:nvGrpSpPr>
              <p:cNvPr id="48" name="Grupo 47">
                <a:extLst>
                  <a:ext uri="{FF2B5EF4-FFF2-40B4-BE49-F238E27FC236}">
                    <a16:creationId xmlns:a16="http://schemas.microsoft.com/office/drawing/2014/main" id="{2CB846CF-6927-EDAA-C370-4E83AD8AB113}"/>
                  </a:ext>
                </a:extLst>
              </p:cNvPr>
              <p:cNvGrpSpPr/>
              <p:nvPr/>
            </p:nvGrpSpPr>
            <p:grpSpPr>
              <a:xfrm>
                <a:off x="2897376" y="4769694"/>
                <a:ext cx="224960" cy="162013"/>
                <a:chOff x="1133475" y="3000375"/>
                <a:chExt cx="360000" cy="280988"/>
              </a:xfrm>
            </p:grpSpPr>
            <p:sp>
              <p:nvSpPr>
                <p:cNvPr id="53" name="Rectángulo 52">
                  <a:extLst>
                    <a:ext uri="{FF2B5EF4-FFF2-40B4-BE49-F238E27FC236}">
                      <a16:creationId xmlns:a16="http://schemas.microsoft.com/office/drawing/2014/main" id="{733301FB-4F80-74EE-6889-C08CE9A403DB}"/>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54" name="Forma libre: forma 53">
                  <a:extLst>
                    <a:ext uri="{FF2B5EF4-FFF2-40B4-BE49-F238E27FC236}">
                      <a16:creationId xmlns:a16="http://schemas.microsoft.com/office/drawing/2014/main" id="{F2B81571-469D-52F6-B5F4-57F6ABD7CF1C}"/>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55" name="Forma libre: forma 54">
                  <a:extLst>
                    <a:ext uri="{FF2B5EF4-FFF2-40B4-BE49-F238E27FC236}">
                      <a16:creationId xmlns:a16="http://schemas.microsoft.com/office/drawing/2014/main" id="{7C02B926-147D-1560-FF14-3A6C78389A6F}"/>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nvGrpSpPr>
              <p:cNvPr id="49" name="Grupo 48">
                <a:extLst>
                  <a:ext uri="{FF2B5EF4-FFF2-40B4-BE49-F238E27FC236}">
                    <a16:creationId xmlns:a16="http://schemas.microsoft.com/office/drawing/2014/main" id="{4D7534C5-6843-AE1F-2192-1D297EDFAD71}"/>
                  </a:ext>
                </a:extLst>
              </p:cNvPr>
              <p:cNvGrpSpPr/>
              <p:nvPr/>
            </p:nvGrpSpPr>
            <p:grpSpPr>
              <a:xfrm rot="10800000">
                <a:off x="3299837" y="4755964"/>
                <a:ext cx="224960" cy="162013"/>
                <a:chOff x="1133475" y="3000375"/>
                <a:chExt cx="360000" cy="280988"/>
              </a:xfrm>
            </p:grpSpPr>
            <p:sp>
              <p:nvSpPr>
                <p:cNvPr id="50" name="Rectángulo 49">
                  <a:extLst>
                    <a:ext uri="{FF2B5EF4-FFF2-40B4-BE49-F238E27FC236}">
                      <a16:creationId xmlns:a16="http://schemas.microsoft.com/office/drawing/2014/main" id="{AC1738D3-4D96-6AFA-BF34-158676D85576}"/>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51" name="Forma libre: forma 50">
                  <a:extLst>
                    <a:ext uri="{FF2B5EF4-FFF2-40B4-BE49-F238E27FC236}">
                      <a16:creationId xmlns:a16="http://schemas.microsoft.com/office/drawing/2014/main" id="{E215B631-E72E-6D29-B2B4-86A0FA8A75F2}"/>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52" name="Forma libre: forma 51">
                  <a:extLst>
                    <a:ext uri="{FF2B5EF4-FFF2-40B4-BE49-F238E27FC236}">
                      <a16:creationId xmlns:a16="http://schemas.microsoft.com/office/drawing/2014/main" id="{7AB6379C-4BDF-144C-7918-A1153769BBDF}"/>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grpSp>
      <p:sp>
        <p:nvSpPr>
          <p:cNvPr id="56" name="CuadroTexto 55">
            <a:extLst>
              <a:ext uri="{FF2B5EF4-FFF2-40B4-BE49-F238E27FC236}">
                <a16:creationId xmlns:a16="http://schemas.microsoft.com/office/drawing/2014/main" id="{AFD2EDA0-9C77-9DF6-1721-99B78E140BA1}"/>
              </a:ext>
            </a:extLst>
          </p:cNvPr>
          <p:cNvSpPr txBox="1"/>
          <p:nvPr/>
        </p:nvSpPr>
        <p:spPr>
          <a:xfrm>
            <a:off x="4013214" y="4389248"/>
            <a:ext cx="1519261" cy="738664"/>
          </a:xfrm>
          <a:prstGeom prst="rect">
            <a:avLst/>
          </a:prstGeom>
          <a:noFill/>
        </p:spPr>
        <p:txBody>
          <a:bodyPr wrap="square" rtlCol="0">
            <a:spAutoFit/>
          </a:bodyPr>
          <a:lstStyle/>
          <a:p>
            <a:r>
              <a:rPr lang="es-BO" sz="1400" dirty="0"/>
              <a:t>-Control ON/OFF</a:t>
            </a:r>
          </a:p>
          <a:p>
            <a:endParaRPr lang="es-BO" sz="1400" dirty="0"/>
          </a:p>
          <a:p>
            <a:r>
              <a:rPr lang="es-BO" sz="1400" dirty="0"/>
              <a:t>-Control PID</a:t>
            </a:r>
          </a:p>
        </p:txBody>
      </p:sp>
      <p:pic>
        <p:nvPicPr>
          <p:cNvPr id="58" name="Imagen 57">
            <a:extLst>
              <a:ext uri="{FF2B5EF4-FFF2-40B4-BE49-F238E27FC236}">
                <a16:creationId xmlns:a16="http://schemas.microsoft.com/office/drawing/2014/main" id="{985A3A89-E223-FEB0-6971-0AA903B0AC20}"/>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37730" t="72179" r="43692" b="12122"/>
          <a:stretch/>
        </p:blipFill>
        <p:spPr>
          <a:xfrm>
            <a:off x="7913559" y="2280257"/>
            <a:ext cx="1309850" cy="790890"/>
          </a:xfrm>
          <a:prstGeom prst="rect">
            <a:avLst/>
          </a:prstGeom>
        </p:spPr>
      </p:pic>
      <p:sp>
        <p:nvSpPr>
          <p:cNvPr id="59" name="Flecha: hacia abajo 58">
            <a:extLst>
              <a:ext uri="{FF2B5EF4-FFF2-40B4-BE49-F238E27FC236}">
                <a16:creationId xmlns:a16="http://schemas.microsoft.com/office/drawing/2014/main" id="{F9074F58-BC13-253A-D4F0-A6E3BE3963F6}"/>
              </a:ext>
            </a:extLst>
          </p:cNvPr>
          <p:cNvSpPr/>
          <p:nvPr/>
        </p:nvSpPr>
        <p:spPr>
          <a:xfrm>
            <a:off x="3142109" y="5207077"/>
            <a:ext cx="175584" cy="205501"/>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60" name="Flecha: hacia abajo 59">
            <a:extLst>
              <a:ext uri="{FF2B5EF4-FFF2-40B4-BE49-F238E27FC236}">
                <a16:creationId xmlns:a16="http://schemas.microsoft.com/office/drawing/2014/main" id="{1F89697A-0E7F-1F96-107E-52F58F121AD7}"/>
              </a:ext>
            </a:extLst>
          </p:cNvPr>
          <p:cNvSpPr/>
          <p:nvPr/>
        </p:nvSpPr>
        <p:spPr>
          <a:xfrm>
            <a:off x="8503259" y="3047764"/>
            <a:ext cx="175584" cy="197941"/>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61" name="CuadroTexto 60">
            <a:extLst>
              <a:ext uri="{FF2B5EF4-FFF2-40B4-BE49-F238E27FC236}">
                <a16:creationId xmlns:a16="http://schemas.microsoft.com/office/drawing/2014/main" id="{913B3F7B-393E-C7A9-4409-096D4A6AA34B}"/>
              </a:ext>
            </a:extLst>
          </p:cNvPr>
          <p:cNvSpPr txBox="1"/>
          <p:nvPr/>
        </p:nvSpPr>
        <p:spPr>
          <a:xfrm>
            <a:off x="9041919" y="2497411"/>
            <a:ext cx="1790588" cy="307777"/>
          </a:xfrm>
          <a:prstGeom prst="rect">
            <a:avLst/>
          </a:prstGeom>
          <a:noFill/>
        </p:spPr>
        <p:txBody>
          <a:bodyPr wrap="square" rtlCol="0">
            <a:spAutoFit/>
          </a:bodyPr>
          <a:lstStyle/>
          <a:p>
            <a:pPr algn="ctr"/>
            <a:r>
              <a:rPr lang="es-BO" sz="1400" dirty="0"/>
              <a:t>Alarma 1    Tipo:2</a:t>
            </a:r>
          </a:p>
        </p:txBody>
      </p:sp>
      <p:sp>
        <p:nvSpPr>
          <p:cNvPr id="62" name="CuadroTexto 61">
            <a:extLst>
              <a:ext uri="{FF2B5EF4-FFF2-40B4-BE49-F238E27FC236}">
                <a16:creationId xmlns:a16="http://schemas.microsoft.com/office/drawing/2014/main" id="{975E8CE4-A811-687E-F494-FE47596EE765}"/>
              </a:ext>
            </a:extLst>
          </p:cNvPr>
          <p:cNvSpPr txBox="1"/>
          <p:nvPr/>
        </p:nvSpPr>
        <p:spPr>
          <a:xfrm>
            <a:off x="6630239" y="2365903"/>
            <a:ext cx="1283320" cy="523220"/>
          </a:xfrm>
          <a:prstGeom prst="rect">
            <a:avLst/>
          </a:prstGeom>
          <a:noFill/>
        </p:spPr>
        <p:txBody>
          <a:bodyPr wrap="square" rtlCol="0">
            <a:spAutoFit/>
          </a:bodyPr>
          <a:lstStyle/>
          <a:p>
            <a:pPr algn="ctr"/>
            <a:r>
              <a:rPr lang="es-BO" sz="1400" dirty="0"/>
              <a:t>Comprobar el tipo de alarma</a:t>
            </a:r>
          </a:p>
        </p:txBody>
      </p:sp>
      <p:pic>
        <p:nvPicPr>
          <p:cNvPr id="64" name="Imagen 63">
            <a:extLst>
              <a:ext uri="{FF2B5EF4-FFF2-40B4-BE49-F238E27FC236}">
                <a16:creationId xmlns:a16="http://schemas.microsoft.com/office/drawing/2014/main" id="{F1234210-BC91-6F53-A683-8F67322995D4}"/>
              </a:ext>
            </a:extLst>
          </p:cNvPr>
          <p:cNvPicPr>
            <a:picLocks noChangeAspect="1"/>
          </p:cNvPicPr>
          <p:nvPr/>
        </p:nvPicPr>
        <p:blipFill rotWithShape="1">
          <a:blip r:embed="rId6">
            <a:biLevel thresh="75000"/>
            <a:extLst>
              <a:ext uri="{BEBA8EAE-BF5A-486C-A8C5-ECC9F3942E4B}">
                <a14:imgProps xmlns:a14="http://schemas.microsoft.com/office/drawing/2010/main">
                  <a14:imgLayer r:embed="rId7">
                    <a14:imgEffect>
                      <a14:saturation sat="400000"/>
                    </a14:imgEffect>
                  </a14:imgLayer>
                </a14:imgProps>
              </a:ext>
            </a:extLst>
          </a:blip>
          <a:srcRect l="19052" t="25548" r="28471" b="12505"/>
          <a:stretch/>
        </p:blipFill>
        <p:spPr>
          <a:xfrm>
            <a:off x="3502528" y="4165130"/>
            <a:ext cx="218220" cy="188091"/>
          </a:xfrm>
          <a:prstGeom prst="rect">
            <a:avLst/>
          </a:prstGeom>
        </p:spPr>
      </p:pic>
      <p:pic>
        <p:nvPicPr>
          <p:cNvPr id="65" name="Imagen 64">
            <a:extLst>
              <a:ext uri="{FF2B5EF4-FFF2-40B4-BE49-F238E27FC236}">
                <a16:creationId xmlns:a16="http://schemas.microsoft.com/office/drawing/2014/main" id="{1D0EA7D4-6815-7BD5-6491-7A3B41EEB935}"/>
              </a:ext>
            </a:extLst>
          </p:cNvPr>
          <p:cNvPicPr>
            <a:picLocks noChangeAspect="1"/>
          </p:cNvPicPr>
          <p:nvPr/>
        </p:nvPicPr>
        <p:blipFill rotWithShape="1">
          <a:blip r:embed="rId6">
            <a:biLevel thresh="75000"/>
            <a:extLst>
              <a:ext uri="{BEBA8EAE-BF5A-486C-A8C5-ECC9F3942E4B}">
                <a14:imgProps xmlns:a14="http://schemas.microsoft.com/office/drawing/2010/main">
                  <a14:imgLayer r:embed="rId7">
                    <a14:imgEffect>
                      <a14:saturation sat="400000"/>
                    </a14:imgEffect>
                  </a14:imgLayer>
                </a14:imgProps>
              </a:ext>
            </a:extLst>
          </a:blip>
          <a:srcRect l="19052" t="25548" r="28471" b="12505"/>
          <a:stretch/>
        </p:blipFill>
        <p:spPr>
          <a:xfrm>
            <a:off x="3485453" y="5231937"/>
            <a:ext cx="218220" cy="188091"/>
          </a:xfrm>
          <a:prstGeom prst="rect">
            <a:avLst/>
          </a:prstGeom>
        </p:spPr>
      </p:pic>
      <p:pic>
        <p:nvPicPr>
          <p:cNvPr id="66" name="Imagen 65">
            <a:extLst>
              <a:ext uri="{FF2B5EF4-FFF2-40B4-BE49-F238E27FC236}">
                <a16:creationId xmlns:a16="http://schemas.microsoft.com/office/drawing/2014/main" id="{C665686A-54BD-D07F-190B-6267D640C471}"/>
              </a:ext>
            </a:extLst>
          </p:cNvPr>
          <p:cNvPicPr>
            <a:picLocks noChangeAspect="1"/>
          </p:cNvPicPr>
          <p:nvPr/>
        </p:nvPicPr>
        <p:blipFill rotWithShape="1">
          <a:blip r:embed="rId6">
            <a:biLevel thresh="75000"/>
            <a:extLst>
              <a:ext uri="{BEBA8EAE-BF5A-486C-A8C5-ECC9F3942E4B}">
                <a14:imgProps xmlns:a14="http://schemas.microsoft.com/office/drawing/2010/main">
                  <a14:imgLayer r:embed="rId7">
                    <a14:imgEffect>
                      <a14:saturation sat="400000"/>
                    </a14:imgEffect>
                  </a14:imgLayer>
                </a14:imgProps>
              </a:ext>
            </a:extLst>
          </a:blip>
          <a:srcRect l="19052" t="25548" r="28471" b="12505"/>
          <a:stretch/>
        </p:blipFill>
        <p:spPr>
          <a:xfrm>
            <a:off x="8838097" y="3057614"/>
            <a:ext cx="218220" cy="188091"/>
          </a:xfrm>
          <a:prstGeom prst="rect">
            <a:avLst/>
          </a:prstGeom>
        </p:spPr>
      </p:pic>
      <p:sp>
        <p:nvSpPr>
          <p:cNvPr id="69" name="Rectángulo: esquinas redondeadas 68">
            <a:extLst>
              <a:ext uri="{FF2B5EF4-FFF2-40B4-BE49-F238E27FC236}">
                <a16:creationId xmlns:a16="http://schemas.microsoft.com/office/drawing/2014/main" id="{DE6FBAAF-5302-F3D1-77ED-8F8573124A5F}"/>
              </a:ext>
            </a:extLst>
          </p:cNvPr>
          <p:cNvSpPr/>
          <p:nvPr/>
        </p:nvSpPr>
        <p:spPr>
          <a:xfrm>
            <a:off x="6612420" y="689356"/>
            <a:ext cx="4099129" cy="2656839"/>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pic>
        <p:nvPicPr>
          <p:cNvPr id="70" name="Imagen 69">
            <a:extLst>
              <a:ext uri="{FF2B5EF4-FFF2-40B4-BE49-F238E27FC236}">
                <a16:creationId xmlns:a16="http://schemas.microsoft.com/office/drawing/2014/main" id="{BBCAE44E-48BE-EC2C-AC46-3D8828A85C37}"/>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25431" t="48388" r="63364" b="40455"/>
          <a:stretch/>
        </p:blipFill>
        <p:spPr>
          <a:xfrm>
            <a:off x="2585519" y="5409411"/>
            <a:ext cx="1319732" cy="776697"/>
          </a:xfrm>
          <a:prstGeom prst="rect">
            <a:avLst/>
          </a:prstGeom>
        </p:spPr>
      </p:pic>
      <p:grpSp>
        <p:nvGrpSpPr>
          <p:cNvPr id="71" name="Grupo 70">
            <a:extLst>
              <a:ext uri="{FF2B5EF4-FFF2-40B4-BE49-F238E27FC236}">
                <a16:creationId xmlns:a16="http://schemas.microsoft.com/office/drawing/2014/main" id="{CFBAF3ED-E488-FC93-8299-9AF02D844C84}"/>
              </a:ext>
            </a:extLst>
          </p:cNvPr>
          <p:cNvGrpSpPr/>
          <p:nvPr/>
        </p:nvGrpSpPr>
        <p:grpSpPr>
          <a:xfrm>
            <a:off x="1217479" y="5310948"/>
            <a:ext cx="1377089" cy="738664"/>
            <a:chOff x="2329223" y="4678748"/>
            <a:chExt cx="1377089" cy="738664"/>
          </a:xfrm>
        </p:grpSpPr>
        <p:sp>
          <p:nvSpPr>
            <p:cNvPr id="72" name="CuadroTexto 71">
              <a:extLst>
                <a:ext uri="{FF2B5EF4-FFF2-40B4-BE49-F238E27FC236}">
                  <a16:creationId xmlns:a16="http://schemas.microsoft.com/office/drawing/2014/main" id="{CBA0E77C-9531-2D3B-C42D-A5628B345367}"/>
                </a:ext>
              </a:extLst>
            </p:cNvPr>
            <p:cNvSpPr txBox="1"/>
            <p:nvPr/>
          </p:nvSpPr>
          <p:spPr>
            <a:xfrm>
              <a:off x="2329223" y="4678748"/>
              <a:ext cx="1377089" cy="738664"/>
            </a:xfrm>
            <a:prstGeom prst="rect">
              <a:avLst/>
            </a:prstGeom>
            <a:noFill/>
          </p:spPr>
          <p:txBody>
            <a:bodyPr wrap="square" rtlCol="0">
              <a:spAutoFit/>
            </a:bodyPr>
            <a:lstStyle/>
            <a:p>
              <a:pPr algn="ctr"/>
              <a:r>
                <a:rPr lang="es-BO" sz="1400" dirty="0"/>
                <a:t>Usar </a:t>
              </a:r>
              <a:r>
                <a:rPr lang="es-BO" sz="1400" dirty="0" err="1"/>
                <a:t>jnj</a:t>
              </a:r>
              <a:r>
                <a:rPr lang="es-BO" sz="1400" dirty="0"/>
                <a:t>  y </a:t>
              </a:r>
              <a:r>
                <a:rPr lang="es-BO" sz="1400" dirty="0" err="1"/>
                <a:t>knl</a:t>
              </a:r>
              <a:r>
                <a:rPr lang="es-BO" sz="1400" dirty="0"/>
                <a:t>       para seleccionar ST en OFF</a:t>
              </a:r>
            </a:p>
          </p:txBody>
        </p:sp>
        <p:grpSp>
          <p:nvGrpSpPr>
            <p:cNvPr id="73" name="Grupo 72">
              <a:extLst>
                <a:ext uri="{FF2B5EF4-FFF2-40B4-BE49-F238E27FC236}">
                  <a16:creationId xmlns:a16="http://schemas.microsoft.com/office/drawing/2014/main" id="{C96A5E03-AC7B-399E-ACED-8B413F2B5F35}"/>
                </a:ext>
              </a:extLst>
            </p:cNvPr>
            <p:cNvGrpSpPr/>
            <p:nvPr/>
          </p:nvGrpSpPr>
          <p:grpSpPr>
            <a:xfrm>
              <a:off x="2897376" y="4755964"/>
              <a:ext cx="627421" cy="175743"/>
              <a:chOff x="2897376" y="4755964"/>
              <a:chExt cx="627421" cy="175743"/>
            </a:xfrm>
          </p:grpSpPr>
          <p:grpSp>
            <p:nvGrpSpPr>
              <p:cNvPr id="74" name="Grupo 73">
                <a:extLst>
                  <a:ext uri="{FF2B5EF4-FFF2-40B4-BE49-F238E27FC236}">
                    <a16:creationId xmlns:a16="http://schemas.microsoft.com/office/drawing/2014/main" id="{D8E19ECF-2088-6B2D-AB7F-A81E8FD7B15A}"/>
                  </a:ext>
                </a:extLst>
              </p:cNvPr>
              <p:cNvGrpSpPr/>
              <p:nvPr/>
            </p:nvGrpSpPr>
            <p:grpSpPr>
              <a:xfrm>
                <a:off x="2897376" y="4769694"/>
                <a:ext cx="224960" cy="162013"/>
                <a:chOff x="1133475" y="3000375"/>
                <a:chExt cx="360000" cy="280988"/>
              </a:xfrm>
            </p:grpSpPr>
            <p:sp>
              <p:nvSpPr>
                <p:cNvPr id="79" name="Rectángulo 78">
                  <a:extLst>
                    <a:ext uri="{FF2B5EF4-FFF2-40B4-BE49-F238E27FC236}">
                      <a16:creationId xmlns:a16="http://schemas.microsoft.com/office/drawing/2014/main" id="{DCB524ED-0176-77EE-C6D1-3B69176DEC99}"/>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80" name="Forma libre: forma 79">
                  <a:extLst>
                    <a:ext uri="{FF2B5EF4-FFF2-40B4-BE49-F238E27FC236}">
                      <a16:creationId xmlns:a16="http://schemas.microsoft.com/office/drawing/2014/main" id="{30B914F2-0C09-21B5-37CD-EA41DE217FCD}"/>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81" name="Forma libre: forma 80">
                  <a:extLst>
                    <a:ext uri="{FF2B5EF4-FFF2-40B4-BE49-F238E27FC236}">
                      <a16:creationId xmlns:a16="http://schemas.microsoft.com/office/drawing/2014/main" id="{46A46218-4F65-B4FD-6616-4527B9FE710C}"/>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nvGrpSpPr>
              <p:cNvPr id="75" name="Grupo 74">
                <a:extLst>
                  <a:ext uri="{FF2B5EF4-FFF2-40B4-BE49-F238E27FC236}">
                    <a16:creationId xmlns:a16="http://schemas.microsoft.com/office/drawing/2014/main" id="{987EF410-725B-FAC0-EF41-C49812EC0401}"/>
                  </a:ext>
                </a:extLst>
              </p:cNvPr>
              <p:cNvGrpSpPr/>
              <p:nvPr/>
            </p:nvGrpSpPr>
            <p:grpSpPr>
              <a:xfrm rot="10800000">
                <a:off x="3299837" y="4755964"/>
                <a:ext cx="224960" cy="162013"/>
                <a:chOff x="1133475" y="3000375"/>
                <a:chExt cx="360000" cy="280988"/>
              </a:xfrm>
            </p:grpSpPr>
            <p:sp>
              <p:nvSpPr>
                <p:cNvPr id="76" name="Rectángulo 75">
                  <a:extLst>
                    <a:ext uri="{FF2B5EF4-FFF2-40B4-BE49-F238E27FC236}">
                      <a16:creationId xmlns:a16="http://schemas.microsoft.com/office/drawing/2014/main" id="{127CE8B1-78B8-2E4B-5EAE-CA70CE161C28}"/>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77" name="Forma libre: forma 76">
                  <a:extLst>
                    <a:ext uri="{FF2B5EF4-FFF2-40B4-BE49-F238E27FC236}">
                      <a16:creationId xmlns:a16="http://schemas.microsoft.com/office/drawing/2014/main" id="{0F63335E-17A9-86F5-7296-4F8FAC783C80}"/>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78" name="Forma libre: forma 77">
                  <a:extLst>
                    <a:ext uri="{FF2B5EF4-FFF2-40B4-BE49-F238E27FC236}">
                      <a16:creationId xmlns:a16="http://schemas.microsoft.com/office/drawing/2014/main" id="{603974F9-E951-2DFE-C72E-477C32F3534D}"/>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grpSp>
      <p:sp>
        <p:nvSpPr>
          <p:cNvPr id="82" name="CuadroTexto 81">
            <a:extLst>
              <a:ext uri="{FF2B5EF4-FFF2-40B4-BE49-F238E27FC236}">
                <a16:creationId xmlns:a16="http://schemas.microsoft.com/office/drawing/2014/main" id="{7DDA1199-6273-972A-EE15-E89B5FC148E1}"/>
              </a:ext>
            </a:extLst>
          </p:cNvPr>
          <p:cNvSpPr txBox="1"/>
          <p:nvPr/>
        </p:nvSpPr>
        <p:spPr>
          <a:xfrm>
            <a:off x="3873323" y="5438259"/>
            <a:ext cx="1519261" cy="738664"/>
          </a:xfrm>
          <a:prstGeom prst="rect">
            <a:avLst/>
          </a:prstGeom>
          <a:noFill/>
        </p:spPr>
        <p:txBody>
          <a:bodyPr wrap="square" rtlCol="0">
            <a:spAutoFit/>
          </a:bodyPr>
          <a:lstStyle/>
          <a:p>
            <a:r>
              <a:rPr lang="es-BO" sz="1400" dirty="0"/>
              <a:t>-Para ejecutar ST:</a:t>
            </a:r>
          </a:p>
          <a:p>
            <a:endParaRPr lang="es-BO" sz="1400" dirty="0"/>
          </a:p>
          <a:p>
            <a:r>
              <a:rPr lang="es-BO" sz="1400" dirty="0"/>
              <a:t>-Para cancelar ST:</a:t>
            </a:r>
          </a:p>
        </p:txBody>
      </p:sp>
      <p:pic>
        <p:nvPicPr>
          <p:cNvPr id="83" name="Imagen 82">
            <a:extLst>
              <a:ext uri="{FF2B5EF4-FFF2-40B4-BE49-F238E27FC236}">
                <a16:creationId xmlns:a16="http://schemas.microsoft.com/office/drawing/2014/main" id="{A57CB8D8-2842-5603-4764-6A6D32A07F7D}"/>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8373" t="31614" r="46720" b="56362"/>
          <a:stretch/>
        </p:blipFill>
        <p:spPr>
          <a:xfrm>
            <a:off x="5362303" y="4443657"/>
            <a:ext cx="435232" cy="630155"/>
          </a:xfrm>
          <a:prstGeom prst="rect">
            <a:avLst/>
          </a:prstGeom>
        </p:spPr>
      </p:pic>
      <p:pic>
        <p:nvPicPr>
          <p:cNvPr id="84" name="Imagen 83">
            <a:extLst>
              <a:ext uri="{FF2B5EF4-FFF2-40B4-BE49-F238E27FC236}">
                <a16:creationId xmlns:a16="http://schemas.microsoft.com/office/drawing/2014/main" id="{BDC8579B-7268-D98D-E7F5-7934861CDB58}"/>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8359" t="46792" r="46945" b="39521"/>
          <a:stretch/>
        </p:blipFill>
        <p:spPr>
          <a:xfrm>
            <a:off x="5313089" y="5421726"/>
            <a:ext cx="435232" cy="749686"/>
          </a:xfrm>
          <a:prstGeom prst="rect">
            <a:avLst/>
          </a:prstGeom>
        </p:spPr>
      </p:pic>
      <p:sp>
        <p:nvSpPr>
          <p:cNvPr id="85" name="Flecha: hacia abajo 84">
            <a:extLst>
              <a:ext uri="{FF2B5EF4-FFF2-40B4-BE49-F238E27FC236}">
                <a16:creationId xmlns:a16="http://schemas.microsoft.com/office/drawing/2014/main" id="{FE170AB0-F745-B4F6-D70C-E519F70145C7}"/>
              </a:ext>
            </a:extLst>
          </p:cNvPr>
          <p:cNvSpPr/>
          <p:nvPr/>
        </p:nvSpPr>
        <p:spPr>
          <a:xfrm>
            <a:off x="3172552" y="6136080"/>
            <a:ext cx="175584" cy="205501"/>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86" name="Elipse 85">
            <a:extLst>
              <a:ext uri="{FF2B5EF4-FFF2-40B4-BE49-F238E27FC236}">
                <a16:creationId xmlns:a16="http://schemas.microsoft.com/office/drawing/2014/main" id="{5B5B52B1-9563-3FBB-DB86-1CBF145295F6}"/>
              </a:ext>
            </a:extLst>
          </p:cNvPr>
          <p:cNvSpPr/>
          <p:nvPr/>
        </p:nvSpPr>
        <p:spPr>
          <a:xfrm>
            <a:off x="3089998" y="6380464"/>
            <a:ext cx="374453" cy="353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600" dirty="0"/>
              <a:t>1</a:t>
            </a:r>
          </a:p>
        </p:txBody>
      </p:sp>
      <p:sp>
        <p:nvSpPr>
          <p:cNvPr id="87" name="Elipse 86">
            <a:extLst>
              <a:ext uri="{FF2B5EF4-FFF2-40B4-BE49-F238E27FC236}">
                <a16:creationId xmlns:a16="http://schemas.microsoft.com/office/drawing/2014/main" id="{EC70D83B-3B5F-3A29-A5FC-56487EE3D328}"/>
              </a:ext>
            </a:extLst>
          </p:cNvPr>
          <p:cNvSpPr/>
          <p:nvPr/>
        </p:nvSpPr>
        <p:spPr>
          <a:xfrm>
            <a:off x="8416243" y="749338"/>
            <a:ext cx="374453" cy="353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600" dirty="0"/>
              <a:t>1</a:t>
            </a:r>
          </a:p>
        </p:txBody>
      </p:sp>
      <p:sp>
        <p:nvSpPr>
          <p:cNvPr id="88" name="CuadroTexto 87">
            <a:extLst>
              <a:ext uri="{FF2B5EF4-FFF2-40B4-BE49-F238E27FC236}">
                <a16:creationId xmlns:a16="http://schemas.microsoft.com/office/drawing/2014/main" id="{17732A78-4597-6F8C-E889-8F663F68BF1E}"/>
              </a:ext>
            </a:extLst>
          </p:cNvPr>
          <p:cNvSpPr txBox="1"/>
          <p:nvPr/>
        </p:nvSpPr>
        <p:spPr>
          <a:xfrm>
            <a:off x="5834888" y="5309827"/>
            <a:ext cx="992233" cy="1169551"/>
          </a:xfrm>
          <a:prstGeom prst="rect">
            <a:avLst/>
          </a:prstGeom>
          <a:noFill/>
        </p:spPr>
        <p:txBody>
          <a:bodyPr wrap="square" rtlCol="0">
            <a:spAutoFit/>
          </a:bodyPr>
          <a:lstStyle/>
          <a:p>
            <a:r>
              <a:rPr lang="es-BO" sz="1400" dirty="0"/>
              <a:t>Cuando esta en ON, el autoajuste funciona</a:t>
            </a:r>
          </a:p>
        </p:txBody>
      </p:sp>
      <p:pic>
        <p:nvPicPr>
          <p:cNvPr id="89" name="Imagen 88">
            <a:extLst>
              <a:ext uri="{FF2B5EF4-FFF2-40B4-BE49-F238E27FC236}">
                <a16:creationId xmlns:a16="http://schemas.microsoft.com/office/drawing/2014/main" id="{60D7B46F-4477-2124-5C3B-D9E8F77D96B4}"/>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25379" t="64288" r="63308" b="23737"/>
          <a:stretch/>
        </p:blipFill>
        <p:spPr>
          <a:xfrm>
            <a:off x="7888021" y="1270164"/>
            <a:ext cx="1335388" cy="835342"/>
          </a:xfrm>
          <a:prstGeom prst="rect">
            <a:avLst/>
          </a:prstGeom>
        </p:spPr>
      </p:pic>
      <p:sp>
        <p:nvSpPr>
          <p:cNvPr id="90" name="Flecha: hacia abajo 89">
            <a:extLst>
              <a:ext uri="{FF2B5EF4-FFF2-40B4-BE49-F238E27FC236}">
                <a16:creationId xmlns:a16="http://schemas.microsoft.com/office/drawing/2014/main" id="{E42FC8FF-1299-DEFA-FDEB-91E394F61CFA}"/>
              </a:ext>
            </a:extLst>
          </p:cNvPr>
          <p:cNvSpPr/>
          <p:nvPr/>
        </p:nvSpPr>
        <p:spPr>
          <a:xfrm>
            <a:off x="8515395" y="1123540"/>
            <a:ext cx="175584" cy="197941"/>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91" name="CuadroTexto 90">
            <a:extLst>
              <a:ext uri="{FF2B5EF4-FFF2-40B4-BE49-F238E27FC236}">
                <a16:creationId xmlns:a16="http://schemas.microsoft.com/office/drawing/2014/main" id="{D74EC310-EF47-CD77-5D8F-42A1746CE700}"/>
              </a:ext>
            </a:extLst>
          </p:cNvPr>
          <p:cNvSpPr txBox="1"/>
          <p:nvPr/>
        </p:nvSpPr>
        <p:spPr>
          <a:xfrm>
            <a:off x="6721785" y="1302863"/>
            <a:ext cx="1081957" cy="738664"/>
          </a:xfrm>
          <a:prstGeom prst="rect">
            <a:avLst/>
          </a:prstGeom>
          <a:noFill/>
        </p:spPr>
        <p:txBody>
          <a:bodyPr wrap="square" rtlCol="0">
            <a:spAutoFit/>
          </a:bodyPr>
          <a:lstStyle/>
          <a:p>
            <a:r>
              <a:rPr lang="es-BO" sz="1400" dirty="0"/>
              <a:t>Comprobar el periodo de control</a:t>
            </a:r>
          </a:p>
        </p:txBody>
      </p:sp>
      <p:sp>
        <p:nvSpPr>
          <p:cNvPr id="92" name="CuadroTexto 91">
            <a:extLst>
              <a:ext uri="{FF2B5EF4-FFF2-40B4-BE49-F238E27FC236}">
                <a16:creationId xmlns:a16="http://schemas.microsoft.com/office/drawing/2014/main" id="{CE3DF56D-88AD-890C-7003-943EECC0220E}"/>
              </a:ext>
            </a:extLst>
          </p:cNvPr>
          <p:cNvSpPr txBox="1"/>
          <p:nvPr/>
        </p:nvSpPr>
        <p:spPr>
          <a:xfrm>
            <a:off x="9152191" y="1275634"/>
            <a:ext cx="1601498" cy="738664"/>
          </a:xfrm>
          <a:prstGeom prst="rect">
            <a:avLst/>
          </a:prstGeom>
          <a:noFill/>
        </p:spPr>
        <p:txBody>
          <a:bodyPr wrap="square" rtlCol="0">
            <a:spAutoFit/>
          </a:bodyPr>
          <a:lstStyle/>
          <a:p>
            <a:r>
              <a:rPr lang="es-BO" sz="1400" dirty="0"/>
              <a:t>Periodo de control (Calor) </a:t>
            </a:r>
          </a:p>
          <a:p>
            <a:r>
              <a:rPr lang="es-BO" sz="1400" dirty="0"/>
              <a:t>(Unidad: segundos)</a:t>
            </a:r>
          </a:p>
        </p:txBody>
      </p:sp>
      <p:sp>
        <p:nvSpPr>
          <p:cNvPr id="93" name="Flecha: hacia abajo 92">
            <a:extLst>
              <a:ext uri="{FF2B5EF4-FFF2-40B4-BE49-F238E27FC236}">
                <a16:creationId xmlns:a16="http://schemas.microsoft.com/office/drawing/2014/main" id="{36635FF9-19E5-87DC-94B4-9E0AF8508AF8}"/>
              </a:ext>
            </a:extLst>
          </p:cNvPr>
          <p:cNvSpPr/>
          <p:nvPr/>
        </p:nvSpPr>
        <p:spPr>
          <a:xfrm>
            <a:off x="8532751" y="2074797"/>
            <a:ext cx="175584" cy="197941"/>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pic>
        <p:nvPicPr>
          <p:cNvPr id="94" name="Imagen 93">
            <a:extLst>
              <a:ext uri="{FF2B5EF4-FFF2-40B4-BE49-F238E27FC236}">
                <a16:creationId xmlns:a16="http://schemas.microsoft.com/office/drawing/2014/main" id="{295C4CB4-1BFD-AAAA-F864-BA9252BA8500}"/>
              </a:ext>
            </a:extLst>
          </p:cNvPr>
          <p:cNvPicPr>
            <a:picLocks noChangeAspect="1"/>
          </p:cNvPicPr>
          <p:nvPr/>
        </p:nvPicPr>
        <p:blipFill rotWithShape="1">
          <a:blip r:embed="rId6">
            <a:biLevel thresh="75000"/>
            <a:extLst>
              <a:ext uri="{BEBA8EAE-BF5A-486C-A8C5-ECC9F3942E4B}">
                <a14:imgProps xmlns:a14="http://schemas.microsoft.com/office/drawing/2010/main">
                  <a14:imgLayer r:embed="rId7">
                    <a14:imgEffect>
                      <a14:saturation sat="400000"/>
                    </a14:imgEffect>
                  </a14:imgLayer>
                </a14:imgProps>
              </a:ext>
            </a:extLst>
          </a:blip>
          <a:srcRect l="19052" t="25548" r="28471" b="12505"/>
          <a:stretch/>
        </p:blipFill>
        <p:spPr>
          <a:xfrm>
            <a:off x="8838097" y="2074797"/>
            <a:ext cx="218220" cy="188091"/>
          </a:xfrm>
          <a:prstGeom prst="rect">
            <a:avLst/>
          </a:prstGeom>
        </p:spPr>
      </p:pic>
      <p:pic>
        <p:nvPicPr>
          <p:cNvPr id="95" name="Imagen 94">
            <a:extLst>
              <a:ext uri="{FF2B5EF4-FFF2-40B4-BE49-F238E27FC236}">
                <a16:creationId xmlns:a16="http://schemas.microsoft.com/office/drawing/2014/main" id="{8C9E8A32-56D2-99D6-D4DD-D56806352F46}"/>
              </a:ext>
            </a:extLst>
          </p:cNvPr>
          <p:cNvPicPr>
            <a:picLocks noChangeAspect="1"/>
          </p:cNvPicPr>
          <p:nvPr/>
        </p:nvPicPr>
        <p:blipFill rotWithShape="1">
          <a:blip r:embed="rId6">
            <a:biLevel thresh="75000"/>
            <a:extLst>
              <a:ext uri="{BEBA8EAE-BF5A-486C-A8C5-ECC9F3942E4B}">
                <a14:imgProps xmlns:a14="http://schemas.microsoft.com/office/drawing/2010/main">
                  <a14:imgLayer r:embed="rId7">
                    <a14:imgEffect>
                      <a14:saturation sat="400000"/>
                    </a14:imgEffect>
                  </a14:imgLayer>
                </a14:imgProps>
              </a:ext>
            </a:extLst>
          </a:blip>
          <a:srcRect l="19052" t="25548" r="28471" b="12505"/>
          <a:stretch/>
        </p:blipFill>
        <p:spPr>
          <a:xfrm>
            <a:off x="8823699" y="1098500"/>
            <a:ext cx="218220" cy="188091"/>
          </a:xfrm>
          <a:prstGeom prst="rect">
            <a:avLst/>
          </a:prstGeom>
        </p:spPr>
      </p:pic>
      <p:sp>
        <p:nvSpPr>
          <p:cNvPr id="96" name="CuadroTexto 95">
            <a:extLst>
              <a:ext uri="{FF2B5EF4-FFF2-40B4-BE49-F238E27FC236}">
                <a16:creationId xmlns:a16="http://schemas.microsoft.com/office/drawing/2014/main" id="{AF6DB865-4D52-80FD-7820-5A8C6C566B41}"/>
              </a:ext>
            </a:extLst>
          </p:cNvPr>
          <p:cNvSpPr txBox="1"/>
          <p:nvPr/>
        </p:nvSpPr>
        <p:spPr>
          <a:xfrm>
            <a:off x="10844361" y="1123540"/>
            <a:ext cx="1481602" cy="1384995"/>
          </a:xfrm>
          <a:prstGeom prst="rect">
            <a:avLst/>
          </a:prstGeom>
          <a:noFill/>
        </p:spPr>
        <p:txBody>
          <a:bodyPr wrap="square" rtlCol="0">
            <a:spAutoFit/>
          </a:bodyPr>
          <a:lstStyle/>
          <a:p>
            <a:r>
              <a:rPr lang="es-BO" sz="1400" dirty="0"/>
              <a:t>Se recomienda configurar 20 [s] para una salida de relé y 2[s] para una salida de voltaje SSR</a:t>
            </a:r>
          </a:p>
        </p:txBody>
      </p:sp>
      <p:sp>
        <p:nvSpPr>
          <p:cNvPr id="99" name="Rectángulo: esquinas redondeadas 98">
            <a:extLst>
              <a:ext uri="{FF2B5EF4-FFF2-40B4-BE49-F238E27FC236}">
                <a16:creationId xmlns:a16="http://schemas.microsoft.com/office/drawing/2014/main" id="{457AF1C8-A2D6-8776-8E8F-EB1CC71385FD}"/>
              </a:ext>
            </a:extLst>
          </p:cNvPr>
          <p:cNvSpPr/>
          <p:nvPr/>
        </p:nvSpPr>
        <p:spPr>
          <a:xfrm>
            <a:off x="6647060" y="4076232"/>
            <a:ext cx="4064000" cy="1000121"/>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sp>
        <p:nvSpPr>
          <p:cNvPr id="100" name="CuadroTexto 99">
            <a:extLst>
              <a:ext uri="{FF2B5EF4-FFF2-40B4-BE49-F238E27FC236}">
                <a16:creationId xmlns:a16="http://schemas.microsoft.com/office/drawing/2014/main" id="{EF002C8F-9D64-5E33-B206-0F9643B8D93A}"/>
              </a:ext>
            </a:extLst>
          </p:cNvPr>
          <p:cNvSpPr txBox="1"/>
          <p:nvPr/>
        </p:nvSpPr>
        <p:spPr>
          <a:xfrm>
            <a:off x="5680716" y="3382852"/>
            <a:ext cx="2833798" cy="338554"/>
          </a:xfrm>
          <a:prstGeom prst="rect">
            <a:avLst/>
          </a:prstGeom>
          <a:noFill/>
        </p:spPr>
        <p:txBody>
          <a:bodyPr wrap="square" rtlCol="0">
            <a:spAutoFit/>
          </a:bodyPr>
          <a:lstStyle/>
          <a:p>
            <a:pPr algn="ctr"/>
            <a:r>
              <a:rPr lang="es-BO" sz="1600" dirty="0"/>
              <a:t>Operación grupo de funciones</a:t>
            </a:r>
          </a:p>
        </p:txBody>
      </p:sp>
      <p:grpSp>
        <p:nvGrpSpPr>
          <p:cNvPr id="101" name="Grupo 100">
            <a:extLst>
              <a:ext uri="{FF2B5EF4-FFF2-40B4-BE49-F238E27FC236}">
                <a16:creationId xmlns:a16="http://schemas.microsoft.com/office/drawing/2014/main" id="{A93B21D5-59EF-3F1A-2C1E-498EB48FF8DF}"/>
              </a:ext>
            </a:extLst>
          </p:cNvPr>
          <p:cNvGrpSpPr/>
          <p:nvPr/>
        </p:nvGrpSpPr>
        <p:grpSpPr>
          <a:xfrm>
            <a:off x="8746366" y="3353714"/>
            <a:ext cx="2097995" cy="338554"/>
            <a:chOff x="6096000" y="3557609"/>
            <a:chExt cx="2097995" cy="338554"/>
          </a:xfrm>
        </p:grpSpPr>
        <p:sp>
          <p:nvSpPr>
            <p:cNvPr id="102" name="CuadroTexto 101">
              <a:extLst>
                <a:ext uri="{FF2B5EF4-FFF2-40B4-BE49-F238E27FC236}">
                  <a16:creationId xmlns:a16="http://schemas.microsoft.com/office/drawing/2014/main" id="{B6BC4ED5-92D1-B7B6-3403-16A2AE3152DF}"/>
                </a:ext>
              </a:extLst>
            </p:cNvPr>
            <p:cNvSpPr txBox="1"/>
            <p:nvPr/>
          </p:nvSpPr>
          <p:spPr>
            <a:xfrm>
              <a:off x="6096000" y="3557609"/>
              <a:ext cx="2097995" cy="338554"/>
            </a:xfrm>
            <a:prstGeom prst="rect">
              <a:avLst/>
            </a:prstGeom>
            <a:noFill/>
          </p:spPr>
          <p:txBody>
            <a:bodyPr wrap="square" rtlCol="0">
              <a:spAutoFit/>
            </a:bodyPr>
            <a:lstStyle/>
            <a:p>
              <a:pPr algn="ctr"/>
              <a:r>
                <a:rPr lang="es-BO" sz="1600" dirty="0"/>
                <a:t>Presione        por 4 </a:t>
              </a:r>
              <a:r>
                <a:rPr lang="es-BO" sz="1600" dirty="0" err="1"/>
                <a:t>seg</a:t>
              </a:r>
              <a:r>
                <a:rPr lang="es-BO" sz="1600" dirty="0"/>
                <a:t>.</a:t>
              </a:r>
            </a:p>
          </p:txBody>
        </p:sp>
        <p:grpSp>
          <p:nvGrpSpPr>
            <p:cNvPr id="103" name="Grupo 102">
              <a:extLst>
                <a:ext uri="{FF2B5EF4-FFF2-40B4-BE49-F238E27FC236}">
                  <a16:creationId xmlns:a16="http://schemas.microsoft.com/office/drawing/2014/main" id="{E4863DB8-771D-2F73-D7B0-BAC9E1395C0F}"/>
                </a:ext>
              </a:extLst>
            </p:cNvPr>
            <p:cNvGrpSpPr/>
            <p:nvPr/>
          </p:nvGrpSpPr>
          <p:grpSpPr>
            <a:xfrm>
              <a:off x="6966403" y="3620556"/>
              <a:ext cx="273803" cy="230771"/>
              <a:chOff x="7408027" y="3596096"/>
              <a:chExt cx="343152" cy="293331"/>
            </a:xfrm>
          </p:grpSpPr>
          <p:sp>
            <p:nvSpPr>
              <p:cNvPr id="104" name="Rectángulo 103">
                <a:extLst>
                  <a:ext uri="{FF2B5EF4-FFF2-40B4-BE49-F238E27FC236}">
                    <a16:creationId xmlns:a16="http://schemas.microsoft.com/office/drawing/2014/main" id="{DB40DC41-A239-4443-66D0-9E5FE7F3C2B1}"/>
                  </a:ext>
                </a:extLst>
              </p:cNvPr>
              <p:cNvSpPr/>
              <p:nvPr/>
            </p:nvSpPr>
            <p:spPr>
              <a:xfrm>
                <a:off x="7408027" y="3596162"/>
                <a:ext cx="343152" cy="2932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105" name="Elipse 104">
                <a:extLst>
                  <a:ext uri="{FF2B5EF4-FFF2-40B4-BE49-F238E27FC236}">
                    <a16:creationId xmlns:a16="http://schemas.microsoft.com/office/drawing/2014/main" id="{98B67CCB-6F7E-6B02-E382-A4AA57E4DC6B}"/>
                  </a:ext>
                </a:extLst>
              </p:cNvPr>
              <p:cNvSpPr/>
              <p:nvPr/>
            </p:nvSpPr>
            <p:spPr>
              <a:xfrm>
                <a:off x="7442067" y="3596096"/>
                <a:ext cx="305649" cy="2898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grpSp>
      </p:grpSp>
      <p:sp>
        <p:nvSpPr>
          <p:cNvPr id="106" name="CuadroTexto 105">
            <a:extLst>
              <a:ext uri="{FF2B5EF4-FFF2-40B4-BE49-F238E27FC236}">
                <a16:creationId xmlns:a16="http://schemas.microsoft.com/office/drawing/2014/main" id="{290F5757-2CC8-B299-2CED-BDF405508837}"/>
              </a:ext>
            </a:extLst>
          </p:cNvPr>
          <p:cNvSpPr txBox="1"/>
          <p:nvPr/>
        </p:nvSpPr>
        <p:spPr>
          <a:xfrm>
            <a:off x="8921981" y="3675151"/>
            <a:ext cx="1663378"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BO" sz="1600" dirty="0"/>
              <a:t>Iniciar Control</a:t>
            </a:r>
          </a:p>
        </p:txBody>
      </p:sp>
      <p:pic>
        <p:nvPicPr>
          <p:cNvPr id="109" name="Imagen 108">
            <a:extLst>
              <a:ext uri="{FF2B5EF4-FFF2-40B4-BE49-F238E27FC236}">
                <a16:creationId xmlns:a16="http://schemas.microsoft.com/office/drawing/2014/main" id="{AAC230EF-9B33-5878-E267-60975AF2ADA7}"/>
              </a:ext>
            </a:extLst>
          </p:cNvPr>
          <p:cNvPicPr>
            <a:picLocks noChangeAspect="1"/>
          </p:cNvPicPr>
          <p:nvPr/>
        </p:nvPicPr>
        <p:blipFill rotWithShape="1">
          <a:blip r:embed="rId10">
            <a:extLst>
              <a:ext uri="{BEBA8EAE-BF5A-486C-A8C5-ECC9F3942E4B}">
                <a14:imgProps xmlns:a14="http://schemas.microsoft.com/office/drawing/2010/main">
                  <a14:imgLayer r:embed="rId11">
                    <a14:imgEffect>
                      <a14:sharpenSoften amount="50000"/>
                    </a14:imgEffect>
                  </a14:imgLayer>
                </a14:imgProps>
              </a:ext>
            </a:extLst>
          </a:blip>
          <a:srcRect l="7292" t="9762" r="3661" b="3562"/>
          <a:stretch/>
        </p:blipFill>
        <p:spPr>
          <a:xfrm>
            <a:off x="7943220" y="4143330"/>
            <a:ext cx="1319934" cy="817592"/>
          </a:xfrm>
          <a:prstGeom prst="rect">
            <a:avLst/>
          </a:prstGeom>
        </p:spPr>
      </p:pic>
      <p:sp>
        <p:nvSpPr>
          <p:cNvPr id="110" name="CuadroTexto 109">
            <a:extLst>
              <a:ext uri="{FF2B5EF4-FFF2-40B4-BE49-F238E27FC236}">
                <a16:creationId xmlns:a16="http://schemas.microsoft.com/office/drawing/2014/main" id="{B7CC30B3-6226-8460-9558-6720E6ADDCA2}"/>
              </a:ext>
            </a:extLst>
          </p:cNvPr>
          <p:cNvSpPr txBox="1"/>
          <p:nvPr/>
        </p:nvSpPr>
        <p:spPr>
          <a:xfrm>
            <a:off x="9223409" y="4387601"/>
            <a:ext cx="1408969" cy="338554"/>
          </a:xfrm>
          <a:prstGeom prst="rect">
            <a:avLst/>
          </a:prstGeom>
          <a:noFill/>
        </p:spPr>
        <p:txBody>
          <a:bodyPr wrap="square" rtlCol="0">
            <a:spAutoFit/>
          </a:bodyPr>
          <a:lstStyle/>
          <a:p>
            <a:pPr algn="ctr"/>
            <a:r>
              <a:rPr lang="es-BO" sz="1600" dirty="0"/>
              <a:t>PV/SP         150</a:t>
            </a:r>
          </a:p>
        </p:txBody>
      </p:sp>
      <p:grpSp>
        <p:nvGrpSpPr>
          <p:cNvPr id="111" name="Grupo 110">
            <a:extLst>
              <a:ext uri="{FF2B5EF4-FFF2-40B4-BE49-F238E27FC236}">
                <a16:creationId xmlns:a16="http://schemas.microsoft.com/office/drawing/2014/main" id="{4755ED69-00FF-B5FB-DE45-D42903D9FBAC}"/>
              </a:ext>
            </a:extLst>
          </p:cNvPr>
          <p:cNvGrpSpPr/>
          <p:nvPr/>
        </p:nvGrpSpPr>
        <p:grpSpPr>
          <a:xfrm>
            <a:off x="6506813" y="4192541"/>
            <a:ext cx="1576654" cy="738664"/>
            <a:chOff x="2329223" y="4678748"/>
            <a:chExt cx="1377089" cy="738664"/>
          </a:xfrm>
        </p:grpSpPr>
        <p:sp>
          <p:nvSpPr>
            <p:cNvPr id="112" name="CuadroTexto 111">
              <a:extLst>
                <a:ext uri="{FF2B5EF4-FFF2-40B4-BE49-F238E27FC236}">
                  <a16:creationId xmlns:a16="http://schemas.microsoft.com/office/drawing/2014/main" id="{E84A9A11-8918-1885-FCF7-01F1CAE99D96}"/>
                </a:ext>
              </a:extLst>
            </p:cNvPr>
            <p:cNvSpPr txBox="1"/>
            <p:nvPr/>
          </p:nvSpPr>
          <p:spPr>
            <a:xfrm>
              <a:off x="2329223" y="4678748"/>
              <a:ext cx="1377089" cy="738664"/>
            </a:xfrm>
            <a:prstGeom prst="rect">
              <a:avLst/>
            </a:prstGeom>
            <a:noFill/>
          </p:spPr>
          <p:txBody>
            <a:bodyPr wrap="square" rtlCol="0">
              <a:spAutoFit/>
            </a:bodyPr>
            <a:lstStyle/>
            <a:p>
              <a:pPr algn="ctr"/>
              <a:r>
                <a:rPr lang="es-BO" sz="1400" dirty="0"/>
                <a:t>Usar </a:t>
              </a:r>
              <a:r>
                <a:rPr lang="es-BO" sz="1400" dirty="0" err="1"/>
                <a:t>jnj</a:t>
              </a:r>
              <a:r>
                <a:rPr lang="es-BO" sz="1400" dirty="0"/>
                <a:t>  y </a:t>
              </a:r>
              <a:r>
                <a:rPr lang="es-BO" sz="1400" dirty="0" err="1"/>
                <a:t>knl</a:t>
              </a:r>
              <a:r>
                <a:rPr lang="es-BO" sz="1400" dirty="0"/>
                <a:t>       para configurar el SP a 150 °C</a:t>
              </a:r>
            </a:p>
          </p:txBody>
        </p:sp>
        <p:grpSp>
          <p:nvGrpSpPr>
            <p:cNvPr id="113" name="Grupo 112">
              <a:extLst>
                <a:ext uri="{FF2B5EF4-FFF2-40B4-BE49-F238E27FC236}">
                  <a16:creationId xmlns:a16="http://schemas.microsoft.com/office/drawing/2014/main" id="{3C0A705D-5546-5505-B5B0-7CCE2D042DDF}"/>
                </a:ext>
              </a:extLst>
            </p:cNvPr>
            <p:cNvGrpSpPr/>
            <p:nvPr/>
          </p:nvGrpSpPr>
          <p:grpSpPr>
            <a:xfrm>
              <a:off x="2897376" y="4755964"/>
              <a:ext cx="583738" cy="175743"/>
              <a:chOff x="2897376" y="4755964"/>
              <a:chExt cx="583738" cy="175743"/>
            </a:xfrm>
          </p:grpSpPr>
          <p:grpSp>
            <p:nvGrpSpPr>
              <p:cNvPr id="114" name="Grupo 113">
                <a:extLst>
                  <a:ext uri="{FF2B5EF4-FFF2-40B4-BE49-F238E27FC236}">
                    <a16:creationId xmlns:a16="http://schemas.microsoft.com/office/drawing/2014/main" id="{68F84F43-7909-B798-54C1-360DC19C0519}"/>
                  </a:ext>
                </a:extLst>
              </p:cNvPr>
              <p:cNvGrpSpPr/>
              <p:nvPr/>
            </p:nvGrpSpPr>
            <p:grpSpPr>
              <a:xfrm>
                <a:off x="2897376" y="4769694"/>
                <a:ext cx="224960" cy="162013"/>
                <a:chOff x="1133475" y="3000375"/>
                <a:chExt cx="360000" cy="280988"/>
              </a:xfrm>
            </p:grpSpPr>
            <p:sp>
              <p:nvSpPr>
                <p:cNvPr id="119" name="Rectángulo 118">
                  <a:extLst>
                    <a:ext uri="{FF2B5EF4-FFF2-40B4-BE49-F238E27FC236}">
                      <a16:creationId xmlns:a16="http://schemas.microsoft.com/office/drawing/2014/main" id="{C9944D1C-1130-9A00-EA59-64C3354EFBAF}"/>
                    </a:ext>
                  </a:extLst>
                </p:cNvPr>
                <p:cNvSpPr/>
                <p:nvPr/>
              </p:nvSpPr>
              <p:spPr>
                <a:xfrm>
                  <a:off x="1133475"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120" name="Forma libre: forma 119">
                  <a:extLst>
                    <a:ext uri="{FF2B5EF4-FFF2-40B4-BE49-F238E27FC236}">
                      <a16:creationId xmlns:a16="http://schemas.microsoft.com/office/drawing/2014/main" id="{BD784848-9611-1DCB-95A7-597C6976C2E9}"/>
                    </a:ext>
                  </a:extLst>
                </p:cNvPr>
                <p:cNvSpPr/>
                <p:nvPr/>
              </p:nvSpPr>
              <p:spPr>
                <a:xfrm>
                  <a:off x="1166813" y="3038475"/>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121" name="Forma libre: forma 120">
                  <a:extLst>
                    <a:ext uri="{FF2B5EF4-FFF2-40B4-BE49-F238E27FC236}">
                      <a16:creationId xmlns:a16="http://schemas.microsoft.com/office/drawing/2014/main" id="{4E3F91D5-CC08-9A33-9D57-AC52E74F0B52}"/>
                    </a:ext>
                  </a:extLst>
                </p:cNvPr>
                <p:cNvSpPr/>
                <p:nvPr/>
              </p:nvSpPr>
              <p:spPr>
                <a:xfrm>
                  <a:off x="1167244" y="3078926"/>
                  <a:ext cx="290512" cy="157163"/>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nvGrpSpPr>
              <p:cNvPr id="115" name="Grupo 114">
                <a:extLst>
                  <a:ext uri="{FF2B5EF4-FFF2-40B4-BE49-F238E27FC236}">
                    <a16:creationId xmlns:a16="http://schemas.microsoft.com/office/drawing/2014/main" id="{9C76D5F9-B43D-0F85-1F2C-67DAF0A1751F}"/>
                  </a:ext>
                </a:extLst>
              </p:cNvPr>
              <p:cNvGrpSpPr/>
              <p:nvPr/>
            </p:nvGrpSpPr>
            <p:grpSpPr>
              <a:xfrm rot="10800000">
                <a:off x="3256152" y="4755964"/>
                <a:ext cx="224962" cy="162013"/>
                <a:chOff x="1203369" y="3000375"/>
                <a:chExt cx="360000" cy="280988"/>
              </a:xfrm>
            </p:grpSpPr>
            <p:sp>
              <p:nvSpPr>
                <p:cNvPr id="116" name="Rectángulo 115">
                  <a:extLst>
                    <a:ext uri="{FF2B5EF4-FFF2-40B4-BE49-F238E27FC236}">
                      <a16:creationId xmlns:a16="http://schemas.microsoft.com/office/drawing/2014/main" id="{F7020830-4E7F-500C-3870-D5B3EC6086A0}"/>
                    </a:ext>
                  </a:extLst>
                </p:cNvPr>
                <p:cNvSpPr/>
                <p:nvPr/>
              </p:nvSpPr>
              <p:spPr>
                <a:xfrm>
                  <a:off x="1203369" y="3000375"/>
                  <a:ext cx="360000" cy="280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117" name="Forma libre: forma 116">
                  <a:extLst>
                    <a:ext uri="{FF2B5EF4-FFF2-40B4-BE49-F238E27FC236}">
                      <a16:creationId xmlns:a16="http://schemas.microsoft.com/office/drawing/2014/main" id="{E81CECC8-27B4-0741-A19C-EDA44172C7F7}"/>
                    </a:ext>
                  </a:extLst>
                </p:cNvPr>
                <p:cNvSpPr/>
                <p:nvPr/>
              </p:nvSpPr>
              <p:spPr>
                <a:xfrm>
                  <a:off x="1226718" y="3038474"/>
                  <a:ext cx="290510" cy="157164"/>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sp>
              <p:nvSpPr>
                <p:cNvPr id="118" name="Forma libre: forma 117">
                  <a:extLst>
                    <a:ext uri="{FF2B5EF4-FFF2-40B4-BE49-F238E27FC236}">
                      <a16:creationId xmlns:a16="http://schemas.microsoft.com/office/drawing/2014/main" id="{DDC85638-2530-B494-A3AC-1B641F677DD4}"/>
                    </a:ext>
                  </a:extLst>
                </p:cNvPr>
                <p:cNvSpPr/>
                <p:nvPr/>
              </p:nvSpPr>
              <p:spPr>
                <a:xfrm>
                  <a:off x="1227146" y="3078926"/>
                  <a:ext cx="290514" cy="157164"/>
                </a:xfrm>
                <a:custGeom>
                  <a:avLst/>
                  <a:gdLst>
                    <a:gd name="connsiteX0" fmla="*/ 0 w 290512"/>
                    <a:gd name="connsiteY0" fmla="*/ 157163 h 157163"/>
                    <a:gd name="connsiteX1" fmla="*/ 147637 w 290512"/>
                    <a:gd name="connsiteY1" fmla="*/ 0 h 157163"/>
                    <a:gd name="connsiteX2" fmla="*/ 290512 w 290512"/>
                    <a:gd name="connsiteY2" fmla="*/ 133350 h 157163"/>
                  </a:gdLst>
                  <a:ahLst/>
                  <a:cxnLst>
                    <a:cxn ang="0">
                      <a:pos x="connsiteX0" y="connsiteY0"/>
                    </a:cxn>
                    <a:cxn ang="0">
                      <a:pos x="connsiteX1" y="connsiteY1"/>
                    </a:cxn>
                    <a:cxn ang="0">
                      <a:pos x="connsiteX2" y="connsiteY2"/>
                    </a:cxn>
                  </a:cxnLst>
                  <a:rect l="l" t="t" r="r" b="b"/>
                  <a:pathLst>
                    <a:path w="290512" h="157163">
                      <a:moveTo>
                        <a:pt x="0" y="157163"/>
                      </a:moveTo>
                      <a:lnTo>
                        <a:pt x="147637" y="0"/>
                      </a:lnTo>
                      <a:lnTo>
                        <a:pt x="290512" y="133350"/>
                      </a:ln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s-BO"/>
                </a:p>
              </p:txBody>
            </p:sp>
          </p:grpSp>
        </p:grpSp>
      </p:grpSp>
      <p:sp>
        <p:nvSpPr>
          <p:cNvPr id="122" name="Flecha: hacia abajo 121">
            <a:extLst>
              <a:ext uri="{FF2B5EF4-FFF2-40B4-BE49-F238E27FC236}">
                <a16:creationId xmlns:a16="http://schemas.microsoft.com/office/drawing/2014/main" id="{2D8321AA-51C6-86F0-9942-A531D5CDAAEC}"/>
              </a:ext>
            </a:extLst>
          </p:cNvPr>
          <p:cNvSpPr/>
          <p:nvPr/>
        </p:nvSpPr>
        <p:spPr>
          <a:xfrm>
            <a:off x="8531355" y="5104039"/>
            <a:ext cx="306742" cy="1064605"/>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dirty="0"/>
          </a:p>
        </p:txBody>
      </p:sp>
      <p:sp>
        <p:nvSpPr>
          <p:cNvPr id="3" name="Elipse 2">
            <a:extLst>
              <a:ext uri="{FF2B5EF4-FFF2-40B4-BE49-F238E27FC236}">
                <a16:creationId xmlns:a16="http://schemas.microsoft.com/office/drawing/2014/main" id="{A935A74B-5B24-A6EE-7A1F-E17BBBB695FD}"/>
              </a:ext>
            </a:extLst>
          </p:cNvPr>
          <p:cNvSpPr/>
          <p:nvPr/>
        </p:nvSpPr>
        <p:spPr>
          <a:xfrm>
            <a:off x="8521108" y="6176923"/>
            <a:ext cx="374453" cy="353594"/>
          </a:xfrm>
          <a:prstGeom prst="ellipse">
            <a:avLst/>
          </a:prstGeom>
          <a:solidFill>
            <a:schemeClr val="accent4">
              <a:lumMod val="60000"/>
              <a:lumOff val="4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600" dirty="0">
                <a:solidFill>
                  <a:schemeClr val="tx1"/>
                </a:solidFill>
              </a:rPr>
              <a:t>2</a:t>
            </a:r>
          </a:p>
        </p:txBody>
      </p:sp>
    </p:spTree>
    <p:extLst>
      <p:ext uri="{BB962C8B-B14F-4D97-AF65-F5344CB8AC3E}">
        <p14:creationId xmlns:p14="http://schemas.microsoft.com/office/powerpoint/2010/main" val="201062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 calcmode="lin" valueType="num">
                                      <p:cBhvr additive="base">
                                        <p:cTn id="45" dur="500" fill="hold"/>
                                        <p:tgtEl>
                                          <p:spTgt spid="42"/>
                                        </p:tgtEl>
                                        <p:attrNameLst>
                                          <p:attrName>ppt_x</p:attrName>
                                        </p:attrNameLst>
                                      </p:cBhvr>
                                      <p:tavLst>
                                        <p:tav tm="0">
                                          <p:val>
                                            <p:strVal val="#ppt_x"/>
                                          </p:val>
                                        </p:tav>
                                        <p:tav tm="100000">
                                          <p:val>
                                            <p:strVal val="#ppt_x"/>
                                          </p:val>
                                        </p:tav>
                                      </p:tavLst>
                                    </p:anim>
                                    <p:anim calcmode="lin" valueType="num">
                                      <p:cBhvr additive="base">
                                        <p:cTn id="46" dur="500" fill="hold"/>
                                        <p:tgtEl>
                                          <p:spTgt spid="4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nodeType="with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fade">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ppt_x"/>
                                          </p:val>
                                        </p:tav>
                                        <p:tav tm="100000">
                                          <p:val>
                                            <p:strVal val="#ppt_x"/>
                                          </p:val>
                                        </p:tav>
                                      </p:tavLst>
                                    </p:anim>
                                    <p:anim calcmode="lin" valueType="num">
                                      <p:cBhvr additive="base">
                                        <p:cTn id="68" dur="500" fill="hold"/>
                                        <p:tgtEl>
                                          <p:spTgt spid="44"/>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anim calcmode="lin" valueType="num">
                                      <p:cBhvr additive="base">
                                        <p:cTn id="71" dur="500" fill="hold"/>
                                        <p:tgtEl>
                                          <p:spTgt spid="56"/>
                                        </p:tgtEl>
                                        <p:attrNameLst>
                                          <p:attrName>ppt_x</p:attrName>
                                        </p:attrNameLst>
                                      </p:cBhvr>
                                      <p:tavLst>
                                        <p:tav tm="0">
                                          <p:val>
                                            <p:strVal val="#ppt_x"/>
                                          </p:val>
                                        </p:tav>
                                        <p:tav tm="100000">
                                          <p:val>
                                            <p:strVal val="#ppt_x"/>
                                          </p:val>
                                        </p:tav>
                                      </p:tavLst>
                                    </p:anim>
                                    <p:anim calcmode="lin" valueType="num">
                                      <p:cBhvr additive="base">
                                        <p:cTn id="72" dur="500" fill="hold"/>
                                        <p:tgtEl>
                                          <p:spTgt spid="56"/>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5"/>
                                        </p:tgtEl>
                                        <p:attrNameLst>
                                          <p:attrName>style.visibility</p:attrName>
                                        </p:attrNameLst>
                                      </p:cBhvr>
                                      <p:to>
                                        <p:strVal val="visible"/>
                                      </p:to>
                                    </p:set>
                                    <p:anim calcmode="lin" valueType="num">
                                      <p:cBhvr additive="base">
                                        <p:cTn id="75" dur="500" fill="hold"/>
                                        <p:tgtEl>
                                          <p:spTgt spid="45"/>
                                        </p:tgtEl>
                                        <p:attrNameLst>
                                          <p:attrName>ppt_x</p:attrName>
                                        </p:attrNameLst>
                                      </p:cBhvr>
                                      <p:tavLst>
                                        <p:tav tm="0">
                                          <p:val>
                                            <p:strVal val="#ppt_x"/>
                                          </p:val>
                                        </p:tav>
                                        <p:tav tm="100000">
                                          <p:val>
                                            <p:strVal val="#ppt_x"/>
                                          </p:val>
                                        </p:tav>
                                      </p:tavLst>
                                    </p:anim>
                                    <p:anim calcmode="lin" valueType="num">
                                      <p:cBhvr additive="base">
                                        <p:cTn id="76" dur="500" fill="hold"/>
                                        <p:tgtEl>
                                          <p:spTgt spid="45"/>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500" fill="hold"/>
                                        <p:tgtEl>
                                          <p:spTgt spid="83"/>
                                        </p:tgtEl>
                                        <p:attrNameLst>
                                          <p:attrName>ppt_x</p:attrName>
                                        </p:attrNameLst>
                                      </p:cBhvr>
                                      <p:tavLst>
                                        <p:tav tm="0">
                                          <p:val>
                                            <p:strVal val="#ppt_x"/>
                                          </p:val>
                                        </p:tav>
                                        <p:tav tm="100000">
                                          <p:val>
                                            <p:strVal val="#ppt_x"/>
                                          </p:val>
                                        </p:tav>
                                      </p:tavLst>
                                    </p:anim>
                                    <p:anim calcmode="lin" valueType="num">
                                      <p:cBhvr additive="base">
                                        <p:cTn id="80"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59"/>
                                        </p:tgtEl>
                                        <p:attrNameLst>
                                          <p:attrName>style.visibility</p:attrName>
                                        </p:attrNameLst>
                                      </p:cBhvr>
                                      <p:to>
                                        <p:strVal val="visible"/>
                                      </p:to>
                                    </p:set>
                                    <p:anim calcmode="lin" valueType="num">
                                      <p:cBhvr additive="base">
                                        <p:cTn id="85" dur="500" fill="hold"/>
                                        <p:tgtEl>
                                          <p:spTgt spid="59"/>
                                        </p:tgtEl>
                                        <p:attrNameLst>
                                          <p:attrName>ppt_x</p:attrName>
                                        </p:attrNameLst>
                                      </p:cBhvr>
                                      <p:tavLst>
                                        <p:tav tm="0">
                                          <p:val>
                                            <p:strVal val="#ppt_x"/>
                                          </p:val>
                                        </p:tav>
                                        <p:tav tm="100000">
                                          <p:val>
                                            <p:strVal val="#ppt_x"/>
                                          </p:val>
                                        </p:tav>
                                      </p:tavLst>
                                    </p:anim>
                                    <p:anim calcmode="lin" valueType="num">
                                      <p:cBhvr additive="base">
                                        <p:cTn id="86" dur="500" fill="hold"/>
                                        <p:tgtEl>
                                          <p:spTgt spid="59"/>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65"/>
                                        </p:tgtEl>
                                        <p:attrNameLst>
                                          <p:attrName>style.visibility</p:attrName>
                                        </p:attrNameLst>
                                      </p:cBhvr>
                                      <p:to>
                                        <p:strVal val="visible"/>
                                      </p:to>
                                    </p:set>
                                    <p:anim calcmode="lin" valueType="num">
                                      <p:cBhvr additive="base">
                                        <p:cTn id="89" dur="500" fill="hold"/>
                                        <p:tgtEl>
                                          <p:spTgt spid="65"/>
                                        </p:tgtEl>
                                        <p:attrNameLst>
                                          <p:attrName>ppt_x</p:attrName>
                                        </p:attrNameLst>
                                      </p:cBhvr>
                                      <p:tavLst>
                                        <p:tav tm="0">
                                          <p:val>
                                            <p:strVal val="#ppt_x"/>
                                          </p:val>
                                        </p:tav>
                                        <p:tav tm="100000">
                                          <p:val>
                                            <p:strVal val="#ppt_x"/>
                                          </p:val>
                                        </p:tav>
                                      </p:tavLst>
                                    </p:anim>
                                    <p:anim calcmode="lin" valueType="num">
                                      <p:cBhvr additive="base">
                                        <p:cTn id="90"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71"/>
                                        </p:tgtEl>
                                        <p:attrNameLst>
                                          <p:attrName>style.visibility</p:attrName>
                                        </p:attrNameLst>
                                      </p:cBhvr>
                                      <p:to>
                                        <p:strVal val="visible"/>
                                      </p:to>
                                    </p:set>
                                    <p:anim calcmode="lin" valueType="num">
                                      <p:cBhvr additive="base">
                                        <p:cTn id="95" dur="500" fill="hold"/>
                                        <p:tgtEl>
                                          <p:spTgt spid="71"/>
                                        </p:tgtEl>
                                        <p:attrNameLst>
                                          <p:attrName>ppt_x</p:attrName>
                                        </p:attrNameLst>
                                      </p:cBhvr>
                                      <p:tavLst>
                                        <p:tav tm="0">
                                          <p:val>
                                            <p:strVal val="#ppt_x"/>
                                          </p:val>
                                        </p:tav>
                                        <p:tav tm="100000">
                                          <p:val>
                                            <p:strVal val="#ppt_x"/>
                                          </p:val>
                                        </p:tav>
                                      </p:tavLst>
                                    </p:anim>
                                    <p:anim calcmode="lin" valueType="num">
                                      <p:cBhvr additive="base">
                                        <p:cTn id="96" dur="500" fill="hold"/>
                                        <p:tgtEl>
                                          <p:spTgt spid="71"/>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70"/>
                                        </p:tgtEl>
                                        <p:attrNameLst>
                                          <p:attrName>style.visibility</p:attrName>
                                        </p:attrNameLst>
                                      </p:cBhvr>
                                      <p:to>
                                        <p:strVal val="visible"/>
                                      </p:to>
                                    </p:set>
                                    <p:anim calcmode="lin" valueType="num">
                                      <p:cBhvr additive="base">
                                        <p:cTn id="99" dur="500" fill="hold"/>
                                        <p:tgtEl>
                                          <p:spTgt spid="70"/>
                                        </p:tgtEl>
                                        <p:attrNameLst>
                                          <p:attrName>ppt_x</p:attrName>
                                        </p:attrNameLst>
                                      </p:cBhvr>
                                      <p:tavLst>
                                        <p:tav tm="0">
                                          <p:val>
                                            <p:strVal val="#ppt_x"/>
                                          </p:val>
                                        </p:tav>
                                        <p:tav tm="100000">
                                          <p:val>
                                            <p:strVal val="#ppt_x"/>
                                          </p:val>
                                        </p:tav>
                                      </p:tavLst>
                                    </p:anim>
                                    <p:anim calcmode="lin" valueType="num">
                                      <p:cBhvr additive="base">
                                        <p:cTn id="100" dur="500" fill="hold"/>
                                        <p:tgtEl>
                                          <p:spTgt spid="7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82"/>
                                        </p:tgtEl>
                                        <p:attrNameLst>
                                          <p:attrName>style.visibility</p:attrName>
                                        </p:attrNameLst>
                                      </p:cBhvr>
                                      <p:to>
                                        <p:strVal val="visible"/>
                                      </p:to>
                                    </p:set>
                                    <p:anim calcmode="lin" valueType="num">
                                      <p:cBhvr additive="base">
                                        <p:cTn id="103" dur="500" fill="hold"/>
                                        <p:tgtEl>
                                          <p:spTgt spid="82"/>
                                        </p:tgtEl>
                                        <p:attrNameLst>
                                          <p:attrName>ppt_x</p:attrName>
                                        </p:attrNameLst>
                                      </p:cBhvr>
                                      <p:tavLst>
                                        <p:tav tm="0">
                                          <p:val>
                                            <p:strVal val="#ppt_x"/>
                                          </p:val>
                                        </p:tav>
                                        <p:tav tm="100000">
                                          <p:val>
                                            <p:strVal val="#ppt_x"/>
                                          </p:val>
                                        </p:tav>
                                      </p:tavLst>
                                    </p:anim>
                                    <p:anim calcmode="lin" valueType="num">
                                      <p:cBhvr additive="base">
                                        <p:cTn id="104" dur="500" fill="hold"/>
                                        <p:tgtEl>
                                          <p:spTgt spid="82"/>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84"/>
                                        </p:tgtEl>
                                        <p:attrNameLst>
                                          <p:attrName>style.visibility</p:attrName>
                                        </p:attrNameLst>
                                      </p:cBhvr>
                                      <p:to>
                                        <p:strVal val="visible"/>
                                      </p:to>
                                    </p:set>
                                    <p:anim calcmode="lin" valueType="num">
                                      <p:cBhvr additive="base">
                                        <p:cTn id="107" dur="500" fill="hold"/>
                                        <p:tgtEl>
                                          <p:spTgt spid="84"/>
                                        </p:tgtEl>
                                        <p:attrNameLst>
                                          <p:attrName>ppt_x</p:attrName>
                                        </p:attrNameLst>
                                      </p:cBhvr>
                                      <p:tavLst>
                                        <p:tav tm="0">
                                          <p:val>
                                            <p:strVal val="#ppt_x"/>
                                          </p:val>
                                        </p:tav>
                                        <p:tav tm="100000">
                                          <p:val>
                                            <p:strVal val="#ppt_x"/>
                                          </p:val>
                                        </p:tav>
                                      </p:tavLst>
                                    </p:anim>
                                    <p:anim calcmode="lin" valueType="num">
                                      <p:cBhvr additive="base">
                                        <p:cTn id="108" dur="500" fill="hold"/>
                                        <p:tgtEl>
                                          <p:spTgt spid="84"/>
                                        </p:tgtEl>
                                        <p:attrNameLst>
                                          <p:attrName>ppt_y</p:attrName>
                                        </p:attrNameLst>
                                      </p:cBhvr>
                                      <p:tavLst>
                                        <p:tav tm="0">
                                          <p:val>
                                            <p:strVal val="1+#ppt_h/2"/>
                                          </p:val>
                                        </p:tav>
                                        <p:tav tm="100000">
                                          <p:val>
                                            <p:strVal val="#ppt_y"/>
                                          </p:val>
                                        </p:tav>
                                      </p:tavLst>
                                    </p:anim>
                                  </p:childTnLst>
                                </p:cTn>
                              </p:par>
                              <p:par>
                                <p:cTn id="109" presetID="1" presetClass="entr" presetSubtype="0" fill="hold" grpId="0" nodeType="withEffect">
                                  <p:stCondLst>
                                    <p:cond delay="0"/>
                                  </p:stCondLst>
                                  <p:childTnLst>
                                    <p:set>
                                      <p:cBhvr>
                                        <p:cTn id="110" dur="1" fill="hold">
                                          <p:stCondLst>
                                            <p:cond delay="0"/>
                                          </p:stCondLst>
                                        </p:cTn>
                                        <p:tgtEl>
                                          <p:spTgt spid="8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85"/>
                                        </p:tgtEl>
                                        <p:attrNameLst>
                                          <p:attrName>style.visibility</p:attrName>
                                        </p:attrNameLst>
                                      </p:cBhvr>
                                      <p:to>
                                        <p:strVal val="visible"/>
                                      </p:to>
                                    </p:set>
                                    <p:anim calcmode="lin" valueType="num">
                                      <p:cBhvr additive="base">
                                        <p:cTn id="115" dur="500" fill="hold"/>
                                        <p:tgtEl>
                                          <p:spTgt spid="85"/>
                                        </p:tgtEl>
                                        <p:attrNameLst>
                                          <p:attrName>ppt_x</p:attrName>
                                        </p:attrNameLst>
                                      </p:cBhvr>
                                      <p:tavLst>
                                        <p:tav tm="0">
                                          <p:val>
                                            <p:strVal val="#ppt_x"/>
                                          </p:val>
                                        </p:tav>
                                        <p:tav tm="100000">
                                          <p:val>
                                            <p:strVal val="#ppt_x"/>
                                          </p:val>
                                        </p:tav>
                                      </p:tavLst>
                                    </p:anim>
                                    <p:anim calcmode="lin" valueType="num">
                                      <p:cBhvr additive="base">
                                        <p:cTn id="116" dur="500" fill="hold"/>
                                        <p:tgtEl>
                                          <p:spTgt spid="85"/>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86"/>
                                        </p:tgtEl>
                                        <p:attrNameLst>
                                          <p:attrName>style.visibility</p:attrName>
                                        </p:attrNameLst>
                                      </p:cBhvr>
                                      <p:to>
                                        <p:strVal val="visible"/>
                                      </p:to>
                                    </p:set>
                                    <p:anim calcmode="lin" valueType="num">
                                      <p:cBhvr additive="base">
                                        <p:cTn id="119" dur="500" fill="hold"/>
                                        <p:tgtEl>
                                          <p:spTgt spid="86"/>
                                        </p:tgtEl>
                                        <p:attrNameLst>
                                          <p:attrName>ppt_x</p:attrName>
                                        </p:attrNameLst>
                                      </p:cBhvr>
                                      <p:tavLst>
                                        <p:tav tm="0">
                                          <p:val>
                                            <p:strVal val="#ppt_x"/>
                                          </p:val>
                                        </p:tav>
                                        <p:tav tm="100000">
                                          <p:val>
                                            <p:strVal val="#ppt_x"/>
                                          </p:val>
                                        </p:tav>
                                      </p:tavLst>
                                    </p:anim>
                                    <p:anim calcmode="lin" valueType="num">
                                      <p:cBhvr additive="base">
                                        <p:cTn id="120" dur="500" fill="hold"/>
                                        <p:tgtEl>
                                          <p:spTgt spid="86"/>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87"/>
                                        </p:tgtEl>
                                        <p:attrNameLst>
                                          <p:attrName>style.visibility</p:attrName>
                                        </p:attrNameLst>
                                      </p:cBhvr>
                                      <p:to>
                                        <p:strVal val="visible"/>
                                      </p:to>
                                    </p:set>
                                    <p:anim calcmode="lin" valueType="num">
                                      <p:cBhvr additive="base">
                                        <p:cTn id="123" dur="500" fill="hold"/>
                                        <p:tgtEl>
                                          <p:spTgt spid="87"/>
                                        </p:tgtEl>
                                        <p:attrNameLst>
                                          <p:attrName>ppt_x</p:attrName>
                                        </p:attrNameLst>
                                      </p:cBhvr>
                                      <p:tavLst>
                                        <p:tav tm="0">
                                          <p:val>
                                            <p:strVal val="#ppt_x"/>
                                          </p:val>
                                        </p:tav>
                                        <p:tav tm="100000">
                                          <p:val>
                                            <p:strVal val="#ppt_x"/>
                                          </p:val>
                                        </p:tav>
                                      </p:tavLst>
                                    </p:anim>
                                    <p:anim calcmode="lin" valueType="num">
                                      <p:cBhvr additive="base">
                                        <p:cTn id="124" dur="500" fill="hold"/>
                                        <p:tgtEl>
                                          <p:spTgt spid="8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90"/>
                                        </p:tgtEl>
                                        <p:attrNameLst>
                                          <p:attrName>style.visibility</p:attrName>
                                        </p:attrNameLst>
                                      </p:cBhvr>
                                      <p:to>
                                        <p:strVal val="visible"/>
                                      </p:to>
                                    </p:set>
                                    <p:anim calcmode="lin" valueType="num">
                                      <p:cBhvr additive="base">
                                        <p:cTn id="127" dur="500" fill="hold"/>
                                        <p:tgtEl>
                                          <p:spTgt spid="90"/>
                                        </p:tgtEl>
                                        <p:attrNameLst>
                                          <p:attrName>ppt_x</p:attrName>
                                        </p:attrNameLst>
                                      </p:cBhvr>
                                      <p:tavLst>
                                        <p:tav tm="0">
                                          <p:val>
                                            <p:strVal val="#ppt_x"/>
                                          </p:val>
                                        </p:tav>
                                        <p:tav tm="100000">
                                          <p:val>
                                            <p:strVal val="#ppt_x"/>
                                          </p:val>
                                        </p:tav>
                                      </p:tavLst>
                                    </p:anim>
                                    <p:anim calcmode="lin" valueType="num">
                                      <p:cBhvr additive="base">
                                        <p:cTn id="128" dur="500" fill="hold"/>
                                        <p:tgtEl>
                                          <p:spTgt spid="90"/>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95"/>
                                        </p:tgtEl>
                                        <p:attrNameLst>
                                          <p:attrName>style.visibility</p:attrName>
                                        </p:attrNameLst>
                                      </p:cBhvr>
                                      <p:to>
                                        <p:strVal val="visible"/>
                                      </p:to>
                                    </p:set>
                                    <p:anim calcmode="lin" valueType="num">
                                      <p:cBhvr additive="base">
                                        <p:cTn id="131" dur="500" fill="hold"/>
                                        <p:tgtEl>
                                          <p:spTgt spid="95"/>
                                        </p:tgtEl>
                                        <p:attrNameLst>
                                          <p:attrName>ppt_x</p:attrName>
                                        </p:attrNameLst>
                                      </p:cBhvr>
                                      <p:tavLst>
                                        <p:tav tm="0">
                                          <p:val>
                                            <p:strVal val="#ppt_x"/>
                                          </p:val>
                                        </p:tav>
                                        <p:tav tm="100000">
                                          <p:val>
                                            <p:strVal val="#ppt_x"/>
                                          </p:val>
                                        </p:tav>
                                      </p:tavLst>
                                    </p:anim>
                                    <p:anim calcmode="lin" valueType="num">
                                      <p:cBhvr additive="base">
                                        <p:cTn id="132"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92"/>
                                        </p:tgtEl>
                                        <p:attrNameLst>
                                          <p:attrName>style.visibility</p:attrName>
                                        </p:attrNameLst>
                                      </p:cBhvr>
                                      <p:to>
                                        <p:strVal val="visible"/>
                                      </p:to>
                                    </p:set>
                                    <p:anim calcmode="lin" valueType="num">
                                      <p:cBhvr additive="base">
                                        <p:cTn id="137" dur="500" fill="hold"/>
                                        <p:tgtEl>
                                          <p:spTgt spid="92"/>
                                        </p:tgtEl>
                                        <p:attrNameLst>
                                          <p:attrName>ppt_x</p:attrName>
                                        </p:attrNameLst>
                                      </p:cBhvr>
                                      <p:tavLst>
                                        <p:tav tm="0">
                                          <p:val>
                                            <p:strVal val="#ppt_x"/>
                                          </p:val>
                                        </p:tav>
                                        <p:tav tm="100000">
                                          <p:val>
                                            <p:strVal val="#ppt_x"/>
                                          </p:val>
                                        </p:tav>
                                      </p:tavLst>
                                    </p:anim>
                                    <p:anim calcmode="lin" valueType="num">
                                      <p:cBhvr additive="base">
                                        <p:cTn id="138" dur="500" fill="hold"/>
                                        <p:tgtEl>
                                          <p:spTgt spid="92"/>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89"/>
                                        </p:tgtEl>
                                        <p:attrNameLst>
                                          <p:attrName>style.visibility</p:attrName>
                                        </p:attrNameLst>
                                      </p:cBhvr>
                                      <p:to>
                                        <p:strVal val="visible"/>
                                      </p:to>
                                    </p:set>
                                    <p:anim calcmode="lin" valueType="num">
                                      <p:cBhvr additive="base">
                                        <p:cTn id="141" dur="500" fill="hold"/>
                                        <p:tgtEl>
                                          <p:spTgt spid="89"/>
                                        </p:tgtEl>
                                        <p:attrNameLst>
                                          <p:attrName>ppt_x</p:attrName>
                                        </p:attrNameLst>
                                      </p:cBhvr>
                                      <p:tavLst>
                                        <p:tav tm="0">
                                          <p:val>
                                            <p:strVal val="#ppt_x"/>
                                          </p:val>
                                        </p:tav>
                                        <p:tav tm="100000">
                                          <p:val>
                                            <p:strVal val="#ppt_x"/>
                                          </p:val>
                                        </p:tav>
                                      </p:tavLst>
                                    </p:anim>
                                    <p:anim calcmode="lin" valueType="num">
                                      <p:cBhvr additive="base">
                                        <p:cTn id="142" dur="500" fill="hold"/>
                                        <p:tgtEl>
                                          <p:spTgt spid="89"/>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91"/>
                                        </p:tgtEl>
                                        <p:attrNameLst>
                                          <p:attrName>style.visibility</p:attrName>
                                        </p:attrNameLst>
                                      </p:cBhvr>
                                      <p:to>
                                        <p:strVal val="visible"/>
                                      </p:to>
                                    </p:set>
                                    <p:anim calcmode="lin" valueType="num">
                                      <p:cBhvr additive="base">
                                        <p:cTn id="145" dur="500" fill="hold"/>
                                        <p:tgtEl>
                                          <p:spTgt spid="91"/>
                                        </p:tgtEl>
                                        <p:attrNameLst>
                                          <p:attrName>ppt_x</p:attrName>
                                        </p:attrNameLst>
                                      </p:cBhvr>
                                      <p:tavLst>
                                        <p:tav tm="0">
                                          <p:val>
                                            <p:strVal val="#ppt_x"/>
                                          </p:val>
                                        </p:tav>
                                        <p:tav tm="100000">
                                          <p:val>
                                            <p:strVal val="#ppt_x"/>
                                          </p:val>
                                        </p:tav>
                                      </p:tavLst>
                                    </p:anim>
                                    <p:anim calcmode="lin" valueType="num">
                                      <p:cBhvr additive="base">
                                        <p:cTn id="146"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93"/>
                                        </p:tgtEl>
                                        <p:attrNameLst>
                                          <p:attrName>style.visibility</p:attrName>
                                        </p:attrNameLst>
                                      </p:cBhvr>
                                      <p:to>
                                        <p:strVal val="visible"/>
                                      </p:to>
                                    </p:set>
                                    <p:anim calcmode="lin" valueType="num">
                                      <p:cBhvr additive="base">
                                        <p:cTn id="151" dur="500" fill="hold"/>
                                        <p:tgtEl>
                                          <p:spTgt spid="93"/>
                                        </p:tgtEl>
                                        <p:attrNameLst>
                                          <p:attrName>ppt_x</p:attrName>
                                        </p:attrNameLst>
                                      </p:cBhvr>
                                      <p:tavLst>
                                        <p:tav tm="0">
                                          <p:val>
                                            <p:strVal val="#ppt_x"/>
                                          </p:val>
                                        </p:tav>
                                        <p:tav tm="100000">
                                          <p:val>
                                            <p:strVal val="#ppt_x"/>
                                          </p:val>
                                        </p:tav>
                                      </p:tavLst>
                                    </p:anim>
                                    <p:anim calcmode="lin" valueType="num">
                                      <p:cBhvr additive="base">
                                        <p:cTn id="152" dur="500" fill="hold"/>
                                        <p:tgtEl>
                                          <p:spTgt spid="93"/>
                                        </p:tgtEl>
                                        <p:attrNameLst>
                                          <p:attrName>ppt_y</p:attrName>
                                        </p:attrNameLst>
                                      </p:cBhvr>
                                      <p:tavLst>
                                        <p:tav tm="0">
                                          <p:val>
                                            <p:strVal val="1+#ppt_h/2"/>
                                          </p:val>
                                        </p:tav>
                                        <p:tav tm="100000">
                                          <p:val>
                                            <p:strVal val="#ppt_y"/>
                                          </p:val>
                                        </p:tav>
                                      </p:tavLst>
                                    </p:anim>
                                  </p:childTnLst>
                                </p:cTn>
                              </p:par>
                              <p:par>
                                <p:cTn id="153" presetID="2" presetClass="entr" presetSubtype="4" fill="hold" nodeType="withEffect">
                                  <p:stCondLst>
                                    <p:cond delay="0"/>
                                  </p:stCondLst>
                                  <p:childTnLst>
                                    <p:set>
                                      <p:cBhvr>
                                        <p:cTn id="154" dur="1" fill="hold">
                                          <p:stCondLst>
                                            <p:cond delay="0"/>
                                          </p:stCondLst>
                                        </p:cTn>
                                        <p:tgtEl>
                                          <p:spTgt spid="94"/>
                                        </p:tgtEl>
                                        <p:attrNameLst>
                                          <p:attrName>style.visibility</p:attrName>
                                        </p:attrNameLst>
                                      </p:cBhvr>
                                      <p:to>
                                        <p:strVal val="visible"/>
                                      </p:to>
                                    </p:set>
                                    <p:anim calcmode="lin" valueType="num">
                                      <p:cBhvr additive="base">
                                        <p:cTn id="155" dur="500" fill="hold"/>
                                        <p:tgtEl>
                                          <p:spTgt spid="94"/>
                                        </p:tgtEl>
                                        <p:attrNameLst>
                                          <p:attrName>ppt_x</p:attrName>
                                        </p:attrNameLst>
                                      </p:cBhvr>
                                      <p:tavLst>
                                        <p:tav tm="0">
                                          <p:val>
                                            <p:strVal val="#ppt_x"/>
                                          </p:val>
                                        </p:tav>
                                        <p:tav tm="100000">
                                          <p:val>
                                            <p:strVal val="#ppt_x"/>
                                          </p:val>
                                        </p:tav>
                                      </p:tavLst>
                                    </p:anim>
                                    <p:anim calcmode="lin" valueType="num">
                                      <p:cBhvr additive="base">
                                        <p:cTn id="156"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62"/>
                                        </p:tgtEl>
                                        <p:attrNameLst>
                                          <p:attrName>style.visibility</p:attrName>
                                        </p:attrNameLst>
                                      </p:cBhvr>
                                      <p:to>
                                        <p:strVal val="visible"/>
                                      </p:to>
                                    </p:set>
                                    <p:anim calcmode="lin" valueType="num">
                                      <p:cBhvr additive="base">
                                        <p:cTn id="161" dur="500" fill="hold"/>
                                        <p:tgtEl>
                                          <p:spTgt spid="62"/>
                                        </p:tgtEl>
                                        <p:attrNameLst>
                                          <p:attrName>ppt_x</p:attrName>
                                        </p:attrNameLst>
                                      </p:cBhvr>
                                      <p:tavLst>
                                        <p:tav tm="0">
                                          <p:val>
                                            <p:strVal val="#ppt_x"/>
                                          </p:val>
                                        </p:tav>
                                        <p:tav tm="100000">
                                          <p:val>
                                            <p:strVal val="#ppt_x"/>
                                          </p:val>
                                        </p:tav>
                                      </p:tavLst>
                                    </p:anim>
                                    <p:anim calcmode="lin" valueType="num">
                                      <p:cBhvr additive="base">
                                        <p:cTn id="162" dur="500" fill="hold"/>
                                        <p:tgtEl>
                                          <p:spTgt spid="62"/>
                                        </p:tgtEl>
                                        <p:attrNameLst>
                                          <p:attrName>ppt_y</p:attrName>
                                        </p:attrNameLst>
                                      </p:cBhvr>
                                      <p:tavLst>
                                        <p:tav tm="0">
                                          <p:val>
                                            <p:strVal val="1+#ppt_h/2"/>
                                          </p:val>
                                        </p:tav>
                                        <p:tav tm="100000">
                                          <p:val>
                                            <p:strVal val="#ppt_y"/>
                                          </p:val>
                                        </p:tav>
                                      </p:tavLst>
                                    </p:anim>
                                  </p:childTnLst>
                                </p:cTn>
                              </p:par>
                              <p:par>
                                <p:cTn id="163" presetID="2" presetClass="entr" presetSubtype="4" fill="hold" nodeType="withEffect">
                                  <p:stCondLst>
                                    <p:cond delay="0"/>
                                  </p:stCondLst>
                                  <p:childTnLst>
                                    <p:set>
                                      <p:cBhvr>
                                        <p:cTn id="164" dur="1" fill="hold">
                                          <p:stCondLst>
                                            <p:cond delay="0"/>
                                          </p:stCondLst>
                                        </p:cTn>
                                        <p:tgtEl>
                                          <p:spTgt spid="58"/>
                                        </p:tgtEl>
                                        <p:attrNameLst>
                                          <p:attrName>style.visibility</p:attrName>
                                        </p:attrNameLst>
                                      </p:cBhvr>
                                      <p:to>
                                        <p:strVal val="visible"/>
                                      </p:to>
                                    </p:set>
                                    <p:anim calcmode="lin" valueType="num">
                                      <p:cBhvr additive="base">
                                        <p:cTn id="165" dur="500" fill="hold"/>
                                        <p:tgtEl>
                                          <p:spTgt spid="58"/>
                                        </p:tgtEl>
                                        <p:attrNameLst>
                                          <p:attrName>ppt_x</p:attrName>
                                        </p:attrNameLst>
                                      </p:cBhvr>
                                      <p:tavLst>
                                        <p:tav tm="0">
                                          <p:val>
                                            <p:strVal val="#ppt_x"/>
                                          </p:val>
                                        </p:tav>
                                        <p:tav tm="100000">
                                          <p:val>
                                            <p:strVal val="#ppt_x"/>
                                          </p:val>
                                        </p:tav>
                                      </p:tavLst>
                                    </p:anim>
                                    <p:anim calcmode="lin" valueType="num">
                                      <p:cBhvr additive="base">
                                        <p:cTn id="166" dur="500" fill="hold"/>
                                        <p:tgtEl>
                                          <p:spTgt spid="58"/>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61"/>
                                        </p:tgtEl>
                                        <p:attrNameLst>
                                          <p:attrName>style.visibility</p:attrName>
                                        </p:attrNameLst>
                                      </p:cBhvr>
                                      <p:to>
                                        <p:strVal val="visible"/>
                                      </p:to>
                                    </p:set>
                                    <p:anim calcmode="lin" valueType="num">
                                      <p:cBhvr additive="base">
                                        <p:cTn id="169" dur="500" fill="hold"/>
                                        <p:tgtEl>
                                          <p:spTgt spid="61"/>
                                        </p:tgtEl>
                                        <p:attrNameLst>
                                          <p:attrName>ppt_x</p:attrName>
                                        </p:attrNameLst>
                                      </p:cBhvr>
                                      <p:tavLst>
                                        <p:tav tm="0">
                                          <p:val>
                                            <p:strVal val="#ppt_x"/>
                                          </p:val>
                                        </p:tav>
                                        <p:tav tm="100000">
                                          <p:val>
                                            <p:strVal val="#ppt_x"/>
                                          </p:val>
                                        </p:tav>
                                      </p:tavLst>
                                    </p:anim>
                                    <p:anim calcmode="lin" valueType="num">
                                      <p:cBhvr additive="base">
                                        <p:cTn id="170"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1"/>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6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66"/>
                                        </p:tgtEl>
                                        <p:attrNameLst>
                                          <p:attrName>style.visibility</p:attrName>
                                        </p:attrNameLst>
                                      </p:cBhvr>
                                      <p:to>
                                        <p:strVal val="visible"/>
                                      </p:to>
                                    </p:set>
                                    <p:anim calcmode="lin" valueType="num">
                                      <p:cBhvr additive="base">
                                        <p:cTn id="183" dur="500" fill="hold"/>
                                        <p:tgtEl>
                                          <p:spTgt spid="66"/>
                                        </p:tgtEl>
                                        <p:attrNameLst>
                                          <p:attrName>ppt_x</p:attrName>
                                        </p:attrNameLst>
                                      </p:cBhvr>
                                      <p:tavLst>
                                        <p:tav tm="0">
                                          <p:val>
                                            <p:strVal val="#ppt_x"/>
                                          </p:val>
                                        </p:tav>
                                        <p:tav tm="100000">
                                          <p:val>
                                            <p:strVal val="#ppt_x"/>
                                          </p:val>
                                        </p:tav>
                                      </p:tavLst>
                                    </p:anim>
                                    <p:anim calcmode="lin" valueType="num">
                                      <p:cBhvr additive="base">
                                        <p:cTn id="184" dur="500" fill="hold"/>
                                        <p:tgtEl>
                                          <p:spTgt spid="66"/>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60"/>
                                        </p:tgtEl>
                                        <p:attrNameLst>
                                          <p:attrName>style.visibility</p:attrName>
                                        </p:attrNameLst>
                                      </p:cBhvr>
                                      <p:to>
                                        <p:strVal val="visible"/>
                                      </p:to>
                                    </p:set>
                                    <p:anim calcmode="lin" valueType="num">
                                      <p:cBhvr additive="base">
                                        <p:cTn id="187" dur="500" fill="hold"/>
                                        <p:tgtEl>
                                          <p:spTgt spid="60"/>
                                        </p:tgtEl>
                                        <p:attrNameLst>
                                          <p:attrName>ppt_x</p:attrName>
                                        </p:attrNameLst>
                                      </p:cBhvr>
                                      <p:tavLst>
                                        <p:tav tm="0">
                                          <p:val>
                                            <p:strVal val="#ppt_x"/>
                                          </p:val>
                                        </p:tav>
                                        <p:tav tm="100000">
                                          <p:val>
                                            <p:strVal val="#ppt_x"/>
                                          </p:val>
                                        </p:tav>
                                      </p:tavLst>
                                    </p:anim>
                                    <p:anim calcmode="lin" valueType="num">
                                      <p:cBhvr additive="base">
                                        <p:cTn id="18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30"/>
                                        </p:tgtEl>
                                        <p:attrNameLst>
                                          <p:attrName>style.visibility</p:attrName>
                                        </p:attrNameLst>
                                      </p:cBhvr>
                                      <p:to>
                                        <p:strVal val="visible"/>
                                      </p:to>
                                    </p:set>
                                    <p:anim calcmode="lin" valueType="num">
                                      <p:cBhvr additive="base">
                                        <p:cTn id="193" dur="500" fill="hold"/>
                                        <p:tgtEl>
                                          <p:spTgt spid="30"/>
                                        </p:tgtEl>
                                        <p:attrNameLst>
                                          <p:attrName>ppt_x</p:attrName>
                                        </p:attrNameLst>
                                      </p:cBhvr>
                                      <p:tavLst>
                                        <p:tav tm="0">
                                          <p:val>
                                            <p:strVal val="#ppt_x"/>
                                          </p:val>
                                        </p:tav>
                                        <p:tav tm="100000">
                                          <p:val>
                                            <p:strVal val="#ppt_x"/>
                                          </p:val>
                                        </p:tav>
                                      </p:tavLst>
                                    </p:anim>
                                    <p:anim calcmode="lin" valueType="num">
                                      <p:cBhvr additive="base">
                                        <p:cTn id="194" dur="500" fill="hold"/>
                                        <p:tgtEl>
                                          <p:spTgt spid="30"/>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06"/>
                                        </p:tgtEl>
                                        <p:attrNameLst>
                                          <p:attrName>style.visibility</p:attrName>
                                        </p:attrNameLst>
                                      </p:cBhvr>
                                      <p:to>
                                        <p:strVal val="visible"/>
                                      </p:to>
                                    </p:set>
                                    <p:anim calcmode="lin" valueType="num">
                                      <p:cBhvr additive="base">
                                        <p:cTn id="197" dur="500" fill="hold"/>
                                        <p:tgtEl>
                                          <p:spTgt spid="106"/>
                                        </p:tgtEl>
                                        <p:attrNameLst>
                                          <p:attrName>ppt_x</p:attrName>
                                        </p:attrNameLst>
                                      </p:cBhvr>
                                      <p:tavLst>
                                        <p:tav tm="0">
                                          <p:val>
                                            <p:strVal val="#ppt_x"/>
                                          </p:val>
                                        </p:tav>
                                        <p:tav tm="100000">
                                          <p:val>
                                            <p:strVal val="#ppt_x"/>
                                          </p:val>
                                        </p:tav>
                                      </p:tavLst>
                                    </p:anim>
                                    <p:anim calcmode="lin" valueType="num">
                                      <p:cBhvr additive="base">
                                        <p:cTn id="198" dur="500" fill="hold"/>
                                        <p:tgtEl>
                                          <p:spTgt spid="106"/>
                                        </p:tgtEl>
                                        <p:attrNameLst>
                                          <p:attrName>ppt_y</p:attrName>
                                        </p:attrNameLst>
                                      </p:cBhvr>
                                      <p:tavLst>
                                        <p:tav tm="0">
                                          <p:val>
                                            <p:strVal val="1+#ppt_h/2"/>
                                          </p:val>
                                        </p:tav>
                                        <p:tav tm="100000">
                                          <p:val>
                                            <p:strVal val="#ppt_y"/>
                                          </p:val>
                                        </p:tav>
                                      </p:tavLst>
                                    </p:anim>
                                  </p:childTnLst>
                                </p:cTn>
                              </p:par>
                              <p:par>
                                <p:cTn id="199" presetID="2" presetClass="entr" presetSubtype="4" fill="hold" nodeType="withEffect">
                                  <p:stCondLst>
                                    <p:cond delay="0"/>
                                  </p:stCondLst>
                                  <p:childTnLst>
                                    <p:set>
                                      <p:cBhvr>
                                        <p:cTn id="200" dur="1" fill="hold">
                                          <p:stCondLst>
                                            <p:cond delay="0"/>
                                          </p:stCondLst>
                                        </p:cTn>
                                        <p:tgtEl>
                                          <p:spTgt spid="101"/>
                                        </p:tgtEl>
                                        <p:attrNameLst>
                                          <p:attrName>style.visibility</p:attrName>
                                        </p:attrNameLst>
                                      </p:cBhvr>
                                      <p:to>
                                        <p:strVal val="visible"/>
                                      </p:to>
                                    </p:set>
                                    <p:anim calcmode="lin" valueType="num">
                                      <p:cBhvr additive="base">
                                        <p:cTn id="201" dur="500" fill="hold"/>
                                        <p:tgtEl>
                                          <p:spTgt spid="101"/>
                                        </p:tgtEl>
                                        <p:attrNameLst>
                                          <p:attrName>ppt_x</p:attrName>
                                        </p:attrNameLst>
                                      </p:cBhvr>
                                      <p:tavLst>
                                        <p:tav tm="0">
                                          <p:val>
                                            <p:strVal val="#ppt_x"/>
                                          </p:val>
                                        </p:tav>
                                        <p:tav tm="100000">
                                          <p:val>
                                            <p:strVal val="#ppt_x"/>
                                          </p:val>
                                        </p:tav>
                                      </p:tavLst>
                                    </p:anim>
                                    <p:anim calcmode="lin" valueType="num">
                                      <p:cBhvr additive="base">
                                        <p:cTn id="202"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10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2" presetClass="entr" presetSubtype="4" fill="hold" nodeType="clickEffect">
                                  <p:stCondLst>
                                    <p:cond delay="0"/>
                                  </p:stCondLst>
                                  <p:childTnLst>
                                    <p:set>
                                      <p:cBhvr>
                                        <p:cTn id="210" dur="1" fill="hold">
                                          <p:stCondLst>
                                            <p:cond delay="0"/>
                                          </p:stCondLst>
                                        </p:cTn>
                                        <p:tgtEl>
                                          <p:spTgt spid="109"/>
                                        </p:tgtEl>
                                        <p:attrNameLst>
                                          <p:attrName>style.visibility</p:attrName>
                                        </p:attrNameLst>
                                      </p:cBhvr>
                                      <p:to>
                                        <p:strVal val="visible"/>
                                      </p:to>
                                    </p:set>
                                    <p:anim calcmode="lin" valueType="num">
                                      <p:cBhvr additive="base">
                                        <p:cTn id="211" dur="500" fill="hold"/>
                                        <p:tgtEl>
                                          <p:spTgt spid="109"/>
                                        </p:tgtEl>
                                        <p:attrNameLst>
                                          <p:attrName>ppt_x</p:attrName>
                                        </p:attrNameLst>
                                      </p:cBhvr>
                                      <p:tavLst>
                                        <p:tav tm="0">
                                          <p:val>
                                            <p:strVal val="#ppt_x"/>
                                          </p:val>
                                        </p:tav>
                                        <p:tav tm="100000">
                                          <p:val>
                                            <p:strVal val="#ppt_x"/>
                                          </p:val>
                                        </p:tav>
                                      </p:tavLst>
                                    </p:anim>
                                    <p:anim calcmode="lin" valueType="num">
                                      <p:cBhvr additive="base">
                                        <p:cTn id="212" dur="500" fill="hold"/>
                                        <p:tgtEl>
                                          <p:spTgt spid="109"/>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110"/>
                                        </p:tgtEl>
                                        <p:attrNameLst>
                                          <p:attrName>style.visibility</p:attrName>
                                        </p:attrNameLst>
                                      </p:cBhvr>
                                      <p:to>
                                        <p:strVal val="visible"/>
                                      </p:to>
                                    </p:set>
                                    <p:anim calcmode="lin" valueType="num">
                                      <p:cBhvr additive="base">
                                        <p:cTn id="215" dur="500" fill="hold"/>
                                        <p:tgtEl>
                                          <p:spTgt spid="110"/>
                                        </p:tgtEl>
                                        <p:attrNameLst>
                                          <p:attrName>ppt_x</p:attrName>
                                        </p:attrNameLst>
                                      </p:cBhvr>
                                      <p:tavLst>
                                        <p:tav tm="0">
                                          <p:val>
                                            <p:strVal val="#ppt_x"/>
                                          </p:val>
                                        </p:tav>
                                        <p:tav tm="100000">
                                          <p:val>
                                            <p:strVal val="#ppt_x"/>
                                          </p:val>
                                        </p:tav>
                                      </p:tavLst>
                                    </p:anim>
                                    <p:anim calcmode="lin" valueType="num">
                                      <p:cBhvr additive="base">
                                        <p:cTn id="216" dur="500" fill="hold"/>
                                        <p:tgtEl>
                                          <p:spTgt spid="110"/>
                                        </p:tgtEl>
                                        <p:attrNameLst>
                                          <p:attrName>ppt_y</p:attrName>
                                        </p:attrNameLst>
                                      </p:cBhvr>
                                      <p:tavLst>
                                        <p:tav tm="0">
                                          <p:val>
                                            <p:strVal val="1+#ppt_h/2"/>
                                          </p:val>
                                        </p:tav>
                                        <p:tav tm="100000">
                                          <p:val>
                                            <p:strVal val="#ppt_y"/>
                                          </p:val>
                                        </p:tav>
                                      </p:tavLst>
                                    </p:anim>
                                  </p:childTnLst>
                                </p:cTn>
                              </p:par>
                              <p:par>
                                <p:cTn id="217" presetID="2" presetClass="entr" presetSubtype="4" fill="hold" nodeType="withEffect">
                                  <p:stCondLst>
                                    <p:cond delay="0"/>
                                  </p:stCondLst>
                                  <p:childTnLst>
                                    <p:set>
                                      <p:cBhvr>
                                        <p:cTn id="218" dur="1" fill="hold">
                                          <p:stCondLst>
                                            <p:cond delay="0"/>
                                          </p:stCondLst>
                                        </p:cTn>
                                        <p:tgtEl>
                                          <p:spTgt spid="111"/>
                                        </p:tgtEl>
                                        <p:attrNameLst>
                                          <p:attrName>style.visibility</p:attrName>
                                        </p:attrNameLst>
                                      </p:cBhvr>
                                      <p:to>
                                        <p:strVal val="visible"/>
                                      </p:to>
                                    </p:set>
                                    <p:anim calcmode="lin" valueType="num">
                                      <p:cBhvr additive="base">
                                        <p:cTn id="219" dur="500" fill="hold"/>
                                        <p:tgtEl>
                                          <p:spTgt spid="111"/>
                                        </p:tgtEl>
                                        <p:attrNameLst>
                                          <p:attrName>ppt_x</p:attrName>
                                        </p:attrNameLst>
                                      </p:cBhvr>
                                      <p:tavLst>
                                        <p:tav tm="0">
                                          <p:val>
                                            <p:strVal val="#ppt_x"/>
                                          </p:val>
                                        </p:tav>
                                        <p:tav tm="100000">
                                          <p:val>
                                            <p:strVal val="#ppt_x"/>
                                          </p:val>
                                        </p:tav>
                                      </p:tavLst>
                                    </p:anim>
                                    <p:anim calcmode="lin" valueType="num">
                                      <p:cBhvr additive="base">
                                        <p:cTn id="220"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99"/>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2" presetClass="entr" presetSubtype="4" fill="hold" grpId="0" nodeType="clickEffect">
                                  <p:stCondLst>
                                    <p:cond delay="0"/>
                                  </p:stCondLst>
                                  <p:childTnLst>
                                    <p:set>
                                      <p:cBhvr>
                                        <p:cTn id="228" dur="1" fill="hold">
                                          <p:stCondLst>
                                            <p:cond delay="0"/>
                                          </p:stCondLst>
                                        </p:cTn>
                                        <p:tgtEl>
                                          <p:spTgt spid="122"/>
                                        </p:tgtEl>
                                        <p:attrNameLst>
                                          <p:attrName>style.visibility</p:attrName>
                                        </p:attrNameLst>
                                      </p:cBhvr>
                                      <p:to>
                                        <p:strVal val="visible"/>
                                      </p:to>
                                    </p:set>
                                    <p:anim calcmode="lin" valueType="num">
                                      <p:cBhvr additive="base">
                                        <p:cTn id="229" dur="500" fill="hold"/>
                                        <p:tgtEl>
                                          <p:spTgt spid="122"/>
                                        </p:tgtEl>
                                        <p:attrNameLst>
                                          <p:attrName>ppt_x</p:attrName>
                                        </p:attrNameLst>
                                      </p:cBhvr>
                                      <p:tavLst>
                                        <p:tav tm="0">
                                          <p:val>
                                            <p:strVal val="#ppt_x"/>
                                          </p:val>
                                        </p:tav>
                                        <p:tav tm="100000">
                                          <p:val>
                                            <p:strVal val="#ppt_x"/>
                                          </p:val>
                                        </p:tav>
                                      </p:tavLst>
                                    </p:anim>
                                    <p:anim calcmode="lin" valueType="num">
                                      <p:cBhvr additive="base">
                                        <p:cTn id="230" dur="500" fill="hold"/>
                                        <p:tgtEl>
                                          <p:spTgt spid="122"/>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3"/>
                                        </p:tgtEl>
                                        <p:attrNameLst>
                                          <p:attrName>style.visibility</p:attrName>
                                        </p:attrNameLst>
                                      </p:cBhvr>
                                      <p:to>
                                        <p:strVal val="visible"/>
                                      </p:to>
                                    </p:set>
                                    <p:anim calcmode="lin" valueType="num">
                                      <p:cBhvr additive="base">
                                        <p:cTn id="233" dur="500" fill="hold"/>
                                        <p:tgtEl>
                                          <p:spTgt spid="3"/>
                                        </p:tgtEl>
                                        <p:attrNameLst>
                                          <p:attrName>ppt_x</p:attrName>
                                        </p:attrNameLst>
                                      </p:cBhvr>
                                      <p:tavLst>
                                        <p:tav tm="0">
                                          <p:val>
                                            <p:strVal val="#ppt_x"/>
                                          </p:val>
                                        </p:tav>
                                        <p:tav tm="100000">
                                          <p:val>
                                            <p:strVal val="#ppt_x"/>
                                          </p:val>
                                        </p:tav>
                                      </p:tavLst>
                                    </p:anim>
                                    <p:anim calcmode="lin" valueType="num">
                                      <p:cBhvr additive="base">
                                        <p:cTn id="2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animBg="1"/>
      <p:bldP spid="11" grpId="0" animBg="1"/>
      <p:bldP spid="17" grpId="0"/>
      <p:bldP spid="18" grpId="0"/>
      <p:bldP spid="30" grpId="0" animBg="1"/>
      <p:bldP spid="34" grpId="0"/>
      <p:bldP spid="43" grpId="0" animBg="1"/>
      <p:bldP spid="56" grpId="0"/>
      <p:bldP spid="59" grpId="0" animBg="1"/>
      <p:bldP spid="60" grpId="0" animBg="1"/>
      <p:bldP spid="61" grpId="0"/>
      <p:bldP spid="62" grpId="0"/>
      <p:bldP spid="69" grpId="0" animBg="1"/>
      <p:bldP spid="82" grpId="0"/>
      <p:bldP spid="85" grpId="0" animBg="1"/>
      <p:bldP spid="86" grpId="0" animBg="1"/>
      <p:bldP spid="87" grpId="0" animBg="1"/>
      <p:bldP spid="88" grpId="0"/>
      <p:bldP spid="90" grpId="0" animBg="1"/>
      <p:bldP spid="91" grpId="0"/>
      <p:bldP spid="92" grpId="0"/>
      <p:bldP spid="93" grpId="0" animBg="1"/>
      <p:bldP spid="96" grpId="0"/>
      <p:bldP spid="99" grpId="0" animBg="1"/>
      <p:bldP spid="100" grpId="0"/>
      <p:bldP spid="106" grpId="0" animBg="1"/>
      <p:bldP spid="110" grpId="0"/>
      <p:bldP spid="122"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echa: hacia abajo 4">
            <a:extLst>
              <a:ext uri="{FF2B5EF4-FFF2-40B4-BE49-F238E27FC236}">
                <a16:creationId xmlns:a16="http://schemas.microsoft.com/office/drawing/2014/main" id="{E203BBD1-1453-A4F0-69B0-8950220FD7BC}"/>
              </a:ext>
            </a:extLst>
          </p:cNvPr>
          <p:cNvSpPr/>
          <p:nvPr/>
        </p:nvSpPr>
        <p:spPr>
          <a:xfrm>
            <a:off x="5915199" y="484999"/>
            <a:ext cx="294432" cy="418472"/>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dirty="0"/>
          </a:p>
        </p:txBody>
      </p:sp>
      <p:sp>
        <p:nvSpPr>
          <p:cNvPr id="6" name="Rectángulo: esquinas redondeadas 5">
            <a:extLst>
              <a:ext uri="{FF2B5EF4-FFF2-40B4-BE49-F238E27FC236}">
                <a16:creationId xmlns:a16="http://schemas.microsoft.com/office/drawing/2014/main" id="{AB5A8A1B-0E8F-D918-DCF6-718F46577027}"/>
              </a:ext>
            </a:extLst>
          </p:cNvPr>
          <p:cNvSpPr/>
          <p:nvPr/>
        </p:nvSpPr>
        <p:spPr>
          <a:xfrm>
            <a:off x="4063999" y="932609"/>
            <a:ext cx="4636247" cy="1000121"/>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grpSp>
        <p:nvGrpSpPr>
          <p:cNvPr id="7" name="Grupo 6">
            <a:extLst>
              <a:ext uri="{FF2B5EF4-FFF2-40B4-BE49-F238E27FC236}">
                <a16:creationId xmlns:a16="http://schemas.microsoft.com/office/drawing/2014/main" id="{A8EC4E95-59D9-DBBC-807E-847AB55B8BBE}"/>
              </a:ext>
            </a:extLst>
          </p:cNvPr>
          <p:cNvGrpSpPr/>
          <p:nvPr/>
        </p:nvGrpSpPr>
        <p:grpSpPr>
          <a:xfrm>
            <a:off x="6125913" y="388309"/>
            <a:ext cx="2097995" cy="338554"/>
            <a:chOff x="6096000" y="3557609"/>
            <a:chExt cx="2097995" cy="338554"/>
          </a:xfrm>
        </p:grpSpPr>
        <p:sp>
          <p:nvSpPr>
            <p:cNvPr id="8" name="CuadroTexto 7">
              <a:extLst>
                <a:ext uri="{FF2B5EF4-FFF2-40B4-BE49-F238E27FC236}">
                  <a16:creationId xmlns:a16="http://schemas.microsoft.com/office/drawing/2014/main" id="{2CE6EF12-BBE5-4F29-BEA6-4ADA12D1D1CA}"/>
                </a:ext>
              </a:extLst>
            </p:cNvPr>
            <p:cNvSpPr txBox="1"/>
            <p:nvPr/>
          </p:nvSpPr>
          <p:spPr>
            <a:xfrm>
              <a:off x="6096000" y="3557609"/>
              <a:ext cx="2097995" cy="338554"/>
            </a:xfrm>
            <a:prstGeom prst="rect">
              <a:avLst/>
            </a:prstGeom>
            <a:noFill/>
          </p:spPr>
          <p:txBody>
            <a:bodyPr wrap="square" rtlCol="0">
              <a:spAutoFit/>
            </a:bodyPr>
            <a:lstStyle/>
            <a:p>
              <a:pPr algn="ctr"/>
              <a:r>
                <a:rPr lang="es-BO" sz="1600" dirty="0"/>
                <a:t>Presione       por 1 </a:t>
              </a:r>
              <a:r>
                <a:rPr lang="es-BO" sz="1600" dirty="0" err="1"/>
                <a:t>seg</a:t>
              </a:r>
              <a:r>
                <a:rPr lang="es-BO" sz="1600" dirty="0"/>
                <a:t>.</a:t>
              </a:r>
            </a:p>
          </p:txBody>
        </p:sp>
        <p:grpSp>
          <p:nvGrpSpPr>
            <p:cNvPr id="9" name="Grupo 8">
              <a:extLst>
                <a:ext uri="{FF2B5EF4-FFF2-40B4-BE49-F238E27FC236}">
                  <a16:creationId xmlns:a16="http://schemas.microsoft.com/office/drawing/2014/main" id="{8D92B352-96B0-2778-A48A-AB39048767F2}"/>
                </a:ext>
              </a:extLst>
            </p:cNvPr>
            <p:cNvGrpSpPr/>
            <p:nvPr/>
          </p:nvGrpSpPr>
          <p:grpSpPr>
            <a:xfrm>
              <a:off x="6966403" y="3620556"/>
              <a:ext cx="273803" cy="230771"/>
              <a:chOff x="7408027" y="3596096"/>
              <a:chExt cx="343152" cy="293331"/>
            </a:xfrm>
          </p:grpSpPr>
          <p:sp>
            <p:nvSpPr>
              <p:cNvPr id="10" name="Rectángulo 9">
                <a:extLst>
                  <a:ext uri="{FF2B5EF4-FFF2-40B4-BE49-F238E27FC236}">
                    <a16:creationId xmlns:a16="http://schemas.microsoft.com/office/drawing/2014/main" id="{6AF36F3A-90C3-7D83-1681-859270B3F9DD}"/>
                  </a:ext>
                </a:extLst>
              </p:cNvPr>
              <p:cNvSpPr/>
              <p:nvPr/>
            </p:nvSpPr>
            <p:spPr>
              <a:xfrm>
                <a:off x="7408027" y="3596162"/>
                <a:ext cx="343152" cy="2932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11" name="Elipse 10">
                <a:extLst>
                  <a:ext uri="{FF2B5EF4-FFF2-40B4-BE49-F238E27FC236}">
                    <a16:creationId xmlns:a16="http://schemas.microsoft.com/office/drawing/2014/main" id="{90966FCB-74B5-20F6-A739-B4752F788B98}"/>
                  </a:ext>
                </a:extLst>
              </p:cNvPr>
              <p:cNvSpPr/>
              <p:nvPr/>
            </p:nvSpPr>
            <p:spPr>
              <a:xfrm>
                <a:off x="7442067" y="3596096"/>
                <a:ext cx="305649" cy="2898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grpSp>
      </p:grpSp>
      <p:sp>
        <p:nvSpPr>
          <p:cNvPr id="16" name="CuadroTexto 15">
            <a:extLst>
              <a:ext uri="{FF2B5EF4-FFF2-40B4-BE49-F238E27FC236}">
                <a16:creationId xmlns:a16="http://schemas.microsoft.com/office/drawing/2014/main" id="{6A49191F-F2DF-42DC-BD25-E7CA354DFB1C}"/>
              </a:ext>
            </a:extLst>
          </p:cNvPr>
          <p:cNvSpPr txBox="1"/>
          <p:nvPr/>
        </p:nvSpPr>
        <p:spPr>
          <a:xfrm>
            <a:off x="4042489" y="1188772"/>
            <a:ext cx="1576654" cy="307777"/>
          </a:xfrm>
          <a:prstGeom prst="rect">
            <a:avLst/>
          </a:prstGeom>
          <a:noFill/>
        </p:spPr>
        <p:txBody>
          <a:bodyPr wrap="square" rtlCol="0">
            <a:spAutoFit/>
          </a:bodyPr>
          <a:lstStyle/>
          <a:p>
            <a:pPr algn="ctr"/>
            <a:r>
              <a:rPr lang="es-BO" sz="1400" dirty="0"/>
              <a:t>Ejecutar AT</a:t>
            </a:r>
          </a:p>
        </p:txBody>
      </p:sp>
      <p:pic>
        <p:nvPicPr>
          <p:cNvPr id="27" name="Imagen 26">
            <a:extLst>
              <a:ext uri="{FF2B5EF4-FFF2-40B4-BE49-F238E27FC236}">
                <a16:creationId xmlns:a16="http://schemas.microsoft.com/office/drawing/2014/main" id="{2DCD58F5-865E-0174-1EEE-88EABB4F9CDA}"/>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7186" t="9854" r="3033" b="11445"/>
          <a:stretch/>
        </p:blipFill>
        <p:spPr>
          <a:xfrm>
            <a:off x="5395782" y="1037415"/>
            <a:ext cx="1308774" cy="768363"/>
          </a:xfrm>
          <a:prstGeom prst="rect">
            <a:avLst/>
          </a:prstGeom>
        </p:spPr>
      </p:pic>
      <p:sp>
        <p:nvSpPr>
          <p:cNvPr id="28" name="CuadroTexto 27">
            <a:extLst>
              <a:ext uri="{FF2B5EF4-FFF2-40B4-BE49-F238E27FC236}">
                <a16:creationId xmlns:a16="http://schemas.microsoft.com/office/drawing/2014/main" id="{21F1C992-4F31-F505-0F18-43BDDAD492D4}"/>
              </a:ext>
            </a:extLst>
          </p:cNvPr>
          <p:cNvSpPr txBox="1"/>
          <p:nvPr/>
        </p:nvSpPr>
        <p:spPr>
          <a:xfrm>
            <a:off x="6630250" y="1037415"/>
            <a:ext cx="1519261" cy="738664"/>
          </a:xfrm>
          <a:prstGeom prst="rect">
            <a:avLst/>
          </a:prstGeom>
          <a:noFill/>
        </p:spPr>
        <p:txBody>
          <a:bodyPr wrap="square" rtlCol="0">
            <a:spAutoFit/>
          </a:bodyPr>
          <a:lstStyle/>
          <a:p>
            <a:r>
              <a:rPr lang="es-BO" sz="1400" dirty="0"/>
              <a:t>-Para ejecutar AT:</a:t>
            </a:r>
          </a:p>
          <a:p>
            <a:endParaRPr lang="es-BO" sz="1400" dirty="0"/>
          </a:p>
          <a:p>
            <a:r>
              <a:rPr lang="es-BO" sz="1400" dirty="0"/>
              <a:t>-Para cancelar AT:</a:t>
            </a:r>
          </a:p>
        </p:txBody>
      </p:sp>
      <p:pic>
        <p:nvPicPr>
          <p:cNvPr id="29" name="Imagen 28">
            <a:extLst>
              <a:ext uri="{FF2B5EF4-FFF2-40B4-BE49-F238E27FC236}">
                <a16:creationId xmlns:a16="http://schemas.microsoft.com/office/drawing/2014/main" id="{42A80A5E-C5EE-CBA8-B5E5-B7E529C679C0}"/>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l="48359" t="46792" r="46945" b="39521"/>
          <a:stretch/>
        </p:blipFill>
        <p:spPr>
          <a:xfrm>
            <a:off x="8207262" y="1046753"/>
            <a:ext cx="435232" cy="749686"/>
          </a:xfrm>
          <a:prstGeom prst="rect">
            <a:avLst/>
          </a:prstGeom>
        </p:spPr>
      </p:pic>
      <p:sp>
        <p:nvSpPr>
          <p:cNvPr id="30" name="Flecha: hacia abajo 29">
            <a:extLst>
              <a:ext uri="{FF2B5EF4-FFF2-40B4-BE49-F238E27FC236}">
                <a16:creationId xmlns:a16="http://schemas.microsoft.com/office/drawing/2014/main" id="{500B1E98-263A-F9B9-5FF9-E2B8DF25B2D0}"/>
              </a:ext>
            </a:extLst>
          </p:cNvPr>
          <p:cNvSpPr/>
          <p:nvPr/>
        </p:nvSpPr>
        <p:spPr>
          <a:xfrm>
            <a:off x="5948374" y="1910583"/>
            <a:ext cx="324638" cy="467655"/>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dirty="0"/>
          </a:p>
        </p:txBody>
      </p:sp>
      <p:sp>
        <p:nvSpPr>
          <p:cNvPr id="31" name="Rectángulo: esquinas redondeadas 30">
            <a:extLst>
              <a:ext uri="{FF2B5EF4-FFF2-40B4-BE49-F238E27FC236}">
                <a16:creationId xmlns:a16="http://schemas.microsoft.com/office/drawing/2014/main" id="{C4F7473B-50A4-051C-4F71-3EFB10C84926}"/>
              </a:ext>
            </a:extLst>
          </p:cNvPr>
          <p:cNvSpPr/>
          <p:nvPr/>
        </p:nvSpPr>
        <p:spPr>
          <a:xfrm>
            <a:off x="4097174" y="2428900"/>
            <a:ext cx="4636247" cy="3495109"/>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BO"/>
          </a:p>
        </p:txBody>
      </p:sp>
      <p:pic>
        <p:nvPicPr>
          <p:cNvPr id="33" name="Imagen 32">
            <a:extLst>
              <a:ext uri="{FF2B5EF4-FFF2-40B4-BE49-F238E27FC236}">
                <a16:creationId xmlns:a16="http://schemas.microsoft.com/office/drawing/2014/main" id="{2B7A381A-A460-268A-BD84-4826ED8EE696}"/>
              </a:ext>
            </a:extLst>
          </p:cNvPr>
          <p:cNvPicPr>
            <a:picLocks noChangeAspect="1"/>
          </p:cNvPicPr>
          <p:nvPr/>
        </p:nvPicPr>
        <p:blipFill rotWithShape="1">
          <a:blip r:embed="rId6"/>
          <a:srcRect l="5260" t="72199"/>
          <a:stretch/>
        </p:blipFill>
        <p:spPr>
          <a:xfrm>
            <a:off x="5336457" y="4772305"/>
            <a:ext cx="1549369" cy="927956"/>
          </a:xfrm>
          <a:prstGeom prst="rect">
            <a:avLst/>
          </a:prstGeom>
        </p:spPr>
      </p:pic>
      <p:pic>
        <p:nvPicPr>
          <p:cNvPr id="34" name="Imagen 33">
            <a:extLst>
              <a:ext uri="{FF2B5EF4-FFF2-40B4-BE49-F238E27FC236}">
                <a16:creationId xmlns:a16="http://schemas.microsoft.com/office/drawing/2014/main" id="{702FB241-1A26-A2D1-A2E4-2065B7E86FEE}"/>
              </a:ext>
            </a:extLst>
          </p:cNvPr>
          <p:cNvPicPr>
            <a:picLocks noChangeAspect="1"/>
          </p:cNvPicPr>
          <p:nvPr/>
        </p:nvPicPr>
        <p:blipFill rotWithShape="1">
          <a:blip r:embed="rId6"/>
          <a:srcRect l="5388" t="1410" r="2587" b="69578"/>
          <a:stretch/>
        </p:blipFill>
        <p:spPr>
          <a:xfrm>
            <a:off x="5358667" y="2477951"/>
            <a:ext cx="1504950" cy="968375"/>
          </a:xfrm>
          <a:prstGeom prst="rect">
            <a:avLst/>
          </a:prstGeom>
        </p:spPr>
      </p:pic>
      <p:pic>
        <p:nvPicPr>
          <p:cNvPr id="35" name="Imagen 34">
            <a:extLst>
              <a:ext uri="{FF2B5EF4-FFF2-40B4-BE49-F238E27FC236}">
                <a16:creationId xmlns:a16="http://schemas.microsoft.com/office/drawing/2014/main" id="{ACDF7CD9-9632-954E-C7EC-7343655BA19B}"/>
              </a:ext>
            </a:extLst>
          </p:cNvPr>
          <p:cNvPicPr>
            <a:picLocks noChangeAspect="1"/>
          </p:cNvPicPr>
          <p:nvPr/>
        </p:nvPicPr>
        <p:blipFill rotWithShape="1">
          <a:blip r:embed="rId6"/>
          <a:srcRect l="3538" t="37917" b="34688"/>
          <a:stretch/>
        </p:blipFill>
        <p:spPr>
          <a:xfrm>
            <a:off x="5307219" y="3606724"/>
            <a:ext cx="1577519" cy="914400"/>
          </a:xfrm>
          <a:prstGeom prst="rect">
            <a:avLst/>
          </a:prstGeom>
        </p:spPr>
      </p:pic>
      <p:sp>
        <p:nvSpPr>
          <p:cNvPr id="36" name="Flecha: hacia abajo 35">
            <a:extLst>
              <a:ext uri="{FF2B5EF4-FFF2-40B4-BE49-F238E27FC236}">
                <a16:creationId xmlns:a16="http://schemas.microsoft.com/office/drawing/2014/main" id="{8F961B35-C5E4-68D4-2042-9E2F40D22E55}"/>
              </a:ext>
            </a:extLst>
          </p:cNvPr>
          <p:cNvSpPr/>
          <p:nvPr/>
        </p:nvSpPr>
        <p:spPr>
          <a:xfrm>
            <a:off x="6008187" y="3254735"/>
            <a:ext cx="175584" cy="369284"/>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37" name="Flecha: hacia abajo 36">
            <a:extLst>
              <a:ext uri="{FF2B5EF4-FFF2-40B4-BE49-F238E27FC236}">
                <a16:creationId xmlns:a16="http://schemas.microsoft.com/office/drawing/2014/main" id="{96A84E35-2A68-AB3C-14A0-AFAD9632A3B9}"/>
              </a:ext>
            </a:extLst>
          </p:cNvPr>
          <p:cNvSpPr/>
          <p:nvPr/>
        </p:nvSpPr>
        <p:spPr>
          <a:xfrm>
            <a:off x="5995278" y="4393191"/>
            <a:ext cx="175584" cy="369284"/>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sp>
        <p:nvSpPr>
          <p:cNvPr id="38" name="Flecha: hacia abajo 37">
            <a:extLst>
              <a:ext uri="{FF2B5EF4-FFF2-40B4-BE49-F238E27FC236}">
                <a16:creationId xmlns:a16="http://schemas.microsoft.com/office/drawing/2014/main" id="{D2D266F1-7E76-1288-C585-A16498CE443F}"/>
              </a:ext>
            </a:extLst>
          </p:cNvPr>
          <p:cNvSpPr/>
          <p:nvPr/>
        </p:nvSpPr>
        <p:spPr>
          <a:xfrm>
            <a:off x="5995278" y="5544295"/>
            <a:ext cx="175584" cy="322296"/>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BO" dirty="0"/>
          </a:p>
        </p:txBody>
      </p:sp>
      <p:pic>
        <p:nvPicPr>
          <p:cNvPr id="39" name="Imagen 38">
            <a:extLst>
              <a:ext uri="{FF2B5EF4-FFF2-40B4-BE49-F238E27FC236}">
                <a16:creationId xmlns:a16="http://schemas.microsoft.com/office/drawing/2014/main" id="{4CAE3ADB-46B3-29DB-4941-4D493CE1CB22}"/>
              </a:ext>
            </a:extLst>
          </p:cNvPr>
          <p:cNvPicPr>
            <a:picLocks noChangeAspect="1"/>
          </p:cNvPicPr>
          <p:nvPr/>
        </p:nvPicPr>
        <p:blipFill rotWithShape="1">
          <a:blip r:embed="rId7">
            <a:biLevel thresh="75000"/>
            <a:extLst>
              <a:ext uri="{BEBA8EAE-BF5A-486C-A8C5-ECC9F3942E4B}">
                <a14:imgProps xmlns:a14="http://schemas.microsoft.com/office/drawing/2010/main">
                  <a14:imgLayer r:embed="rId8">
                    <a14:imgEffect>
                      <a14:saturation sat="400000"/>
                    </a14:imgEffect>
                  </a14:imgLayer>
                </a14:imgProps>
              </a:ext>
            </a:extLst>
          </a:blip>
          <a:srcRect l="19052" t="25548" r="28471" b="12505"/>
          <a:stretch/>
        </p:blipFill>
        <p:spPr>
          <a:xfrm>
            <a:off x="6273012" y="3429462"/>
            <a:ext cx="218220" cy="188091"/>
          </a:xfrm>
          <a:prstGeom prst="rect">
            <a:avLst/>
          </a:prstGeom>
        </p:spPr>
      </p:pic>
      <p:pic>
        <p:nvPicPr>
          <p:cNvPr id="40" name="Imagen 39">
            <a:extLst>
              <a:ext uri="{FF2B5EF4-FFF2-40B4-BE49-F238E27FC236}">
                <a16:creationId xmlns:a16="http://schemas.microsoft.com/office/drawing/2014/main" id="{ED21D2A6-9504-411F-B56B-056040D10481}"/>
              </a:ext>
            </a:extLst>
          </p:cNvPr>
          <p:cNvPicPr>
            <a:picLocks noChangeAspect="1"/>
          </p:cNvPicPr>
          <p:nvPr/>
        </p:nvPicPr>
        <p:blipFill rotWithShape="1">
          <a:blip r:embed="rId7">
            <a:biLevel thresh="75000"/>
            <a:extLst>
              <a:ext uri="{BEBA8EAE-BF5A-486C-A8C5-ECC9F3942E4B}">
                <a14:imgProps xmlns:a14="http://schemas.microsoft.com/office/drawing/2010/main">
                  <a14:imgLayer r:embed="rId8">
                    <a14:imgEffect>
                      <a14:saturation sat="400000"/>
                    </a14:imgEffect>
                  </a14:imgLayer>
                </a14:imgProps>
              </a:ext>
            </a:extLst>
          </a:blip>
          <a:srcRect l="19052" t="25548" r="28471" b="12505"/>
          <a:stretch/>
        </p:blipFill>
        <p:spPr>
          <a:xfrm>
            <a:off x="6273012" y="4511276"/>
            <a:ext cx="218220" cy="188091"/>
          </a:xfrm>
          <a:prstGeom prst="rect">
            <a:avLst/>
          </a:prstGeom>
        </p:spPr>
      </p:pic>
      <p:sp>
        <p:nvSpPr>
          <p:cNvPr id="41" name="CuadroTexto 40">
            <a:extLst>
              <a:ext uri="{FF2B5EF4-FFF2-40B4-BE49-F238E27FC236}">
                <a16:creationId xmlns:a16="http://schemas.microsoft.com/office/drawing/2014/main" id="{585569A4-AC3E-514E-7349-0DF463DAD804}"/>
              </a:ext>
            </a:extLst>
          </p:cNvPr>
          <p:cNvSpPr txBox="1"/>
          <p:nvPr/>
        </p:nvSpPr>
        <p:spPr>
          <a:xfrm>
            <a:off x="3329540" y="1936211"/>
            <a:ext cx="2833798" cy="338554"/>
          </a:xfrm>
          <a:prstGeom prst="rect">
            <a:avLst/>
          </a:prstGeom>
          <a:noFill/>
        </p:spPr>
        <p:txBody>
          <a:bodyPr wrap="square" rtlCol="0">
            <a:spAutoFit/>
          </a:bodyPr>
          <a:lstStyle/>
          <a:p>
            <a:pPr algn="ctr"/>
            <a:r>
              <a:rPr lang="es-BO" sz="1600" dirty="0"/>
              <a:t>Operación grupo de funciones</a:t>
            </a:r>
          </a:p>
        </p:txBody>
      </p:sp>
      <p:grpSp>
        <p:nvGrpSpPr>
          <p:cNvPr id="42" name="Grupo 41">
            <a:extLst>
              <a:ext uri="{FF2B5EF4-FFF2-40B4-BE49-F238E27FC236}">
                <a16:creationId xmlns:a16="http://schemas.microsoft.com/office/drawing/2014/main" id="{9366AF9B-6B50-3B27-EE82-B56842F0D526}"/>
              </a:ext>
            </a:extLst>
          </p:cNvPr>
          <p:cNvGrpSpPr/>
          <p:nvPr/>
        </p:nvGrpSpPr>
        <p:grpSpPr>
          <a:xfrm>
            <a:off x="6209631" y="1966972"/>
            <a:ext cx="2097995" cy="338554"/>
            <a:chOff x="6096000" y="3557609"/>
            <a:chExt cx="2097995" cy="338554"/>
          </a:xfrm>
        </p:grpSpPr>
        <p:sp>
          <p:nvSpPr>
            <p:cNvPr id="43" name="CuadroTexto 42">
              <a:extLst>
                <a:ext uri="{FF2B5EF4-FFF2-40B4-BE49-F238E27FC236}">
                  <a16:creationId xmlns:a16="http://schemas.microsoft.com/office/drawing/2014/main" id="{99D7D9C9-C540-5C2A-4DEC-FBA68AA639CD}"/>
                </a:ext>
              </a:extLst>
            </p:cNvPr>
            <p:cNvSpPr txBox="1"/>
            <p:nvPr/>
          </p:nvSpPr>
          <p:spPr>
            <a:xfrm>
              <a:off x="6096000" y="3557609"/>
              <a:ext cx="2097995" cy="338554"/>
            </a:xfrm>
            <a:prstGeom prst="rect">
              <a:avLst/>
            </a:prstGeom>
            <a:noFill/>
          </p:spPr>
          <p:txBody>
            <a:bodyPr wrap="square" rtlCol="0">
              <a:spAutoFit/>
            </a:bodyPr>
            <a:lstStyle/>
            <a:p>
              <a:pPr algn="ctr"/>
              <a:r>
                <a:rPr lang="es-BO" sz="1600" dirty="0"/>
                <a:t>Presione       por 1 </a:t>
              </a:r>
              <a:r>
                <a:rPr lang="es-BO" sz="1600" dirty="0" err="1"/>
                <a:t>seg</a:t>
              </a:r>
              <a:r>
                <a:rPr lang="es-BO" sz="1600" dirty="0"/>
                <a:t>.</a:t>
              </a:r>
            </a:p>
          </p:txBody>
        </p:sp>
        <p:grpSp>
          <p:nvGrpSpPr>
            <p:cNvPr id="44" name="Grupo 43">
              <a:extLst>
                <a:ext uri="{FF2B5EF4-FFF2-40B4-BE49-F238E27FC236}">
                  <a16:creationId xmlns:a16="http://schemas.microsoft.com/office/drawing/2014/main" id="{D0BC08B4-6FA6-2FE4-9C16-AA475AD420CC}"/>
                </a:ext>
              </a:extLst>
            </p:cNvPr>
            <p:cNvGrpSpPr/>
            <p:nvPr/>
          </p:nvGrpSpPr>
          <p:grpSpPr>
            <a:xfrm>
              <a:off x="6966403" y="3620556"/>
              <a:ext cx="273803" cy="230771"/>
              <a:chOff x="7408027" y="3596096"/>
              <a:chExt cx="343152" cy="293331"/>
            </a:xfrm>
          </p:grpSpPr>
          <p:sp>
            <p:nvSpPr>
              <p:cNvPr id="45" name="Rectángulo 44">
                <a:extLst>
                  <a:ext uri="{FF2B5EF4-FFF2-40B4-BE49-F238E27FC236}">
                    <a16:creationId xmlns:a16="http://schemas.microsoft.com/office/drawing/2014/main" id="{E07F8457-801E-8250-4AF8-2F421FCFC230}"/>
                  </a:ext>
                </a:extLst>
              </p:cNvPr>
              <p:cNvSpPr/>
              <p:nvPr/>
            </p:nvSpPr>
            <p:spPr>
              <a:xfrm>
                <a:off x="7408027" y="3596162"/>
                <a:ext cx="343152" cy="2932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sp>
            <p:nvSpPr>
              <p:cNvPr id="46" name="Elipse 45">
                <a:extLst>
                  <a:ext uri="{FF2B5EF4-FFF2-40B4-BE49-F238E27FC236}">
                    <a16:creationId xmlns:a16="http://schemas.microsoft.com/office/drawing/2014/main" id="{566A1DB0-FCEF-0B8F-03A4-1BA8E100A4F2}"/>
                  </a:ext>
                </a:extLst>
              </p:cNvPr>
              <p:cNvSpPr/>
              <p:nvPr/>
            </p:nvSpPr>
            <p:spPr>
              <a:xfrm>
                <a:off x="7442067" y="3596096"/>
                <a:ext cx="305649" cy="2898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BO"/>
              </a:p>
            </p:txBody>
          </p:sp>
        </p:grpSp>
      </p:grpSp>
      <p:sp>
        <p:nvSpPr>
          <p:cNvPr id="47" name="CuadroTexto 46">
            <a:extLst>
              <a:ext uri="{FF2B5EF4-FFF2-40B4-BE49-F238E27FC236}">
                <a16:creationId xmlns:a16="http://schemas.microsoft.com/office/drawing/2014/main" id="{BD424B97-D5D3-DD36-77A9-CEA48F591988}"/>
              </a:ext>
            </a:extLst>
          </p:cNvPr>
          <p:cNvSpPr txBox="1"/>
          <p:nvPr/>
        </p:nvSpPr>
        <p:spPr>
          <a:xfrm>
            <a:off x="6782789" y="2841196"/>
            <a:ext cx="725253" cy="307777"/>
          </a:xfrm>
          <a:prstGeom prst="rect">
            <a:avLst/>
          </a:prstGeom>
          <a:noFill/>
        </p:spPr>
        <p:txBody>
          <a:bodyPr wrap="square" rtlCol="0">
            <a:spAutoFit/>
          </a:bodyPr>
          <a:lstStyle/>
          <a:p>
            <a:pPr algn="ctr"/>
            <a:r>
              <a:rPr lang="es-BO" sz="1400" dirty="0"/>
              <a:t>PV/SP</a:t>
            </a:r>
          </a:p>
        </p:txBody>
      </p:sp>
      <p:sp>
        <p:nvSpPr>
          <p:cNvPr id="48" name="CuadroTexto 47">
            <a:extLst>
              <a:ext uri="{FF2B5EF4-FFF2-40B4-BE49-F238E27FC236}">
                <a16:creationId xmlns:a16="http://schemas.microsoft.com/office/drawing/2014/main" id="{54A02BBD-F8BB-1426-C3A5-8DDD09507001}"/>
              </a:ext>
            </a:extLst>
          </p:cNvPr>
          <p:cNvSpPr txBox="1"/>
          <p:nvPr/>
        </p:nvSpPr>
        <p:spPr>
          <a:xfrm>
            <a:off x="6811930" y="3803577"/>
            <a:ext cx="1207767" cy="523220"/>
          </a:xfrm>
          <a:prstGeom prst="rect">
            <a:avLst/>
          </a:prstGeom>
          <a:noFill/>
        </p:spPr>
        <p:txBody>
          <a:bodyPr wrap="square" rtlCol="0">
            <a:spAutoFit/>
          </a:bodyPr>
          <a:lstStyle/>
          <a:p>
            <a:r>
              <a:rPr lang="es-BO" sz="1400" dirty="0"/>
              <a:t>Correr</a:t>
            </a:r>
          </a:p>
          <a:p>
            <a:r>
              <a:rPr lang="es-BO" sz="1400" dirty="0"/>
              <a:t>Detener</a:t>
            </a:r>
          </a:p>
        </p:txBody>
      </p:sp>
      <p:pic>
        <p:nvPicPr>
          <p:cNvPr id="50" name="Imagen 49">
            <a:extLst>
              <a:ext uri="{FF2B5EF4-FFF2-40B4-BE49-F238E27FC236}">
                <a16:creationId xmlns:a16="http://schemas.microsoft.com/office/drawing/2014/main" id="{E4812758-E661-5509-4C69-A35FA192177D}"/>
              </a:ext>
            </a:extLst>
          </p:cNvPr>
          <p:cNvPicPr>
            <a:picLocks noChangeAspect="1"/>
          </p:cNvPicPr>
          <p:nvPr/>
        </p:nvPicPr>
        <p:blipFill>
          <a:blip r:embed="rId9"/>
          <a:stretch>
            <a:fillRect/>
          </a:stretch>
        </p:blipFill>
        <p:spPr>
          <a:xfrm>
            <a:off x="7876112" y="3866178"/>
            <a:ext cx="546798" cy="460619"/>
          </a:xfrm>
          <a:prstGeom prst="rect">
            <a:avLst/>
          </a:prstGeom>
        </p:spPr>
      </p:pic>
      <p:sp>
        <p:nvSpPr>
          <p:cNvPr id="51" name="CuadroTexto 50">
            <a:extLst>
              <a:ext uri="{FF2B5EF4-FFF2-40B4-BE49-F238E27FC236}">
                <a16:creationId xmlns:a16="http://schemas.microsoft.com/office/drawing/2014/main" id="{1AEB391C-ADEC-AD7F-98E3-4A411B31B265}"/>
              </a:ext>
            </a:extLst>
          </p:cNvPr>
          <p:cNvSpPr txBox="1"/>
          <p:nvPr/>
        </p:nvSpPr>
        <p:spPr>
          <a:xfrm>
            <a:off x="6811930" y="4974673"/>
            <a:ext cx="1549370" cy="523220"/>
          </a:xfrm>
          <a:prstGeom prst="rect">
            <a:avLst/>
          </a:prstGeom>
          <a:noFill/>
        </p:spPr>
        <p:txBody>
          <a:bodyPr wrap="square" rtlCol="0">
            <a:spAutoFit/>
          </a:bodyPr>
          <a:lstStyle/>
          <a:p>
            <a:r>
              <a:rPr lang="es-BO" sz="1400" dirty="0"/>
              <a:t>Alarma               1</a:t>
            </a:r>
          </a:p>
          <a:p>
            <a:r>
              <a:rPr lang="es-BO" sz="1400" dirty="0"/>
              <a:t>Valor </a:t>
            </a:r>
          </a:p>
        </p:txBody>
      </p:sp>
      <p:sp>
        <p:nvSpPr>
          <p:cNvPr id="52" name="CuadroTexto 51">
            <a:extLst>
              <a:ext uri="{FF2B5EF4-FFF2-40B4-BE49-F238E27FC236}">
                <a16:creationId xmlns:a16="http://schemas.microsoft.com/office/drawing/2014/main" id="{E137C627-FB08-D47C-6CAE-26AA179C0CA8}"/>
              </a:ext>
            </a:extLst>
          </p:cNvPr>
          <p:cNvSpPr txBox="1"/>
          <p:nvPr/>
        </p:nvSpPr>
        <p:spPr>
          <a:xfrm>
            <a:off x="4112462" y="4966632"/>
            <a:ext cx="1283320" cy="523220"/>
          </a:xfrm>
          <a:prstGeom prst="rect">
            <a:avLst/>
          </a:prstGeom>
          <a:noFill/>
        </p:spPr>
        <p:txBody>
          <a:bodyPr wrap="square" rtlCol="0">
            <a:spAutoFit/>
          </a:bodyPr>
          <a:lstStyle/>
          <a:p>
            <a:pPr algn="ctr"/>
            <a:r>
              <a:rPr lang="es-BO" sz="1400" dirty="0"/>
              <a:t>Comprobar el tipo de alarma</a:t>
            </a:r>
          </a:p>
        </p:txBody>
      </p:sp>
      <p:pic>
        <p:nvPicPr>
          <p:cNvPr id="53" name="Imagen 52">
            <a:extLst>
              <a:ext uri="{FF2B5EF4-FFF2-40B4-BE49-F238E27FC236}">
                <a16:creationId xmlns:a16="http://schemas.microsoft.com/office/drawing/2014/main" id="{0B099A86-9611-2F2F-50CC-ADA9198F8803}"/>
              </a:ext>
            </a:extLst>
          </p:cNvPr>
          <p:cNvPicPr>
            <a:picLocks noChangeAspect="1"/>
          </p:cNvPicPr>
          <p:nvPr/>
        </p:nvPicPr>
        <p:blipFill rotWithShape="1">
          <a:blip r:embed="rId7">
            <a:biLevel thresh="75000"/>
            <a:extLst>
              <a:ext uri="{BEBA8EAE-BF5A-486C-A8C5-ECC9F3942E4B}">
                <a14:imgProps xmlns:a14="http://schemas.microsoft.com/office/drawing/2010/main">
                  <a14:imgLayer r:embed="rId8">
                    <a14:imgEffect>
                      <a14:saturation sat="400000"/>
                    </a14:imgEffect>
                  </a14:imgLayer>
                </a14:imgProps>
              </a:ext>
            </a:extLst>
          </a:blip>
          <a:srcRect l="19052" t="25548" r="28471" b="12505"/>
          <a:stretch/>
        </p:blipFill>
        <p:spPr>
          <a:xfrm>
            <a:off x="6323812" y="5666976"/>
            <a:ext cx="218220" cy="188091"/>
          </a:xfrm>
          <a:prstGeom prst="rect">
            <a:avLst/>
          </a:prstGeom>
        </p:spPr>
      </p:pic>
      <p:sp>
        <p:nvSpPr>
          <p:cNvPr id="54" name="Flecha: hacia abajo 53">
            <a:extLst>
              <a:ext uri="{FF2B5EF4-FFF2-40B4-BE49-F238E27FC236}">
                <a16:creationId xmlns:a16="http://schemas.microsoft.com/office/drawing/2014/main" id="{6FEF6DEE-3A3A-1799-EB9B-ECF60848AB2F}"/>
              </a:ext>
            </a:extLst>
          </p:cNvPr>
          <p:cNvSpPr/>
          <p:nvPr/>
        </p:nvSpPr>
        <p:spPr>
          <a:xfrm>
            <a:off x="6002864" y="5949988"/>
            <a:ext cx="320948" cy="419529"/>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BO" dirty="0"/>
          </a:p>
        </p:txBody>
      </p:sp>
      <p:sp>
        <p:nvSpPr>
          <p:cNvPr id="55" name="CuadroTexto 54">
            <a:extLst>
              <a:ext uri="{FF2B5EF4-FFF2-40B4-BE49-F238E27FC236}">
                <a16:creationId xmlns:a16="http://schemas.microsoft.com/office/drawing/2014/main" id="{F04A5662-E177-CAC2-0732-CE075E39907C}"/>
              </a:ext>
            </a:extLst>
          </p:cNvPr>
          <p:cNvSpPr txBox="1"/>
          <p:nvPr/>
        </p:nvSpPr>
        <p:spPr>
          <a:xfrm>
            <a:off x="5283200" y="6356360"/>
            <a:ext cx="1791689" cy="369332"/>
          </a:xfrm>
          <a:prstGeom prst="rect">
            <a:avLst/>
          </a:prstGeom>
          <a:noFill/>
        </p:spPr>
        <p:txBody>
          <a:bodyPr wrap="square" rtlCol="0">
            <a:spAutoFit/>
          </a:bodyPr>
          <a:lstStyle/>
          <a:p>
            <a:r>
              <a:rPr lang="es-BO" dirty="0"/>
              <a:t>Iniciar operación</a:t>
            </a:r>
          </a:p>
        </p:txBody>
      </p:sp>
      <p:sp>
        <p:nvSpPr>
          <p:cNvPr id="2" name="Elipse 1">
            <a:extLst>
              <a:ext uri="{FF2B5EF4-FFF2-40B4-BE49-F238E27FC236}">
                <a16:creationId xmlns:a16="http://schemas.microsoft.com/office/drawing/2014/main" id="{0AB7FEFC-E94E-467F-8B28-BEA15D83F94F}"/>
              </a:ext>
            </a:extLst>
          </p:cNvPr>
          <p:cNvSpPr/>
          <p:nvPr/>
        </p:nvSpPr>
        <p:spPr>
          <a:xfrm>
            <a:off x="5880695" y="269030"/>
            <a:ext cx="374453" cy="353594"/>
          </a:xfrm>
          <a:prstGeom prst="ellipse">
            <a:avLst/>
          </a:prstGeom>
          <a:solidFill>
            <a:schemeClr val="accent4">
              <a:lumMod val="60000"/>
              <a:lumOff val="4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1600" dirty="0">
                <a:solidFill>
                  <a:schemeClr val="tx1"/>
                </a:solidFill>
              </a:rPr>
              <a:t>2</a:t>
            </a:r>
          </a:p>
        </p:txBody>
      </p:sp>
    </p:spTree>
    <p:extLst>
      <p:ext uri="{BB962C8B-B14F-4D97-AF65-F5344CB8AC3E}">
        <p14:creationId xmlns:p14="http://schemas.microsoft.com/office/powerpoint/2010/main" val="188695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ppt_x"/>
                                          </p:val>
                                        </p:tav>
                                        <p:tav tm="100000">
                                          <p:val>
                                            <p:strVal val="#ppt_x"/>
                                          </p:val>
                                        </p:tav>
                                      </p:tavLst>
                                    </p:anim>
                                    <p:anim calcmode="lin" valueType="num">
                                      <p:cBhvr additive="base">
                                        <p:cTn id="4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additive="base">
                                        <p:cTn id="61" dur="500" fill="hold"/>
                                        <p:tgtEl>
                                          <p:spTgt spid="47"/>
                                        </p:tgtEl>
                                        <p:attrNameLst>
                                          <p:attrName>ppt_x</p:attrName>
                                        </p:attrNameLst>
                                      </p:cBhvr>
                                      <p:tavLst>
                                        <p:tav tm="0">
                                          <p:val>
                                            <p:strVal val="#ppt_x"/>
                                          </p:val>
                                        </p:tav>
                                        <p:tav tm="100000">
                                          <p:val>
                                            <p:strVal val="#ppt_x"/>
                                          </p:val>
                                        </p:tav>
                                      </p:tavLst>
                                    </p:anim>
                                    <p:anim calcmode="lin" valueType="num">
                                      <p:cBhvr additive="base">
                                        <p:cTn id="6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fill="hold"/>
                                        <p:tgtEl>
                                          <p:spTgt spid="36"/>
                                        </p:tgtEl>
                                        <p:attrNameLst>
                                          <p:attrName>ppt_x</p:attrName>
                                        </p:attrNameLst>
                                      </p:cBhvr>
                                      <p:tavLst>
                                        <p:tav tm="0">
                                          <p:val>
                                            <p:strVal val="#ppt_x"/>
                                          </p:val>
                                        </p:tav>
                                        <p:tav tm="100000">
                                          <p:val>
                                            <p:strVal val="#ppt_x"/>
                                          </p:val>
                                        </p:tav>
                                      </p:tavLst>
                                    </p:anim>
                                    <p:anim calcmode="lin" valueType="num">
                                      <p:cBhvr additive="base">
                                        <p:cTn id="68" dur="500" fill="hold"/>
                                        <p:tgtEl>
                                          <p:spTgt spid="36"/>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additive="base">
                                        <p:cTn id="71" dur="500" fill="hold"/>
                                        <p:tgtEl>
                                          <p:spTgt spid="39"/>
                                        </p:tgtEl>
                                        <p:attrNameLst>
                                          <p:attrName>ppt_x</p:attrName>
                                        </p:attrNameLst>
                                      </p:cBhvr>
                                      <p:tavLst>
                                        <p:tav tm="0">
                                          <p:val>
                                            <p:strVal val="#ppt_x"/>
                                          </p:val>
                                        </p:tav>
                                        <p:tav tm="100000">
                                          <p:val>
                                            <p:strVal val="#ppt_x"/>
                                          </p:val>
                                        </p:tav>
                                      </p:tavLst>
                                    </p:anim>
                                    <p:anim calcmode="lin" valueType="num">
                                      <p:cBhvr additive="base">
                                        <p:cTn id="7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5"/>
                                        </p:tgtEl>
                                        <p:attrNameLst>
                                          <p:attrName>style.visibility</p:attrName>
                                        </p:attrNameLst>
                                      </p:cBhvr>
                                      <p:to>
                                        <p:strVal val="visible"/>
                                      </p:to>
                                    </p:set>
                                    <p:anim calcmode="lin" valueType="num">
                                      <p:cBhvr additive="base">
                                        <p:cTn id="77" dur="500" fill="hold"/>
                                        <p:tgtEl>
                                          <p:spTgt spid="35"/>
                                        </p:tgtEl>
                                        <p:attrNameLst>
                                          <p:attrName>ppt_x</p:attrName>
                                        </p:attrNameLst>
                                      </p:cBhvr>
                                      <p:tavLst>
                                        <p:tav tm="0">
                                          <p:val>
                                            <p:strVal val="#ppt_x"/>
                                          </p:val>
                                        </p:tav>
                                        <p:tav tm="100000">
                                          <p:val>
                                            <p:strVal val="#ppt_x"/>
                                          </p:val>
                                        </p:tav>
                                      </p:tavLst>
                                    </p:anim>
                                    <p:anim calcmode="lin" valueType="num">
                                      <p:cBhvr additive="base">
                                        <p:cTn id="78" dur="500" fill="hold"/>
                                        <p:tgtEl>
                                          <p:spTgt spid="35"/>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additive="base">
                                        <p:cTn id="81" dur="500" fill="hold"/>
                                        <p:tgtEl>
                                          <p:spTgt spid="48"/>
                                        </p:tgtEl>
                                        <p:attrNameLst>
                                          <p:attrName>ppt_x</p:attrName>
                                        </p:attrNameLst>
                                      </p:cBhvr>
                                      <p:tavLst>
                                        <p:tav tm="0">
                                          <p:val>
                                            <p:strVal val="#ppt_x"/>
                                          </p:val>
                                        </p:tav>
                                        <p:tav tm="100000">
                                          <p:val>
                                            <p:strVal val="#ppt_x"/>
                                          </p:val>
                                        </p:tav>
                                      </p:tavLst>
                                    </p:anim>
                                    <p:anim calcmode="lin" valueType="num">
                                      <p:cBhvr additive="base">
                                        <p:cTn id="82" dur="500" fill="hold"/>
                                        <p:tgtEl>
                                          <p:spTgt spid="48"/>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50"/>
                                        </p:tgtEl>
                                        <p:attrNameLst>
                                          <p:attrName>style.visibility</p:attrName>
                                        </p:attrNameLst>
                                      </p:cBhvr>
                                      <p:to>
                                        <p:strVal val="visible"/>
                                      </p:to>
                                    </p:set>
                                    <p:anim calcmode="lin" valueType="num">
                                      <p:cBhvr additive="base">
                                        <p:cTn id="85" dur="500" fill="hold"/>
                                        <p:tgtEl>
                                          <p:spTgt spid="50"/>
                                        </p:tgtEl>
                                        <p:attrNameLst>
                                          <p:attrName>ppt_x</p:attrName>
                                        </p:attrNameLst>
                                      </p:cBhvr>
                                      <p:tavLst>
                                        <p:tav tm="0">
                                          <p:val>
                                            <p:strVal val="#ppt_x"/>
                                          </p:val>
                                        </p:tav>
                                        <p:tav tm="100000">
                                          <p:val>
                                            <p:strVal val="#ppt_x"/>
                                          </p:val>
                                        </p:tav>
                                      </p:tavLst>
                                    </p:anim>
                                    <p:anim calcmode="lin" valueType="num">
                                      <p:cBhvr additive="base">
                                        <p:cTn id="8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anim calcmode="lin" valueType="num">
                                      <p:cBhvr additive="base">
                                        <p:cTn id="91" dur="500" fill="hold"/>
                                        <p:tgtEl>
                                          <p:spTgt spid="37"/>
                                        </p:tgtEl>
                                        <p:attrNameLst>
                                          <p:attrName>ppt_x</p:attrName>
                                        </p:attrNameLst>
                                      </p:cBhvr>
                                      <p:tavLst>
                                        <p:tav tm="0">
                                          <p:val>
                                            <p:strVal val="#ppt_x"/>
                                          </p:val>
                                        </p:tav>
                                        <p:tav tm="100000">
                                          <p:val>
                                            <p:strVal val="#ppt_x"/>
                                          </p:val>
                                        </p:tav>
                                      </p:tavLst>
                                    </p:anim>
                                    <p:anim calcmode="lin" valueType="num">
                                      <p:cBhvr additive="base">
                                        <p:cTn id="92" dur="500" fill="hold"/>
                                        <p:tgtEl>
                                          <p:spTgt spid="37"/>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40"/>
                                        </p:tgtEl>
                                        <p:attrNameLst>
                                          <p:attrName>style.visibility</p:attrName>
                                        </p:attrNameLst>
                                      </p:cBhvr>
                                      <p:to>
                                        <p:strVal val="visible"/>
                                      </p:to>
                                    </p:set>
                                    <p:anim calcmode="lin" valueType="num">
                                      <p:cBhvr additive="base">
                                        <p:cTn id="95" dur="500" fill="hold"/>
                                        <p:tgtEl>
                                          <p:spTgt spid="40"/>
                                        </p:tgtEl>
                                        <p:attrNameLst>
                                          <p:attrName>ppt_x</p:attrName>
                                        </p:attrNameLst>
                                      </p:cBhvr>
                                      <p:tavLst>
                                        <p:tav tm="0">
                                          <p:val>
                                            <p:strVal val="#ppt_x"/>
                                          </p:val>
                                        </p:tav>
                                        <p:tav tm="100000">
                                          <p:val>
                                            <p:strVal val="#ppt_x"/>
                                          </p:val>
                                        </p:tav>
                                      </p:tavLst>
                                    </p:anim>
                                    <p:anim calcmode="lin" valueType="num">
                                      <p:cBhvr additive="base">
                                        <p:cTn id="9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52"/>
                                        </p:tgtEl>
                                        <p:attrNameLst>
                                          <p:attrName>style.visibility</p:attrName>
                                        </p:attrNameLst>
                                      </p:cBhvr>
                                      <p:to>
                                        <p:strVal val="visible"/>
                                      </p:to>
                                    </p:set>
                                    <p:anim calcmode="lin" valueType="num">
                                      <p:cBhvr additive="base">
                                        <p:cTn id="101" dur="500" fill="hold"/>
                                        <p:tgtEl>
                                          <p:spTgt spid="52"/>
                                        </p:tgtEl>
                                        <p:attrNameLst>
                                          <p:attrName>ppt_x</p:attrName>
                                        </p:attrNameLst>
                                      </p:cBhvr>
                                      <p:tavLst>
                                        <p:tav tm="0">
                                          <p:val>
                                            <p:strVal val="#ppt_x"/>
                                          </p:val>
                                        </p:tav>
                                        <p:tav tm="100000">
                                          <p:val>
                                            <p:strVal val="#ppt_x"/>
                                          </p:val>
                                        </p:tav>
                                      </p:tavLst>
                                    </p:anim>
                                    <p:anim calcmode="lin" valueType="num">
                                      <p:cBhvr additive="base">
                                        <p:cTn id="102" dur="500" fill="hold"/>
                                        <p:tgtEl>
                                          <p:spTgt spid="52"/>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fill="hold"/>
                                        <p:tgtEl>
                                          <p:spTgt spid="33"/>
                                        </p:tgtEl>
                                        <p:attrNameLst>
                                          <p:attrName>ppt_x</p:attrName>
                                        </p:attrNameLst>
                                      </p:cBhvr>
                                      <p:tavLst>
                                        <p:tav tm="0">
                                          <p:val>
                                            <p:strVal val="#ppt_x"/>
                                          </p:val>
                                        </p:tav>
                                        <p:tav tm="100000">
                                          <p:val>
                                            <p:strVal val="#ppt_x"/>
                                          </p:val>
                                        </p:tav>
                                      </p:tavLst>
                                    </p:anim>
                                    <p:anim calcmode="lin" valueType="num">
                                      <p:cBhvr additive="base">
                                        <p:cTn id="106" dur="500" fill="hold"/>
                                        <p:tgtEl>
                                          <p:spTgt spid="33"/>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51"/>
                                        </p:tgtEl>
                                        <p:attrNameLst>
                                          <p:attrName>style.visibility</p:attrName>
                                        </p:attrNameLst>
                                      </p:cBhvr>
                                      <p:to>
                                        <p:strVal val="visible"/>
                                      </p:to>
                                    </p:set>
                                    <p:anim calcmode="lin" valueType="num">
                                      <p:cBhvr additive="base">
                                        <p:cTn id="109" dur="500" fill="hold"/>
                                        <p:tgtEl>
                                          <p:spTgt spid="51"/>
                                        </p:tgtEl>
                                        <p:attrNameLst>
                                          <p:attrName>ppt_x</p:attrName>
                                        </p:attrNameLst>
                                      </p:cBhvr>
                                      <p:tavLst>
                                        <p:tav tm="0">
                                          <p:val>
                                            <p:strVal val="#ppt_x"/>
                                          </p:val>
                                        </p:tav>
                                        <p:tav tm="100000">
                                          <p:val>
                                            <p:strVal val="#ppt_x"/>
                                          </p:val>
                                        </p:tav>
                                      </p:tavLst>
                                    </p:anim>
                                    <p:anim calcmode="lin" valueType="num">
                                      <p:cBhvr additive="base">
                                        <p:cTn id="11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500" fill="hold"/>
                                        <p:tgtEl>
                                          <p:spTgt spid="38"/>
                                        </p:tgtEl>
                                        <p:attrNameLst>
                                          <p:attrName>ppt_x</p:attrName>
                                        </p:attrNameLst>
                                      </p:cBhvr>
                                      <p:tavLst>
                                        <p:tav tm="0">
                                          <p:val>
                                            <p:strVal val="#ppt_x"/>
                                          </p:val>
                                        </p:tav>
                                        <p:tav tm="100000">
                                          <p:val>
                                            <p:strVal val="#ppt_x"/>
                                          </p:val>
                                        </p:tav>
                                      </p:tavLst>
                                    </p:anim>
                                    <p:anim calcmode="lin" valueType="num">
                                      <p:cBhvr additive="base">
                                        <p:cTn id="116" dur="500" fill="hold"/>
                                        <p:tgtEl>
                                          <p:spTgt spid="38"/>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additive="base">
                                        <p:cTn id="119" dur="500" fill="hold"/>
                                        <p:tgtEl>
                                          <p:spTgt spid="53"/>
                                        </p:tgtEl>
                                        <p:attrNameLst>
                                          <p:attrName>ppt_x</p:attrName>
                                        </p:attrNameLst>
                                      </p:cBhvr>
                                      <p:tavLst>
                                        <p:tav tm="0">
                                          <p:val>
                                            <p:strVal val="#ppt_x"/>
                                          </p:val>
                                        </p:tav>
                                        <p:tav tm="100000">
                                          <p:val>
                                            <p:strVal val="#ppt_x"/>
                                          </p:val>
                                        </p:tav>
                                      </p:tavLst>
                                    </p:anim>
                                    <p:anim calcmode="lin" valueType="num">
                                      <p:cBhvr additive="base">
                                        <p:cTn id="1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54"/>
                                        </p:tgtEl>
                                        <p:attrNameLst>
                                          <p:attrName>style.visibility</p:attrName>
                                        </p:attrNameLst>
                                      </p:cBhvr>
                                      <p:to>
                                        <p:strVal val="visible"/>
                                      </p:to>
                                    </p:set>
                                    <p:anim calcmode="lin" valueType="num">
                                      <p:cBhvr additive="base">
                                        <p:cTn id="129" dur="500" fill="hold"/>
                                        <p:tgtEl>
                                          <p:spTgt spid="54"/>
                                        </p:tgtEl>
                                        <p:attrNameLst>
                                          <p:attrName>ppt_x</p:attrName>
                                        </p:attrNameLst>
                                      </p:cBhvr>
                                      <p:tavLst>
                                        <p:tav tm="0">
                                          <p:val>
                                            <p:strVal val="#ppt_x"/>
                                          </p:val>
                                        </p:tav>
                                        <p:tav tm="100000">
                                          <p:val>
                                            <p:strVal val="#ppt_x"/>
                                          </p:val>
                                        </p:tav>
                                      </p:tavLst>
                                    </p:anim>
                                    <p:anim calcmode="lin" valueType="num">
                                      <p:cBhvr additive="base">
                                        <p:cTn id="130" dur="500" fill="hold"/>
                                        <p:tgtEl>
                                          <p:spTgt spid="54"/>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55"/>
                                        </p:tgtEl>
                                        <p:attrNameLst>
                                          <p:attrName>style.visibility</p:attrName>
                                        </p:attrNameLst>
                                      </p:cBhvr>
                                      <p:to>
                                        <p:strVal val="visible"/>
                                      </p:to>
                                    </p:set>
                                    <p:anim calcmode="lin" valueType="num">
                                      <p:cBhvr additive="base">
                                        <p:cTn id="133" dur="500" fill="hold"/>
                                        <p:tgtEl>
                                          <p:spTgt spid="55"/>
                                        </p:tgtEl>
                                        <p:attrNameLst>
                                          <p:attrName>ppt_x</p:attrName>
                                        </p:attrNameLst>
                                      </p:cBhvr>
                                      <p:tavLst>
                                        <p:tav tm="0">
                                          <p:val>
                                            <p:strVal val="#ppt_x"/>
                                          </p:val>
                                        </p:tav>
                                        <p:tav tm="100000">
                                          <p:val>
                                            <p:strVal val="#ppt_x"/>
                                          </p:val>
                                        </p:tav>
                                      </p:tavLst>
                                    </p:anim>
                                    <p:anim calcmode="lin" valueType="num">
                                      <p:cBhvr additive="base">
                                        <p:cTn id="13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6" grpId="0"/>
      <p:bldP spid="28" grpId="0"/>
      <p:bldP spid="30" grpId="0" animBg="1"/>
      <p:bldP spid="31" grpId="0" animBg="1"/>
      <p:bldP spid="36" grpId="0" animBg="1"/>
      <p:bldP spid="37" grpId="0" animBg="1"/>
      <p:bldP spid="38" grpId="0" animBg="1"/>
      <p:bldP spid="41" grpId="0"/>
      <p:bldP spid="47" grpId="0"/>
      <p:bldP spid="48" grpId="0"/>
      <p:bldP spid="51" grpId="0"/>
      <p:bldP spid="52" grpId="0"/>
      <p:bldP spid="54" grpId="0" animBg="1"/>
      <p:bldP spid="55" grpId="0"/>
      <p:bldP spid="2" grpId="0" animBg="1"/>
    </p:bldLst>
  </p:timing>
</p:sld>
</file>

<file path=ppt/theme/theme1.xml><?xml version="1.0" encoding="utf-8"?>
<a:theme xmlns:a="http://schemas.openxmlformats.org/drawingml/2006/main" name="2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11839</TotalTime>
  <Words>1029</Words>
  <Application>Microsoft Office PowerPoint</Application>
  <PresentationFormat>Panorámica</PresentationFormat>
  <Paragraphs>136</Paragraphs>
  <Slides>13</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Calibri</vt:lpstr>
      <vt:lpstr>Lato</vt:lpstr>
      <vt:lpstr>Times New Roman</vt:lpstr>
      <vt:lpstr>Wingdings</vt:lpstr>
      <vt:lpstr>2_Tema de Office</vt:lpstr>
      <vt:lpstr>CONTROL DE TEMPERATURA</vt:lpstr>
      <vt:lpstr>Contenido a añadir</vt:lpstr>
      <vt:lpstr>ELEMENTOS PARA EL CONTROL</vt:lpstr>
      <vt:lpstr>Presentación de PowerPoint</vt:lpstr>
      <vt:lpstr>Presentación de PowerPoint</vt:lpstr>
      <vt:lpstr>SENSOR DE TEMPERATURA TC</vt:lpstr>
      <vt:lpstr>SENSOR DE TEMPERATURA RTD</vt:lpstr>
      <vt:lpstr>CONTROLADOR DE TEMPERATURA</vt:lpstr>
      <vt:lpstr>Presentación de PowerPoint</vt:lpstr>
      <vt:lpstr>CONFIGURACIÓN DE CONTROLADOR DE TEMPERATURA</vt:lpstr>
      <vt:lpstr>Presentación de PowerPoint</vt:lpstr>
      <vt:lpstr>Configuración PID</vt:lpstr>
      <vt:lpstr>Presentación de PowerPoint</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Moderno ETN 1034</dc:title>
  <dc:creator>dosies</dc:creator>
  <cp:lastModifiedBy>Mary Espino Marca</cp:lastModifiedBy>
  <cp:revision>328</cp:revision>
  <dcterms:created xsi:type="dcterms:W3CDTF">2012-03-05T15:50:43Z</dcterms:created>
  <dcterms:modified xsi:type="dcterms:W3CDTF">2023-01-31T11:20:32Z</dcterms:modified>
</cp:coreProperties>
</file>